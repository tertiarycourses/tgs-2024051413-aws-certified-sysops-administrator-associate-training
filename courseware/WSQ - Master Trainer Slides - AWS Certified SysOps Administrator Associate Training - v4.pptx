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20.xml" ContentType="application/vnd.openxmlformats-officedocument.presentationml.slide+xml"/>
  <Override PartName="/ppt/slides/slide921.xml" ContentType="application/vnd.openxmlformats-officedocument.presentationml.slide+xml"/>
  <Override PartName="/ppt/slides/slide922.xml" ContentType="application/vnd.openxmlformats-officedocument.presentationml.slide+xml"/>
  <Override PartName="/ppt/slides/slide923.xml" ContentType="application/vnd.openxmlformats-officedocument.presentationml.slide+xml"/>
  <Override PartName="/ppt/slides/slide924.xml" ContentType="application/vnd.openxmlformats-officedocument.presentationml.slide+xml"/>
  <Override PartName="/ppt/slides/slide925.xml" ContentType="application/vnd.openxmlformats-officedocument.presentationml.slide+xml"/>
  <Override PartName="/ppt/slides/slide926.xml" ContentType="application/vnd.openxmlformats-officedocument.presentationml.slide+xml"/>
  <Override PartName="/ppt/slides/slide927.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 id="1087" r:id="rId838"/>
    <p:sldId id="1088" r:id="rId839"/>
    <p:sldId id="1089" r:id="rId840"/>
    <p:sldId id="1090" r:id="rId841"/>
    <p:sldId id="1091" r:id="rId842"/>
    <p:sldId id="1092" r:id="rId843"/>
    <p:sldId id="1093" r:id="rId844"/>
    <p:sldId id="1094" r:id="rId845"/>
    <p:sldId id="1095" r:id="rId846"/>
    <p:sldId id="1096" r:id="rId847"/>
    <p:sldId id="1097" r:id="rId848"/>
    <p:sldId id="1098" r:id="rId849"/>
    <p:sldId id="1099" r:id="rId850"/>
    <p:sldId id="1100" r:id="rId851"/>
    <p:sldId id="1101" r:id="rId852"/>
    <p:sldId id="1102" r:id="rId853"/>
    <p:sldId id="1103" r:id="rId854"/>
    <p:sldId id="1104" r:id="rId855"/>
    <p:sldId id="1105" r:id="rId856"/>
    <p:sldId id="1106" r:id="rId857"/>
    <p:sldId id="1107" r:id="rId858"/>
    <p:sldId id="1108" r:id="rId859"/>
    <p:sldId id="1109" r:id="rId860"/>
    <p:sldId id="1110" r:id="rId861"/>
    <p:sldId id="1111" r:id="rId862"/>
    <p:sldId id="1112" r:id="rId863"/>
    <p:sldId id="1113" r:id="rId864"/>
    <p:sldId id="1114" r:id="rId865"/>
    <p:sldId id="1115" r:id="rId866"/>
    <p:sldId id="1116" r:id="rId867"/>
    <p:sldId id="1117" r:id="rId868"/>
    <p:sldId id="1118" r:id="rId869"/>
    <p:sldId id="1119" r:id="rId870"/>
    <p:sldId id="1120" r:id="rId871"/>
    <p:sldId id="1121" r:id="rId872"/>
    <p:sldId id="1122" r:id="rId873"/>
    <p:sldId id="1123" r:id="rId874"/>
    <p:sldId id="1124" r:id="rId875"/>
    <p:sldId id="1125" r:id="rId876"/>
    <p:sldId id="1126" r:id="rId877"/>
    <p:sldId id="1127" r:id="rId878"/>
    <p:sldId id="1128" r:id="rId879"/>
    <p:sldId id="1129" r:id="rId880"/>
    <p:sldId id="1130" r:id="rId881"/>
    <p:sldId id="1131" r:id="rId882"/>
    <p:sldId id="1132" r:id="rId883"/>
    <p:sldId id="1133" r:id="rId884"/>
    <p:sldId id="1134" r:id="rId885"/>
    <p:sldId id="1135" r:id="rId886"/>
    <p:sldId id="1136" r:id="rId887"/>
    <p:sldId id="1137" r:id="rId888"/>
    <p:sldId id="1138" r:id="rId889"/>
    <p:sldId id="1139" r:id="rId890"/>
    <p:sldId id="1140" r:id="rId891"/>
    <p:sldId id="1141" r:id="rId892"/>
    <p:sldId id="1142" r:id="rId893"/>
    <p:sldId id="1143" r:id="rId894"/>
    <p:sldId id="1144" r:id="rId895"/>
    <p:sldId id="1145" r:id="rId896"/>
    <p:sldId id="1146" r:id="rId897"/>
    <p:sldId id="1147" r:id="rId898"/>
    <p:sldId id="1148" r:id="rId899"/>
    <p:sldId id="1149" r:id="rId900"/>
    <p:sldId id="1150" r:id="rId901"/>
    <p:sldId id="1151" r:id="rId902"/>
    <p:sldId id="1152" r:id="rId903"/>
    <p:sldId id="1153" r:id="rId904"/>
    <p:sldId id="1154" r:id="rId905"/>
    <p:sldId id="1155" r:id="rId906"/>
    <p:sldId id="1156" r:id="rId907"/>
    <p:sldId id="1157" r:id="rId908"/>
    <p:sldId id="1158" r:id="rId909"/>
    <p:sldId id="1159" r:id="rId910"/>
    <p:sldId id="1160" r:id="rId911"/>
    <p:sldId id="1161" r:id="rId912"/>
    <p:sldId id="1162" r:id="rId913"/>
    <p:sldId id="1163" r:id="rId914"/>
    <p:sldId id="1164" r:id="rId915"/>
    <p:sldId id="1165" r:id="rId916"/>
    <p:sldId id="1166" r:id="rId917"/>
    <p:sldId id="1167" r:id="rId918"/>
    <p:sldId id="1168" r:id="rId919"/>
    <p:sldId id="1169" r:id="rId920"/>
    <p:sldId id="1170" r:id="rId921"/>
    <p:sldId id="1171" r:id="rId922"/>
    <p:sldId id="1172" r:id="rId923"/>
    <p:sldId id="1173" r:id="rId924"/>
    <p:sldId id="1174" r:id="rId925"/>
    <p:sldId id="1175" r:id="rId926"/>
    <p:sldId id="1176" r:id="rId927"/>
    <p:sldId id="1177" r:id="rId928"/>
    <p:sldId id="1178" r:id="rId929"/>
    <p:sldId id="1179" r:id="rId930"/>
    <p:sldId id="1180" r:id="rId931"/>
    <p:sldId id="1181" r:id="rId932"/>
    <p:sldId id="1182" r:id="rId9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 Id="rId838" Type="http://schemas.openxmlformats.org/officeDocument/2006/relationships/slide" Target="slides/slide832.xml"/><Relationship Id="rId839" Type="http://schemas.openxmlformats.org/officeDocument/2006/relationships/slide" Target="slides/slide833.xml"/><Relationship Id="rId840" Type="http://schemas.openxmlformats.org/officeDocument/2006/relationships/slide" Target="slides/slide834.xml"/><Relationship Id="rId841" Type="http://schemas.openxmlformats.org/officeDocument/2006/relationships/slide" Target="slides/slide835.xml"/><Relationship Id="rId842" Type="http://schemas.openxmlformats.org/officeDocument/2006/relationships/slide" Target="slides/slide836.xml"/><Relationship Id="rId843" Type="http://schemas.openxmlformats.org/officeDocument/2006/relationships/slide" Target="slides/slide837.xml"/><Relationship Id="rId844" Type="http://schemas.openxmlformats.org/officeDocument/2006/relationships/slide" Target="slides/slide838.xml"/><Relationship Id="rId845" Type="http://schemas.openxmlformats.org/officeDocument/2006/relationships/slide" Target="slides/slide839.xml"/><Relationship Id="rId846" Type="http://schemas.openxmlformats.org/officeDocument/2006/relationships/slide" Target="slides/slide840.xml"/><Relationship Id="rId847" Type="http://schemas.openxmlformats.org/officeDocument/2006/relationships/slide" Target="slides/slide841.xml"/><Relationship Id="rId848" Type="http://schemas.openxmlformats.org/officeDocument/2006/relationships/slide" Target="slides/slide842.xml"/><Relationship Id="rId849" Type="http://schemas.openxmlformats.org/officeDocument/2006/relationships/slide" Target="slides/slide843.xml"/><Relationship Id="rId850" Type="http://schemas.openxmlformats.org/officeDocument/2006/relationships/slide" Target="slides/slide844.xml"/><Relationship Id="rId851" Type="http://schemas.openxmlformats.org/officeDocument/2006/relationships/slide" Target="slides/slide845.xml"/><Relationship Id="rId852" Type="http://schemas.openxmlformats.org/officeDocument/2006/relationships/slide" Target="slides/slide846.xml"/><Relationship Id="rId853" Type="http://schemas.openxmlformats.org/officeDocument/2006/relationships/slide" Target="slides/slide847.xml"/><Relationship Id="rId854" Type="http://schemas.openxmlformats.org/officeDocument/2006/relationships/slide" Target="slides/slide848.xml"/><Relationship Id="rId855" Type="http://schemas.openxmlformats.org/officeDocument/2006/relationships/slide" Target="slides/slide849.xml"/><Relationship Id="rId856" Type="http://schemas.openxmlformats.org/officeDocument/2006/relationships/slide" Target="slides/slide850.xml"/><Relationship Id="rId857" Type="http://schemas.openxmlformats.org/officeDocument/2006/relationships/slide" Target="slides/slide851.xml"/><Relationship Id="rId858" Type="http://schemas.openxmlformats.org/officeDocument/2006/relationships/slide" Target="slides/slide852.xml"/><Relationship Id="rId859" Type="http://schemas.openxmlformats.org/officeDocument/2006/relationships/slide" Target="slides/slide853.xml"/><Relationship Id="rId860" Type="http://schemas.openxmlformats.org/officeDocument/2006/relationships/slide" Target="slides/slide854.xml"/><Relationship Id="rId861" Type="http://schemas.openxmlformats.org/officeDocument/2006/relationships/slide" Target="slides/slide855.xml"/><Relationship Id="rId862" Type="http://schemas.openxmlformats.org/officeDocument/2006/relationships/slide" Target="slides/slide856.xml"/><Relationship Id="rId863" Type="http://schemas.openxmlformats.org/officeDocument/2006/relationships/slide" Target="slides/slide857.xml"/><Relationship Id="rId864" Type="http://schemas.openxmlformats.org/officeDocument/2006/relationships/slide" Target="slides/slide858.xml"/><Relationship Id="rId865" Type="http://schemas.openxmlformats.org/officeDocument/2006/relationships/slide" Target="slides/slide859.xml"/><Relationship Id="rId866" Type="http://schemas.openxmlformats.org/officeDocument/2006/relationships/slide" Target="slides/slide860.xml"/><Relationship Id="rId867" Type="http://schemas.openxmlformats.org/officeDocument/2006/relationships/slide" Target="slides/slide861.xml"/><Relationship Id="rId868" Type="http://schemas.openxmlformats.org/officeDocument/2006/relationships/slide" Target="slides/slide862.xml"/><Relationship Id="rId869" Type="http://schemas.openxmlformats.org/officeDocument/2006/relationships/slide" Target="slides/slide863.xml"/><Relationship Id="rId870" Type="http://schemas.openxmlformats.org/officeDocument/2006/relationships/slide" Target="slides/slide864.xml"/><Relationship Id="rId871" Type="http://schemas.openxmlformats.org/officeDocument/2006/relationships/slide" Target="slides/slide865.xml"/><Relationship Id="rId872" Type="http://schemas.openxmlformats.org/officeDocument/2006/relationships/slide" Target="slides/slide866.xml"/><Relationship Id="rId873" Type="http://schemas.openxmlformats.org/officeDocument/2006/relationships/slide" Target="slides/slide867.xml"/><Relationship Id="rId874" Type="http://schemas.openxmlformats.org/officeDocument/2006/relationships/slide" Target="slides/slide868.xml"/><Relationship Id="rId875" Type="http://schemas.openxmlformats.org/officeDocument/2006/relationships/slide" Target="slides/slide869.xml"/><Relationship Id="rId876" Type="http://schemas.openxmlformats.org/officeDocument/2006/relationships/slide" Target="slides/slide870.xml"/><Relationship Id="rId877" Type="http://schemas.openxmlformats.org/officeDocument/2006/relationships/slide" Target="slides/slide871.xml"/><Relationship Id="rId878" Type="http://schemas.openxmlformats.org/officeDocument/2006/relationships/slide" Target="slides/slide872.xml"/><Relationship Id="rId879" Type="http://schemas.openxmlformats.org/officeDocument/2006/relationships/slide" Target="slides/slide873.xml"/><Relationship Id="rId880" Type="http://schemas.openxmlformats.org/officeDocument/2006/relationships/slide" Target="slides/slide874.xml"/><Relationship Id="rId881" Type="http://schemas.openxmlformats.org/officeDocument/2006/relationships/slide" Target="slides/slide875.xml"/><Relationship Id="rId882" Type="http://schemas.openxmlformats.org/officeDocument/2006/relationships/slide" Target="slides/slide876.xml"/><Relationship Id="rId883" Type="http://schemas.openxmlformats.org/officeDocument/2006/relationships/slide" Target="slides/slide877.xml"/><Relationship Id="rId884" Type="http://schemas.openxmlformats.org/officeDocument/2006/relationships/slide" Target="slides/slide878.xml"/><Relationship Id="rId885" Type="http://schemas.openxmlformats.org/officeDocument/2006/relationships/slide" Target="slides/slide879.xml"/><Relationship Id="rId886" Type="http://schemas.openxmlformats.org/officeDocument/2006/relationships/slide" Target="slides/slide880.xml"/><Relationship Id="rId887" Type="http://schemas.openxmlformats.org/officeDocument/2006/relationships/slide" Target="slides/slide881.xml"/><Relationship Id="rId888" Type="http://schemas.openxmlformats.org/officeDocument/2006/relationships/slide" Target="slides/slide882.xml"/><Relationship Id="rId889" Type="http://schemas.openxmlformats.org/officeDocument/2006/relationships/slide" Target="slides/slide883.xml"/><Relationship Id="rId890" Type="http://schemas.openxmlformats.org/officeDocument/2006/relationships/slide" Target="slides/slide884.xml"/><Relationship Id="rId891" Type="http://schemas.openxmlformats.org/officeDocument/2006/relationships/slide" Target="slides/slide885.xml"/><Relationship Id="rId892" Type="http://schemas.openxmlformats.org/officeDocument/2006/relationships/slide" Target="slides/slide886.xml"/><Relationship Id="rId893" Type="http://schemas.openxmlformats.org/officeDocument/2006/relationships/slide" Target="slides/slide887.xml"/><Relationship Id="rId894" Type="http://schemas.openxmlformats.org/officeDocument/2006/relationships/slide" Target="slides/slide888.xml"/><Relationship Id="rId895" Type="http://schemas.openxmlformats.org/officeDocument/2006/relationships/slide" Target="slides/slide889.xml"/><Relationship Id="rId896" Type="http://schemas.openxmlformats.org/officeDocument/2006/relationships/slide" Target="slides/slide890.xml"/><Relationship Id="rId897" Type="http://schemas.openxmlformats.org/officeDocument/2006/relationships/slide" Target="slides/slide891.xml"/><Relationship Id="rId898" Type="http://schemas.openxmlformats.org/officeDocument/2006/relationships/slide" Target="slides/slide892.xml"/><Relationship Id="rId899" Type="http://schemas.openxmlformats.org/officeDocument/2006/relationships/slide" Target="slides/slide893.xml"/><Relationship Id="rId900" Type="http://schemas.openxmlformats.org/officeDocument/2006/relationships/slide" Target="slides/slide894.xml"/><Relationship Id="rId901" Type="http://schemas.openxmlformats.org/officeDocument/2006/relationships/slide" Target="slides/slide895.xml"/><Relationship Id="rId902" Type="http://schemas.openxmlformats.org/officeDocument/2006/relationships/slide" Target="slides/slide896.xml"/><Relationship Id="rId903" Type="http://schemas.openxmlformats.org/officeDocument/2006/relationships/slide" Target="slides/slide897.xml"/><Relationship Id="rId904" Type="http://schemas.openxmlformats.org/officeDocument/2006/relationships/slide" Target="slides/slide898.xml"/><Relationship Id="rId905" Type="http://schemas.openxmlformats.org/officeDocument/2006/relationships/slide" Target="slides/slide899.xml"/><Relationship Id="rId906" Type="http://schemas.openxmlformats.org/officeDocument/2006/relationships/slide" Target="slides/slide900.xml"/><Relationship Id="rId907" Type="http://schemas.openxmlformats.org/officeDocument/2006/relationships/slide" Target="slides/slide901.xml"/><Relationship Id="rId908" Type="http://schemas.openxmlformats.org/officeDocument/2006/relationships/slide" Target="slides/slide902.xml"/><Relationship Id="rId909" Type="http://schemas.openxmlformats.org/officeDocument/2006/relationships/slide" Target="slides/slide903.xml"/><Relationship Id="rId910" Type="http://schemas.openxmlformats.org/officeDocument/2006/relationships/slide" Target="slides/slide904.xml"/><Relationship Id="rId911" Type="http://schemas.openxmlformats.org/officeDocument/2006/relationships/slide" Target="slides/slide905.xml"/><Relationship Id="rId912" Type="http://schemas.openxmlformats.org/officeDocument/2006/relationships/slide" Target="slides/slide906.xml"/><Relationship Id="rId913" Type="http://schemas.openxmlformats.org/officeDocument/2006/relationships/slide" Target="slides/slide907.xml"/><Relationship Id="rId914" Type="http://schemas.openxmlformats.org/officeDocument/2006/relationships/slide" Target="slides/slide908.xml"/><Relationship Id="rId915" Type="http://schemas.openxmlformats.org/officeDocument/2006/relationships/slide" Target="slides/slide909.xml"/><Relationship Id="rId916" Type="http://schemas.openxmlformats.org/officeDocument/2006/relationships/slide" Target="slides/slide910.xml"/><Relationship Id="rId917" Type="http://schemas.openxmlformats.org/officeDocument/2006/relationships/slide" Target="slides/slide911.xml"/><Relationship Id="rId918" Type="http://schemas.openxmlformats.org/officeDocument/2006/relationships/slide" Target="slides/slide912.xml"/><Relationship Id="rId919" Type="http://schemas.openxmlformats.org/officeDocument/2006/relationships/slide" Target="slides/slide913.xml"/><Relationship Id="rId920" Type="http://schemas.openxmlformats.org/officeDocument/2006/relationships/slide" Target="slides/slide914.xml"/><Relationship Id="rId921" Type="http://schemas.openxmlformats.org/officeDocument/2006/relationships/slide" Target="slides/slide915.xml"/><Relationship Id="rId922" Type="http://schemas.openxmlformats.org/officeDocument/2006/relationships/slide" Target="slides/slide916.xml"/><Relationship Id="rId923" Type="http://schemas.openxmlformats.org/officeDocument/2006/relationships/slide" Target="slides/slide917.xml"/><Relationship Id="rId924" Type="http://schemas.openxmlformats.org/officeDocument/2006/relationships/slide" Target="slides/slide918.xml"/><Relationship Id="rId925" Type="http://schemas.openxmlformats.org/officeDocument/2006/relationships/slide" Target="slides/slide919.xml"/><Relationship Id="rId926" Type="http://schemas.openxmlformats.org/officeDocument/2006/relationships/slide" Target="slides/slide920.xml"/><Relationship Id="rId927" Type="http://schemas.openxmlformats.org/officeDocument/2006/relationships/slide" Target="slides/slide921.xml"/><Relationship Id="rId928" Type="http://schemas.openxmlformats.org/officeDocument/2006/relationships/slide" Target="slides/slide922.xml"/><Relationship Id="rId929" Type="http://schemas.openxmlformats.org/officeDocument/2006/relationships/slide" Target="slides/slide923.xml"/><Relationship Id="rId930" Type="http://schemas.openxmlformats.org/officeDocument/2006/relationships/slide" Target="slides/slide924.xml"/><Relationship Id="rId931" Type="http://schemas.openxmlformats.org/officeDocument/2006/relationships/slide" Target="slides/slide925.xml"/><Relationship Id="rId932" Type="http://schemas.openxmlformats.org/officeDocument/2006/relationships/slide" Target="slides/slide926.xml"/><Relationship Id="rId933" Type="http://schemas.openxmlformats.org/officeDocument/2006/relationships/slide" Target="slides/slide9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jpg"/></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jp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jp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jpg"/></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jpg"/></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jpg"/></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jpg"/></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jpg"/></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jpg"/></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jpg"/></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jpg"/></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jpg"/></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jpg"/></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jpg"/></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jpg"/></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jpg"/></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jpg"/></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jpg"/></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jpg"/></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jpg"/></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jpg"/></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jpg"/></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jpg"/></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jpg"/></Relationships>
</file>

<file path=ppt/slides/_rels/slide9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s>
</file>

<file path=ppt/slides/_rels/slide9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s>
</file>

<file path=ppt/slides/_rels/slide9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58400" y="658368"/>
            <a:ext cx="14173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749808"/>
            <a:ext cx="1417320" cy="457200"/>
          </a:xfrm>
          <a:prstGeom prst="rect">
            <a:avLst/>
          </a:prstGeom>
          <a:noFill/>
        </p:spPr>
        <p:txBody>
          <a:bodyPr wrap="square" anchor="t">
            <a:spAutoFit/>
          </a:bodyPr>
          <a:lstStyle/>
          <a:p>
            <a:pPr algn="ctr">
              <a:spcAft>
                <a:spcPts val="400"/>
              </a:spcAft>
            </a:pPr>
            <a:r>
              <a:rPr sz="2000" b="1">
                <a:solidFill>
                  <a:srgbClr val="FFFFFF"/>
                </a:solidFill>
                <a:latin typeface="Arial"/>
              </a:rPr>
              <a:t>SOA-C02</a:t>
            </a:r>
          </a:p>
        </p:txBody>
      </p:sp>
      <p:sp>
        <p:nvSpPr>
          <p:cNvPr id="8" name="TextBox 7"/>
          <p:cNvSpPr txBox="1"/>
          <p:nvPr/>
        </p:nvSpPr>
        <p:spPr>
          <a:xfrm>
            <a:off x="10058400" y="1170432"/>
            <a:ext cx="1417320" cy="365760"/>
          </a:xfrm>
          <a:prstGeom prst="rect">
            <a:avLst/>
          </a:prstGeom>
          <a:noFill/>
        </p:spPr>
        <p:txBody>
          <a:bodyPr wrap="square" anchor="t">
            <a:spAutoFit/>
          </a:bodyPr>
          <a:lstStyle/>
          <a:p>
            <a:pPr algn="ctr">
              <a:spcAft>
                <a:spcPts val="400"/>
              </a:spcAft>
            </a:pPr>
            <a:r>
              <a:rPr sz="800" b="1">
                <a:solidFill>
                  <a:srgbClr val="FFFFFF"/>
                </a:solidFill>
                <a:latin typeface="Arial"/>
              </a:rPr>
              <a:t>SYSOPS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MASTER TRAINER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AWS Certified SysOps Administrator - Associate (SOA-C02)</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TGS-2024051413</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  ·  30 July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About the Trainer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or systems operations (if any).</a:t>
            </a:r>
          </a:p>
          <a:p>
            <a:pPr>
              <a:spcAft>
                <a:spcPts val="1000"/>
              </a:spcAft>
            </a:pPr>
            <a:r>
              <a:rPr sz="2000" b="0">
                <a:solidFill>
                  <a:srgbClr val="161B26"/>
                </a:solidFill>
                <a:latin typeface="Arial"/>
              </a:rPr>
              <a:t>•  What you want to monitor, automate, or troubleshoot on AWS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Set your mobile phone to silent mode</a:t>
            </a:r>
          </a:p>
          <a:p>
            <a:pPr>
              <a:spcAft>
                <a:spcPts val="1000"/>
              </a:spcAft>
            </a:pPr>
            <a:r>
              <a:rPr sz="1800" b="0">
                <a:solidFill>
                  <a:srgbClr val="161B26"/>
                </a:solidFill>
                <a:latin typeface="Arial"/>
              </a:rPr>
              <a:t>•  Participate actively in the class. No question is stupid.</a:t>
            </a:r>
          </a:p>
          <a:p>
            <a:pPr>
              <a:spcAft>
                <a:spcPts val="1000"/>
              </a:spcAft>
            </a:pPr>
            <a:r>
              <a:rPr sz="1800" b="0">
                <a:solidFill>
                  <a:srgbClr val="161B26"/>
                </a:solidFill>
                <a:latin typeface="Arial"/>
              </a:rPr>
              <a:t>•  Mutual respect. Agree to disagree.</a:t>
            </a:r>
          </a:p>
          <a:p>
            <a:pPr>
              <a:spcAft>
                <a:spcPts val="1000"/>
              </a:spcAft>
            </a:pPr>
            <a:r>
              <a:rPr sz="1800" b="0">
                <a:solidFill>
                  <a:srgbClr val="161B26"/>
                </a:solidFill>
                <a:latin typeface="Arial"/>
              </a:rPr>
              <a:t>•  One conversation at one time.</a:t>
            </a:r>
          </a:p>
          <a:p>
            <a:pPr>
              <a:spcAft>
                <a:spcPts val="1000"/>
              </a:spcAft>
            </a:pPr>
            <a:r>
              <a:rPr sz="1800" b="0">
                <a:solidFill>
                  <a:srgbClr val="161B26"/>
                </a:solidFill>
                <a:latin typeface="Arial"/>
              </a:rPr>
              <a:t>•  Be punctual. Back from breaks on time.</a:t>
            </a:r>
          </a:p>
          <a:p>
            <a:pPr>
              <a:spcAft>
                <a:spcPts val="1000"/>
              </a:spcAft>
            </a:pPr>
            <a:r>
              <a:rPr sz="1800" b="0">
                <a:solidFill>
                  <a:srgbClr val="161B26"/>
                </a:solidFill>
                <a:latin typeface="Arial"/>
              </a:rPr>
              <a:t>•  Exit the class silently if you need to step out for phone call, toilet break etc.</a:t>
            </a:r>
          </a:p>
          <a:p>
            <a:pPr>
              <a:spcAft>
                <a:spcPts val="1000"/>
              </a:spcAft>
            </a:pPr>
            <a:r>
              <a:rPr sz="1800" b="0">
                <a:solidFill>
                  <a:srgbClr val="161B26"/>
                </a:solidFill>
                <a:latin typeface="Arial"/>
              </a:rPr>
              <a:t>•  75% attendance is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1</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Trainer and Learners Introduction</a:t>
            </a:r>
          </a:p>
          <a:p>
            <a:pPr>
              <a:spcAft>
                <a:spcPts val="1000"/>
              </a:spcAft>
            </a:pPr>
            <a:r>
              <a:rPr sz="1800" b="0">
                <a:solidFill>
                  <a:srgbClr val="161B26"/>
                </a:solidFill>
                <a:latin typeface="Arial"/>
              </a:rPr>
              <a:t>•  Learning Outcomes</a:t>
            </a:r>
          </a:p>
          <a:p>
            <a:pPr>
              <a:spcAft>
                <a:spcPts val="1000"/>
              </a:spcAft>
            </a:pPr>
            <a:r>
              <a:rPr sz="1800" b="0">
                <a:solidFill>
                  <a:srgbClr val="161B26"/>
                </a:solidFill>
                <a:latin typeface="Arial"/>
              </a:rPr>
              <a:t>•  Course Outline</a:t>
            </a:r>
          </a:p>
          <a:p>
            <a:pPr>
              <a:spcAft>
                <a:spcPts val="1000"/>
              </a:spcAft>
            </a:pPr>
            <a:r>
              <a:rPr sz="1800" b="0">
                <a:solidFill>
                  <a:srgbClr val="161B26"/>
                </a:solidFill>
                <a:latin typeface="Arial"/>
              </a:rPr>
              <a:t>•  Topic 1: ….</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Topic 2: ….</a:t>
            </a:r>
          </a:p>
          <a:p>
            <a:pPr>
              <a:spcAft>
                <a:spcPts val="1000"/>
              </a:spcAft>
            </a:pPr>
            <a:r>
              <a:rPr sz="1800" b="0">
                <a:solidFill>
                  <a:srgbClr val="161B26"/>
                </a:solidFill>
                <a:latin typeface="Arial"/>
              </a:rPr>
              <a:t>•  End of Day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2</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Topic 3 …</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Revision</a:t>
            </a:r>
          </a:p>
          <a:p>
            <a:pPr>
              <a:spcAft>
                <a:spcPts val="1000"/>
              </a:spcAft>
            </a:pPr>
            <a:r>
              <a:rPr sz="1800" b="0">
                <a:solidFill>
                  <a:srgbClr val="161B26"/>
                </a:solidFill>
                <a:latin typeface="Arial"/>
              </a:rPr>
              <a:t>•  Course Feedback and TRAQOM Survey</a:t>
            </a:r>
          </a:p>
          <a:p>
            <a:pPr>
              <a:spcAft>
                <a:spcPts val="1000"/>
              </a:spcAft>
            </a:pPr>
            <a:r>
              <a:rPr sz="1800" b="0">
                <a:solidFill>
                  <a:srgbClr val="161B26"/>
                </a:solidFill>
                <a:latin typeface="Arial"/>
              </a:rPr>
              <a:t>•  Digital Attendance (Assessment)</a:t>
            </a:r>
          </a:p>
          <a:p>
            <a:pPr>
              <a:spcAft>
                <a:spcPts val="1000"/>
              </a:spcAft>
            </a:pPr>
            <a:r>
              <a:rPr sz="1800" b="0">
                <a:solidFill>
                  <a:srgbClr val="161B26"/>
                </a:solidFill>
                <a:latin typeface="Arial"/>
              </a:rPr>
              <a:t>•  Final Assessment</a:t>
            </a:r>
          </a:p>
          <a:p>
            <a:pPr>
              <a:spcAft>
                <a:spcPts val="1000"/>
              </a:spcAft>
            </a:pPr>
            <a:r>
              <a:rPr sz="1800" b="0">
                <a:solidFill>
                  <a:srgbClr val="161B26"/>
                </a:solidFill>
                <a:latin typeface="Arial"/>
              </a:rPr>
              <a:t>•  End of Class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Skills Framework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TSC Title: Cloud Computing Application</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TSC Code: LOG-TEM-3007-1.1</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TSC Abilities: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A1 Implement data loading, security, performance monitoring and tuning, capacity planning, backup and recovery</a:t>
            </a:r>
          </a:p>
          <a:p>
            <a:pPr>
              <a:spcAft>
                <a:spcPts val="1000"/>
              </a:spcAft>
            </a:pPr>
            <a:r>
              <a:rPr sz="1800" b="0">
                <a:solidFill>
                  <a:srgbClr val="161B26"/>
                </a:solidFill>
                <a:latin typeface="Arial"/>
              </a:rPr>
              <a:t>•  A2 Implement performance diagnostics and troubleshooting at scale in live environment</a:t>
            </a:r>
          </a:p>
          <a:p>
            <a:pPr>
              <a:spcAft>
                <a:spcPts val="1000"/>
              </a:spcAft>
            </a:pPr>
            <a:r>
              <a:rPr sz="1800" b="0">
                <a:solidFill>
                  <a:srgbClr val="161B26"/>
                </a:solidFill>
                <a:latin typeface="Arial"/>
              </a:rPr>
              <a:t>•  A3 Maintain availability and performance of cloud computing operations and to ensure secure services with no unplanned downtime</a:t>
            </a:r>
          </a:p>
          <a:p>
            <a:pPr>
              <a:spcAft>
                <a:spcPts val="1000"/>
              </a:spcAft>
            </a:pPr>
            <a:r>
              <a:rPr sz="1800" b="0">
                <a:solidFill>
                  <a:srgbClr val="161B26"/>
                </a:solidFill>
                <a:latin typeface="Arial"/>
              </a:rPr>
              <a:t>•  A4 Analyse processing issues and data anomalies and identify solutions</a:t>
            </a:r>
          </a:p>
          <a:p>
            <a:pPr>
              <a:spcAft>
                <a:spcPts val="1000"/>
              </a:spcAft>
            </a:pPr>
            <a:r>
              <a:rPr sz="1800" b="0">
                <a:solidFill>
                  <a:srgbClr val="161B26"/>
                </a:solidFill>
                <a:latin typeface="Arial"/>
              </a:rPr>
              <a:t>•  A5 Implement and release cloud computing operations changes</a:t>
            </a:r>
          </a:p>
          <a:p>
            <a:pPr>
              <a:spcAft>
                <a:spcPts val="1000"/>
              </a:spcAft>
            </a:pPr>
            <a:r>
              <a:rPr sz="1800" b="0">
                <a:solidFill>
                  <a:srgbClr val="161B26"/>
                </a:solidFill>
                <a:latin typeface="Arial"/>
              </a:rPr>
              <a:t>•  A6 Implement IT risk management measures for business continuity and disaster recovery</a:t>
            </a:r>
          </a:p>
          <a:p>
            <a:pPr>
              <a:spcAft>
                <a:spcPts val="1000"/>
              </a:spcAft>
            </a:pPr>
            <a:r>
              <a:rPr sz="1800" b="0">
                <a:solidFill>
                  <a:srgbClr val="161B26"/>
                </a:solidFill>
                <a:latin typeface="Arial"/>
              </a:rPr>
              <a:t>•  A7 Implementation of service quality standards</a:t>
            </a:r>
          </a:p>
          <a:p>
            <a:pPr>
              <a:spcAft>
                <a:spcPts val="1000"/>
              </a:spcAft>
            </a:pPr>
            <a:r>
              <a:rPr sz="1800" b="0">
                <a:solidFill>
                  <a:srgbClr val="161B26"/>
                </a:solidFill>
                <a:latin typeface="Arial"/>
              </a:rPr>
              <a:t>•  TSC Knowledge:</a:t>
            </a:r>
          </a:p>
          <a:p>
            <a:pPr>
              <a:spcAft>
                <a:spcPts val="1000"/>
              </a:spcAft>
            </a:pPr>
            <a:r>
              <a:rPr sz="1800" b="0">
                <a:solidFill>
                  <a:srgbClr val="161B26"/>
                </a:solidFill>
                <a:latin typeface="Arial"/>
              </a:rPr>
              <a:t>•  K1 Cloud computing infrastructure components and technologies</a:t>
            </a:r>
          </a:p>
          <a:p>
            <a:pPr>
              <a:spcAft>
                <a:spcPts val="1000"/>
              </a:spcAft>
            </a:pPr>
            <a:r>
              <a:rPr sz="1800" b="0">
                <a:solidFill>
                  <a:srgbClr val="161B26"/>
                </a:solidFill>
                <a:latin typeface="Arial"/>
              </a:rPr>
              <a:t>•  K2 Installation, configuration and troubleshooting of cloud computing infrastructures</a:t>
            </a:r>
          </a:p>
          <a:p>
            <a:pPr>
              <a:spcAft>
                <a:spcPts val="1000"/>
              </a:spcAft>
            </a:pPr>
            <a:r>
              <a:rPr sz="1800" b="0">
                <a:solidFill>
                  <a:srgbClr val="161B26"/>
                </a:solidFill>
                <a:latin typeface="Arial"/>
              </a:rPr>
              <a:t>•  K3 Installation, configuration and troubleshooting of software packages supporting cloud computing infrastructures</a:t>
            </a:r>
          </a:p>
          <a:p>
            <a:pPr>
              <a:spcAft>
                <a:spcPts val="1000"/>
              </a:spcAft>
            </a:pPr>
            <a:r>
              <a:rPr sz="1800" b="0">
                <a:solidFill>
                  <a:srgbClr val="161B26"/>
                </a:solidFill>
                <a:latin typeface="Arial"/>
              </a:rPr>
              <a:t>•  K4 Design, configuration, maintenance and troubleshooting of cloud computing applications</a:t>
            </a:r>
          </a:p>
          <a:p>
            <a:pPr>
              <a:spcAft>
                <a:spcPts val="1000"/>
              </a:spcAft>
            </a:pPr>
            <a:r>
              <a:rPr sz="1800" b="0">
                <a:solidFill>
                  <a:srgbClr val="161B26"/>
                </a:solidFill>
                <a:latin typeface="Arial"/>
              </a:rPr>
              <a:t>•  K5 Virtualisation technologies</a:t>
            </a:r>
          </a:p>
          <a:p>
            <a:pPr>
              <a:spcAft>
                <a:spcPts val="1000"/>
              </a:spcAft>
            </a:pPr>
            <a:r>
              <a:rPr sz="1800" b="0">
                <a:solidFill>
                  <a:srgbClr val="161B26"/>
                </a:solidFill>
                <a:latin typeface="Arial"/>
              </a:rPr>
              <a:t>•  Skills Framework TSC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LO1: Maintain business continuity of AWS cloud operations to ensure stable service delivery.</a:t>
            </a:r>
          </a:p>
          <a:p>
            <a:pPr>
              <a:spcAft>
                <a:spcPts val="1000"/>
              </a:spcAft>
            </a:pPr>
            <a:r>
              <a:rPr sz="2000" b="0">
                <a:solidFill>
                  <a:srgbClr val="161B26"/>
                </a:solidFill>
                <a:latin typeface="Arial"/>
              </a:rPr>
              <a:t>•  LO2: Implement secure AWS cloud infrastructure setup such as data loading and performance monitoring</a:t>
            </a:r>
          </a:p>
          <a:p>
            <a:pPr>
              <a:spcAft>
                <a:spcPts val="1000"/>
              </a:spcAft>
            </a:pPr>
            <a:r>
              <a:rPr sz="2000" b="0">
                <a:solidFill>
                  <a:srgbClr val="161B26"/>
                </a:solidFill>
                <a:latin typeface="Arial"/>
              </a:rPr>
              <a:t>•  LO3: Apply service quality standards to ensure security and compliance of AWS cloud operations.</a:t>
            </a:r>
          </a:p>
          <a:p>
            <a:pPr>
              <a:spcAft>
                <a:spcPts val="1000"/>
              </a:spcAft>
            </a:pPr>
            <a:r>
              <a:rPr sz="2000" b="0">
                <a:solidFill>
                  <a:srgbClr val="161B26"/>
                </a:solidFill>
                <a:latin typeface="Arial"/>
              </a:rPr>
              <a:t>•  LO4: Analyze and resolve processing issues to ensure continuity and disaster recovery in AWS cloud applications.</a:t>
            </a:r>
          </a:p>
          <a:p>
            <a:pPr>
              <a:spcAft>
                <a:spcPts val="1000"/>
              </a:spcAft>
            </a:pPr>
            <a:r>
              <a:rPr sz="2000" b="0">
                <a:solidFill>
                  <a:srgbClr val="161B26"/>
                </a:solidFill>
                <a:latin typeface="Arial"/>
              </a:rPr>
              <a:t>•  LO5: Troubleshoot networking performance issues at scale for optimal AWS infrastructure operation.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LU1: Reliability and Business Continuity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Topic 1 EC2 for SysOps</a:t>
            </a:r>
          </a:p>
          <a:p>
            <a:pPr>
              <a:spcAft>
                <a:spcPts val="1000"/>
              </a:spcAft>
            </a:pPr>
            <a:r>
              <a:rPr sz="1800" b="0">
                <a:solidFill>
                  <a:srgbClr val="161B26"/>
                </a:solidFill>
                <a:latin typeface="Arial"/>
              </a:rPr>
              <a:t>•  Topic 2 Amazon Machine Image (AMI)</a:t>
            </a:r>
          </a:p>
          <a:p>
            <a:pPr>
              <a:spcAft>
                <a:spcPts val="1000"/>
              </a:spcAft>
            </a:pPr>
            <a:r>
              <a:rPr sz="1800" b="0">
                <a:solidFill>
                  <a:srgbClr val="161B26"/>
                </a:solidFill>
                <a:latin typeface="Arial"/>
              </a:rPr>
              <a:t>•  Topic 3 Managing EC2 at Scale - Systems Manager (SSM)</a:t>
            </a:r>
          </a:p>
          <a:p>
            <a:pPr>
              <a:spcAft>
                <a:spcPts val="1000"/>
              </a:spcAft>
            </a:pPr>
            <a:r>
              <a:rPr sz="1800" b="0">
                <a:solidFill>
                  <a:srgbClr val="161B26"/>
                </a:solidFill>
                <a:latin typeface="Arial"/>
              </a:rPr>
              <a:t>•  Topic 4 EC2 High Availability and Scalability</a:t>
            </a:r>
          </a:p>
          <a:p>
            <a:pPr>
              <a:spcAft>
                <a:spcPts val="1000"/>
              </a:spcAft>
            </a:pPr>
            <a:r>
              <a:rPr sz="1800" b="0">
                <a:solidFill>
                  <a:srgbClr val="161B26"/>
                </a:solidFill>
                <a:latin typeface="Arial"/>
              </a:rPr>
              <a:t>•  Topic 5 Elastic Beanstalk for SysOps</a:t>
            </a:r>
          </a:p>
          <a:p>
            <a:pPr>
              <a:spcAft>
                <a:spcPts val="1000"/>
              </a:spcAft>
            </a:pPr>
            <a:r>
              <a:rPr sz="1800" b="0">
                <a:solidFill>
                  <a:srgbClr val="161B26"/>
                </a:solidFill>
                <a:latin typeface="Arial"/>
              </a:rPr>
              <a:t>•  LU2: Deployment, Provisioning, and Automation</a:t>
            </a:r>
          </a:p>
          <a:p>
            <a:pPr>
              <a:spcAft>
                <a:spcPts val="1000"/>
              </a:spcAft>
            </a:pPr>
            <a:r>
              <a:rPr sz="1800" b="0">
                <a:solidFill>
                  <a:srgbClr val="161B26"/>
                </a:solidFill>
                <a:latin typeface="Arial"/>
              </a:rPr>
              <a:t>•  Topic 6 CloudFormation for SysOps</a:t>
            </a:r>
          </a:p>
          <a:p>
            <a:pPr>
              <a:spcAft>
                <a:spcPts val="1000"/>
              </a:spcAft>
            </a:pPr>
            <a:r>
              <a:rPr sz="1800" b="0">
                <a:solidFill>
                  <a:srgbClr val="161B26"/>
                </a:solidFill>
                <a:latin typeface="Arial"/>
              </a:rPr>
              <a:t>•  Topic 7 EC2 Storage and Data Management - EBS and EFS</a:t>
            </a:r>
          </a:p>
          <a:p>
            <a:pPr>
              <a:spcAft>
                <a:spcPts val="1000"/>
              </a:spcAft>
            </a:pPr>
            <a:r>
              <a:rPr sz="1800" b="0">
                <a:solidFill>
                  <a:srgbClr val="161B26"/>
                </a:solidFill>
                <a:latin typeface="Arial"/>
              </a:rPr>
              <a:t>•  Topic 8 Amazon S3</a:t>
            </a:r>
          </a:p>
          <a:p>
            <a:pPr>
              <a:spcAft>
                <a:spcPts val="1000"/>
              </a:spcAft>
            </a:pPr>
            <a:r>
              <a:rPr sz="1800" b="0">
                <a:solidFill>
                  <a:srgbClr val="161B26"/>
                </a:solidFill>
                <a:latin typeface="Arial"/>
              </a:rPr>
              <a:t>•  Topic 9 Advanced Amazon S3 and Athena</a:t>
            </a:r>
          </a:p>
          <a:p>
            <a:pPr>
              <a:spcAft>
                <a:spcPts val="1000"/>
              </a:spcAft>
            </a:pPr>
            <a:r>
              <a:rPr sz="1800" b="0">
                <a:solidFill>
                  <a:srgbClr val="161B26"/>
                </a:solidFill>
                <a:latin typeface="Arial"/>
              </a:rPr>
              <a:t>•  Topic 10 Advanced Storage</a:t>
            </a:r>
          </a:p>
          <a:p>
            <a:pPr>
              <a:spcAft>
                <a:spcPts val="1000"/>
              </a:spcAft>
            </a:pPr>
            <a:r>
              <a:rPr sz="1800" b="0">
                <a:solidFill>
                  <a:srgbClr val="161B26"/>
                </a:solidFill>
                <a:latin typeface="Arial"/>
              </a:rPr>
              <a:t>•  Topic 11 CloudFront</a:t>
            </a:r>
          </a:p>
          <a:p>
            <a:pPr>
              <a:spcAft>
                <a:spcPts val="1000"/>
              </a:spcAft>
            </a:pPr>
            <a:r>
              <a:rPr sz="1800" b="0">
                <a:solidFill>
                  <a:srgbClr val="161B26"/>
                </a:solidFill>
                <a:latin typeface="Arial"/>
              </a:rPr>
              <a:t>•  Topic 12 Database for SysOps</a:t>
            </a:r>
          </a:p>
          <a:p>
            <a:pPr>
              <a:spcAft>
                <a:spcPts val="1000"/>
              </a:spcAft>
            </a:pPr>
            <a:r>
              <a:rPr sz="1800" b="0">
                <a:solidFill>
                  <a:srgbClr val="161B26"/>
                </a:solidFill>
                <a:latin typeface="Arial"/>
              </a:rPr>
              <a:t>•  Course Outline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LU3: Security and Compliance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Topic 13 Amazon S3 Security</a:t>
            </a:r>
          </a:p>
          <a:p>
            <a:pPr>
              <a:spcAft>
                <a:spcPts val="1000"/>
              </a:spcAft>
            </a:pPr>
            <a:r>
              <a:rPr sz="1800" b="0">
                <a:solidFill>
                  <a:srgbClr val="161B26"/>
                </a:solidFill>
                <a:latin typeface="Arial"/>
              </a:rPr>
              <a:t>•  Topic 14 Security and Compliance for SysOps</a:t>
            </a:r>
          </a:p>
          <a:p>
            <a:pPr>
              <a:spcAft>
                <a:spcPts val="1000"/>
              </a:spcAft>
            </a:pPr>
            <a:r>
              <a:rPr sz="1800" b="0">
                <a:solidFill>
                  <a:srgbClr val="161B26"/>
                </a:solidFill>
                <a:latin typeface="Arial"/>
              </a:rPr>
              <a:t>•  Topic 15 Identity</a:t>
            </a:r>
          </a:p>
          <a:p>
            <a:pPr>
              <a:spcAft>
                <a:spcPts val="1000"/>
              </a:spcAft>
            </a:pPr>
            <a:r>
              <a:rPr sz="1800" b="0">
                <a:solidFill>
                  <a:srgbClr val="161B26"/>
                </a:solidFill>
                <a:latin typeface="Arial"/>
              </a:rPr>
              <a:t>•  LU4: Monitoring, Logging, and Remediation</a:t>
            </a:r>
          </a:p>
          <a:p>
            <a:pPr>
              <a:spcAft>
                <a:spcPts val="1000"/>
              </a:spcAft>
            </a:pPr>
            <a:r>
              <a:rPr sz="1800" b="0">
                <a:solidFill>
                  <a:srgbClr val="161B26"/>
                </a:solidFill>
                <a:latin typeface="Arial"/>
              </a:rPr>
              <a:t>•  Topic 16 Monitoring, Auditing and Performance</a:t>
            </a:r>
          </a:p>
          <a:p>
            <a:pPr>
              <a:spcAft>
                <a:spcPts val="1000"/>
              </a:spcAft>
            </a:pPr>
            <a:r>
              <a:rPr sz="1800" b="0">
                <a:solidFill>
                  <a:srgbClr val="161B26"/>
                </a:solidFill>
                <a:latin typeface="Arial"/>
              </a:rPr>
              <a:t>•  Topic 17 AWS Account Management</a:t>
            </a:r>
          </a:p>
          <a:p>
            <a:pPr>
              <a:spcAft>
                <a:spcPts val="1000"/>
              </a:spcAft>
            </a:pPr>
            <a:r>
              <a:rPr sz="1800" b="0">
                <a:solidFill>
                  <a:srgbClr val="161B26"/>
                </a:solidFill>
                <a:latin typeface="Arial"/>
              </a:rPr>
              <a:t>•  Topic 18 Disaster Discovery</a:t>
            </a:r>
          </a:p>
          <a:p>
            <a:pPr>
              <a:spcAft>
                <a:spcPts val="1000"/>
              </a:spcAft>
            </a:pPr>
            <a:r>
              <a:rPr sz="1800" b="0">
                <a:solidFill>
                  <a:srgbClr val="161B26"/>
                </a:solidFill>
                <a:latin typeface="Arial"/>
              </a:rPr>
              <a:t>•  LU5: Networking and Content Delivery</a:t>
            </a:r>
          </a:p>
          <a:p>
            <a:pPr>
              <a:spcAft>
                <a:spcPts val="1000"/>
              </a:spcAft>
            </a:pPr>
            <a:r>
              <a:rPr sz="1800" b="0">
                <a:solidFill>
                  <a:srgbClr val="161B26"/>
                </a:solidFill>
                <a:latin typeface="Arial"/>
              </a:rPr>
              <a:t>•  Topic 19 Networking - Route 53</a:t>
            </a:r>
          </a:p>
          <a:p>
            <a:pPr>
              <a:spcAft>
                <a:spcPts val="1000"/>
              </a:spcAft>
            </a:pPr>
            <a:r>
              <a:rPr sz="1800" b="0">
                <a:solidFill>
                  <a:srgbClr val="161B26"/>
                </a:solidFill>
                <a:latin typeface="Arial"/>
              </a:rPr>
              <a:t>•  Topic 20 Networking VPC</a:t>
            </a:r>
          </a:p>
          <a:p>
            <a:pPr>
              <a:spcAft>
                <a:spcPts val="1000"/>
              </a:spcAft>
            </a:pPr>
            <a:r>
              <a:rPr sz="1800" b="0">
                <a:solidFill>
                  <a:srgbClr val="161B26"/>
                </a:solidFill>
                <a:latin typeface="Arial"/>
              </a:rPr>
              <a:t>•  Course Outline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hr</a:t>
            </a:r>
          </a:p>
          <a:p>
            <a:pPr>
              <a:spcAft>
                <a:spcPts val="1000"/>
              </a:spcAft>
            </a:pPr>
            <a:r>
              <a:rPr sz="2000" b="0">
                <a:solidFill>
                  <a:srgbClr val="161B26"/>
                </a:solidFill>
                <a:latin typeface="Arial"/>
              </a:rPr>
              <a:t>•  Practical Performance (PP) - 1 hr</a:t>
            </a:r>
          </a:p>
          <a:p>
            <a:pPr>
              <a:spcAft>
                <a:spcPts val="1000"/>
              </a:spcAft>
            </a:pPr>
            <a:r>
              <a:rPr sz="2000" b="0">
                <a:solidFill>
                  <a:srgbClr val="161B26"/>
                </a:solidFill>
                <a:latin typeface="Arial"/>
              </a:rPr>
              <a:t>•  Assessment format: Open Book</a:t>
            </a:r>
          </a:p>
          <a:p>
            <a:pPr>
              <a:spcAft>
                <a:spcPts val="1000"/>
              </a:spcAft>
            </a:pPr>
            <a:r>
              <a:rPr sz="2000" b="0">
                <a:solidFill>
                  <a:srgbClr val="161B26"/>
                </a:solidFill>
                <a:latin typeface="Arial"/>
              </a:rPr>
              <a:t>•  Open book assessment ONLY includes Slides, Learner Guide or any approved materials.</a:t>
            </a:r>
          </a:p>
          <a:p>
            <a:pPr>
              <a:spcAft>
                <a:spcPts val="1000"/>
              </a:spcAft>
            </a:pPr>
            <a:r>
              <a:rPr sz="2000" b="0">
                <a:solidFill>
                  <a:srgbClr val="161B26"/>
                </a:solidFill>
                <a:latin typeface="Arial"/>
              </a:rPr>
              <a:t>•  Appeal process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Place phones &amp; other materials under the table or on the floor</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assessment</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Use black/blue pen for assessment [hard copies]</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usage of liquid paper or correction tape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Assessment scripts will be collected when the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Minimum attendance rate of 75% based on SSG Digital Attendance record.</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Complete the assessment and be assessed as ‘Competent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Access AWS Skills Builder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training@tertiaryinfotech.com</a:t>
            </a:r>
          </a:p>
          <a:p>
            <a:pPr>
              <a:spcAft>
                <a:spcPts val="1000"/>
              </a:spcAft>
            </a:pPr>
            <a:r>
              <a:rPr sz="1800" b="0">
                <a:solidFill>
                  <a:srgbClr val="161B26"/>
                </a:solidFill>
                <a:latin typeface="Arial"/>
              </a:rPr>
              <a:t>•  training2@tertiaryinfotech.com</a:t>
            </a:r>
          </a:p>
          <a:p>
            <a:pPr>
              <a:spcAft>
                <a:spcPts val="1000"/>
              </a:spcAft>
            </a:pPr>
            <a:r>
              <a:rPr sz="1800" b="0">
                <a:solidFill>
                  <a:srgbClr val="161B26"/>
                </a:solidFill>
                <a:latin typeface="Arial"/>
              </a:rPr>
              <a:t>•  training3@tertiaryinfotech.com</a:t>
            </a:r>
          </a:p>
          <a:p>
            <a:pPr>
              <a:spcAft>
                <a:spcPts val="1000"/>
              </a:spcAft>
            </a:pPr>
            <a:r>
              <a:rPr sz="1800" b="0">
                <a:solidFill>
                  <a:srgbClr val="161B26"/>
                </a:solidFill>
                <a:latin typeface="Arial"/>
              </a:rPr>
              <a:t>•  training4@tertiaryinfotech.com</a:t>
            </a:r>
          </a:p>
          <a:p>
            <a:pPr>
              <a:spcAft>
                <a:spcPts val="1000"/>
              </a:spcAft>
            </a:pPr>
            <a:r>
              <a:rPr sz="1800" b="0">
                <a:solidFill>
                  <a:srgbClr val="161B26"/>
                </a:solidFill>
                <a:latin typeface="Arial"/>
              </a:rPr>
              <a:t>•  training5@tertiaryinfotech.com</a:t>
            </a:r>
          </a:p>
          <a:p>
            <a:pPr>
              <a:spcAft>
                <a:spcPts val="1000"/>
              </a:spcAft>
            </a:pPr>
            <a:r>
              <a:rPr sz="1800" b="0">
                <a:solidFill>
                  <a:srgbClr val="161B26"/>
                </a:solidFill>
                <a:latin typeface="Arial"/>
              </a:rPr>
              <a:t>•  PW: Tertiary@888</a:t>
            </a:r>
          </a:p>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training6@tertiaryinfotech.com</a:t>
            </a:r>
          </a:p>
          <a:p>
            <a:pPr>
              <a:spcAft>
                <a:spcPts val="1000"/>
              </a:spcAft>
            </a:pPr>
            <a:r>
              <a:rPr sz="1800" b="0">
                <a:solidFill>
                  <a:srgbClr val="161B26"/>
                </a:solidFill>
                <a:latin typeface="Arial"/>
              </a:rPr>
              <a:t>•  training7@tertiaryinfotech.com</a:t>
            </a:r>
          </a:p>
          <a:p>
            <a:pPr>
              <a:spcAft>
                <a:spcPts val="1000"/>
              </a:spcAft>
            </a:pPr>
            <a:r>
              <a:rPr sz="1800" b="0">
                <a:solidFill>
                  <a:srgbClr val="161B26"/>
                </a:solidFill>
                <a:latin typeface="Arial"/>
              </a:rPr>
              <a:t>•  training8@tertiaryinfotech.com</a:t>
            </a:r>
          </a:p>
          <a:p>
            <a:pPr>
              <a:spcAft>
                <a:spcPts val="1000"/>
              </a:spcAft>
            </a:pPr>
            <a:r>
              <a:rPr sz="1800" b="0">
                <a:solidFill>
                  <a:srgbClr val="161B26"/>
                </a:solidFill>
                <a:latin typeface="Arial"/>
              </a:rPr>
              <a:t>•  training9@tertiaryinfotech.com</a:t>
            </a:r>
          </a:p>
          <a:p>
            <a:pPr>
              <a:spcAft>
                <a:spcPts val="1000"/>
              </a:spcAft>
            </a:pPr>
            <a:r>
              <a:rPr sz="1800" b="0">
                <a:solidFill>
                  <a:srgbClr val="161B26"/>
                </a:solidFill>
                <a:latin typeface="Arial"/>
              </a:rPr>
              <a:t>•  training10@tertiaryinfotech.com</a:t>
            </a:r>
          </a:p>
          <a:p>
            <a:pPr>
              <a:spcAft>
                <a:spcPts val="1000"/>
              </a:spcAft>
            </a:pPr>
            <a:r>
              <a:rPr sz="1800" b="0">
                <a:solidFill>
                  <a:srgbClr val="161B26"/>
                </a:solidFill>
                <a:latin typeface="Arial"/>
              </a:rPr>
              <a:t>•  PW: Tertiary@888</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Sign Up Free Trial AWS Account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88222"/>
            <a:ext cx="10479024" cy="37959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17_0.png"/>
          <p:cNvPicPr>
            <a:picLocks noChangeAspect="1"/>
          </p:cNvPicPr>
          <p:nvPr/>
        </p:nvPicPr>
        <p:blipFill>
          <a:blip r:embed="rId2"/>
          <a:stretch>
            <a:fillRect/>
          </a:stretch>
        </p:blipFill>
        <p:spPr>
          <a:xfrm>
            <a:off x="868680" y="2015654"/>
            <a:ext cx="10424160" cy="374109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https://aws.amazon.com/free/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Download Sample Codes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Download the sample codes use for this course below</a:t>
            </a:r>
          </a:p>
          <a:p>
            <a:pPr>
              <a:spcAft>
                <a:spcPts val="1000"/>
              </a:spcAft>
            </a:pPr>
            <a:r>
              <a:rPr sz="2000" b="0">
                <a:solidFill>
                  <a:srgbClr val="161B26"/>
                </a:solidFill>
                <a:latin typeface="Arial"/>
              </a:rPr>
              <a:t>•  https://drive.google.com/drive/folders/15Ol6kzinWR7dUIXG3t3rOUOFBeGUWNwq</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LMS/TMS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47600" y="1801368"/>
            <a:ext cx="34663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19_0.png"/>
          <p:cNvPicPr>
            <a:picLocks noChangeAspect="1"/>
          </p:cNvPicPr>
          <p:nvPr/>
        </p:nvPicPr>
        <p:blipFill>
          <a:blip r:embed="rId2"/>
          <a:stretch>
            <a:fillRect/>
          </a:stretch>
        </p:blipFill>
        <p:spPr>
          <a:xfrm>
            <a:off x="4375032" y="1828800"/>
            <a:ext cx="341145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EC2 for SysOps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1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Interface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1685" y="1801368"/>
            <a:ext cx="100181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2_0.png"/>
          <p:cNvPicPr>
            <a:picLocks noChangeAspect="1"/>
          </p:cNvPicPr>
          <p:nvPr/>
        </p:nvPicPr>
        <p:blipFill>
          <a:blip r:embed="rId2"/>
          <a:stretch>
            <a:fillRect/>
          </a:stretch>
        </p:blipFill>
        <p:spPr>
          <a:xfrm>
            <a:off x="1099117" y="1828800"/>
            <a:ext cx="996328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Changing Instance Type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93354"/>
            <a:ext cx="10479024" cy="398569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3_0.png"/>
          <p:cNvPicPr>
            <a:picLocks noChangeAspect="1"/>
          </p:cNvPicPr>
          <p:nvPr/>
        </p:nvPicPr>
        <p:blipFill>
          <a:blip r:embed="rId2"/>
          <a:stretch>
            <a:fillRect/>
          </a:stretch>
        </p:blipFill>
        <p:spPr>
          <a:xfrm>
            <a:off x="868680" y="1920786"/>
            <a:ext cx="10424160" cy="393082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This only works for EBS backed instances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Launching a EC2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6756" y="1801368"/>
            <a:ext cx="872800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4_0.png"/>
          <p:cNvPicPr>
            <a:picLocks noChangeAspect="1"/>
          </p:cNvPicPr>
          <p:nvPr/>
        </p:nvPicPr>
        <p:blipFill>
          <a:blip r:embed="rId2"/>
          <a:stretch>
            <a:fillRect/>
          </a:stretch>
        </p:blipFill>
        <p:spPr>
          <a:xfrm>
            <a:off x="1744188" y="1828800"/>
            <a:ext cx="867314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Enhanced Networking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Enhanced Networking (SR-IOV)</a:t>
            </a:r>
          </a:p>
          <a:p>
            <a:pPr>
              <a:spcAft>
                <a:spcPts val="1000"/>
              </a:spcAft>
            </a:pPr>
            <a:r>
              <a:rPr sz="1800" b="0">
                <a:solidFill>
                  <a:srgbClr val="161B26"/>
                </a:solidFill>
                <a:latin typeface="Arial"/>
              </a:rPr>
              <a:t>•  Higher bandwidth, higher PPS (packet per second), lower latency</a:t>
            </a:r>
          </a:p>
          <a:p>
            <a:pPr>
              <a:spcAft>
                <a:spcPts val="1000"/>
              </a:spcAft>
            </a:pPr>
            <a:r>
              <a:rPr sz="1800" b="0">
                <a:solidFill>
                  <a:srgbClr val="161B26"/>
                </a:solidFill>
                <a:latin typeface="Arial"/>
              </a:rPr>
              <a:t>•  Option 1: Elastic Network Adapter (ENA) up to 100 Gbps</a:t>
            </a:r>
          </a:p>
          <a:p>
            <a:pPr>
              <a:spcAft>
                <a:spcPts val="1000"/>
              </a:spcAft>
            </a:pPr>
            <a:r>
              <a:rPr sz="1800" b="0">
                <a:solidFill>
                  <a:srgbClr val="161B26"/>
                </a:solidFill>
                <a:latin typeface="Arial"/>
              </a:rPr>
              <a:t>•  Option 2: Intel 82599 VF up to 10 Gbps – LEGACY</a:t>
            </a:r>
          </a:p>
          <a:p>
            <a:pPr>
              <a:spcAft>
                <a:spcPts val="1000"/>
              </a:spcAft>
            </a:pPr>
            <a:r>
              <a:rPr sz="1800" b="0">
                <a:solidFill>
                  <a:srgbClr val="161B26"/>
                </a:solidFill>
                <a:latin typeface="Arial"/>
              </a:rPr>
              <a:t>•  Works for newer generation EC2 Instances</a:t>
            </a:r>
          </a:p>
          <a:p>
            <a:pPr>
              <a:spcAft>
                <a:spcPts val="1000"/>
              </a:spcAft>
            </a:pPr>
            <a:r>
              <a:rPr sz="1800" b="0">
                <a:solidFill>
                  <a:srgbClr val="161B26"/>
                </a:solidFill>
                <a:latin typeface="Arial"/>
              </a:rPr>
              <a:t>•  Elastic Fabric Adapter (EFA)</a:t>
            </a:r>
          </a:p>
          <a:p>
            <a:pPr>
              <a:spcAft>
                <a:spcPts val="1000"/>
              </a:spcAft>
            </a:pPr>
            <a:r>
              <a:rPr sz="1800" b="0">
                <a:solidFill>
                  <a:srgbClr val="161B26"/>
                </a:solidFill>
                <a:latin typeface="Arial"/>
              </a:rPr>
              <a:t>•  Improved ENA for HPC, only works for Linux</a:t>
            </a:r>
          </a:p>
          <a:p>
            <a:pPr>
              <a:spcAft>
                <a:spcPts val="1000"/>
              </a:spcAft>
            </a:pPr>
            <a:r>
              <a:rPr sz="1800" b="0">
                <a:solidFill>
                  <a:srgbClr val="161B26"/>
                </a:solidFill>
                <a:latin typeface="Arial"/>
              </a:rPr>
              <a:t>•  Great for inter-node communications, tightly coupled workloads.</a:t>
            </a:r>
          </a:p>
          <a:p>
            <a:pPr>
              <a:spcAft>
                <a:spcPts val="1000"/>
              </a:spcAft>
            </a:pPr>
            <a:r>
              <a:rPr sz="1800" b="0">
                <a:solidFill>
                  <a:srgbClr val="161B26"/>
                </a:solidFill>
                <a:latin typeface="Arial"/>
              </a:rPr>
              <a:t>•  Leverages Message Passing Interface (MPI) standard</a:t>
            </a:r>
          </a:p>
          <a:p>
            <a:pPr>
              <a:spcAft>
                <a:spcPts val="1000"/>
              </a:spcAft>
            </a:pPr>
            <a:r>
              <a:rPr sz="1800" b="0">
                <a:solidFill>
                  <a:srgbClr val="161B26"/>
                </a:solidFill>
                <a:latin typeface="Arial"/>
              </a:rPr>
              <a:t>•  Bypasses the underlying Linux OS to provide low-latency reliable transport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Placement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Sometimes you want control over the EC2 Instance placement strategy</a:t>
            </a:r>
          </a:p>
          <a:p>
            <a:pPr>
              <a:spcAft>
                <a:spcPts val="1000"/>
              </a:spcAft>
            </a:pPr>
            <a:r>
              <a:rPr sz="2000" b="0">
                <a:solidFill>
                  <a:srgbClr val="161B26"/>
                </a:solidFill>
                <a:latin typeface="Arial"/>
              </a:rPr>
              <a:t>•  That strategy can be defined using placement groups</a:t>
            </a:r>
          </a:p>
          <a:p>
            <a:pPr>
              <a:spcAft>
                <a:spcPts val="1000"/>
              </a:spcAft>
            </a:pPr>
            <a:r>
              <a:rPr sz="2000" b="0">
                <a:solidFill>
                  <a:srgbClr val="161B26"/>
                </a:solidFill>
                <a:latin typeface="Arial"/>
              </a:rPr>
              <a:t>•  When you create a placement group, you specify one of the following strategies for the group:</a:t>
            </a:r>
          </a:p>
          <a:p>
            <a:pPr>
              <a:spcAft>
                <a:spcPts val="1000"/>
              </a:spcAft>
            </a:pPr>
            <a:r>
              <a:rPr sz="2000" b="0">
                <a:solidFill>
                  <a:srgbClr val="161B26"/>
                </a:solidFill>
                <a:latin typeface="Arial"/>
              </a:rPr>
              <a:t>•  Cluster—clusters instances into a low-latency group in a single Availability Zone</a:t>
            </a:r>
          </a:p>
          <a:p>
            <a:pPr>
              <a:spcAft>
                <a:spcPts val="1000"/>
              </a:spcAft>
            </a:pPr>
            <a:r>
              <a:rPr sz="2000" b="0">
                <a:solidFill>
                  <a:srgbClr val="161B26"/>
                </a:solidFill>
                <a:latin typeface="Arial"/>
              </a:rPr>
              <a:t>•  Spread—spreads instances across underlying hardware (max 7 instances per group per AZ) – critical applications</a:t>
            </a:r>
          </a:p>
          <a:p>
            <a:pPr>
              <a:spcAft>
                <a:spcPts val="1000"/>
              </a:spcAft>
            </a:pPr>
            <a:r>
              <a:rPr sz="2000" b="0">
                <a:solidFill>
                  <a:srgbClr val="161B26"/>
                </a:solidFill>
                <a:latin typeface="Arial"/>
              </a:rPr>
              <a:t>•  Partition—spreads instances across many different partitions (which rely on 	different sets of racks) within an AZ. Scales to 100s of EC2 instances per group (Hadoop, Cassandra, Kafka)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Same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Placement Groups Cluster</a:t>
            </a:r>
          </a:p>
          <a:p>
            <a:pPr>
              <a:spcAft>
                <a:spcPts val="1000"/>
              </a:spcAft>
            </a:pPr>
            <a:r>
              <a:rPr sz="1800" b="0">
                <a:solidFill>
                  <a:srgbClr val="161B26"/>
                </a:solidFill>
                <a:latin typeface="Arial"/>
              </a:rPr>
              <a:t>•  Placement group Cluster</a:t>
            </a:r>
          </a:p>
          <a:p>
            <a:pPr>
              <a:spcAft>
                <a:spcPts val="1000"/>
              </a:spcAft>
            </a:pPr>
            <a:r>
              <a:rPr sz="1800" b="0">
                <a:solidFill>
                  <a:srgbClr val="161B26"/>
                </a:solidFill>
                <a:latin typeface="Arial"/>
              </a:rPr>
              <a:t>•  Low latency</a:t>
            </a:r>
          </a:p>
          <a:p>
            <a:pPr>
              <a:spcAft>
                <a:spcPts val="1000"/>
              </a:spcAft>
            </a:pPr>
            <a:r>
              <a:rPr sz="1800" b="0">
                <a:solidFill>
                  <a:srgbClr val="161B26"/>
                </a:solidFill>
                <a:latin typeface="Arial"/>
              </a:rPr>
              <a:t>•  10 Gbps network</a:t>
            </a:r>
          </a:p>
          <a:p>
            <a:pPr>
              <a:spcAft>
                <a:spcPts val="1000"/>
              </a:spcAft>
            </a:pPr>
            <a:r>
              <a:rPr sz="1800" b="0">
                <a:solidFill>
                  <a:srgbClr val="161B26"/>
                </a:solidFill>
                <a:latin typeface="Arial"/>
              </a:rPr>
              <a:t>•  Pros: Great network (10 Gbps bandwidth between instances with Enhanced Networking enabled - recommended)</a:t>
            </a:r>
          </a:p>
          <a:p>
            <a:pPr>
              <a:spcAft>
                <a:spcPts val="1000"/>
              </a:spcAft>
            </a:pPr>
            <a:r>
              <a:rPr sz="1800" b="0">
                <a:solidFill>
                  <a:srgbClr val="161B26"/>
                </a:solidFill>
                <a:latin typeface="Arial"/>
              </a:rPr>
              <a:t>•  Cons: If the AZ fails, all instances fails at the same time</a:t>
            </a:r>
          </a:p>
          <a:p>
            <a:pPr>
              <a:spcAft>
                <a:spcPts val="1000"/>
              </a:spcAft>
            </a:pPr>
            <a:r>
              <a:rPr sz="1800" b="0">
                <a:solidFill>
                  <a:srgbClr val="161B26"/>
                </a:solidFill>
                <a:latin typeface="Arial"/>
              </a:rPr>
              <a:t>•  Use case:</a:t>
            </a:r>
          </a:p>
          <a:p>
            <a:pPr>
              <a:spcAft>
                <a:spcPts val="1000"/>
              </a:spcAft>
            </a:pPr>
            <a:r>
              <a:rPr sz="1800" b="0">
                <a:solidFill>
                  <a:srgbClr val="161B26"/>
                </a:solidFill>
                <a:latin typeface="Arial"/>
              </a:rPr>
              <a:t>•  Big Data job that needs to complete fast</a:t>
            </a:r>
          </a:p>
          <a:p>
            <a:pPr>
              <a:spcAft>
                <a:spcPts val="1000"/>
              </a:spcAft>
            </a:pPr>
            <a:r>
              <a:rPr sz="1800" b="0">
                <a:solidFill>
                  <a:srgbClr val="161B26"/>
                </a:solidFill>
                <a:latin typeface="Arial"/>
              </a:rPr>
              <a:t>•  Application that needs extremely low latency and high network throughput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Us-east-1a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Hardware 1</a:t>
            </a:r>
          </a:p>
          <a:p>
            <a:pPr>
              <a:spcAft>
                <a:spcPts val="1000"/>
              </a:spcAft>
            </a:pPr>
            <a:r>
              <a:rPr sz="1800" b="0">
                <a:solidFill>
                  <a:srgbClr val="161B26"/>
                </a:solidFill>
                <a:latin typeface="Arial"/>
              </a:rPr>
              <a:t>•  Placement Groups Spread</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Hardware 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Hardware 3</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Hardware 4</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Us-east-1c</a:t>
            </a:r>
          </a:p>
          <a:p>
            <a:pPr>
              <a:spcAft>
                <a:spcPts val="1000"/>
              </a:spcAft>
            </a:pPr>
            <a:r>
              <a:rPr sz="1800" b="0">
                <a:solidFill>
                  <a:srgbClr val="161B26"/>
                </a:solidFill>
                <a:latin typeface="Arial"/>
              </a:rPr>
              <a:t>•  Hardware 5</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Hardware 6</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Pros:</a:t>
            </a:r>
          </a:p>
          <a:p>
            <a:pPr>
              <a:spcAft>
                <a:spcPts val="1000"/>
              </a:spcAft>
            </a:pPr>
            <a:r>
              <a:rPr sz="1800" b="0">
                <a:solidFill>
                  <a:srgbClr val="161B26"/>
                </a:solidFill>
                <a:latin typeface="Arial"/>
              </a:rPr>
              <a:t>•  Can span across Availability Zones (AZ)</a:t>
            </a:r>
          </a:p>
          <a:p>
            <a:pPr>
              <a:spcAft>
                <a:spcPts val="1000"/>
              </a:spcAft>
            </a:pPr>
            <a:r>
              <a:rPr sz="1800" b="0">
                <a:solidFill>
                  <a:srgbClr val="161B26"/>
                </a:solidFill>
                <a:latin typeface="Arial"/>
              </a:rPr>
              <a:t>•  Reduced risk is simultaneous failure</a:t>
            </a:r>
          </a:p>
          <a:p>
            <a:pPr>
              <a:spcAft>
                <a:spcPts val="1000"/>
              </a:spcAft>
            </a:pPr>
            <a:r>
              <a:rPr sz="1800" b="0">
                <a:solidFill>
                  <a:srgbClr val="161B26"/>
                </a:solidFill>
                <a:latin typeface="Arial"/>
              </a:rPr>
              <a:t>•  EC2 Instances are on different physical hardware</a:t>
            </a:r>
          </a:p>
          <a:p>
            <a:pPr>
              <a:spcAft>
                <a:spcPts val="1000"/>
              </a:spcAft>
            </a:pPr>
            <a:r>
              <a:rPr sz="1800" b="0">
                <a:solidFill>
                  <a:srgbClr val="161B26"/>
                </a:solidFill>
                <a:latin typeface="Arial"/>
              </a:rPr>
              <a:t>•  Cons:</a:t>
            </a:r>
          </a:p>
          <a:p>
            <a:pPr>
              <a:spcAft>
                <a:spcPts val="1000"/>
              </a:spcAft>
            </a:pPr>
            <a:r>
              <a:rPr sz="1800" b="0">
                <a:solidFill>
                  <a:srgbClr val="161B26"/>
                </a:solidFill>
                <a:latin typeface="Arial"/>
              </a:rPr>
              <a:t>•  Limited to 7 instances per AZ per placement group</a:t>
            </a:r>
          </a:p>
          <a:p>
            <a:pPr>
              <a:spcAft>
                <a:spcPts val="1000"/>
              </a:spcAft>
            </a:pPr>
            <a:r>
              <a:rPr sz="1800" b="0">
                <a:solidFill>
                  <a:srgbClr val="161B26"/>
                </a:solidFill>
                <a:latin typeface="Arial"/>
              </a:rPr>
              <a:t>•  Use case:</a:t>
            </a:r>
          </a:p>
          <a:p>
            <a:pPr>
              <a:spcAft>
                <a:spcPts val="1000"/>
              </a:spcAft>
            </a:pPr>
            <a:r>
              <a:rPr sz="1800" b="0">
                <a:solidFill>
                  <a:srgbClr val="161B26"/>
                </a:solidFill>
                <a:latin typeface="Arial"/>
              </a:rPr>
              <a:t>•  Application that needs to maximize high availability</a:t>
            </a:r>
          </a:p>
          <a:p>
            <a:pPr>
              <a:spcAft>
                <a:spcPts val="1000"/>
              </a:spcAft>
            </a:pPr>
            <a:r>
              <a:rPr sz="1800" b="0">
                <a:solidFill>
                  <a:srgbClr val="161B26"/>
                </a:solidFill>
                <a:latin typeface="Arial"/>
              </a:rPr>
              <a:t>•  Critical Applications where</a:t>
            </a:r>
          </a:p>
          <a:p>
            <a:pPr>
              <a:spcAft>
                <a:spcPts val="1000"/>
              </a:spcAft>
            </a:pPr>
            <a:r>
              <a:rPr sz="1800" b="0">
                <a:solidFill>
                  <a:srgbClr val="161B26"/>
                </a:solidFill>
                <a:latin typeface="Arial"/>
              </a:rPr>
              <a:t>•  each instance must be isolated from failure from each other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Placements Groups Partition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Partition 1</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Partition 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Partition 3</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Up to 7 partitions per AZ</a:t>
            </a:r>
          </a:p>
          <a:p>
            <a:pPr>
              <a:spcAft>
                <a:spcPts val="1000"/>
              </a:spcAft>
            </a:pPr>
            <a:r>
              <a:rPr sz="1800" b="0">
                <a:solidFill>
                  <a:srgbClr val="161B26"/>
                </a:solidFill>
                <a:latin typeface="Arial"/>
              </a:rPr>
              <a:t>•  Can span across multiple AZs in the same region</a:t>
            </a:r>
          </a:p>
          <a:p>
            <a:pPr>
              <a:spcAft>
                <a:spcPts val="1000"/>
              </a:spcAft>
            </a:pPr>
            <a:r>
              <a:rPr sz="1800" b="0">
                <a:solidFill>
                  <a:srgbClr val="161B26"/>
                </a:solidFill>
                <a:latin typeface="Arial"/>
              </a:rPr>
              <a:t>•  Up to 100s of EC2 instances</a:t>
            </a:r>
          </a:p>
          <a:p>
            <a:pPr>
              <a:spcAft>
                <a:spcPts val="1000"/>
              </a:spcAft>
            </a:pPr>
            <a:r>
              <a:rPr sz="1800" b="0">
                <a:solidFill>
                  <a:srgbClr val="161B26"/>
                </a:solidFill>
                <a:latin typeface="Arial"/>
              </a:rPr>
              <a:t>•  The instances in a partition do not</a:t>
            </a:r>
          </a:p>
          <a:p>
            <a:pPr>
              <a:spcAft>
                <a:spcPts val="1000"/>
              </a:spcAft>
            </a:pPr>
            <a:r>
              <a:rPr sz="1800" b="0">
                <a:solidFill>
                  <a:srgbClr val="161B26"/>
                </a:solidFill>
                <a:latin typeface="Arial"/>
              </a:rPr>
              <a:t>•  share racks with the instances in the other partitions</a:t>
            </a:r>
          </a:p>
          <a:p>
            <a:pPr>
              <a:spcAft>
                <a:spcPts val="1000"/>
              </a:spcAft>
            </a:pPr>
            <a:r>
              <a:rPr sz="1800" b="0">
                <a:solidFill>
                  <a:srgbClr val="161B26"/>
                </a:solidFill>
                <a:latin typeface="Arial"/>
              </a:rPr>
              <a:t>•  A partition failure can affect many EC2 but won’t affect other partitions</a:t>
            </a:r>
          </a:p>
          <a:p>
            <a:pPr>
              <a:spcAft>
                <a:spcPts val="1000"/>
              </a:spcAft>
            </a:pPr>
            <a:r>
              <a:rPr sz="1800" b="0">
                <a:solidFill>
                  <a:srgbClr val="161B26"/>
                </a:solidFill>
                <a:latin typeface="Arial"/>
              </a:rPr>
              <a:t>•  EC2 instances get access to the partition information as metadata</a:t>
            </a:r>
          </a:p>
          <a:p>
            <a:pPr>
              <a:spcAft>
                <a:spcPts val="1000"/>
              </a:spcAft>
            </a:pPr>
            <a:r>
              <a:rPr sz="1800" b="0">
                <a:solidFill>
                  <a:srgbClr val="161B26"/>
                </a:solidFill>
                <a:latin typeface="Arial"/>
              </a:rPr>
              <a:t>•  Use cases: HDFS, HBase, Cassandra, Kafka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Placement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1801368"/>
            <a:ext cx="94183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0_0.png"/>
          <p:cNvPicPr>
            <a:picLocks noChangeAspect="1"/>
          </p:cNvPicPr>
          <p:nvPr/>
        </p:nvPicPr>
        <p:blipFill>
          <a:blip r:embed="rId2"/>
          <a:stretch>
            <a:fillRect/>
          </a:stretch>
        </p:blipFill>
        <p:spPr>
          <a:xfrm>
            <a:off x="1399032" y="1828800"/>
            <a:ext cx="936345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Goto Placement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Placement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02605" y="1801368"/>
            <a:ext cx="93563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1_0.png"/>
          <p:cNvPicPr>
            <a:picLocks noChangeAspect="1"/>
          </p:cNvPicPr>
          <p:nvPr/>
        </p:nvPicPr>
        <p:blipFill>
          <a:blip r:embed="rId2"/>
          <a:stretch>
            <a:fillRect/>
          </a:stretch>
        </p:blipFill>
        <p:spPr>
          <a:xfrm>
            <a:off x="1430037" y="1828800"/>
            <a:ext cx="930144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a new t2.micro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Shutdown Behaviour: How should the instance react when shutdown is done using the OS?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Stop (default)</a:t>
            </a:r>
          </a:p>
          <a:p>
            <a:pPr>
              <a:spcAft>
                <a:spcPts val="1000"/>
              </a:spcAft>
            </a:pPr>
            <a:r>
              <a:rPr sz="1800" b="0">
                <a:solidFill>
                  <a:srgbClr val="161B26"/>
                </a:solidFill>
                <a:latin typeface="Arial"/>
              </a:rPr>
              <a:t>•  Terminate</a:t>
            </a:r>
          </a:p>
          <a:p>
            <a:pPr>
              <a:spcAft>
                <a:spcPts val="1000"/>
              </a:spcAft>
            </a:pPr>
            <a:r>
              <a:rPr sz="1800" b="0">
                <a:solidFill>
                  <a:srgbClr val="161B26"/>
                </a:solidFill>
                <a:latin typeface="Arial"/>
              </a:rPr>
              <a:t>•  This is not applicable when shutting down from AWS console.</a:t>
            </a:r>
          </a:p>
          <a:p>
            <a:pPr>
              <a:spcAft>
                <a:spcPts val="1000"/>
              </a:spcAft>
            </a:pPr>
            <a:r>
              <a:rPr sz="1800" b="0">
                <a:solidFill>
                  <a:srgbClr val="161B26"/>
                </a:solidFill>
                <a:latin typeface="Arial"/>
              </a:rPr>
              <a:t>•  CLI Attribute:</a:t>
            </a:r>
          </a:p>
          <a:p>
            <a:pPr>
              <a:spcAft>
                <a:spcPts val="1000"/>
              </a:spcAft>
            </a:pPr>
            <a:r>
              <a:rPr sz="1800" b="0">
                <a:solidFill>
                  <a:srgbClr val="161B26"/>
                </a:solidFill>
                <a:latin typeface="Arial"/>
              </a:rPr>
              <a:t>•  InstanceInitiatedShutdownBehavior</a:t>
            </a:r>
          </a:p>
          <a:p>
            <a:pPr>
              <a:spcAft>
                <a:spcPts val="1000"/>
              </a:spcAft>
            </a:pPr>
            <a:r>
              <a:rPr sz="1800" b="0">
                <a:solidFill>
                  <a:srgbClr val="161B26"/>
                </a:solidFill>
                <a:latin typeface="Arial"/>
              </a:rPr>
              <a:t>•  Shutdown Behavior</a:t>
            </a:r>
          </a:p>
          <a:p>
            <a:pPr>
              <a:spcAft>
                <a:spcPts val="1000"/>
              </a:spcAft>
            </a:pPr>
            <a:r>
              <a:rPr sz="1800" b="0">
                <a:solidFill>
                  <a:srgbClr val="161B26"/>
                </a:solidFill>
                <a:latin typeface="Arial"/>
              </a:rPr>
              <a:t>•  EC2 Instance (running)</a:t>
            </a:r>
          </a:p>
          <a:p>
            <a:pPr>
              <a:spcAft>
                <a:spcPts val="1000"/>
              </a:spcAft>
            </a:pPr>
            <a:r>
              <a:rPr sz="1800" b="0">
                <a:solidFill>
                  <a:srgbClr val="161B26"/>
                </a:solidFill>
                <a:latin typeface="Arial"/>
              </a:rPr>
              <a:t>•  OS shutdown</a:t>
            </a:r>
          </a:p>
          <a:p>
            <a:pPr>
              <a:spcAft>
                <a:spcPts val="1000"/>
              </a:spcAft>
            </a:pPr>
            <a:r>
              <a:rPr sz="1800" b="0">
                <a:solidFill>
                  <a:srgbClr val="161B26"/>
                </a:solidFill>
                <a:latin typeface="Arial"/>
              </a:rPr>
              <a:t>•  Shutdown   Behavior</a:t>
            </a:r>
          </a:p>
          <a:p>
            <a:pPr>
              <a:spcAft>
                <a:spcPts val="1000"/>
              </a:spcAft>
            </a:pPr>
            <a:r>
              <a:rPr sz="1800" b="0">
                <a:solidFill>
                  <a:srgbClr val="161B26"/>
                </a:solidFill>
                <a:latin typeface="Arial"/>
              </a:rPr>
              <a:t>•  Stop</a:t>
            </a:r>
          </a:p>
          <a:p>
            <a:pPr>
              <a:spcAft>
                <a:spcPts val="1000"/>
              </a:spcAft>
            </a:pPr>
            <a:r>
              <a:rPr sz="1800" b="0">
                <a:solidFill>
                  <a:srgbClr val="161B26"/>
                </a:solidFill>
                <a:latin typeface="Arial"/>
              </a:rPr>
              <a:t>•  Terminate</a:t>
            </a:r>
          </a:p>
          <a:p>
            <a:pPr>
              <a:spcAft>
                <a:spcPts val="1000"/>
              </a:spcAft>
            </a:pPr>
            <a:r>
              <a:rPr sz="1800" b="0">
                <a:solidFill>
                  <a:srgbClr val="161B26"/>
                </a:solidFill>
                <a:latin typeface="Arial"/>
              </a:rPr>
              <a:t>•  EC2 Instance (stopped)</a:t>
            </a:r>
          </a:p>
          <a:p>
            <a:pPr>
              <a:spcAft>
                <a:spcPts val="1000"/>
              </a:spcAft>
            </a:pPr>
            <a:r>
              <a:rPr sz="1800" b="0">
                <a:solidFill>
                  <a:srgbClr val="161B26"/>
                </a:solidFill>
                <a:latin typeface="Arial"/>
              </a:rPr>
              <a:t>•  $ shutdown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Termination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Enable termination protection:</a:t>
            </a:r>
          </a:p>
          <a:p>
            <a:pPr>
              <a:spcAft>
                <a:spcPts val="1000"/>
              </a:spcAft>
            </a:pPr>
            <a:r>
              <a:rPr sz="2000" b="0">
                <a:solidFill>
                  <a:srgbClr val="161B26"/>
                </a:solidFill>
                <a:latin typeface="Arial"/>
              </a:rPr>
              <a:t>•  To protect against accidental termination in AWS Console or CLI</a:t>
            </a:r>
          </a:p>
          <a:p>
            <a:pPr>
              <a:spcAft>
                <a:spcPts val="1000"/>
              </a:spcAft>
            </a:pPr>
            <a:r>
              <a:rPr sz="2000" b="0">
                <a:solidFill>
                  <a:srgbClr val="161B26"/>
                </a:solidFill>
                <a:latin typeface="Arial"/>
              </a:rPr>
              <a:t>•  Exam Tip:</a:t>
            </a:r>
          </a:p>
          <a:p>
            <a:pPr>
              <a:spcAft>
                <a:spcPts val="1000"/>
              </a:spcAft>
            </a:pPr>
            <a:r>
              <a:rPr sz="2000" b="0">
                <a:solidFill>
                  <a:srgbClr val="161B26"/>
                </a:solidFill>
                <a:latin typeface="Arial"/>
              </a:rPr>
              <a:t>•  We have an instance where shutdown behavior = terminate and enable terminate protection is ticked</a:t>
            </a:r>
          </a:p>
          <a:p>
            <a:pPr>
              <a:spcAft>
                <a:spcPts val="1000"/>
              </a:spcAft>
            </a:pPr>
            <a:r>
              <a:rPr sz="2000" b="0">
                <a:solidFill>
                  <a:srgbClr val="161B26"/>
                </a:solidFill>
                <a:latin typeface="Arial"/>
              </a:rPr>
              <a:t>•  We shutdown the instance from the OS, what will happen? The instance will still be terminated!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Shutdown Behavior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94539" y="1801368"/>
            <a:ext cx="897244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4_0.png"/>
          <p:cNvPicPr>
            <a:picLocks noChangeAspect="1"/>
          </p:cNvPicPr>
          <p:nvPr/>
        </p:nvPicPr>
        <p:blipFill>
          <a:blip r:embed="rId2"/>
          <a:stretch>
            <a:fillRect/>
          </a:stretch>
        </p:blipFill>
        <p:spPr>
          <a:xfrm>
            <a:off x="1621971" y="1828800"/>
            <a:ext cx="891757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a new t2.micro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 InstanceLimitExceeded if you get this error, it means that you have reached your limit of max number of vCPUs per region</a:t>
            </a:r>
          </a:p>
          <a:p>
            <a:pPr>
              <a:spcAft>
                <a:spcPts val="1000"/>
              </a:spcAft>
            </a:pPr>
            <a:r>
              <a:rPr sz="2000" b="0">
                <a:solidFill>
                  <a:srgbClr val="161B26"/>
                </a:solidFill>
                <a:latin typeface="Arial"/>
              </a:rPr>
              <a:t>•  On-Demand instance limits are set on a per-region basis</a:t>
            </a:r>
          </a:p>
          <a:p>
            <a:pPr>
              <a:spcAft>
                <a:spcPts val="1000"/>
              </a:spcAft>
            </a:pPr>
            <a:r>
              <a:rPr sz="2000" b="0">
                <a:solidFill>
                  <a:srgbClr val="161B26"/>
                </a:solidFill>
                <a:latin typeface="Arial"/>
              </a:rPr>
              <a:t>•  Example: If you run on-demand (A, C, D, H, I, M, R,T, Z) instance types you’ll have 64 vCPUs (default)</a:t>
            </a:r>
          </a:p>
          <a:p>
            <a:pPr>
              <a:spcAft>
                <a:spcPts val="1000"/>
              </a:spcAft>
            </a:pPr>
            <a:r>
              <a:rPr sz="2000" b="0">
                <a:solidFill>
                  <a:srgbClr val="161B26"/>
                </a:solidFill>
                <a:latin typeface="Arial"/>
              </a:rPr>
              <a:t>•  Resolution: Either launch the instance in a different region or request AWS to increase your limit of the region</a:t>
            </a:r>
          </a:p>
          <a:p>
            <a:pPr>
              <a:spcAft>
                <a:spcPts val="1000"/>
              </a:spcAft>
            </a:pPr>
            <a:r>
              <a:rPr sz="2000" b="0">
                <a:solidFill>
                  <a:srgbClr val="161B26"/>
                </a:solidFill>
                <a:latin typeface="Arial"/>
              </a:rPr>
              <a:t>•  NOTE: vCPU-based limits only apply to running On-Demand instances and Spot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 InsufficientInstanceCapacity: if you get this error, it means AWS does not have that enough On-Demand capacity in the particular AZ where the instance is launched.</a:t>
            </a:r>
          </a:p>
          <a:p>
            <a:pPr>
              <a:spcAft>
                <a:spcPts val="1000"/>
              </a:spcAft>
            </a:pPr>
            <a:r>
              <a:rPr sz="2000" b="0">
                <a:solidFill>
                  <a:srgbClr val="161B26"/>
                </a:solidFill>
                <a:latin typeface="Arial"/>
              </a:rPr>
              <a:t>•  Resolution :</a:t>
            </a:r>
          </a:p>
          <a:p>
            <a:pPr>
              <a:spcAft>
                <a:spcPts val="1000"/>
              </a:spcAft>
            </a:pPr>
            <a:r>
              <a:rPr sz="2000" b="0">
                <a:solidFill>
                  <a:srgbClr val="161B26"/>
                </a:solidFill>
                <a:latin typeface="Arial"/>
              </a:rPr>
              <a:t>•  Wait for few mins before requesting again.</a:t>
            </a:r>
          </a:p>
          <a:p>
            <a:pPr>
              <a:spcAft>
                <a:spcPts val="1000"/>
              </a:spcAft>
            </a:pPr>
            <a:r>
              <a:rPr sz="2000" b="0">
                <a:solidFill>
                  <a:srgbClr val="161B26"/>
                </a:solidFill>
                <a:latin typeface="Arial"/>
              </a:rPr>
              <a:t>•  If requesting more than 1 requests, break down the requests. If you need 5 instances, rather than a single request of 5, request one by one.</a:t>
            </a:r>
          </a:p>
          <a:p>
            <a:pPr>
              <a:spcAft>
                <a:spcPts val="1000"/>
              </a:spcAft>
            </a:pPr>
            <a:r>
              <a:rPr sz="2000" b="0">
                <a:solidFill>
                  <a:srgbClr val="161B26"/>
                </a:solidFill>
                <a:latin typeface="Arial"/>
              </a:rPr>
              <a:t>•  If urgent, submit a request for a different instance type now, which can be resized later.</a:t>
            </a:r>
          </a:p>
          <a:p>
            <a:pPr>
              <a:spcAft>
                <a:spcPts val="1000"/>
              </a:spcAft>
            </a:pPr>
            <a:r>
              <a:rPr sz="2000" b="0">
                <a:solidFill>
                  <a:srgbClr val="161B26"/>
                </a:solidFill>
                <a:latin typeface="Arial"/>
              </a:rPr>
              <a:t>•  Also, can request the EC2 instance in a different 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 Instance Terminates Immediately (goes from pending to terminated)</a:t>
            </a:r>
          </a:p>
          <a:p>
            <a:pPr>
              <a:spcAft>
                <a:spcPts val="1000"/>
              </a:spcAft>
            </a:pPr>
            <a:r>
              <a:rPr sz="2000" b="0">
                <a:solidFill>
                  <a:srgbClr val="161B26"/>
                </a:solidFill>
                <a:latin typeface="Arial"/>
              </a:rPr>
              <a:t>•  You've reached your EBS volume limit.</a:t>
            </a:r>
          </a:p>
          <a:p>
            <a:pPr>
              <a:spcAft>
                <a:spcPts val="1000"/>
              </a:spcAft>
            </a:pPr>
            <a:r>
              <a:rPr sz="2000" b="0">
                <a:solidFill>
                  <a:srgbClr val="161B26"/>
                </a:solidFill>
                <a:latin typeface="Arial"/>
              </a:rPr>
              <a:t>•  An EBS snapshot is corrupt.</a:t>
            </a:r>
          </a:p>
          <a:p>
            <a:pPr>
              <a:spcAft>
                <a:spcPts val="1000"/>
              </a:spcAft>
            </a:pPr>
            <a:r>
              <a:rPr sz="2000" b="0">
                <a:solidFill>
                  <a:srgbClr val="161B26"/>
                </a:solidFill>
                <a:latin typeface="Arial"/>
              </a:rPr>
              <a:t>•  The root EBS volume is encrypted and you do not have permissions to access the KMS key for decryption.</a:t>
            </a:r>
          </a:p>
          <a:p>
            <a:pPr>
              <a:spcAft>
                <a:spcPts val="1000"/>
              </a:spcAft>
            </a:pPr>
            <a:r>
              <a:rPr sz="2000" b="0">
                <a:solidFill>
                  <a:srgbClr val="161B26"/>
                </a:solidFill>
                <a:latin typeface="Arial"/>
              </a:rPr>
              <a:t>•  The instance store-backed AMI that you used to launch the instance is missing a required part (an image.part.xx file).</a:t>
            </a:r>
          </a:p>
          <a:p>
            <a:pPr>
              <a:spcAft>
                <a:spcPts val="1000"/>
              </a:spcAft>
            </a:pPr>
            <a:r>
              <a:rPr sz="2000" b="0">
                <a:solidFill>
                  <a:srgbClr val="161B26"/>
                </a:solidFill>
                <a:latin typeface="Arial"/>
              </a:rPr>
              <a:t>•  To find the exact reason, check out the EC2 console of AWS - instances - Description tab, note the reason next to the State transition reason label.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SSH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Make sure the private key (pem file) on your linux machine has 400 permissions, else you will get "Unprotected private key file" error</a:t>
            </a:r>
          </a:p>
          <a:p>
            <a:pPr>
              <a:spcAft>
                <a:spcPts val="1000"/>
              </a:spcAft>
            </a:pPr>
            <a:r>
              <a:rPr sz="1800" b="0">
                <a:solidFill>
                  <a:srgbClr val="161B26"/>
                </a:solidFill>
                <a:latin typeface="Arial"/>
              </a:rPr>
              <a:t>•  Make sure the username for the OS is given correctly when logging via SSH,</a:t>
            </a:r>
          </a:p>
          <a:p>
            <a:pPr>
              <a:spcAft>
                <a:spcPts val="1000"/>
              </a:spcAft>
            </a:pPr>
            <a:r>
              <a:rPr sz="1800" b="0">
                <a:solidFill>
                  <a:srgbClr val="161B26"/>
                </a:solidFill>
                <a:latin typeface="Arial"/>
              </a:rPr>
              <a:t>•  else you will get "Host key not found, "Permission denied", or "Connection closed by [instance] port 22" error</a:t>
            </a:r>
          </a:p>
          <a:p>
            <a:pPr>
              <a:spcAft>
                <a:spcPts val="1000"/>
              </a:spcAft>
            </a:pPr>
            <a:r>
              <a:rPr sz="1800" b="0">
                <a:solidFill>
                  <a:srgbClr val="161B26"/>
                </a:solidFill>
                <a:latin typeface="Arial"/>
              </a:rPr>
              <a:t>•  Possible reasons for "Connection timed out" to EC2 instance via SSH:</a:t>
            </a:r>
          </a:p>
          <a:p>
            <a:pPr>
              <a:spcAft>
                <a:spcPts val="1000"/>
              </a:spcAft>
            </a:pPr>
            <a:r>
              <a:rPr sz="1800" b="0">
                <a:solidFill>
                  <a:srgbClr val="161B26"/>
                </a:solidFill>
                <a:latin typeface="Arial"/>
              </a:rPr>
              <a:t>•  SG is not configured correctly</a:t>
            </a:r>
          </a:p>
          <a:p>
            <a:pPr>
              <a:spcAft>
                <a:spcPts val="1000"/>
              </a:spcAft>
            </a:pPr>
            <a:r>
              <a:rPr sz="1800" b="0">
                <a:solidFill>
                  <a:srgbClr val="161B26"/>
                </a:solidFill>
                <a:latin typeface="Arial"/>
              </a:rPr>
              <a:t>•  NACL is not configured correctly</a:t>
            </a:r>
          </a:p>
          <a:p>
            <a:pPr>
              <a:spcAft>
                <a:spcPts val="1000"/>
              </a:spcAft>
            </a:pPr>
            <a:r>
              <a:rPr sz="1800" b="0">
                <a:solidFill>
                  <a:srgbClr val="161B26"/>
                </a:solidFill>
                <a:latin typeface="Arial"/>
              </a:rPr>
              <a:t>•  Check the route table for the subnet (routes traffic destined outside VPC to IGW)</a:t>
            </a:r>
          </a:p>
          <a:p>
            <a:pPr>
              <a:spcAft>
                <a:spcPts val="1000"/>
              </a:spcAft>
            </a:pPr>
            <a:r>
              <a:rPr sz="1800" b="0">
                <a:solidFill>
                  <a:srgbClr val="161B26"/>
                </a:solidFill>
                <a:latin typeface="Arial"/>
              </a:rPr>
              <a:t>•  Instance doesn’t have a public IPv4</a:t>
            </a:r>
          </a:p>
          <a:p>
            <a:pPr>
              <a:spcAft>
                <a:spcPts val="1000"/>
              </a:spcAft>
            </a:pPr>
            <a:r>
              <a:rPr sz="1800" b="0">
                <a:solidFill>
                  <a:srgbClr val="161B26"/>
                </a:solidFill>
                <a:latin typeface="Arial"/>
              </a:rPr>
              <a:t>•  CPU load of the instance is high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SSH vs. EC2 Instance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Connect using SSH	                  Connect using EC2 Instance Connect</a:t>
            </a:r>
          </a:p>
          <a:p>
            <a:pPr>
              <a:spcAft>
                <a:spcPts val="1000"/>
              </a:spcAft>
            </a:pPr>
            <a:r>
              <a:rPr sz="1800" b="0">
                <a:solidFill>
                  <a:srgbClr val="161B26"/>
                </a:solidFill>
                <a:latin typeface="Arial"/>
              </a:rPr>
              <a:t>•  Inbound Rules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5.6.7.8)</a:t>
            </a:r>
          </a:p>
          <a:p>
            <a:pPr>
              <a:spcAft>
                <a:spcPts val="1000"/>
              </a:spcAft>
            </a:pPr>
            <a:r>
              <a:rPr sz="1800" b="0">
                <a:solidFill>
                  <a:srgbClr val="161B26"/>
                </a:solidFill>
                <a:latin typeface="Arial"/>
              </a:rPr>
              <a:t>•  blocked</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"ip_prefix": "18.206.107.24/29", "region": "us-east-1",</a:t>
            </a:r>
          </a:p>
          <a:p>
            <a:pPr>
              <a:spcAft>
                <a:spcPts val="1000"/>
              </a:spcAft>
            </a:pPr>
            <a:r>
              <a:rPr sz="1800" b="0">
                <a:solidFill>
                  <a:srgbClr val="161B26"/>
                </a:solidFill>
                <a:latin typeface="Arial"/>
              </a:rPr>
              <a:t>•  "service": "EC2_INSTANCE_CONNECT",</a:t>
            </a:r>
          </a:p>
          <a:p>
            <a:pPr>
              <a:spcAft>
                <a:spcPts val="1000"/>
              </a:spcAft>
            </a:pPr>
            <a:r>
              <a:rPr sz="1800" b="0">
                <a:solidFill>
                  <a:srgbClr val="161B26"/>
                </a:solidFill>
                <a:latin typeface="Arial"/>
              </a:rPr>
              <a:t>•  "network_border_group": "us-east-1"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https://ip-ranges.amazonaws.com/ip-ranges.json</a:t>
            </a:r>
          </a:p>
          <a:p>
            <a:pPr>
              <a:spcAft>
                <a:spcPts val="1000"/>
              </a:spcAft>
            </a:pPr>
            <a:r>
              <a:rPr sz="1800" b="0">
                <a:solidFill>
                  <a:srgbClr val="161B26"/>
                </a:solidFill>
                <a:latin typeface="Arial"/>
              </a:rPr>
              <a:t>•  EC2 Instance Connect API</a:t>
            </a:r>
          </a:p>
          <a:p>
            <a:pPr>
              <a:spcAft>
                <a:spcPts val="1000"/>
              </a:spcAft>
            </a:pPr>
            <a:r>
              <a:rPr sz="1800" b="0">
                <a:solidFill>
                  <a:srgbClr val="161B26"/>
                </a:solidFill>
                <a:latin typeface="Arial"/>
              </a:rPr>
              <a:t>•  push one-time SSH public key (valid for 60 secs)</a:t>
            </a:r>
          </a:p>
          <a:p>
            <a:pPr>
              <a:spcAft>
                <a:spcPts val="1000"/>
              </a:spcAft>
            </a:pPr>
            <a:r>
              <a:rPr sz="1800" b="0">
                <a:solidFill>
                  <a:srgbClr val="161B26"/>
                </a:solidFill>
                <a:latin typeface="Arial"/>
              </a:rPr>
              <a:t>•  EC2 Console,</a:t>
            </a:r>
          </a:p>
          <a:p>
            <a:pPr>
              <a:spcAft>
                <a:spcPts val="1000"/>
              </a:spcAft>
            </a:pPr>
            <a:r>
              <a:rPr sz="1800" b="0">
                <a:solidFill>
                  <a:srgbClr val="161B26"/>
                </a:solidFill>
                <a:latin typeface="Arial"/>
              </a:rPr>
              <a:t>•  EC2 Instance Connect CLI</a:t>
            </a:r>
          </a:p>
          <a:p>
            <a:pPr>
              <a:spcAft>
                <a:spcPts val="1000"/>
              </a:spcAft>
            </a:pPr>
            <a:r>
              <a:rPr sz="1800" b="0">
                <a:solidFill>
                  <a:srgbClr val="161B26"/>
                </a:solidFill>
                <a:latin typeface="Arial"/>
              </a:rPr>
              <a:t>•  Allows AWS IP Range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Instances Purchasing Options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Instances - short workload, predictable pricing, pay by second</a:t>
            </a:r>
          </a:p>
          <a:p>
            <a:pPr>
              <a:spcAft>
                <a:spcPts val="1000"/>
              </a:spcAft>
            </a:pPr>
            <a:r>
              <a:rPr sz="1800" b="0">
                <a:solidFill>
                  <a:srgbClr val="161B26"/>
                </a:solidFill>
                <a:latin typeface="Arial"/>
              </a:rPr>
              <a:t>•  Reserved (1 &amp; 3 years)</a:t>
            </a:r>
          </a:p>
          <a:p>
            <a:pPr>
              <a:spcAft>
                <a:spcPts val="1000"/>
              </a:spcAft>
            </a:pPr>
            <a:r>
              <a:rPr sz="1800" b="0">
                <a:solidFill>
                  <a:srgbClr val="161B26"/>
                </a:solidFill>
                <a:latin typeface="Arial"/>
              </a:rPr>
              <a:t>•  Reversed Instances - long workloads</a:t>
            </a:r>
          </a:p>
          <a:p>
            <a:pPr>
              <a:spcAft>
                <a:spcPts val="1000"/>
              </a:spcAft>
            </a:pPr>
            <a:r>
              <a:rPr sz="1800" b="0">
                <a:solidFill>
                  <a:srgbClr val="161B26"/>
                </a:solidFill>
                <a:latin typeface="Arial"/>
              </a:rPr>
              <a:t>•  Convertible Reserved Instances - long workloads with flexible instances</a:t>
            </a:r>
          </a:p>
          <a:p>
            <a:pPr>
              <a:spcAft>
                <a:spcPts val="1000"/>
              </a:spcAft>
            </a:pPr>
            <a:r>
              <a:rPr sz="1800" b="0">
                <a:solidFill>
                  <a:srgbClr val="161B26"/>
                </a:solidFill>
                <a:latin typeface="Arial"/>
              </a:rPr>
              <a:t>•  Savings Plans (1 &amp; 3 years) - commitment to an amount of usage, long workload</a:t>
            </a:r>
          </a:p>
          <a:p>
            <a:pPr>
              <a:spcAft>
                <a:spcPts val="1000"/>
              </a:spcAft>
            </a:pPr>
            <a:r>
              <a:rPr sz="1800" b="0">
                <a:solidFill>
                  <a:srgbClr val="161B26"/>
                </a:solidFill>
                <a:latin typeface="Arial"/>
              </a:rPr>
              <a:t>•  Spot Instances - short workloads, cheap, can lose instances (less reliable)</a:t>
            </a:r>
          </a:p>
          <a:p>
            <a:pPr>
              <a:spcAft>
                <a:spcPts val="1000"/>
              </a:spcAft>
            </a:pPr>
            <a:r>
              <a:rPr sz="1800" b="0">
                <a:solidFill>
                  <a:srgbClr val="161B26"/>
                </a:solidFill>
                <a:latin typeface="Arial"/>
              </a:rPr>
              <a:t>•  Dedicated Hosts - book an entire physical server, control instance placement</a:t>
            </a:r>
          </a:p>
          <a:p>
            <a:pPr>
              <a:spcAft>
                <a:spcPts val="1000"/>
              </a:spcAft>
            </a:pPr>
            <a:r>
              <a:rPr sz="1800" b="0">
                <a:solidFill>
                  <a:srgbClr val="161B26"/>
                </a:solidFill>
                <a:latin typeface="Arial"/>
              </a:rPr>
              <a:t>•  Dedicated Instances - no other customers will share your hardware</a:t>
            </a:r>
          </a:p>
          <a:p>
            <a:pPr>
              <a:spcAft>
                <a:spcPts val="1000"/>
              </a:spcAft>
            </a:pPr>
            <a:r>
              <a:rPr sz="1800" b="0">
                <a:solidFill>
                  <a:srgbClr val="161B26"/>
                </a:solidFill>
                <a:latin typeface="Arial"/>
              </a:rPr>
              <a:t>•  Capacity reservations - reserve capacity in a specific AZ for any duration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On Demand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Pay for what you use:</a:t>
            </a:r>
          </a:p>
          <a:p>
            <a:pPr>
              <a:spcAft>
                <a:spcPts val="1000"/>
              </a:spcAft>
            </a:pPr>
            <a:r>
              <a:rPr sz="2000" b="0">
                <a:solidFill>
                  <a:srgbClr val="161B26"/>
                </a:solidFill>
                <a:latin typeface="Arial"/>
              </a:rPr>
              <a:t>•  Linux or Windows - billing per second, after the first minute</a:t>
            </a:r>
          </a:p>
          <a:p>
            <a:pPr>
              <a:spcAft>
                <a:spcPts val="1000"/>
              </a:spcAft>
            </a:pPr>
            <a:r>
              <a:rPr sz="2000" b="0">
                <a:solidFill>
                  <a:srgbClr val="161B26"/>
                </a:solidFill>
                <a:latin typeface="Arial"/>
              </a:rPr>
              <a:t>•  All other operating systems - billing per hour</a:t>
            </a:r>
          </a:p>
          <a:p>
            <a:pPr>
              <a:spcAft>
                <a:spcPts val="1000"/>
              </a:spcAft>
            </a:pPr>
            <a:r>
              <a:rPr sz="2000" b="0">
                <a:solidFill>
                  <a:srgbClr val="161B26"/>
                </a:solidFill>
                <a:latin typeface="Arial"/>
              </a:rPr>
              <a:t>•  Has the highest cost but no upfront payment</a:t>
            </a:r>
          </a:p>
          <a:p>
            <a:pPr>
              <a:spcAft>
                <a:spcPts val="1000"/>
              </a:spcAft>
            </a:pPr>
            <a:r>
              <a:rPr sz="2000" b="0">
                <a:solidFill>
                  <a:srgbClr val="161B26"/>
                </a:solidFill>
                <a:latin typeface="Arial"/>
              </a:rPr>
              <a:t>•  No long-term commitment</a:t>
            </a:r>
          </a:p>
          <a:p>
            <a:pPr>
              <a:spcAft>
                <a:spcPts val="1000"/>
              </a:spcAft>
            </a:pPr>
            <a:r>
              <a:rPr sz="2000" b="0">
                <a:solidFill>
                  <a:srgbClr val="161B26"/>
                </a:solidFill>
                <a:latin typeface="Arial"/>
              </a:rPr>
              <a:t>•  Recommended for short term and un-interrupted workloads, where you can't predict how the application will behave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Up to 72% discount compared to On-demand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reserve a specific instance attributes (Instance Type, Region, Tenancy, OS)</a:t>
            </a:r>
          </a:p>
          <a:p>
            <a:pPr>
              <a:spcAft>
                <a:spcPts val="1000"/>
              </a:spcAft>
            </a:pPr>
            <a:r>
              <a:rPr sz="1800" b="0">
                <a:solidFill>
                  <a:srgbClr val="161B26"/>
                </a:solidFill>
                <a:latin typeface="Arial"/>
              </a:rPr>
              <a:t>•  Reservation Period - 1 year (+discount) or 3 years (+++discount)</a:t>
            </a:r>
          </a:p>
          <a:p>
            <a:pPr>
              <a:spcAft>
                <a:spcPts val="1000"/>
              </a:spcAft>
            </a:pPr>
            <a:r>
              <a:rPr sz="1800" b="0">
                <a:solidFill>
                  <a:srgbClr val="161B26"/>
                </a:solidFill>
                <a:latin typeface="Arial"/>
              </a:rPr>
              <a:t>•  Payment options - No Upfront (+), Partial Upfront (++), All Upfront (+++)</a:t>
            </a:r>
          </a:p>
          <a:p>
            <a:pPr>
              <a:spcAft>
                <a:spcPts val="1000"/>
              </a:spcAft>
            </a:pPr>
            <a:r>
              <a:rPr sz="1800" b="0">
                <a:solidFill>
                  <a:srgbClr val="161B26"/>
                </a:solidFill>
                <a:latin typeface="Arial"/>
              </a:rPr>
              <a:t>•  Reserved Instance's Scope - Regional or Zonal (reserve capacity in an AZ)</a:t>
            </a:r>
          </a:p>
          <a:p>
            <a:pPr>
              <a:spcAft>
                <a:spcPts val="1000"/>
              </a:spcAft>
            </a:pPr>
            <a:r>
              <a:rPr sz="1800" b="0">
                <a:solidFill>
                  <a:srgbClr val="161B26"/>
                </a:solidFill>
                <a:latin typeface="Arial"/>
              </a:rPr>
              <a:t>•  Recommended for steady-state usage applications (think database)</a:t>
            </a:r>
          </a:p>
          <a:p>
            <a:pPr>
              <a:spcAft>
                <a:spcPts val="1000"/>
              </a:spcAft>
            </a:pPr>
            <a:r>
              <a:rPr sz="1800" b="0">
                <a:solidFill>
                  <a:srgbClr val="161B26"/>
                </a:solidFill>
                <a:latin typeface="Arial"/>
              </a:rPr>
              <a:t>•  You can buy and sell in the Reserved Instance Marketplace</a:t>
            </a:r>
          </a:p>
          <a:p>
            <a:pPr>
              <a:spcAft>
                <a:spcPts val="1000"/>
              </a:spcAft>
            </a:pPr>
            <a:r>
              <a:rPr sz="1800" b="0">
                <a:solidFill>
                  <a:srgbClr val="161B26"/>
                </a:solidFill>
                <a:latin typeface="Arial"/>
              </a:rPr>
              <a:t>•  Convertible Reserved Instance</a:t>
            </a:r>
          </a:p>
          <a:p>
            <a:pPr>
              <a:spcAft>
                <a:spcPts val="1000"/>
              </a:spcAft>
            </a:pPr>
            <a:r>
              <a:rPr sz="1800" b="0">
                <a:solidFill>
                  <a:srgbClr val="161B26"/>
                </a:solidFill>
                <a:latin typeface="Arial"/>
              </a:rPr>
              <a:t>•  Can change the EC2 instance type, instance family, OS, scope and tenancy</a:t>
            </a:r>
          </a:p>
          <a:p>
            <a:pPr>
              <a:spcAft>
                <a:spcPts val="1000"/>
              </a:spcAft>
            </a:pPr>
            <a:r>
              <a:rPr sz="1800" b="0">
                <a:solidFill>
                  <a:srgbClr val="161B26"/>
                </a:solidFill>
                <a:latin typeface="Arial"/>
              </a:rPr>
              <a:t>•  Up to 66% discount</a:t>
            </a:r>
          </a:p>
          <a:p>
            <a:pPr>
              <a:spcAft>
                <a:spcPts val="1000"/>
              </a:spcAft>
            </a:pPr>
            <a:r>
              <a:rPr sz="1800" b="0">
                <a:solidFill>
                  <a:srgbClr val="161B26"/>
                </a:solidFill>
                <a:latin typeface="Arial"/>
              </a:rPr>
              <a:t>•  EC2 Reserved Instances</a:t>
            </a:r>
          </a:p>
          <a:p>
            <a:pPr>
              <a:spcAft>
                <a:spcPts val="1000"/>
              </a:spcAft>
            </a:pPr>
            <a:r>
              <a:rPr sz="1800" b="0">
                <a:solidFill>
                  <a:srgbClr val="161B26"/>
                </a:solidFill>
                <a:latin typeface="Arial"/>
              </a:rPr>
              <a:t>•  Note: the % discounts are different from the video as AWS change them over time – the exact numbers are not needed for the exam. This is just for illustrative purposes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Savings Plans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a discount based on long-term usage (up to 72% - same as RIs)</a:t>
            </a:r>
          </a:p>
          <a:p>
            <a:pPr>
              <a:spcAft>
                <a:spcPts val="1000"/>
              </a:spcAft>
            </a:pPr>
            <a:r>
              <a:rPr sz="1800" b="0">
                <a:solidFill>
                  <a:srgbClr val="161B26"/>
                </a:solidFill>
                <a:latin typeface="Arial"/>
              </a:rPr>
              <a:t>•  Commit to a certain type of usage ($10/hour for 1 or 3 years)</a:t>
            </a:r>
          </a:p>
          <a:p>
            <a:pPr>
              <a:spcAft>
                <a:spcPts val="1000"/>
              </a:spcAft>
            </a:pPr>
            <a:r>
              <a:rPr sz="1800" b="0">
                <a:solidFill>
                  <a:srgbClr val="161B26"/>
                </a:solidFill>
                <a:latin typeface="Arial"/>
              </a:rPr>
              <a:t>•  Usage beyond EC2 Savings Plans is billed at the On-Demand price</a:t>
            </a:r>
          </a:p>
          <a:p>
            <a:pPr>
              <a:spcAft>
                <a:spcPts val="1000"/>
              </a:spcAft>
            </a:pPr>
            <a:r>
              <a:rPr sz="1800" b="0">
                <a:solidFill>
                  <a:srgbClr val="161B26"/>
                </a:solidFill>
                <a:latin typeface="Arial"/>
              </a:rPr>
              <a:t>•  Locked to a specific instance family &amp; AWS region (e.g., M5 in us-east-1)</a:t>
            </a:r>
          </a:p>
          <a:p>
            <a:pPr>
              <a:spcAft>
                <a:spcPts val="1000"/>
              </a:spcAft>
            </a:pPr>
            <a:r>
              <a:rPr sz="1800" b="0">
                <a:solidFill>
                  <a:srgbClr val="161B26"/>
                </a:solidFill>
                <a:latin typeface="Arial"/>
              </a:rPr>
              <a:t>•  Flexible across:</a:t>
            </a:r>
          </a:p>
          <a:p>
            <a:pPr>
              <a:spcAft>
                <a:spcPts val="1000"/>
              </a:spcAft>
            </a:pPr>
            <a:r>
              <a:rPr sz="1800" b="0">
                <a:solidFill>
                  <a:srgbClr val="161B26"/>
                </a:solidFill>
                <a:latin typeface="Arial"/>
              </a:rPr>
              <a:t>•  Instance Size (e.g., m5.xlarge, m5.2xlarge)</a:t>
            </a:r>
          </a:p>
          <a:p>
            <a:pPr>
              <a:spcAft>
                <a:spcPts val="1000"/>
              </a:spcAft>
            </a:pPr>
            <a:r>
              <a:rPr sz="1800" b="0">
                <a:solidFill>
                  <a:srgbClr val="161B26"/>
                </a:solidFill>
                <a:latin typeface="Arial"/>
              </a:rPr>
              <a:t>•  OS (e.g., Linux, Windows)</a:t>
            </a:r>
          </a:p>
          <a:p>
            <a:pPr>
              <a:spcAft>
                <a:spcPts val="1000"/>
              </a:spcAft>
            </a:pPr>
            <a:r>
              <a:rPr sz="1800" b="0">
                <a:solidFill>
                  <a:srgbClr val="161B26"/>
                </a:solidFill>
                <a:latin typeface="Arial"/>
              </a:rPr>
              <a:t>•  Tenancy (Host, Dedicated, Default)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get a discount of up to 90% compared to On-demand</a:t>
            </a:r>
          </a:p>
          <a:p>
            <a:pPr>
              <a:spcAft>
                <a:spcPts val="1000"/>
              </a:spcAft>
            </a:pPr>
            <a:r>
              <a:rPr sz="1800" b="0">
                <a:solidFill>
                  <a:srgbClr val="161B26"/>
                </a:solidFill>
                <a:latin typeface="Arial"/>
              </a:rPr>
              <a:t>•  Instances that you can “lose” at any point of time if your max price is less than the current spot price</a:t>
            </a:r>
          </a:p>
          <a:p>
            <a:pPr>
              <a:spcAft>
                <a:spcPts val="1000"/>
              </a:spcAft>
            </a:pPr>
            <a:r>
              <a:rPr sz="1800" b="0">
                <a:solidFill>
                  <a:srgbClr val="161B26"/>
                </a:solidFill>
                <a:latin typeface="Arial"/>
              </a:rPr>
              <a:t>•  The MOST cost-efficient instances in AWS</a:t>
            </a:r>
          </a:p>
          <a:p>
            <a:pPr>
              <a:spcAft>
                <a:spcPts val="1000"/>
              </a:spcAft>
            </a:pPr>
            <a:r>
              <a:rPr sz="1800" b="0">
                <a:solidFill>
                  <a:srgbClr val="161B26"/>
                </a:solidFill>
                <a:latin typeface="Arial"/>
              </a:rPr>
              <a:t>•  Useful for workloads that are resilient to failure</a:t>
            </a:r>
          </a:p>
          <a:p>
            <a:pPr>
              <a:spcAft>
                <a:spcPts val="1000"/>
              </a:spcAft>
            </a:pPr>
            <a:r>
              <a:rPr sz="1800" b="0">
                <a:solidFill>
                  <a:srgbClr val="161B26"/>
                </a:solidFill>
                <a:latin typeface="Arial"/>
              </a:rPr>
              <a:t>•  Batch jobs</a:t>
            </a:r>
          </a:p>
          <a:p>
            <a:pPr>
              <a:spcAft>
                <a:spcPts val="1000"/>
              </a:spcAft>
            </a:pPr>
            <a:r>
              <a:rPr sz="1800" b="0">
                <a:solidFill>
                  <a:srgbClr val="161B26"/>
                </a:solidFill>
                <a:latin typeface="Arial"/>
              </a:rPr>
              <a:t>•  Data analysis</a:t>
            </a:r>
          </a:p>
          <a:p>
            <a:pPr>
              <a:spcAft>
                <a:spcPts val="1000"/>
              </a:spcAft>
            </a:pPr>
            <a:r>
              <a:rPr sz="1800" b="0">
                <a:solidFill>
                  <a:srgbClr val="161B26"/>
                </a:solidFill>
                <a:latin typeface="Arial"/>
              </a:rPr>
              <a:t>•  Image processing</a:t>
            </a:r>
          </a:p>
          <a:p>
            <a:pPr>
              <a:spcAft>
                <a:spcPts val="1000"/>
              </a:spcAft>
            </a:pPr>
            <a:r>
              <a:rPr sz="1800" b="0">
                <a:solidFill>
                  <a:srgbClr val="161B26"/>
                </a:solidFill>
                <a:latin typeface="Arial"/>
              </a:rPr>
              <a:t>•  Any distributed workloads</a:t>
            </a:r>
          </a:p>
          <a:p>
            <a:pPr>
              <a:spcAft>
                <a:spcPts val="1000"/>
              </a:spcAft>
            </a:pPr>
            <a:r>
              <a:rPr sz="1800" b="0">
                <a:solidFill>
                  <a:srgbClr val="161B26"/>
                </a:solidFill>
                <a:latin typeface="Arial"/>
              </a:rPr>
              <a:t>•  Workloads with a flexible start and end time</a:t>
            </a:r>
          </a:p>
          <a:p>
            <a:pPr>
              <a:spcAft>
                <a:spcPts val="1000"/>
              </a:spcAft>
            </a:pPr>
            <a:r>
              <a:rPr sz="1800" b="0">
                <a:solidFill>
                  <a:srgbClr val="161B26"/>
                </a:solidFill>
                <a:latin typeface="Arial"/>
              </a:rPr>
              <a:t>•  Not suitable for critical jobs or databases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 Pricing History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12262"/>
            <a:ext cx="10479024" cy="451363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5_0.png"/>
          <p:cNvPicPr>
            <a:picLocks noChangeAspect="1"/>
          </p:cNvPicPr>
          <p:nvPr/>
        </p:nvPicPr>
        <p:blipFill>
          <a:blip r:embed="rId2"/>
          <a:stretch>
            <a:fillRect/>
          </a:stretch>
        </p:blipFill>
        <p:spPr>
          <a:xfrm>
            <a:off x="868680" y="1839694"/>
            <a:ext cx="10424160" cy="445877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Request Spot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1640" y="1801368"/>
            <a:ext cx="683824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6_0.png"/>
          <p:cNvPicPr>
            <a:picLocks noChangeAspect="1"/>
          </p:cNvPicPr>
          <p:nvPr/>
        </p:nvPicPr>
        <p:blipFill>
          <a:blip r:embed="rId2"/>
          <a:stretch>
            <a:fillRect/>
          </a:stretch>
        </p:blipFill>
        <p:spPr>
          <a:xfrm>
            <a:off x="2689072" y="1828800"/>
            <a:ext cx="678337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Hosts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physical server with EC2 instance capacity fully dedicated to your use</a:t>
            </a:r>
          </a:p>
          <a:p>
            <a:pPr>
              <a:spcAft>
                <a:spcPts val="1000"/>
              </a:spcAft>
            </a:pPr>
            <a:r>
              <a:rPr sz="1800" b="0">
                <a:solidFill>
                  <a:srgbClr val="161B26"/>
                </a:solidFill>
                <a:latin typeface="Arial"/>
              </a:rPr>
              <a:t>•  Allows you address compliance requirements and use your existing server - bound software licenses (per-socket, per-core, pe—VM software licenses)</a:t>
            </a:r>
          </a:p>
          <a:p>
            <a:pPr>
              <a:spcAft>
                <a:spcPts val="1000"/>
              </a:spcAft>
            </a:pPr>
            <a:r>
              <a:rPr sz="1800" b="0">
                <a:solidFill>
                  <a:srgbClr val="161B26"/>
                </a:solidFill>
                <a:latin typeface="Arial"/>
              </a:rPr>
              <a:t>•  Purchasing Options:</a:t>
            </a:r>
          </a:p>
          <a:p>
            <a:pPr>
              <a:spcAft>
                <a:spcPts val="1000"/>
              </a:spcAft>
            </a:pPr>
            <a:r>
              <a:rPr sz="1800" b="0">
                <a:solidFill>
                  <a:srgbClr val="161B26"/>
                </a:solidFill>
                <a:latin typeface="Arial"/>
              </a:rPr>
              <a:t>•  On-demand - pay per second for active Dedicated Host</a:t>
            </a:r>
          </a:p>
          <a:p>
            <a:pPr>
              <a:spcAft>
                <a:spcPts val="1000"/>
              </a:spcAft>
            </a:pPr>
            <a:r>
              <a:rPr sz="1800" b="0">
                <a:solidFill>
                  <a:srgbClr val="161B26"/>
                </a:solidFill>
                <a:latin typeface="Arial"/>
              </a:rPr>
              <a:t>•  Reserved - 1 or 3 years (No Upfront, Partial Upfront, All Upfront) The most expensive option</a:t>
            </a:r>
          </a:p>
          <a:p>
            <a:pPr>
              <a:spcAft>
                <a:spcPts val="1000"/>
              </a:spcAft>
            </a:pPr>
            <a:r>
              <a:rPr sz="1800" b="0">
                <a:solidFill>
                  <a:srgbClr val="161B26"/>
                </a:solidFill>
                <a:latin typeface="Arial"/>
              </a:rPr>
              <a:t>•  Useful for software that have complicated licensing model (BYOL – Bring Your Own License)</a:t>
            </a:r>
          </a:p>
          <a:p>
            <a:pPr>
              <a:spcAft>
                <a:spcPts val="1000"/>
              </a:spcAft>
            </a:pPr>
            <a:r>
              <a:rPr sz="1800" b="0">
                <a:solidFill>
                  <a:srgbClr val="161B26"/>
                </a:solidFill>
                <a:latin typeface="Arial"/>
              </a:rPr>
              <a:t>•  Or for companies that have strong regulatory or compliance needs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3710" y="1801368"/>
            <a:ext cx="357410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8_0.jpg"/>
          <p:cNvPicPr>
            <a:picLocks noChangeAspect="1"/>
          </p:cNvPicPr>
          <p:nvPr/>
        </p:nvPicPr>
        <p:blipFill>
          <a:blip r:embed="rId2"/>
          <a:stretch>
            <a:fillRect/>
          </a:stretch>
        </p:blipFill>
        <p:spPr>
          <a:xfrm>
            <a:off x="4321142" y="1828800"/>
            <a:ext cx="351923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Instances run on hardware that’s dedicated to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Capacity Reservations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Reserve on-Demand instances capacity in a specific AZ for any duration</a:t>
            </a:r>
          </a:p>
          <a:p>
            <a:pPr>
              <a:spcAft>
                <a:spcPts val="1000"/>
              </a:spcAft>
            </a:pPr>
            <a:r>
              <a:rPr sz="2000" b="0">
                <a:solidFill>
                  <a:srgbClr val="161B26"/>
                </a:solidFill>
                <a:latin typeface="Arial"/>
              </a:rPr>
              <a:t>•  You always have access to EC2 capacity when you need it</a:t>
            </a:r>
          </a:p>
          <a:p>
            <a:pPr>
              <a:spcAft>
                <a:spcPts val="1000"/>
              </a:spcAft>
            </a:pPr>
            <a:r>
              <a:rPr sz="2000" b="0">
                <a:solidFill>
                  <a:srgbClr val="161B26"/>
                </a:solidFill>
                <a:latin typeface="Arial"/>
              </a:rPr>
              <a:t>•  No time commitment (create/cancel anytime), no billing discounts Combine with Regional Reserved Instances and Savings Plans to benefit from billing discounts</a:t>
            </a:r>
          </a:p>
          <a:p>
            <a:pPr>
              <a:spcAft>
                <a:spcPts val="1000"/>
              </a:spcAft>
            </a:pPr>
            <a:r>
              <a:rPr sz="2000" b="0">
                <a:solidFill>
                  <a:srgbClr val="161B26"/>
                </a:solidFill>
                <a:latin typeface="Arial"/>
              </a:rPr>
              <a:t>•  You’re charged at On-Demand rate whether you run instances or not</a:t>
            </a:r>
          </a:p>
          <a:p>
            <a:pPr>
              <a:spcAft>
                <a:spcPts val="1000"/>
              </a:spcAft>
            </a:pPr>
            <a:r>
              <a:rPr sz="2000" b="0">
                <a:solidFill>
                  <a:srgbClr val="161B26"/>
                </a:solidFill>
                <a:latin typeface="Arial"/>
              </a:rPr>
              <a:t>•  Suitable for short-term, uninterrupted workloads that needs to be in a specific 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Which purchasing	option is right	for 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5451" y="1801368"/>
            <a:ext cx="623061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50_0.jpg"/>
          <p:cNvPicPr>
            <a:picLocks noChangeAspect="1"/>
          </p:cNvPicPr>
          <p:nvPr/>
        </p:nvPicPr>
        <p:blipFill>
          <a:blip r:embed="rId2"/>
          <a:stretch>
            <a:fillRect/>
          </a:stretch>
        </p:blipFill>
        <p:spPr>
          <a:xfrm>
            <a:off x="2992883" y="1828800"/>
            <a:ext cx="617575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On demand: coming and staying in resort whenever we like, we pay the full price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Price Comparison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 m4.large – us-east-1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charges for IPv4 addresses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created in your account</a:t>
            </a:r>
          </a:p>
          <a:p>
            <a:pPr>
              <a:spcAft>
                <a:spcPts val="1000"/>
              </a:spcAft>
            </a:pPr>
            <a:r>
              <a:rPr sz="1800" b="0">
                <a:solidFill>
                  <a:srgbClr val="161B26"/>
                </a:solidFill>
                <a:latin typeface="Arial"/>
              </a:rPr>
              <a:t>•  $0.005 per hour of Public IPv4 (~ $3.6 per month)</a:t>
            </a:r>
          </a:p>
          <a:p>
            <a:pPr>
              <a:spcAft>
                <a:spcPts val="1000"/>
              </a:spcAft>
            </a:pPr>
            <a:r>
              <a:rPr sz="1800" b="0">
                <a:solidFill>
                  <a:srgbClr val="161B26"/>
                </a:solidFill>
                <a:latin typeface="Arial"/>
              </a:rPr>
              <a:t>•  For new accounts in AWS, you have a free tier for the EC2 service: 750 hours of Public IPv4 per month for the first 12 months</a:t>
            </a:r>
          </a:p>
          <a:p>
            <a:pPr>
              <a:spcAft>
                <a:spcPts val="1000"/>
              </a:spcAft>
            </a:pPr>
            <a:r>
              <a:rPr sz="1800" b="0">
                <a:solidFill>
                  <a:srgbClr val="161B26"/>
                </a:solidFill>
                <a:latin typeface="Arial"/>
              </a:rPr>
              <a:t>•  For all other services there is no free tier</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Starting February 1st 2024, there’s a charge for all Public</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Free until 750 hours/month of usage</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One Public IPv4</a:t>
            </a:r>
          </a:p>
          <a:p>
            <a:pPr>
              <a:spcAft>
                <a:spcPts val="1000"/>
              </a:spcAft>
            </a:pPr>
            <a:r>
              <a:rPr sz="1800" b="0">
                <a:solidFill>
                  <a:srgbClr val="161B26"/>
                </a:solidFill>
                <a:latin typeface="Arial"/>
              </a:rPr>
              <a:t>•  per AZ, no Free Tier</a:t>
            </a:r>
          </a:p>
          <a:p>
            <a:pPr>
              <a:spcAft>
                <a:spcPts val="1000"/>
              </a:spcAft>
            </a:pPr>
            <a:r>
              <a:rPr sz="1800" b="0">
                <a:solidFill>
                  <a:srgbClr val="161B26"/>
                </a:solidFill>
                <a:latin typeface="Arial"/>
              </a:rPr>
              <a:t>•  RDS Database</a:t>
            </a:r>
          </a:p>
          <a:p>
            <a:pPr>
              <a:spcAft>
                <a:spcPts val="1000"/>
              </a:spcAft>
            </a:pPr>
            <a:r>
              <a:rPr sz="1800" b="0">
                <a:solidFill>
                  <a:srgbClr val="161B26"/>
                </a:solidFill>
                <a:latin typeface="Arial"/>
              </a:rPr>
              <a:t>•  One Public IPv4 No Free 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charges for IPv4 addresses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What about IPv6?</a:t>
            </a:r>
          </a:p>
          <a:p>
            <a:pPr>
              <a:spcAft>
                <a:spcPts val="1000"/>
              </a:spcAft>
            </a:pPr>
            <a:r>
              <a:rPr sz="1800" b="0">
                <a:solidFill>
                  <a:srgbClr val="161B26"/>
                </a:solidFill>
                <a:latin typeface="Arial"/>
              </a:rPr>
              <a:t>•  Unfortunately, many Internet Service Provider (ISP) around the world don’t support IPv6, so the course would not work for some of you</a:t>
            </a:r>
          </a:p>
          <a:p>
            <a:pPr>
              <a:spcAft>
                <a:spcPts val="1000"/>
              </a:spcAft>
            </a:pPr>
            <a:r>
              <a:rPr sz="1800" b="0">
                <a:solidFill>
                  <a:srgbClr val="161B26"/>
                </a:solidFill>
                <a:latin typeface="Arial"/>
              </a:rPr>
              <a:t>•  You can test IPv6 by going to https://test-ipv6.com/</a:t>
            </a:r>
          </a:p>
          <a:p>
            <a:pPr>
              <a:spcAft>
                <a:spcPts val="1000"/>
              </a:spcAft>
            </a:pPr>
            <a:r>
              <a:rPr sz="1800" b="0">
                <a:solidFill>
                  <a:srgbClr val="161B26"/>
                </a:solidFill>
                <a:latin typeface="Arial"/>
              </a:rPr>
              <a:t>•  If you use IPv6 in this course, you’re on your own (security groups, networking…) but you can do it!</a:t>
            </a:r>
          </a:p>
          <a:p>
            <a:pPr>
              <a:spcAft>
                <a:spcPts val="1000"/>
              </a:spcAft>
            </a:pPr>
            <a:r>
              <a:rPr sz="1800" b="0">
                <a:solidFill>
                  <a:srgbClr val="161B26"/>
                </a:solidFill>
                <a:latin typeface="Arial"/>
              </a:rPr>
              <a:t>•  How to troubleshoot charges?</a:t>
            </a:r>
          </a:p>
          <a:p>
            <a:pPr>
              <a:spcAft>
                <a:spcPts val="1000"/>
              </a:spcAft>
            </a:pPr>
            <a:r>
              <a:rPr sz="1800" b="0">
                <a:solidFill>
                  <a:srgbClr val="161B26"/>
                </a:solidFill>
                <a:latin typeface="Arial"/>
              </a:rPr>
              <a:t>•  Go into your AWS Bill</a:t>
            </a:r>
          </a:p>
          <a:p>
            <a:pPr>
              <a:spcAft>
                <a:spcPts val="1000"/>
              </a:spcAft>
            </a:pPr>
            <a:r>
              <a:rPr sz="1800" b="0">
                <a:solidFill>
                  <a:srgbClr val="161B26"/>
                </a:solidFill>
                <a:latin typeface="Arial"/>
              </a:rPr>
              <a:t>•  Look into the AWS Public IP Insights service</a:t>
            </a:r>
          </a:p>
          <a:p>
            <a:pPr>
              <a:spcAft>
                <a:spcPts val="1000"/>
              </a:spcAft>
            </a:pPr>
            <a:r>
              <a:rPr sz="1800" b="0">
                <a:solidFill>
                  <a:srgbClr val="161B26"/>
                </a:solidFill>
                <a:latin typeface="Arial"/>
              </a:rPr>
              <a:t>•  Nice article here:</a:t>
            </a:r>
          </a:p>
          <a:p>
            <a:pPr>
              <a:spcAft>
                <a:spcPts val="1000"/>
              </a:spcAft>
            </a:pPr>
            <a:r>
              <a:rPr sz="1800" b="0">
                <a:solidFill>
                  <a:srgbClr val="161B26"/>
                </a:solidFill>
                <a:latin typeface="Arial"/>
              </a:rPr>
              <a:t>•  https://repost.aws/articles/ARknH_OR0cTvqoTfJrVGaB8A/why-am-i-seeing-charges-for-public-ipv4-addresses-when-i-am-under-the-aws-free-tier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 Requests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get a discount of up to 90% compared to On-demand</a:t>
            </a:r>
          </a:p>
          <a:p>
            <a:pPr>
              <a:spcAft>
                <a:spcPts val="1000"/>
              </a:spcAft>
            </a:pPr>
            <a:r>
              <a:rPr sz="1800" b="0">
                <a:solidFill>
                  <a:srgbClr val="161B26"/>
                </a:solidFill>
                <a:latin typeface="Arial"/>
              </a:rPr>
              <a:t>•  Define max spot price and get the instance while current spot price &lt; max</a:t>
            </a:r>
          </a:p>
          <a:p>
            <a:pPr>
              <a:spcAft>
                <a:spcPts val="1000"/>
              </a:spcAft>
            </a:pPr>
            <a:r>
              <a:rPr sz="1800" b="0">
                <a:solidFill>
                  <a:srgbClr val="161B26"/>
                </a:solidFill>
                <a:latin typeface="Arial"/>
              </a:rPr>
              <a:t>•  The hourly spot price varies based on offer and capacity</a:t>
            </a:r>
          </a:p>
          <a:p>
            <a:pPr>
              <a:spcAft>
                <a:spcPts val="1000"/>
              </a:spcAft>
            </a:pPr>
            <a:r>
              <a:rPr sz="1800" b="0">
                <a:solidFill>
                  <a:srgbClr val="161B26"/>
                </a:solidFill>
                <a:latin typeface="Arial"/>
              </a:rPr>
              <a:t>•  If the current spot price &gt; your max price you can choose to stop or terminate your instance with a 2 minutes grace period.</a:t>
            </a:r>
          </a:p>
          <a:p>
            <a:pPr>
              <a:spcAft>
                <a:spcPts val="1000"/>
              </a:spcAft>
            </a:pPr>
            <a:r>
              <a:rPr sz="1800" b="0">
                <a:solidFill>
                  <a:srgbClr val="161B26"/>
                </a:solidFill>
                <a:latin typeface="Arial"/>
              </a:rPr>
              <a:t>•  Other strategy: Spot Block</a:t>
            </a:r>
          </a:p>
          <a:p>
            <a:pPr>
              <a:spcAft>
                <a:spcPts val="1000"/>
              </a:spcAft>
            </a:pPr>
            <a:r>
              <a:rPr sz="1800" b="0">
                <a:solidFill>
                  <a:srgbClr val="161B26"/>
                </a:solidFill>
                <a:latin typeface="Arial"/>
              </a:rPr>
              <a:t>•  “block” spot instance during a specified time frame (1 to 6 hours) without interruptions</a:t>
            </a:r>
          </a:p>
          <a:p>
            <a:pPr>
              <a:spcAft>
                <a:spcPts val="1000"/>
              </a:spcAft>
            </a:pPr>
            <a:r>
              <a:rPr sz="1800" b="0">
                <a:solidFill>
                  <a:srgbClr val="161B26"/>
                </a:solidFill>
                <a:latin typeface="Arial"/>
              </a:rPr>
              <a:t>•  In rare situations, the instance may be reclaimed</a:t>
            </a:r>
          </a:p>
          <a:p>
            <a:pPr>
              <a:spcAft>
                <a:spcPts val="1000"/>
              </a:spcAft>
            </a:pPr>
            <a:r>
              <a:rPr sz="1800" b="0">
                <a:solidFill>
                  <a:srgbClr val="161B26"/>
                </a:solidFill>
                <a:latin typeface="Arial"/>
              </a:rPr>
              <a:t>•  Used for batch jobs, data analysis, or workloads that are resilient to failures.</a:t>
            </a:r>
          </a:p>
          <a:p>
            <a:pPr>
              <a:spcAft>
                <a:spcPts val="1000"/>
              </a:spcAft>
            </a:pPr>
            <a:r>
              <a:rPr sz="1800" b="0">
                <a:solidFill>
                  <a:srgbClr val="161B26"/>
                </a:solidFill>
                <a:latin typeface="Arial"/>
              </a:rPr>
              <a:t>•  Not great for critical jobs or databases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Instances Pricing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https://console.aws.amazon.com/ec2sp/v1/spot/home?region=us-east-1#</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User-defined max price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terminate Spot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95313" y="1801368"/>
            <a:ext cx="697089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56_0.jpg"/>
          <p:cNvPicPr>
            <a:picLocks noChangeAspect="1"/>
          </p:cNvPicPr>
          <p:nvPr/>
        </p:nvPicPr>
        <p:blipFill>
          <a:blip r:embed="rId2"/>
          <a:stretch>
            <a:fillRect/>
          </a:stretch>
        </p:blipFill>
        <p:spPr>
          <a:xfrm>
            <a:off x="2622745" y="1828800"/>
            <a:ext cx="691602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https://docs.aws.amazon.com/AWSEC2/latest/UserGuide/spot-requests.html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Spot Fleets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Spot Fleets = set of Spot Instances + (optional) On-Demand Instances</a:t>
            </a:r>
          </a:p>
          <a:p>
            <a:pPr>
              <a:spcAft>
                <a:spcPts val="1000"/>
              </a:spcAft>
            </a:pPr>
            <a:r>
              <a:rPr sz="1800" b="0">
                <a:solidFill>
                  <a:srgbClr val="161B26"/>
                </a:solidFill>
                <a:latin typeface="Arial"/>
              </a:rPr>
              <a:t>•  The Spot Fleet will try to meet the target capacity with price constraints</a:t>
            </a:r>
          </a:p>
          <a:p>
            <a:pPr>
              <a:spcAft>
                <a:spcPts val="1000"/>
              </a:spcAft>
            </a:pPr>
            <a:r>
              <a:rPr sz="1800" b="0">
                <a:solidFill>
                  <a:srgbClr val="161B26"/>
                </a:solidFill>
                <a:latin typeface="Arial"/>
              </a:rPr>
              <a:t>•  Define possible launch pools: instance type (m5.large), OS, Availability Zone</a:t>
            </a:r>
          </a:p>
          <a:p>
            <a:pPr>
              <a:spcAft>
                <a:spcPts val="1000"/>
              </a:spcAft>
            </a:pPr>
            <a:r>
              <a:rPr sz="1800" b="0">
                <a:solidFill>
                  <a:srgbClr val="161B26"/>
                </a:solidFill>
                <a:latin typeface="Arial"/>
              </a:rPr>
              <a:t>•  Can have multiple launch pools, so that the fleet can choose</a:t>
            </a:r>
          </a:p>
          <a:p>
            <a:pPr>
              <a:spcAft>
                <a:spcPts val="1000"/>
              </a:spcAft>
            </a:pPr>
            <a:r>
              <a:rPr sz="1800" b="0">
                <a:solidFill>
                  <a:srgbClr val="161B26"/>
                </a:solidFill>
                <a:latin typeface="Arial"/>
              </a:rPr>
              <a:t>•  Spot Fleet stops launching instances when reaching capacity or max cost</a:t>
            </a:r>
          </a:p>
          <a:p>
            <a:pPr>
              <a:spcAft>
                <a:spcPts val="1000"/>
              </a:spcAft>
            </a:pPr>
            <a:r>
              <a:rPr sz="1800" b="0">
                <a:solidFill>
                  <a:srgbClr val="161B26"/>
                </a:solidFill>
                <a:latin typeface="Arial"/>
              </a:rPr>
              <a:t>•  Strategies to allocate Spot Instances:</a:t>
            </a:r>
          </a:p>
          <a:p>
            <a:pPr>
              <a:spcAft>
                <a:spcPts val="1000"/>
              </a:spcAft>
            </a:pPr>
            <a:r>
              <a:rPr sz="1800" b="0">
                <a:solidFill>
                  <a:srgbClr val="161B26"/>
                </a:solidFill>
                <a:latin typeface="Arial"/>
              </a:rPr>
              <a:t>•  lowestPrice: rom the pool with the lowest price (cost optimization, short workload)</a:t>
            </a:r>
          </a:p>
          <a:p>
            <a:pPr>
              <a:spcAft>
                <a:spcPts val="1000"/>
              </a:spcAft>
            </a:pPr>
            <a:r>
              <a:rPr sz="1800" b="0">
                <a:solidFill>
                  <a:srgbClr val="161B26"/>
                </a:solidFill>
                <a:latin typeface="Arial"/>
              </a:rPr>
              <a:t>•  diversified: distributed across all pools (great for availability, long workloads)</a:t>
            </a:r>
          </a:p>
          <a:p>
            <a:pPr>
              <a:spcAft>
                <a:spcPts val="1000"/>
              </a:spcAft>
            </a:pPr>
            <a:r>
              <a:rPr sz="1800" b="0">
                <a:solidFill>
                  <a:srgbClr val="161B26"/>
                </a:solidFill>
                <a:latin typeface="Arial"/>
              </a:rPr>
              <a:t>•  capacityOptimized: pool with the optimal capacity for the number of instances</a:t>
            </a:r>
          </a:p>
          <a:p>
            <a:pPr>
              <a:spcAft>
                <a:spcPts val="1000"/>
              </a:spcAft>
            </a:pPr>
            <a:r>
              <a:rPr sz="1800" b="0">
                <a:solidFill>
                  <a:srgbClr val="161B26"/>
                </a:solidFill>
                <a:latin typeface="Arial"/>
              </a:rPr>
              <a:t>•  priceCapacityOptimized (recommended): pools with highe</a:t>
            </a:r>
          </a:p>
          <a:p>
            <a:pPr>
              <a:spcAft>
                <a:spcPts val="1000"/>
              </a:spcAft>
            </a:pPr>
            <a:r>
              <a:rPr sz="1800" b="0">
                <a:solidFill>
                  <a:srgbClr val="161B26"/>
                </a:solidFill>
                <a:latin typeface="Arial"/>
              </a:rPr>
              <a:t>•  st capacity available, then select the pool with the lowest price (best choice for most workloads)</a:t>
            </a:r>
          </a:p>
          <a:p>
            <a:pPr>
              <a:spcAft>
                <a:spcPts val="1000"/>
              </a:spcAft>
            </a:pPr>
            <a:r>
              <a:rPr sz="1800" b="0">
                <a:solidFill>
                  <a:srgbClr val="161B26"/>
                </a:solidFill>
                <a:latin typeface="Arial"/>
              </a:rPr>
              <a:t>•  Spot Fleets allow us to automatically request Spot Instances with the lowest price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Burstable Instances (T2/T3)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has the concept of burstable instances (T2/T3 machines)</a:t>
            </a:r>
          </a:p>
          <a:p>
            <a:pPr>
              <a:spcAft>
                <a:spcPts val="1000"/>
              </a:spcAft>
            </a:pPr>
            <a:r>
              <a:rPr sz="2000" b="0">
                <a:solidFill>
                  <a:srgbClr val="161B26"/>
                </a:solidFill>
                <a:latin typeface="Arial"/>
              </a:rPr>
              <a:t>•  Burst means that overall, the instance has OK CPU performance.</a:t>
            </a:r>
          </a:p>
          <a:p>
            <a:pPr>
              <a:spcAft>
                <a:spcPts val="1000"/>
              </a:spcAft>
            </a:pPr>
            <a:r>
              <a:rPr sz="2000" b="0">
                <a:solidFill>
                  <a:srgbClr val="161B26"/>
                </a:solidFill>
                <a:latin typeface="Arial"/>
              </a:rPr>
              <a:t>•  When the machine needs to process something unexpected (a spike in load for example), it can burst, and CPU can be VERY good.</a:t>
            </a:r>
          </a:p>
          <a:p>
            <a:pPr>
              <a:spcAft>
                <a:spcPts val="1000"/>
              </a:spcAft>
            </a:pPr>
            <a:r>
              <a:rPr sz="2000" b="0">
                <a:solidFill>
                  <a:srgbClr val="161B26"/>
                </a:solidFill>
                <a:latin typeface="Arial"/>
              </a:rPr>
              <a:t>•  If the machine bursts, it utilizes “burst credits”</a:t>
            </a:r>
          </a:p>
          <a:p>
            <a:pPr>
              <a:spcAft>
                <a:spcPts val="1000"/>
              </a:spcAft>
            </a:pPr>
            <a:r>
              <a:rPr sz="2000" b="0">
                <a:solidFill>
                  <a:srgbClr val="161B26"/>
                </a:solidFill>
                <a:latin typeface="Arial"/>
              </a:rPr>
              <a:t>•  If all the credits are gone, the CPU becomes BAD</a:t>
            </a:r>
          </a:p>
          <a:p>
            <a:pPr>
              <a:spcAft>
                <a:spcPts val="1000"/>
              </a:spcAft>
            </a:pPr>
            <a:r>
              <a:rPr sz="2000" b="0">
                <a:solidFill>
                  <a:srgbClr val="161B26"/>
                </a:solidFill>
                <a:latin typeface="Arial"/>
              </a:rPr>
              <a:t>•  If the machine stops bursting, credits are accumulated over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Burstable Instances (T2/T3)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Burstable instances can be amazing to handle unexpected traffic and getting the insurance that it will be handled correctly</a:t>
            </a:r>
          </a:p>
          <a:p>
            <a:pPr>
              <a:spcAft>
                <a:spcPts val="1000"/>
              </a:spcAft>
            </a:pPr>
            <a:r>
              <a:rPr sz="2000" b="0">
                <a:solidFill>
                  <a:srgbClr val="161B26"/>
                </a:solidFill>
                <a:latin typeface="Arial"/>
              </a:rPr>
              <a:t>•  If your instance consistently runs low on credit, you need to move to a different kind of non-burstable instance</a:t>
            </a:r>
          </a:p>
          <a:p>
            <a:pPr>
              <a:spcAft>
                <a:spcPts val="1000"/>
              </a:spcAft>
            </a:pPr>
            <a:r>
              <a:rPr sz="2000" b="0">
                <a:solidFill>
                  <a:srgbClr val="161B26"/>
                </a:solidFill>
                <a:latin typeface="Arial"/>
              </a:rPr>
              <a:t>•  Credit usage</a:t>
            </a:r>
          </a:p>
          <a:p>
            <a:pPr>
              <a:spcAft>
                <a:spcPts val="1000"/>
              </a:spcAft>
            </a:pPr>
            <a:r>
              <a:rPr sz="2000" b="0">
                <a:solidFill>
                  <a:srgbClr val="161B26"/>
                </a:solidFill>
                <a:latin typeface="Arial"/>
              </a:rPr>
              <a:t>•  Credit balance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CPU Credits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CPU Credits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happens when credit ar exhausted?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Experiment: run a CPU stress command (to peak at 100%)</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After the credits are exhausted, the measured CPU utilization drops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100% CPU Utilization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Credit Usage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Credit exhaustion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Lowered CPU Utilization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T2/T3 Unlimited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possible to have an “unlimited burst credit balance”</a:t>
            </a:r>
          </a:p>
          <a:p>
            <a:pPr>
              <a:spcAft>
                <a:spcPts val="1000"/>
              </a:spcAft>
            </a:pPr>
            <a:r>
              <a:rPr sz="2000" b="0">
                <a:solidFill>
                  <a:srgbClr val="161B26"/>
                </a:solidFill>
                <a:latin typeface="Arial"/>
              </a:rPr>
              <a:t>•  You pay extra money if you go over your credit balance, but you don’t lose in performance</a:t>
            </a:r>
          </a:p>
          <a:p>
            <a:pPr>
              <a:spcAft>
                <a:spcPts val="1000"/>
              </a:spcAft>
            </a:pPr>
            <a:r>
              <a:rPr sz="2000" b="0">
                <a:solidFill>
                  <a:srgbClr val="161B26"/>
                </a:solidFill>
                <a:latin typeface="Arial"/>
              </a:rPr>
              <a:t>•  If average CPU usage over a 24-hour period exceeds the baseline, the instance is billed for additional usage per vCPU/hour</a:t>
            </a:r>
          </a:p>
          <a:p>
            <a:pPr>
              <a:spcAft>
                <a:spcPts val="1000"/>
              </a:spcAft>
            </a:pPr>
            <a:r>
              <a:rPr sz="2000" b="0">
                <a:solidFill>
                  <a:srgbClr val="161B26"/>
                </a:solidFill>
                <a:latin typeface="Arial"/>
              </a:rPr>
              <a:t>•  Be careful, costs could go high if you’re not monitoring the CPU health of your instances</a:t>
            </a:r>
          </a:p>
          <a:p>
            <a:pPr>
              <a:spcAft>
                <a:spcPts val="1000"/>
              </a:spcAft>
            </a:pPr>
            <a:r>
              <a:rPr sz="2000" b="0">
                <a:solidFill>
                  <a:srgbClr val="161B26"/>
                </a:solidFill>
                <a:latin typeface="Arial"/>
              </a:rPr>
              <a:t>•  https://aws.amazon.com/blogs/aws/new-t2-unlimited-going-beyond-the-burst-with-high-performance/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 IPs</a:t>
            </a:r>
          </a:p>
          <a:p>
            <a:pPr>
              <a:spcAft>
                <a:spcPts val="1000"/>
              </a:spcAft>
            </a:pPr>
            <a:r>
              <a:rPr sz="1800" b="0">
                <a:solidFill>
                  <a:srgbClr val="161B26"/>
                </a:solidFill>
                <a:latin typeface="Arial"/>
              </a:rPr>
              <a:t>•  When you stop and then start an EC2 instance, it changes its public IP</a:t>
            </a:r>
          </a:p>
          <a:p>
            <a:pPr>
              <a:spcAft>
                <a:spcPts val="1000"/>
              </a:spcAft>
            </a:pPr>
            <a:r>
              <a:rPr sz="1800" b="0">
                <a:solidFill>
                  <a:srgbClr val="161B26"/>
                </a:solidFill>
                <a:latin typeface="Arial"/>
              </a:rPr>
              <a:t>•  If you need to have a fixed public IP, you need an Elastic IP</a:t>
            </a:r>
          </a:p>
          <a:p>
            <a:pPr>
              <a:spcAft>
                <a:spcPts val="1000"/>
              </a:spcAft>
            </a:pPr>
            <a:r>
              <a:rPr sz="1800" b="0">
                <a:solidFill>
                  <a:srgbClr val="161B26"/>
                </a:solidFill>
                <a:latin typeface="Arial"/>
              </a:rPr>
              <a:t>•  An Elastic IP is a public IPv4 you own as long as you don’t delete it</a:t>
            </a:r>
          </a:p>
          <a:p>
            <a:pPr>
              <a:spcAft>
                <a:spcPts val="1000"/>
              </a:spcAft>
            </a:pPr>
            <a:r>
              <a:rPr sz="1800" b="0">
                <a:solidFill>
                  <a:srgbClr val="161B26"/>
                </a:solidFill>
                <a:latin typeface="Arial"/>
              </a:rPr>
              <a:t>•  You can attach it to one instance at a time</a:t>
            </a:r>
          </a:p>
          <a:p>
            <a:pPr>
              <a:spcAft>
                <a:spcPts val="1000"/>
              </a:spcAft>
            </a:pPr>
            <a:r>
              <a:rPr sz="1800" b="0">
                <a:solidFill>
                  <a:srgbClr val="161B26"/>
                </a:solidFill>
                <a:latin typeface="Arial"/>
              </a:rPr>
              <a:t>•  You can remap it across instances\</a:t>
            </a:r>
          </a:p>
          <a:p>
            <a:pPr>
              <a:spcAft>
                <a:spcPts val="1000"/>
              </a:spcAft>
            </a:pPr>
            <a:r>
              <a:rPr sz="1800" b="0">
                <a:solidFill>
                  <a:srgbClr val="161B26"/>
                </a:solidFill>
                <a:latin typeface="Arial"/>
              </a:rPr>
              <a:t>•  You don’t pay for the Elastic IP if it’s attached to a server</a:t>
            </a:r>
          </a:p>
          <a:p>
            <a:pPr>
              <a:spcAft>
                <a:spcPts val="1000"/>
              </a:spcAft>
            </a:pPr>
            <a:r>
              <a:rPr sz="1800" b="0">
                <a:solidFill>
                  <a:srgbClr val="161B26"/>
                </a:solidFill>
                <a:latin typeface="Arial"/>
              </a:rPr>
              <a:t>•  You pay for the Elastic IP if it’s not attached to a server</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EIP</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http://1.2.3.4</a:t>
            </a:r>
          </a:p>
          <a:p>
            <a:pPr>
              <a:spcAft>
                <a:spcPts val="1000"/>
              </a:spcAft>
            </a:pPr>
            <a:r>
              <a:rPr sz="1800" b="0">
                <a:solidFill>
                  <a:srgbClr val="161B26"/>
                </a:solidFill>
                <a:latin typeface="Arial"/>
              </a:rPr>
              <a:t>•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IPs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With an Elastic IP address, you can mask the failure of an instance or software by rapidly remapping the address to another instance in your account.</a:t>
            </a:r>
          </a:p>
          <a:p>
            <a:pPr>
              <a:spcAft>
                <a:spcPts val="1000"/>
              </a:spcAft>
            </a:pPr>
            <a:r>
              <a:rPr sz="2000" b="0">
                <a:solidFill>
                  <a:srgbClr val="161B26"/>
                </a:solidFill>
                <a:latin typeface="Arial"/>
              </a:rPr>
              <a:t>•  You can only have 5 Elastic IP in your account (you can ask AWS to increase that).</a:t>
            </a:r>
          </a:p>
          <a:p>
            <a:pPr>
              <a:spcAft>
                <a:spcPts val="1000"/>
              </a:spcAft>
            </a:pPr>
            <a:r>
              <a:rPr sz="2000" b="0">
                <a:solidFill>
                  <a:srgbClr val="161B26"/>
                </a:solidFill>
                <a:latin typeface="Arial"/>
              </a:rPr>
              <a:t>•  How you can avoid using Elastic IP:</a:t>
            </a:r>
          </a:p>
          <a:p>
            <a:pPr>
              <a:spcAft>
                <a:spcPts val="1000"/>
              </a:spcAft>
            </a:pPr>
            <a:r>
              <a:rPr sz="2000" b="0">
                <a:solidFill>
                  <a:srgbClr val="161B26"/>
                </a:solidFill>
                <a:latin typeface="Arial"/>
              </a:rPr>
              <a:t>•  Always think if other alternatives are available to you</a:t>
            </a:r>
          </a:p>
          <a:p>
            <a:pPr>
              <a:spcAft>
                <a:spcPts val="1000"/>
              </a:spcAft>
            </a:pPr>
            <a:r>
              <a:rPr sz="2000" b="0">
                <a:solidFill>
                  <a:srgbClr val="161B26"/>
                </a:solidFill>
                <a:latin typeface="Arial"/>
              </a:rPr>
              <a:t>•  You could use a random public IP and register a DNS name to it</a:t>
            </a:r>
          </a:p>
          <a:p>
            <a:pPr>
              <a:spcAft>
                <a:spcPts val="1000"/>
              </a:spcAft>
            </a:pPr>
            <a:r>
              <a:rPr sz="2000" b="0">
                <a:solidFill>
                  <a:srgbClr val="161B26"/>
                </a:solidFill>
                <a:latin typeface="Arial"/>
              </a:rPr>
              <a:t>•  Or use a Load Balancer with a static hostname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Elastic IPs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84513" y="1801368"/>
            <a:ext cx="999249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65_0.png"/>
          <p:cNvPicPr>
            <a:picLocks noChangeAspect="1"/>
          </p:cNvPicPr>
          <p:nvPr/>
        </p:nvPicPr>
        <p:blipFill>
          <a:blip r:embed="rId2"/>
          <a:stretch>
            <a:fillRect/>
          </a:stretch>
        </p:blipFill>
        <p:spPr>
          <a:xfrm>
            <a:off x="1111945" y="1828800"/>
            <a:ext cx="993763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two instances.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Metrics for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Provided metrics (AWS pushes them):</a:t>
            </a:r>
          </a:p>
          <a:p>
            <a:pPr>
              <a:spcAft>
                <a:spcPts val="1000"/>
              </a:spcAft>
            </a:pPr>
            <a:r>
              <a:rPr sz="1800" b="0">
                <a:solidFill>
                  <a:srgbClr val="161B26"/>
                </a:solidFill>
                <a:latin typeface="Arial"/>
              </a:rPr>
              <a:t>•  Basic Monitoring (default): metrics are collected at a 5 minute internal</a:t>
            </a:r>
          </a:p>
          <a:p>
            <a:pPr>
              <a:spcAft>
                <a:spcPts val="1000"/>
              </a:spcAft>
            </a:pPr>
            <a:r>
              <a:rPr sz="1800" b="0">
                <a:solidFill>
                  <a:srgbClr val="161B26"/>
                </a:solidFill>
                <a:latin typeface="Arial"/>
              </a:rPr>
              <a:t>•  Detailed Monitoring (paid): metrics are collected at a 1 minute interval</a:t>
            </a:r>
          </a:p>
          <a:p>
            <a:pPr>
              <a:spcAft>
                <a:spcPts val="1000"/>
              </a:spcAft>
            </a:pPr>
            <a:r>
              <a:rPr sz="1800" b="0">
                <a:solidFill>
                  <a:srgbClr val="161B26"/>
                </a:solidFill>
                <a:latin typeface="Arial"/>
              </a:rPr>
              <a:t>•  Includes CPU, Network, Disk and Status Check Metrics</a:t>
            </a:r>
          </a:p>
          <a:p>
            <a:pPr>
              <a:spcAft>
                <a:spcPts val="1000"/>
              </a:spcAft>
            </a:pPr>
            <a:r>
              <a:rPr sz="1800" b="0">
                <a:solidFill>
                  <a:srgbClr val="161B26"/>
                </a:solidFill>
                <a:latin typeface="Arial"/>
              </a:rPr>
              <a:t>•  Custom metric (yours to push):</a:t>
            </a:r>
          </a:p>
          <a:p>
            <a:pPr>
              <a:spcAft>
                <a:spcPts val="1000"/>
              </a:spcAft>
            </a:pPr>
            <a:r>
              <a:rPr sz="1800" b="0">
                <a:solidFill>
                  <a:srgbClr val="161B26"/>
                </a:solidFill>
                <a:latin typeface="Arial"/>
              </a:rPr>
              <a:t>•  Basic Resolution: 1 minute resolution</a:t>
            </a:r>
          </a:p>
          <a:p>
            <a:pPr>
              <a:spcAft>
                <a:spcPts val="1000"/>
              </a:spcAft>
            </a:pPr>
            <a:r>
              <a:rPr sz="1800" b="0">
                <a:solidFill>
                  <a:srgbClr val="161B26"/>
                </a:solidFill>
                <a:latin typeface="Arial"/>
              </a:rPr>
              <a:t>•  High Resolution: all the way to 1 second resolution</a:t>
            </a:r>
          </a:p>
          <a:p>
            <a:pPr>
              <a:spcAft>
                <a:spcPts val="1000"/>
              </a:spcAft>
            </a:pPr>
            <a:r>
              <a:rPr sz="1800" b="0">
                <a:solidFill>
                  <a:srgbClr val="161B26"/>
                </a:solidFill>
                <a:latin typeface="Arial"/>
              </a:rPr>
              <a:t>•  Include RAM, application level metrics</a:t>
            </a:r>
          </a:p>
          <a:p>
            <a:pPr>
              <a:spcAft>
                <a:spcPts val="1000"/>
              </a:spcAft>
            </a:pPr>
            <a:r>
              <a:rPr sz="1800" b="0">
                <a:solidFill>
                  <a:srgbClr val="161B26"/>
                </a:solidFill>
                <a:latin typeface="Arial"/>
              </a:rPr>
              <a:t>•  Make sure the IAM permissions on the EC2 instance role are correct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included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CPU: CPU Utilization + Credit Usage / Balance</a:t>
            </a:r>
          </a:p>
          <a:p>
            <a:pPr>
              <a:spcAft>
                <a:spcPts val="1000"/>
              </a:spcAft>
            </a:pPr>
            <a:r>
              <a:rPr sz="1800" b="0">
                <a:solidFill>
                  <a:srgbClr val="161B26"/>
                </a:solidFill>
                <a:latin typeface="Arial"/>
              </a:rPr>
              <a:t>•  Network: Network In / Out</a:t>
            </a:r>
          </a:p>
          <a:p>
            <a:pPr>
              <a:spcAft>
                <a:spcPts val="1000"/>
              </a:spcAft>
            </a:pPr>
            <a:r>
              <a:rPr sz="1800" b="0">
                <a:solidFill>
                  <a:srgbClr val="161B26"/>
                </a:solidFill>
                <a:latin typeface="Arial"/>
              </a:rPr>
              <a:t>•  Status Check:</a:t>
            </a:r>
          </a:p>
          <a:p>
            <a:pPr>
              <a:spcAft>
                <a:spcPts val="1000"/>
              </a:spcAft>
            </a:pPr>
            <a:r>
              <a:rPr sz="1800" b="0">
                <a:solidFill>
                  <a:srgbClr val="161B26"/>
                </a:solidFill>
                <a:latin typeface="Arial"/>
              </a:rPr>
              <a:t>•  Instance status = check the EC2 VM</a:t>
            </a:r>
          </a:p>
          <a:p>
            <a:pPr>
              <a:spcAft>
                <a:spcPts val="1000"/>
              </a:spcAft>
            </a:pPr>
            <a:r>
              <a:rPr sz="1800" b="0">
                <a:solidFill>
                  <a:srgbClr val="161B26"/>
                </a:solidFill>
                <a:latin typeface="Arial"/>
              </a:rPr>
              <a:t>•  System status = check the underlying hardware</a:t>
            </a:r>
          </a:p>
          <a:p>
            <a:pPr>
              <a:spcAft>
                <a:spcPts val="1000"/>
              </a:spcAft>
            </a:pPr>
            <a:r>
              <a:rPr sz="1800" b="0">
                <a:solidFill>
                  <a:srgbClr val="161B26"/>
                </a:solidFill>
                <a:latin typeface="Arial"/>
              </a:rPr>
              <a:t>•  Attached EBS status = check attached EBS volumes</a:t>
            </a:r>
          </a:p>
          <a:p>
            <a:pPr>
              <a:spcAft>
                <a:spcPts val="1000"/>
              </a:spcAft>
            </a:pPr>
            <a:r>
              <a:rPr sz="1800" b="0">
                <a:solidFill>
                  <a:srgbClr val="161B26"/>
                </a:solidFill>
                <a:latin typeface="Arial"/>
              </a:rPr>
              <a:t>•  Disk: Read / Write for Ops / Bytes	(only for instance store)</a:t>
            </a:r>
          </a:p>
          <a:p>
            <a:pPr>
              <a:spcAft>
                <a:spcPts val="1000"/>
              </a:spcAft>
            </a:pPr>
            <a:r>
              <a:rPr sz="1800" b="0">
                <a:solidFill>
                  <a:srgbClr val="161B26"/>
                </a:solidFill>
                <a:latin typeface="Arial"/>
              </a:rPr>
              <a:t>•  RAM is NOT included in the AWS EC2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IAM Role For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28584"/>
            <a:ext cx="10479024" cy="408099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68_0.png"/>
          <p:cNvPicPr>
            <a:picLocks noChangeAspect="1"/>
          </p:cNvPicPr>
          <p:nvPr/>
        </p:nvPicPr>
        <p:blipFill>
          <a:blip r:embed="rId2"/>
          <a:stretch>
            <a:fillRect/>
          </a:stretch>
        </p:blipFill>
        <p:spPr>
          <a:xfrm>
            <a:off x="868680" y="2056016"/>
            <a:ext cx="10424160" cy="402612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Assign IAM Role To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71407"/>
            <a:ext cx="10479024" cy="319534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69_0.png"/>
          <p:cNvPicPr>
            <a:picLocks noChangeAspect="1"/>
          </p:cNvPicPr>
          <p:nvPr/>
        </p:nvPicPr>
        <p:blipFill>
          <a:blip r:embed="rId2"/>
          <a:stretch>
            <a:fillRect/>
          </a:stretch>
        </p:blipFill>
        <p:spPr>
          <a:xfrm>
            <a:off x="868680" y="2498839"/>
            <a:ext cx="10424160" cy="314048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Unified CloudWatch Agent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virtual servers (EC2 instances, on-premises servers, …)</a:t>
            </a:r>
          </a:p>
          <a:p>
            <a:pPr>
              <a:spcAft>
                <a:spcPts val="1000"/>
              </a:spcAft>
            </a:pPr>
            <a:r>
              <a:rPr sz="1800" b="0">
                <a:solidFill>
                  <a:srgbClr val="161B26"/>
                </a:solidFill>
                <a:latin typeface="Arial"/>
              </a:rPr>
              <a:t>•  Collect additional system-level metrics such as RAM, processes, used disk space, etc.</a:t>
            </a:r>
          </a:p>
          <a:p>
            <a:pPr>
              <a:spcAft>
                <a:spcPts val="1000"/>
              </a:spcAft>
            </a:pPr>
            <a:r>
              <a:rPr sz="1800" b="0">
                <a:solidFill>
                  <a:srgbClr val="161B26"/>
                </a:solidFill>
                <a:latin typeface="Arial"/>
              </a:rPr>
              <a:t>•  Collect logs to send to CloudWatch Logs</a:t>
            </a:r>
          </a:p>
          <a:p>
            <a:pPr>
              <a:spcAft>
                <a:spcPts val="1000"/>
              </a:spcAft>
            </a:pPr>
            <a:r>
              <a:rPr sz="1800" b="0">
                <a:solidFill>
                  <a:srgbClr val="161B26"/>
                </a:solidFill>
                <a:latin typeface="Arial"/>
              </a:rPr>
              <a:t>•  No logs from inside your EC2 instance will be sent to CloudWatch Logs without using an agent</a:t>
            </a:r>
          </a:p>
          <a:p>
            <a:pPr>
              <a:spcAft>
                <a:spcPts val="1000"/>
              </a:spcAft>
            </a:pPr>
            <a:r>
              <a:rPr sz="1800" b="0">
                <a:solidFill>
                  <a:srgbClr val="161B26"/>
                </a:solidFill>
                <a:latin typeface="Arial"/>
              </a:rPr>
              <a:t>•  Centralized configuration using SSM Parameter Store</a:t>
            </a:r>
          </a:p>
          <a:p>
            <a:pPr>
              <a:spcAft>
                <a:spcPts val="1000"/>
              </a:spcAft>
            </a:pPr>
            <a:r>
              <a:rPr sz="1800" b="0">
                <a:solidFill>
                  <a:srgbClr val="161B26"/>
                </a:solidFill>
                <a:latin typeface="Arial"/>
              </a:rPr>
              <a:t>•  Make sure IAM permissions are correct</a:t>
            </a:r>
          </a:p>
          <a:p>
            <a:pPr>
              <a:spcAft>
                <a:spcPts val="1000"/>
              </a:spcAft>
            </a:pPr>
            <a:r>
              <a:rPr sz="1800" b="0">
                <a:solidFill>
                  <a:srgbClr val="161B26"/>
                </a:solidFill>
                <a:latin typeface="Arial"/>
              </a:rPr>
              <a:t>•  Default namespace for metrics collected by the Unified CloudWatch agent is CWAgent (can be configured/changed)</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Server with Unified CW Agent</a:t>
            </a:r>
          </a:p>
          <a:p>
            <a:pPr>
              <a:spcAft>
                <a:spcPts val="1000"/>
              </a:spcAft>
            </a:pPr>
            <a:r>
              <a:rPr sz="1800" b="0">
                <a:solidFill>
                  <a:srgbClr val="161B26"/>
                </a:solidFill>
                <a:latin typeface="Arial"/>
              </a:rPr>
              <a:t>•  EC2 Instance with Unified CW Agent</a:t>
            </a:r>
          </a:p>
          <a:p>
            <a:pPr>
              <a:spcAft>
                <a:spcPts val="1000"/>
              </a:spcAft>
            </a:pPr>
            <a:r>
              <a:rPr sz="1800" b="0">
                <a:solidFill>
                  <a:srgbClr val="161B26"/>
                </a:solidFill>
                <a:latin typeface="Arial"/>
              </a:rPr>
              <a:t>•  push logs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push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Unified CloudWatch Agent – procstat Plugin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Collect metrics and monitor system utilization of individual processes</a:t>
            </a:r>
          </a:p>
          <a:p>
            <a:pPr>
              <a:spcAft>
                <a:spcPts val="1000"/>
              </a:spcAft>
            </a:pPr>
            <a:r>
              <a:rPr sz="1800" b="0">
                <a:solidFill>
                  <a:srgbClr val="161B26"/>
                </a:solidFill>
                <a:latin typeface="Arial"/>
              </a:rPr>
              <a:t>•  Supports both Linux and Windows servers</a:t>
            </a:r>
          </a:p>
          <a:p>
            <a:pPr>
              <a:spcAft>
                <a:spcPts val="1000"/>
              </a:spcAft>
            </a:pPr>
            <a:r>
              <a:rPr sz="1800" b="0">
                <a:solidFill>
                  <a:srgbClr val="161B26"/>
                </a:solidFill>
                <a:latin typeface="Arial"/>
              </a:rPr>
              <a:t>•  Example: amount of time the process uses CPU, amount of memory the process uses, …</a:t>
            </a:r>
          </a:p>
          <a:p>
            <a:pPr>
              <a:spcAft>
                <a:spcPts val="1000"/>
              </a:spcAft>
            </a:pPr>
            <a:r>
              <a:rPr sz="1800" b="0">
                <a:solidFill>
                  <a:srgbClr val="161B26"/>
                </a:solidFill>
                <a:latin typeface="Arial"/>
              </a:rPr>
              <a:t>•  Select which processes to monitor by</a:t>
            </a:r>
          </a:p>
          <a:p>
            <a:pPr>
              <a:spcAft>
                <a:spcPts val="1000"/>
              </a:spcAft>
            </a:pPr>
            <a:r>
              <a:rPr sz="1800" b="0">
                <a:solidFill>
                  <a:srgbClr val="161B26"/>
                </a:solidFill>
                <a:latin typeface="Arial"/>
              </a:rPr>
              <a:t>•  pid_file: name of process identification number (PID) files they create</a:t>
            </a:r>
          </a:p>
          <a:p>
            <a:pPr>
              <a:spcAft>
                <a:spcPts val="1000"/>
              </a:spcAft>
            </a:pPr>
            <a:r>
              <a:rPr sz="1800" b="0">
                <a:solidFill>
                  <a:srgbClr val="161B26"/>
                </a:solidFill>
                <a:latin typeface="Arial"/>
              </a:rPr>
              <a:t>•  exe: process name that match string you specify (RegEx)</a:t>
            </a:r>
          </a:p>
          <a:p>
            <a:pPr>
              <a:spcAft>
                <a:spcPts val="1000"/>
              </a:spcAft>
            </a:pPr>
            <a:r>
              <a:rPr sz="1800" b="0">
                <a:solidFill>
                  <a:srgbClr val="161B26"/>
                </a:solidFill>
                <a:latin typeface="Arial"/>
              </a:rPr>
              <a:t>•  pattern: command lines used to start the processes (RegEx)</a:t>
            </a:r>
          </a:p>
          <a:p>
            <a:pPr>
              <a:spcAft>
                <a:spcPts val="1000"/>
              </a:spcAft>
            </a:pPr>
            <a:r>
              <a:rPr sz="1800" b="0">
                <a:solidFill>
                  <a:srgbClr val="161B26"/>
                </a:solidFill>
                <a:latin typeface="Arial"/>
              </a:rPr>
              <a:t>•  Metrics collected by procstat plugin begins with "procstat" prefix (e.g., procstat_cpu_time, procstat_cpu_usage,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Status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Automated checks to identify hardware and software issues</a:t>
            </a:r>
          </a:p>
          <a:p>
            <a:pPr>
              <a:spcAft>
                <a:spcPts val="1000"/>
              </a:spcAft>
            </a:pPr>
            <a:r>
              <a:rPr sz="1800" b="0">
                <a:solidFill>
                  <a:srgbClr val="161B26"/>
                </a:solidFill>
                <a:latin typeface="Arial"/>
              </a:rPr>
              <a:t>•  System status Checks</a:t>
            </a:r>
          </a:p>
          <a:p>
            <a:pPr>
              <a:spcAft>
                <a:spcPts val="1000"/>
              </a:spcAft>
            </a:pPr>
            <a:r>
              <a:rPr sz="1800" b="0">
                <a:solidFill>
                  <a:srgbClr val="161B26"/>
                </a:solidFill>
                <a:latin typeface="Arial"/>
              </a:rPr>
              <a:t>•  Monitors problems with AWS systems (software/hardware issues on the physical host, loss of system power, …)</a:t>
            </a:r>
          </a:p>
          <a:p>
            <a:pPr>
              <a:spcAft>
                <a:spcPts val="1000"/>
              </a:spcAft>
            </a:pPr>
            <a:r>
              <a:rPr sz="1800" b="0">
                <a:solidFill>
                  <a:srgbClr val="161B26"/>
                </a:solidFill>
                <a:latin typeface="Arial"/>
              </a:rPr>
              <a:t>•  Check Personal Health Dashboard for any scheduled critical maintenance by AWS to your instance’s host</a:t>
            </a:r>
          </a:p>
          <a:p>
            <a:pPr>
              <a:spcAft>
                <a:spcPts val="1000"/>
              </a:spcAft>
            </a:pPr>
            <a:r>
              <a:rPr sz="1800" b="0">
                <a:solidFill>
                  <a:srgbClr val="161B26"/>
                </a:solidFill>
                <a:latin typeface="Arial"/>
              </a:rPr>
              <a:t>•  Resolution: stop and start the instance (instance migrated to a new host)</a:t>
            </a:r>
          </a:p>
          <a:p>
            <a:pPr>
              <a:spcAft>
                <a:spcPts val="1000"/>
              </a:spcAft>
            </a:pPr>
            <a:r>
              <a:rPr sz="1800" b="0">
                <a:solidFill>
                  <a:srgbClr val="161B26"/>
                </a:solidFill>
                <a:latin typeface="Arial"/>
              </a:rPr>
              <a:t>•  Instance Status Checks</a:t>
            </a:r>
          </a:p>
          <a:p>
            <a:pPr>
              <a:spcAft>
                <a:spcPts val="1000"/>
              </a:spcAft>
            </a:pPr>
            <a:r>
              <a:rPr sz="1800" b="0">
                <a:solidFill>
                  <a:srgbClr val="161B26"/>
                </a:solidFill>
                <a:latin typeface="Arial"/>
              </a:rPr>
              <a:t>•  Monitors software/network configuration of your instance (invalid network configuration, exhausted memory, …)</a:t>
            </a:r>
          </a:p>
          <a:p>
            <a:pPr>
              <a:spcAft>
                <a:spcPts val="1000"/>
              </a:spcAft>
            </a:pPr>
            <a:r>
              <a:rPr sz="1800" b="0">
                <a:solidFill>
                  <a:srgbClr val="161B26"/>
                </a:solidFill>
                <a:latin typeface="Arial"/>
              </a:rPr>
              <a:t>•  Resolution: reboot the instance or change instance configuration</a:t>
            </a:r>
          </a:p>
          <a:p>
            <a:pPr>
              <a:spcAft>
                <a:spcPts val="1000"/>
              </a:spcAft>
            </a:pPr>
            <a:r>
              <a:rPr sz="1800" b="0">
                <a:solidFill>
                  <a:srgbClr val="161B26"/>
                </a:solidFill>
                <a:latin typeface="Arial"/>
              </a:rPr>
              <a:t>•  Attached EBS Status Checks</a:t>
            </a:r>
          </a:p>
          <a:p>
            <a:pPr>
              <a:spcAft>
                <a:spcPts val="1000"/>
              </a:spcAft>
            </a:pPr>
            <a:r>
              <a:rPr sz="1800" b="0">
                <a:solidFill>
                  <a:srgbClr val="161B26"/>
                </a:solidFill>
                <a:latin typeface="Arial"/>
              </a:rPr>
              <a:t>•  Monitors EBS volumes attached to your instance (reachable &amp; complete I/O Operations)</a:t>
            </a:r>
          </a:p>
          <a:p>
            <a:pPr>
              <a:spcAft>
                <a:spcPts val="1000"/>
              </a:spcAft>
            </a:pPr>
            <a:r>
              <a:rPr sz="1800" b="0">
                <a:solidFill>
                  <a:srgbClr val="161B26"/>
                </a:solidFill>
                <a:latin typeface="Arial"/>
              </a:rPr>
              <a:t>•  Resolution: reboot the instance or replace affected EBS volumes</a:t>
            </a:r>
          </a:p>
          <a:p>
            <a:pPr>
              <a:spcAft>
                <a:spcPts val="1000"/>
              </a:spcAft>
            </a:pPr>
            <a:r>
              <a:rPr sz="1800" b="0">
                <a:solidFill>
                  <a:srgbClr val="161B26"/>
                </a:solidFill>
                <a:latin typeface="Arial"/>
              </a:rPr>
              <a:t>•  Host 1</a:t>
            </a:r>
          </a:p>
          <a:p>
            <a:pPr>
              <a:spcAft>
                <a:spcPts val="1000"/>
              </a:spcAft>
            </a:pPr>
            <a:r>
              <a:rPr sz="1800" b="0">
                <a:solidFill>
                  <a:srgbClr val="161B26"/>
                </a:solidFill>
                <a:latin typeface="Arial"/>
              </a:rPr>
              <a:t>•  Host 2</a:t>
            </a:r>
          </a:p>
          <a:p>
            <a:pPr>
              <a:spcAft>
                <a:spcPts val="1000"/>
              </a:spcAft>
            </a:pPr>
            <a:r>
              <a:rPr sz="1800" b="0">
                <a:solidFill>
                  <a:srgbClr val="161B26"/>
                </a:solidFill>
                <a:latin typeface="Arial"/>
              </a:rPr>
              <a:t>•  Stop &amp; Start</a:t>
            </a:r>
          </a:p>
          <a:p>
            <a:pPr>
              <a:spcAft>
                <a:spcPts val="1000"/>
              </a:spcAft>
            </a:pPr>
            <a:r>
              <a:rPr sz="1800" b="0">
                <a:solidFill>
                  <a:srgbClr val="161B26"/>
                </a:solidFill>
                <a:latin typeface="Arial"/>
              </a:rPr>
              <a:t>•  Hardware failure</a:t>
            </a:r>
          </a:p>
          <a:p>
            <a:pPr>
              <a:spcAft>
                <a:spcPts val="1000"/>
              </a:spcAft>
            </a:pPr>
            <a:r>
              <a:rPr sz="1800" b="0">
                <a:solidFill>
                  <a:srgbClr val="161B26"/>
                </a:solidFill>
                <a:latin typeface="Arial"/>
              </a:rPr>
              <a:t>•  migrate</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Status Checks - CW Metrics &amp;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Metrics (1 minute interval)</a:t>
            </a:r>
          </a:p>
          <a:p>
            <a:pPr>
              <a:spcAft>
                <a:spcPts val="1000"/>
              </a:spcAft>
            </a:pPr>
            <a:r>
              <a:rPr sz="1800" b="0">
                <a:solidFill>
                  <a:srgbClr val="161B26"/>
                </a:solidFill>
                <a:latin typeface="Arial"/>
              </a:rPr>
              <a:t>•  StatusCheckFailed_System</a:t>
            </a:r>
          </a:p>
          <a:p>
            <a:pPr>
              <a:spcAft>
                <a:spcPts val="1000"/>
              </a:spcAft>
            </a:pPr>
            <a:r>
              <a:rPr sz="1800" b="0">
                <a:solidFill>
                  <a:srgbClr val="161B26"/>
                </a:solidFill>
                <a:latin typeface="Arial"/>
              </a:rPr>
              <a:t>•  StatusCheckFailed_Instance</a:t>
            </a:r>
          </a:p>
          <a:p>
            <a:pPr>
              <a:spcAft>
                <a:spcPts val="1000"/>
              </a:spcAft>
            </a:pPr>
            <a:r>
              <a:rPr sz="1800" b="0">
                <a:solidFill>
                  <a:srgbClr val="161B26"/>
                </a:solidFill>
                <a:latin typeface="Arial"/>
              </a:rPr>
              <a:t>•  StatusCheckFailed_AttachedEBS</a:t>
            </a:r>
          </a:p>
          <a:p>
            <a:pPr>
              <a:spcAft>
                <a:spcPts val="1000"/>
              </a:spcAft>
            </a:pPr>
            <a:r>
              <a:rPr sz="1800" b="0">
                <a:solidFill>
                  <a:srgbClr val="161B26"/>
                </a:solidFill>
                <a:latin typeface="Arial"/>
              </a:rPr>
              <a:t>•  StatusCheckFailed (for any)</a:t>
            </a:r>
          </a:p>
          <a:p>
            <a:pPr>
              <a:spcAft>
                <a:spcPts val="1000"/>
              </a:spcAft>
            </a:pPr>
            <a:r>
              <a:rPr sz="1800" b="0">
                <a:solidFill>
                  <a:srgbClr val="161B26"/>
                </a:solidFill>
                <a:latin typeface="Arial"/>
              </a:rPr>
              <a:t>•  Option 1: CloudWatch Alarm</a:t>
            </a:r>
          </a:p>
          <a:p>
            <a:pPr>
              <a:spcAft>
                <a:spcPts val="1000"/>
              </a:spcAft>
            </a:pPr>
            <a:r>
              <a:rPr sz="1800" b="0">
                <a:solidFill>
                  <a:srgbClr val="161B26"/>
                </a:solidFill>
                <a:latin typeface="Arial"/>
              </a:rPr>
              <a:t>•  Recover EC2 instance with the same private/public IP, EIP, metadata, and Placement Group</a:t>
            </a:r>
          </a:p>
          <a:p>
            <a:pPr>
              <a:spcAft>
                <a:spcPts val="1000"/>
              </a:spcAft>
            </a:pPr>
            <a:r>
              <a:rPr sz="1800" b="0">
                <a:solidFill>
                  <a:srgbClr val="161B26"/>
                </a:solidFill>
                <a:latin typeface="Arial"/>
              </a:rPr>
              <a:t>•  Send notifications using SNS</a:t>
            </a:r>
          </a:p>
          <a:p>
            <a:pPr>
              <a:spcAft>
                <a:spcPts val="1000"/>
              </a:spcAft>
            </a:pPr>
            <a:r>
              <a:rPr sz="1800" b="0">
                <a:solidFill>
                  <a:srgbClr val="161B26"/>
                </a:solidFill>
                <a:latin typeface="Arial"/>
              </a:rPr>
              <a:t>•  Option 2: Auto Scaling Group</a:t>
            </a:r>
          </a:p>
          <a:p>
            <a:pPr>
              <a:spcAft>
                <a:spcPts val="1000"/>
              </a:spcAft>
            </a:pPr>
            <a:r>
              <a:rPr sz="1800" b="0">
                <a:solidFill>
                  <a:srgbClr val="161B26"/>
                </a:solidFill>
                <a:latin typeface="Arial"/>
              </a:rPr>
              <a:t>•  Set min/max/desired 1 to recover an instance but won't keep the same private and elastic IP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(StatusCheckFailed_System)</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send notification</a:t>
            </a:r>
          </a:p>
          <a:p>
            <a:pPr>
              <a:spcAft>
                <a:spcPts val="1000"/>
              </a:spcAft>
            </a:pPr>
            <a:r>
              <a:rPr sz="1800" b="0">
                <a:solidFill>
                  <a:srgbClr val="161B26"/>
                </a:solidFill>
                <a:latin typeface="Arial"/>
              </a:rPr>
              <a:t>•  Action: recover</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launch new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Hibernate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know we can stop, terminate instances</a:t>
            </a:r>
          </a:p>
          <a:p>
            <a:pPr>
              <a:spcAft>
                <a:spcPts val="1000"/>
              </a:spcAft>
            </a:pPr>
            <a:r>
              <a:rPr sz="1800" b="0">
                <a:solidFill>
                  <a:srgbClr val="161B26"/>
                </a:solidFill>
                <a:latin typeface="Arial"/>
              </a:rPr>
              <a:t>•  Stop - the data on disk (EBS) is kept intact in the next start</a:t>
            </a:r>
          </a:p>
          <a:p>
            <a:pPr>
              <a:spcAft>
                <a:spcPts val="1000"/>
              </a:spcAft>
            </a:pPr>
            <a:r>
              <a:rPr sz="1800" b="0">
                <a:solidFill>
                  <a:srgbClr val="161B26"/>
                </a:solidFill>
                <a:latin typeface="Arial"/>
              </a:rPr>
              <a:t>•  Terminate - any EBS volumes (root) also set-up to be destroyed is lost</a:t>
            </a:r>
          </a:p>
          <a:p>
            <a:pPr>
              <a:spcAft>
                <a:spcPts val="1000"/>
              </a:spcAft>
            </a:pPr>
            <a:r>
              <a:rPr sz="1800" b="0">
                <a:solidFill>
                  <a:srgbClr val="161B26"/>
                </a:solidFill>
                <a:latin typeface="Arial"/>
              </a:rPr>
              <a:t>•  On start, the following happens:</a:t>
            </a:r>
          </a:p>
          <a:p>
            <a:pPr>
              <a:spcAft>
                <a:spcPts val="1000"/>
              </a:spcAft>
            </a:pPr>
            <a:r>
              <a:rPr sz="1800" b="0">
                <a:solidFill>
                  <a:srgbClr val="161B26"/>
                </a:solidFill>
                <a:latin typeface="Arial"/>
              </a:rPr>
              <a:t>•  First start: the OS boots &amp; the EC2 User Data script is run</a:t>
            </a:r>
          </a:p>
          <a:p>
            <a:pPr>
              <a:spcAft>
                <a:spcPts val="1000"/>
              </a:spcAft>
            </a:pPr>
            <a:r>
              <a:rPr sz="1800" b="0">
                <a:solidFill>
                  <a:srgbClr val="161B26"/>
                </a:solidFill>
                <a:latin typeface="Arial"/>
              </a:rPr>
              <a:t>•  Following starts: the OS boots up</a:t>
            </a:r>
          </a:p>
          <a:p>
            <a:pPr>
              <a:spcAft>
                <a:spcPts val="1000"/>
              </a:spcAft>
            </a:pPr>
            <a:r>
              <a:rPr sz="1800" b="0">
                <a:solidFill>
                  <a:srgbClr val="161B26"/>
                </a:solidFill>
                <a:latin typeface="Arial"/>
              </a:rPr>
              <a:t>•  Then your application starts, caches get warmed up, and that can take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Hibernate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Introducing EC2 Hibernate:</a:t>
            </a:r>
          </a:p>
          <a:p>
            <a:pPr>
              <a:spcAft>
                <a:spcPts val="1000"/>
              </a:spcAft>
            </a:pPr>
            <a:r>
              <a:rPr sz="1800" b="0">
                <a:solidFill>
                  <a:srgbClr val="161B26"/>
                </a:solidFill>
                <a:latin typeface="Arial"/>
              </a:rPr>
              <a:t>•  The in-memory (RAM) state is preserved</a:t>
            </a:r>
          </a:p>
          <a:p>
            <a:pPr>
              <a:spcAft>
                <a:spcPts val="1000"/>
              </a:spcAft>
            </a:pPr>
            <a:r>
              <a:rPr sz="1800" b="0">
                <a:solidFill>
                  <a:srgbClr val="161B26"/>
                </a:solidFill>
                <a:latin typeface="Arial"/>
              </a:rPr>
              <a:t>•  The instance boot is much faster! (the OS is not stopped / restarted)</a:t>
            </a:r>
          </a:p>
          <a:p>
            <a:pPr>
              <a:spcAft>
                <a:spcPts val="1000"/>
              </a:spcAft>
            </a:pPr>
            <a:r>
              <a:rPr sz="1800" b="0">
                <a:solidFill>
                  <a:srgbClr val="161B26"/>
                </a:solidFill>
                <a:latin typeface="Arial"/>
              </a:rPr>
              <a:t>•  Under the hood: the RAM state is written to a file in the root EBS volume</a:t>
            </a:r>
          </a:p>
          <a:p>
            <a:pPr>
              <a:spcAft>
                <a:spcPts val="1000"/>
              </a:spcAft>
            </a:pPr>
            <a:r>
              <a:rPr sz="1800" b="0">
                <a:solidFill>
                  <a:srgbClr val="161B26"/>
                </a:solidFill>
                <a:latin typeface="Arial"/>
              </a:rPr>
              <a:t>•  The root EBS volume must be encrypted</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Long-running processing</a:t>
            </a:r>
          </a:p>
          <a:p>
            <a:pPr>
              <a:spcAft>
                <a:spcPts val="1000"/>
              </a:spcAft>
            </a:pPr>
            <a:r>
              <a:rPr sz="1800" b="0">
                <a:solidFill>
                  <a:srgbClr val="161B26"/>
                </a:solidFill>
                <a:latin typeface="Arial"/>
              </a:rPr>
              <a:t>•  Saving the RAM state</a:t>
            </a:r>
          </a:p>
          <a:p>
            <a:pPr>
              <a:spcAft>
                <a:spcPts val="1000"/>
              </a:spcAft>
            </a:pPr>
            <a:r>
              <a:rPr sz="1800" b="0">
                <a:solidFill>
                  <a:srgbClr val="161B26"/>
                </a:solidFill>
                <a:latin typeface="Arial"/>
              </a:rPr>
              <a:t>•  Services that take time to initialize</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Root EBS</a:t>
            </a:r>
          </a:p>
          <a:p>
            <a:pPr>
              <a:spcAft>
                <a:spcPts val="1000"/>
              </a:spcAft>
            </a:pPr>
            <a:r>
              <a:rPr sz="1800" b="0">
                <a:solidFill>
                  <a:srgbClr val="161B26"/>
                </a:solidFill>
                <a:latin typeface="Arial"/>
              </a:rPr>
              <a:t>•  Volume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Running</a:t>
            </a:r>
          </a:p>
          <a:p>
            <a:pPr>
              <a:spcAft>
                <a:spcPts val="1000"/>
              </a:spcAft>
            </a:pPr>
            <a:r>
              <a:rPr sz="1800" b="0">
                <a:solidFill>
                  <a:srgbClr val="161B26"/>
                </a:solidFill>
                <a:latin typeface="Arial"/>
              </a:rPr>
              <a:t>•  Stopping</a:t>
            </a:r>
          </a:p>
          <a:p>
            <a:pPr>
              <a:spcAft>
                <a:spcPts val="1000"/>
              </a:spcAft>
            </a:pPr>
            <a:r>
              <a:rPr sz="1800" b="0">
                <a:solidFill>
                  <a:srgbClr val="161B26"/>
                </a:solidFill>
                <a:latin typeface="Arial"/>
              </a:rPr>
              <a:t>•  Stopped</a:t>
            </a:r>
          </a:p>
          <a:p>
            <a:pPr>
              <a:spcAft>
                <a:spcPts val="1000"/>
              </a:spcAft>
            </a:pPr>
            <a:r>
              <a:rPr sz="1800" b="0">
                <a:solidFill>
                  <a:srgbClr val="161B26"/>
                </a:solidFill>
                <a:latin typeface="Arial"/>
              </a:rPr>
              <a:t>•  Running</a:t>
            </a:r>
          </a:p>
          <a:p>
            <a:pPr>
              <a:spcAft>
                <a:spcPts val="1000"/>
              </a:spcAft>
            </a:pPr>
            <a:r>
              <a:rPr sz="1800" b="0">
                <a:solidFill>
                  <a:srgbClr val="161B26"/>
                </a:solidFill>
                <a:latin typeface="Arial"/>
              </a:rPr>
              <a:t>•  Hibernate</a:t>
            </a:r>
          </a:p>
          <a:p>
            <a:pPr>
              <a:spcAft>
                <a:spcPts val="1000"/>
              </a:spcAft>
            </a:pPr>
            <a:r>
              <a:rPr sz="1800" b="0">
                <a:solidFill>
                  <a:srgbClr val="161B26"/>
                </a:solidFill>
                <a:latin typeface="Arial"/>
              </a:rPr>
              <a:t>•  Shutdown</a:t>
            </a:r>
          </a:p>
          <a:p>
            <a:pPr>
              <a:spcAft>
                <a:spcPts val="1000"/>
              </a:spcAft>
            </a:pPr>
            <a:r>
              <a:rPr sz="1800" b="0">
                <a:solidFill>
                  <a:srgbClr val="161B26"/>
                </a:solidFill>
                <a:latin typeface="Arial"/>
              </a:rPr>
              <a:t>•  Start</a:t>
            </a:r>
          </a:p>
          <a:p>
            <a:pPr>
              <a:spcAft>
                <a:spcPts val="1000"/>
              </a:spcAft>
            </a:pPr>
            <a:r>
              <a:rPr sz="1800" b="0">
                <a:solidFill>
                  <a:srgbClr val="161B26"/>
                </a:solidFill>
                <a:latin typeface="Arial"/>
              </a:rPr>
              <a:t>•  Hibernation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Hibernate –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Supported Instance Families - C3, C4, C5, I3, M3, M4, R3, R4,T2,T3, …</a:t>
            </a:r>
          </a:p>
          <a:p>
            <a:pPr>
              <a:spcAft>
                <a:spcPts val="1000"/>
              </a:spcAft>
            </a:pPr>
            <a:r>
              <a:rPr sz="1800" b="0">
                <a:solidFill>
                  <a:srgbClr val="161B26"/>
                </a:solidFill>
                <a:latin typeface="Arial"/>
              </a:rPr>
              <a:t>•  instance RAM Size - must be less than 150 GB.</a:t>
            </a:r>
          </a:p>
          <a:p>
            <a:pPr>
              <a:spcAft>
                <a:spcPts val="1000"/>
              </a:spcAft>
            </a:pPr>
            <a:r>
              <a:rPr sz="1800" b="0">
                <a:solidFill>
                  <a:srgbClr val="161B26"/>
                </a:solidFill>
                <a:latin typeface="Arial"/>
              </a:rPr>
              <a:t>•  Instance Size - not supposed for bare metal instances.</a:t>
            </a:r>
          </a:p>
          <a:p>
            <a:pPr>
              <a:spcAft>
                <a:spcPts val="1000"/>
              </a:spcAft>
            </a:pPr>
            <a:r>
              <a:rPr sz="1800" b="0">
                <a:solidFill>
                  <a:srgbClr val="161B26"/>
                </a:solidFill>
                <a:latin typeface="Arial"/>
              </a:rPr>
              <a:t>•  AMI - Amazon Linux 2, Linux AMI, Ubuntu, RHEL, CentOS &amp; Windows…</a:t>
            </a:r>
          </a:p>
          <a:p>
            <a:pPr>
              <a:spcAft>
                <a:spcPts val="1000"/>
              </a:spcAft>
            </a:pPr>
            <a:r>
              <a:rPr sz="1800" b="0">
                <a:solidFill>
                  <a:srgbClr val="161B26"/>
                </a:solidFill>
                <a:latin typeface="Arial"/>
              </a:rPr>
              <a:t>•  Root Volume - must be EBS, encrypted, not instance store, and large.</a:t>
            </a:r>
          </a:p>
          <a:p>
            <a:pPr>
              <a:spcAft>
                <a:spcPts val="1000"/>
              </a:spcAft>
            </a:pPr>
            <a:r>
              <a:rPr sz="1800" b="0">
                <a:solidFill>
                  <a:srgbClr val="161B26"/>
                </a:solidFill>
                <a:latin typeface="Arial"/>
              </a:rPr>
              <a:t>•  Available for On-Demand, Reserved and Spot Instances.</a:t>
            </a:r>
          </a:p>
          <a:p>
            <a:pPr>
              <a:spcAft>
                <a:spcPts val="1000"/>
              </a:spcAft>
            </a:pPr>
            <a:r>
              <a:rPr sz="1800" b="0">
                <a:solidFill>
                  <a:srgbClr val="161B26"/>
                </a:solidFill>
                <a:latin typeface="Arial"/>
              </a:rPr>
              <a:t>•  An instance can NOT be hibernated for more than 60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Machine Image (AMI)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AMI = Amazon Machine Image</a:t>
            </a:r>
          </a:p>
          <a:p>
            <a:pPr>
              <a:spcAft>
                <a:spcPts val="1000"/>
              </a:spcAft>
            </a:pPr>
            <a:r>
              <a:rPr sz="1800" b="0">
                <a:solidFill>
                  <a:srgbClr val="161B26"/>
                </a:solidFill>
                <a:latin typeface="Arial"/>
              </a:rPr>
              <a:t>•  AMI is a customization of an EC2 instance</a:t>
            </a:r>
          </a:p>
          <a:p>
            <a:pPr>
              <a:spcAft>
                <a:spcPts val="1000"/>
              </a:spcAft>
            </a:pPr>
            <a:r>
              <a:rPr sz="1800" b="0">
                <a:solidFill>
                  <a:srgbClr val="161B26"/>
                </a:solidFill>
                <a:latin typeface="Arial"/>
              </a:rPr>
              <a:t>•  You add your own software, configuration, operating system, monitoring…</a:t>
            </a:r>
          </a:p>
          <a:p>
            <a:pPr>
              <a:spcAft>
                <a:spcPts val="1000"/>
              </a:spcAft>
            </a:pPr>
            <a:r>
              <a:rPr sz="1800" b="0">
                <a:solidFill>
                  <a:srgbClr val="161B26"/>
                </a:solidFill>
                <a:latin typeface="Arial"/>
              </a:rPr>
              <a:t>•  Faster boot / configuration time because all your software is pre-packaged</a:t>
            </a:r>
          </a:p>
          <a:p>
            <a:pPr>
              <a:spcAft>
                <a:spcPts val="1000"/>
              </a:spcAft>
            </a:pPr>
            <a:r>
              <a:rPr sz="1800" b="0">
                <a:solidFill>
                  <a:srgbClr val="161B26"/>
                </a:solidFill>
                <a:latin typeface="Arial"/>
              </a:rPr>
              <a:t>•  AMI are built for a specific region (and can be copied across regions)</a:t>
            </a:r>
          </a:p>
          <a:p>
            <a:pPr>
              <a:spcAft>
                <a:spcPts val="1000"/>
              </a:spcAft>
            </a:pPr>
            <a:r>
              <a:rPr sz="1800" b="0">
                <a:solidFill>
                  <a:srgbClr val="161B26"/>
                </a:solidFill>
                <a:latin typeface="Arial"/>
              </a:rPr>
              <a:t>•  You can launch EC2 instances from:</a:t>
            </a:r>
          </a:p>
          <a:p>
            <a:pPr>
              <a:spcAft>
                <a:spcPts val="1000"/>
              </a:spcAft>
            </a:pPr>
            <a:r>
              <a:rPr sz="1800" b="0">
                <a:solidFill>
                  <a:srgbClr val="161B26"/>
                </a:solidFill>
                <a:latin typeface="Arial"/>
              </a:rPr>
              <a:t>•  A Public AMI: AWS provided</a:t>
            </a:r>
          </a:p>
          <a:p>
            <a:pPr>
              <a:spcAft>
                <a:spcPts val="1000"/>
              </a:spcAft>
            </a:pPr>
            <a:r>
              <a:rPr sz="1800" b="0">
                <a:solidFill>
                  <a:srgbClr val="161B26"/>
                </a:solidFill>
                <a:latin typeface="Arial"/>
              </a:rPr>
              <a:t>•  Your own AMI: you make and maintain them yourself</a:t>
            </a:r>
          </a:p>
          <a:p>
            <a:pPr>
              <a:spcAft>
                <a:spcPts val="1000"/>
              </a:spcAft>
            </a:pPr>
            <a:r>
              <a:rPr sz="1800" b="0">
                <a:solidFill>
                  <a:srgbClr val="161B26"/>
                </a:solidFill>
                <a:latin typeface="Arial"/>
              </a:rPr>
              <a:t>•  An AWS Marketplace AMI: an AMI someone else made (and potentially sells)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AMI</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59870"/>
            <a:ext cx="10479024" cy="42184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79_0.png"/>
          <p:cNvPicPr>
            <a:picLocks noChangeAspect="1"/>
          </p:cNvPicPr>
          <p:nvPr/>
        </p:nvPicPr>
        <p:blipFill>
          <a:blip r:embed="rId2"/>
          <a:stretch>
            <a:fillRect/>
          </a:stretch>
        </p:blipFill>
        <p:spPr>
          <a:xfrm>
            <a:off x="868680" y="1987302"/>
            <a:ext cx="10424160" cy="416355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Process (from an EC2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Start an EC2 instance and customize it</a:t>
            </a:r>
          </a:p>
          <a:p>
            <a:pPr>
              <a:spcAft>
                <a:spcPts val="1000"/>
              </a:spcAft>
            </a:pPr>
            <a:r>
              <a:rPr sz="1800" b="0">
                <a:solidFill>
                  <a:srgbClr val="161B26"/>
                </a:solidFill>
                <a:latin typeface="Arial"/>
              </a:rPr>
              <a:t>•  Stop the instance (for data integrity)</a:t>
            </a:r>
          </a:p>
          <a:p>
            <a:pPr>
              <a:spcAft>
                <a:spcPts val="1000"/>
              </a:spcAft>
            </a:pPr>
            <a:r>
              <a:rPr sz="1800" b="0">
                <a:solidFill>
                  <a:srgbClr val="161B26"/>
                </a:solidFill>
                <a:latin typeface="Arial"/>
              </a:rPr>
              <a:t>•  Build an AMI – this will also create EBS snapshots</a:t>
            </a:r>
          </a:p>
          <a:p>
            <a:pPr>
              <a:spcAft>
                <a:spcPts val="1000"/>
              </a:spcAft>
            </a:pPr>
            <a:r>
              <a:rPr sz="1800" b="0">
                <a:solidFill>
                  <a:srgbClr val="161B26"/>
                </a:solidFill>
                <a:latin typeface="Arial"/>
              </a:rPr>
              <a:t>•  Launch instances from other AMIs</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Create AMI</a:t>
            </a:r>
          </a:p>
          <a:p>
            <a:pPr>
              <a:spcAft>
                <a:spcPts val="1000"/>
              </a:spcAft>
            </a:pPr>
            <a:r>
              <a:rPr sz="1800" b="0">
                <a:solidFill>
                  <a:srgbClr val="161B26"/>
                </a:solidFill>
                <a:latin typeface="Arial"/>
              </a:rPr>
              <a:t>•  Launch from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No-Reboot Option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Enables you to create an AMI without shutting down your instance</a:t>
            </a:r>
          </a:p>
          <a:p>
            <a:pPr>
              <a:spcAft>
                <a:spcPts val="1000"/>
              </a:spcAft>
            </a:pPr>
            <a:r>
              <a:rPr sz="1800" b="0">
                <a:solidFill>
                  <a:srgbClr val="161B26"/>
                </a:solidFill>
                <a:latin typeface="Arial"/>
              </a:rPr>
              <a:t>•  By default, it’s not selected (AWS will shut down the instance before creating an AMI to maintain the file system integrity)</a:t>
            </a:r>
          </a:p>
          <a:p>
            <a:pPr>
              <a:spcAft>
                <a:spcPts val="1000"/>
              </a:spcAft>
            </a:pPr>
            <a:r>
              <a:rPr sz="1800" b="0">
                <a:solidFill>
                  <a:srgbClr val="161B26"/>
                </a:solidFill>
                <a:latin typeface="Arial"/>
              </a:rPr>
              <a:t>•  With No-Reboot Disabled (default)</a:t>
            </a:r>
          </a:p>
          <a:p>
            <a:pPr>
              <a:spcAft>
                <a:spcPts val="1000"/>
              </a:spcAft>
            </a:pPr>
            <a:r>
              <a:rPr sz="1800" b="0">
                <a:solidFill>
                  <a:srgbClr val="161B26"/>
                </a:solidFill>
                <a:latin typeface="Arial"/>
              </a:rPr>
              <a:t>•  EC2 Instance (running)</a:t>
            </a:r>
          </a:p>
          <a:p>
            <a:pPr>
              <a:spcAft>
                <a:spcPts val="1000"/>
              </a:spcAft>
            </a:pPr>
            <a:r>
              <a:rPr sz="1800" b="0">
                <a:solidFill>
                  <a:srgbClr val="161B26"/>
                </a:solidFill>
                <a:latin typeface="Arial"/>
              </a:rPr>
              <a:t>•  Attached EBS Volume</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EC2 Instance (stopped)</a:t>
            </a:r>
          </a:p>
          <a:p>
            <a:pPr>
              <a:spcAft>
                <a:spcPts val="1000"/>
              </a:spcAft>
            </a:pPr>
            <a:r>
              <a:rPr sz="1800" b="0">
                <a:solidFill>
                  <a:srgbClr val="161B26"/>
                </a:solidFill>
                <a:latin typeface="Arial"/>
              </a:rPr>
              <a:t>•  Attached</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shut down</a:t>
            </a:r>
          </a:p>
          <a:p>
            <a:pPr>
              <a:spcAft>
                <a:spcPts val="1000"/>
              </a:spcAft>
            </a:pPr>
            <a:r>
              <a:rPr sz="1800" b="0">
                <a:solidFill>
                  <a:srgbClr val="161B26"/>
                </a:solidFill>
                <a:latin typeface="Arial"/>
              </a:rPr>
              <a:t>•  create image</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(running)</a:t>
            </a:r>
          </a:p>
          <a:p>
            <a:pPr>
              <a:spcAft>
                <a:spcPts val="1000"/>
              </a:spcAft>
            </a:pPr>
            <a:r>
              <a:rPr sz="1800" b="0">
                <a:solidFill>
                  <a:srgbClr val="161B26"/>
                </a:solidFill>
                <a:latin typeface="Arial"/>
              </a:rPr>
              <a:t>•  With No-Reboot Enabled</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Attached</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Note: OS Buffers are not flushed to disk before the snapshot is created</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snapshot	             image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 Plans to create AMI</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Backup doesn't reboot the instances while taking EBS snapshots (no-reboot behavior)</a:t>
            </a:r>
          </a:p>
          <a:p>
            <a:pPr>
              <a:spcAft>
                <a:spcPts val="1000"/>
              </a:spcAft>
            </a:pPr>
            <a:r>
              <a:rPr sz="1800" b="0">
                <a:solidFill>
                  <a:srgbClr val="161B26"/>
                </a:solidFill>
                <a:latin typeface="Arial"/>
              </a:rPr>
              <a:t>•  This won't help you to create an AMI that guarantees file system integrity since you need to reboot the instance</a:t>
            </a:r>
          </a:p>
          <a:p>
            <a:pPr>
              <a:spcAft>
                <a:spcPts val="1000"/>
              </a:spcAft>
            </a:pPr>
            <a:r>
              <a:rPr sz="1800" b="0">
                <a:solidFill>
                  <a:srgbClr val="161B26"/>
                </a:solidFill>
                <a:latin typeface="Arial"/>
              </a:rPr>
              <a:t>•  To maintain integrity you need to provide the reboot parameter while taking images (EventBridge</a:t>
            </a:r>
          </a:p>
          <a:p>
            <a:pPr>
              <a:spcAft>
                <a:spcPts val="1000"/>
              </a:spcAft>
            </a:pPr>
            <a:r>
              <a:rPr sz="1800" b="0">
                <a:solidFill>
                  <a:srgbClr val="161B26"/>
                </a:solidFill>
                <a:latin typeface="Arial"/>
              </a:rPr>
              <a:t>•  + Lambda + CreateImage API with reboot)</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Create AMI</a:t>
            </a:r>
          </a:p>
          <a:p>
            <a:pPr>
              <a:spcAft>
                <a:spcPts val="1000"/>
              </a:spcAft>
            </a:pPr>
            <a:r>
              <a:rPr sz="1800" b="0">
                <a:solidFill>
                  <a:srgbClr val="161B26"/>
                </a:solidFill>
                <a:latin typeface="Arial"/>
              </a:rPr>
              <a:t>•  --no-reboot</a:t>
            </a:r>
          </a:p>
          <a:p>
            <a:pPr>
              <a:spcAft>
                <a:spcPts val="1000"/>
              </a:spcAft>
            </a:pPr>
            <a:r>
              <a:rPr sz="1800" b="0">
                <a:solidFill>
                  <a:srgbClr val="161B26"/>
                </a:solidFill>
                <a:latin typeface="Arial"/>
              </a:rPr>
              <a:t>•  Amazon EC2 (rebooting)</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Create AMI</a:t>
            </a:r>
          </a:p>
          <a:p>
            <a:pPr>
              <a:spcAft>
                <a:spcPts val="1000"/>
              </a:spcAft>
            </a:pPr>
            <a:r>
              <a:rPr sz="1800" b="0">
                <a:solidFill>
                  <a:srgbClr val="161B26"/>
                </a:solidFill>
                <a:latin typeface="Arial"/>
              </a:rPr>
              <a:t>•  --reboot</a:t>
            </a:r>
          </a:p>
          <a:p>
            <a:pPr>
              <a:spcAft>
                <a:spcPts val="1000"/>
              </a:spcAft>
            </a:pPr>
            <a:r>
              <a:rPr sz="1800" b="0">
                <a:solidFill>
                  <a:srgbClr val="161B26"/>
                </a:solidFill>
                <a:latin typeface="Arial"/>
              </a:rPr>
              <a:t>•  EventBridge Rule (schedule)</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Amazon EC2</a:t>
            </a:r>
          </a:p>
          <a:p>
            <a:pPr>
              <a:spcAft>
                <a:spcPts val="1000"/>
              </a:spcAft>
            </a:pPr>
            <a:r>
              <a:rPr sz="1800" b="0">
                <a:solidFill>
                  <a:srgbClr val="161B26"/>
                </a:solidFill>
                <a:latin typeface="Arial"/>
              </a:rPr>
              <a:t>•  AWS Amazon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Migration between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create image	launch/restore</a:t>
            </a:r>
          </a:p>
          <a:p>
            <a:pPr>
              <a:spcAft>
                <a:spcPts val="1000"/>
              </a:spcAft>
            </a:pPr>
            <a:r>
              <a:rPr sz="1800" b="0">
                <a:solidFill>
                  <a:srgbClr val="161B26"/>
                </a:solidFill>
                <a:latin typeface="Arial"/>
              </a:rPr>
              <a:t>•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Cross-Account AMI Sharing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share an AMI with another AWS account</a:t>
            </a:r>
          </a:p>
          <a:p>
            <a:pPr>
              <a:spcAft>
                <a:spcPts val="1000"/>
              </a:spcAft>
            </a:pPr>
            <a:r>
              <a:rPr sz="1800" b="0">
                <a:solidFill>
                  <a:srgbClr val="161B26"/>
                </a:solidFill>
                <a:latin typeface="Arial"/>
              </a:rPr>
              <a:t>•  Sharing an AMI does not affect the ownership of the AMI</a:t>
            </a:r>
          </a:p>
          <a:p>
            <a:pPr>
              <a:spcAft>
                <a:spcPts val="1000"/>
              </a:spcAft>
            </a:pPr>
            <a:r>
              <a:rPr sz="1800" b="0">
                <a:solidFill>
                  <a:srgbClr val="161B26"/>
                </a:solidFill>
                <a:latin typeface="Arial"/>
              </a:rPr>
              <a:t>•  You can only share AMIs that have unencrypted volumes and volumes that are encrypted with a customer managed key</a:t>
            </a:r>
          </a:p>
          <a:p>
            <a:pPr>
              <a:spcAft>
                <a:spcPts val="1000"/>
              </a:spcAft>
            </a:pPr>
            <a:r>
              <a:rPr sz="1800" b="0">
                <a:solidFill>
                  <a:srgbClr val="161B26"/>
                </a:solidFill>
                <a:latin typeface="Arial"/>
              </a:rPr>
              <a:t>•  If you share an AMI with encrypted volumes, you must also share any customer managed keys used to encrypt them.</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Source AMI</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Share with Account B</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(AMI: Source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Sharing with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kms:DescribeKey kms:CreateGrant kms:Decrypt kms:GenerateDataKey kms:ReEncrypt</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(AMI: Custom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Cross-Account AMI Copy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copy an AMI that has been shared with your account, you are the owner of the target AMI in your account</a:t>
            </a:r>
          </a:p>
          <a:p>
            <a:pPr>
              <a:spcAft>
                <a:spcPts val="1000"/>
              </a:spcAft>
            </a:pPr>
            <a:r>
              <a:rPr sz="1800" b="0">
                <a:solidFill>
                  <a:srgbClr val="161B26"/>
                </a:solidFill>
                <a:latin typeface="Arial"/>
              </a:rPr>
              <a:t>•  The owner of the source AMI must grant you read permissions for the storage that backs the AMI (EBS Snapshot)</a:t>
            </a:r>
          </a:p>
          <a:p>
            <a:pPr>
              <a:spcAft>
                <a:spcPts val="1000"/>
              </a:spcAft>
            </a:pPr>
            <a:r>
              <a:rPr sz="1800" b="0">
                <a:solidFill>
                  <a:srgbClr val="161B26"/>
                </a:solidFill>
                <a:latin typeface="Arial"/>
              </a:rPr>
              <a:t>•  If the shared AMI has encrypted snapshots, the owner must share the key or keys with you as well</a:t>
            </a:r>
          </a:p>
          <a:p>
            <a:pPr>
              <a:spcAft>
                <a:spcPts val="1000"/>
              </a:spcAft>
            </a:pPr>
            <a:r>
              <a:rPr sz="1800" b="0">
                <a:solidFill>
                  <a:srgbClr val="161B26"/>
                </a:solidFill>
                <a:latin typeface="Arial"/>
              </a:rPr>
              <a:t>•  Can encrypt the AMI with your own CMK while copying</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Source AMI</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Copy of Source AMI</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IAM Permissions (read snapshot)</a:t>
            </a:r>
          </a:p>
          <a:p>
            <a:pPr>
              <a:spcAft>
                <a:spcPts val="1000"/>
              </a:spcAft>
            </a:pPr>
            <a:r>
              <a:rPr sz="1800" b="0">
                <a:solidFill>
                  <a:srgbClr val="161B26"/>
                </a:solidFill>
                <a:latin typeface="Arial"/>
              </a:rPr>
              <a:t>•  copy image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Copy with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kms:DescribeKey kms:CreateGrant kms:Decrypt</a:t>
            </a:r>
          </a:p>
          <a:p>
            <a:pPr>
              <a:spcAft>
                <a:spcPts val="1000"/>
              </a:spcAft>
            </a:pPr>
            <a:r>
              <a:rPr sz="1800" b="0">
                <a:solidFill>
                  <a:srgbClr val="161B26"/>
                </a:solidFill>
                <a:latin typeface="Arial"/>
              </a:rPr>
              <a:t>•  CMK - B</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copy to</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Decrypt: CMK – A Encrypt: CMK – B</a:t>
            </a:r>
          </a:p>
          <a:p>
            <a:pPr>
              <a:spcAft>
                <a:spcPts val="1000"/>
              </a:spcAft>
            </a:pPr>
            <a:r>
              <a:rPr sz="1800" b="0">
                <a:solidFill>
                  <a:srgbClr val="161B26"/>
                </a:solidFill>
                <a:latin typeface="Arial"/>
              </a:rPr>
              <a:t>•  Cross-Region / Cross-Account Encrypted AMI Copy</a:t>
            </a:r>
          </a:p>
          <a:p>
            <a:pPr>
              <a:spcAft>
                <a:spcPts val="1000"/>
              </a:spcAft>
            </a:pPr>
            <a:r>
              <a:rPr sz="1800" b="0">
                <a:solidFill>
                  <a:srgbClr val="161B26"/>
                </a:solidFill>
                <a:latin typeface="Arial"/>
              </a:rPr>
              <a:t>•  Source	Target</a:t>
            </a:r>
          </a:p>
          <a:p>
            <a:pPr>
              <a:spcAft>
                <a:spcPts val="1000"/>
              </a:spcAft>
            </a:pPr>
            <a:r>
              <a:rPr sz="1800" b="0">
                <a:solidFill>
                  <a:srgbClr val="161B26"/>
                </a:solidFill>
                <a:latin typeface="Arial"/>
              </a:rPr>
              <a:t>•  Account A	Account B</a:t>
            </a:r>
          </a:p>
          <a:p>
            <a:pPr>
              <a:spcAft>
                <a:spcPts val="1000"/>
              </a:spcAft>
            </a:pPr>
            <a:r>
              <a:rPr sz="1800" b="0">
                <a:solidFill>
                  <a:srgbClr val="161B26"/>
                </a:solidFill>
                <a:latin typeface="Arial"/>
              </a:rPr>
              <a:t>•  us-east-1	us-east-1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Image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to automate the creation of Virtual Machines or container images</a:t>
            </a:r>
          </a:p>
          <a:p>
            <a:pPr>
              <a:spcAft>
                <a:spcPts val="1000"/>
              </a:spcAft>
            </a:pPr>
            <a:r>
              <a:rPr sz="1800" b="0">
                <a:solidFill>
                  <a:srgbClr val="161B26"/>
                </a:solidFill>
                <a:latin typeface="Arial"/>
              </a:rPr>
              <a:t>•  =&gt; Automate the creation, maintain, validate and test EC2 AMIs</a:t>
            </a:r>
          </a:p>
          <a:p>
            <a:pPr>
              <a:spcAft>
                <a:spcPts val="1000"/>
              </a:spcAft>
            </a:pPr>
            <a:r>
              <a:rPr sz="1800" b="0">
                <a:solidFill>
                  <a:srgbClr val="161B26"/>
                </a:solidFill>
                <a:latin typeface="Arial"/>
              </a:rPr>
              <a:t>•  Can be run on a schedule (weekly, whenever packages are updated, etc…)</a:t>
            </a:r>
          </a:p>
          <a:p>
            <a:pPr>
              <a:spcAft>
                <a:spcPts val="1000"/>
              </a:spcAft>
            </a:pPr>
            <a:r>
              <a:rPr sz="1800" b="0">
                <a:solidFill>
                  <a:srgbClr val="161B26"/>
                </a:solidFill>
                <a:latin typeface="Arial"/>
              </a:rPr>
              <a:t>•  Free service (only pay for the underlying resources)</a:t>
            </a:r>
          </a:p>
          <a:p>
            <a:pPr>
              <a:spcAft>
                <a:spcPts val="1000"/>
              </a:spcAft>
            </a:pPr>
            <a:r>
              <a:rPr sz="1800" b="0">
                <a:solidFill>
                  <a:srgbClr val="161B26"/>
                </a:solidFill>
                <a:latin typeface="Arial"/>
              </a:rPr>
              <a:t>•  Builder EC2 Instance</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Build Components applied (customize software on instance)</a:t>
            </a:r>
          </a:p>
          <a:p>
            <a:pPr>
              <a:spcAft>
                <a:spcPts val="1000"/>
              </a:spcAft>
            </a:pPr>
            <a:r>
              <a:rPr sz="1800" b="0">
                <a:solidFill>
                  <a:srgbClr val="161B26"/>
                </a:solidFill>
                <a:latin typeface="Arial"/>
              </a:rPr>
              <a:t>•  New AMI</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Test EC2 Instance</a:t>
            </a:r>
          </a:p>
          <a:p>
            <a:pPr>
              <a:spcAft>
                <a:spcPts val="1000"/>
              </a:spcAft>
            </a:pPr>
            <a:r>
              <a:rPr sz="1800" b="0">
                <a:solidFill>
                  <a:srgbClr val="161B26"/>
                </a:solidFill>
                <a:latin typeface="Arial"/>
              </a:rPr>
              <a:t>•  Test suite is run</a:t>
            </a:r>
          </a:p>
          <a:p>
            <a:pPr>
              <a:spcAft>
                <a:spcPts val="1000"/>
              </a:spcAft>
            </a:pPr>
            <a:r>
              <a:rPr sz="1800" b="0">
                <a:solidFill>
                  <a:srgbClr val="161B26"/>
                </a:solidFill>
                <a:latin typeface="Arial"/>
              </a:rPr>
              <a:t>•  (is the AMI working, secure?)</a:t>
            </a:r>
          </a:p>
          <a:p>
            <a:pPr>
              <a:spcAft>
                <a:spcPts val="1000"/>
              </a:spcAft>
            </a:pPr>
            <a:r>
              <a:rPr sz="1800" b="0">
                <a:solidFill>
                  <a:srgbClr val="161B26"/>
                </a:solidFill>
                <a:latin typeface="Arial"/>
              </a:rPr>
              <a:t>•  AMI is distributed</a:t>
            </a:r>
          </a:p>
          <a:p>
            <a:pPr>
              <a:spcAft>
                <a:spcPts val="1000"/>
              </a:spcAft>
            </a:pPr>
            <a:r>
              <a:rPr sz="1800" b="0">
                <a:solidFill>
                  <a:srgbClr val="161B26"/>
                </a:solidFill>
                <a:latin typeface="Arial"/>
              </a:rPr>
              <a:t>•  (can be multiple regions)</a:t>
            </a:r>
          </a:p>
          <a:p>
            <a:pPr>
              <a:spcAft>
                <a:spcPts val="1000"/>
              </a:spcAft>
            </a:pPr>
            <a:r>
              <a:rPr sz="1800" b="0">
                <a:solidFill>
                  <a:srgbClr val="161B26"/>
                </a:solidFill>
                <a:latin typeface="Arial"/>
              </a:rPr>
              <a:t>•  EC2 Image Builder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Image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9023" y="1801368"/>
            <a:ext cx="854347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89_0.png"/>
          <p:cNvPicPr>
            <a:picLocks noChangeAspect="1"/>
          </p:cNvPicPr>
          <p:nvPr/>
        </p:nvPicPr>
        <p:blipFill>
          <a:blip r:embed="rId2"/>
          <a:stretch>
            <a:fillRect/>
          </a:stretch>
        </p:blipFill>
        <p:spPr>
          <a:xfrm>
            <a:off x="1836455" y="1828800"/>
            <a:ext cx="848860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Image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5485" y="1801368"/>
            <a:ext cx="1033054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90_0.png"/>
          <p:cNvPicPr>
            <a:picLocks noChangeAspect="1"/>
          </p:cNvPicPr>
          <p:nvPr/>
        </p:nvPicPr>
        <p:blipFill>
          <a:blip r:embed="rId2"/>
          <a:stretch>
            <a:fillRect/>
          </a:stretch>
        </p:blipFill>
        <p:spPr>
          <a:xfrm>
            <a:off x="942917" y="1828800"/>
            <a:ext cx="1027568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in Production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force users to only launch EC2 instances from pre-approved AMIs (AMIs tagged with specific tags) using IAM policies</a:t>
            </a:r>
          </a:p>
          <a:p>
            <a:pPr>
              <a:spcAft>
                <a:spcPts val="1000"/>
              </a:spcAft>
            </a:pPr>
            <a:r>
              <a:rPr sz="1800" b="0">
                <a:solidFill>
                  <a:srgbClr val="161B26"/>
                </a:solidFill>
                <a:latin typeface="Arial"/>
              </a:rPr>
              <a:t>•  Combine with AWS Config to find non- compliant EC2 instance (instances launched with non-approved AMIs)</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(not approved)</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(approved)</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 "Condition": {</a:t>
            </a:r>
          </a:p>
          <a:p>
            <a:pPr>
              <a:spcAft>
                <a:spcPts val="1000"/>
              </a:spcAft>
            </a:pPr>
            <a:r>
              <a:rPr sz="1800" b="0">
                <a:solidFill>
                  <a:srgbClr val="161B26"/>
                </a:solidFill>
                <a:latin typeface="Arial"/>
              </a:rPr>
              <a:t>•  "StringEquals": {</a:t>
            </a:r>
          </a:p>
          <a:p>
            <a:pPr>
              <a:spcAft>
                <a:spcPts val="1000"/>
              </a:spcAft>
            </a:pPr>
            <a:r>
              <a:rPr sz="1800" b="0">
                <a:solidFill>
                  <a:srgbClr val="161B26"/>
                </a:solidFill>
                <a:latin typeface="Arial"/>
              </a:rPr>
              <a:t>•  "ec2:ResourceTag/Environment": "Prod"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(approved)</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(not approved)</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NON_COMPLIANT</a:t>
            </a:r>
          </a:p>
          <a:p>
            <a:pPr>
              <a:spcAft>
                <a:spcPts val="1000"/>
              </a:spcAft>
            </a:pPr>
            <a:r>
              <a:rPr sz="1800" b="0">
                <a:solidFill>
                  <a:srgbClr val="161B26"/>
                </a:solidFill>
                <a:latin typeface="Arial"/>
              </a:rPr>
              <a:t>•  COMPLIANT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Management of EC2 at Scale Systems Manager</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you manage your EC2 and On-Premises systems at scale</a:t>
            </a:r>
          </a:p>
          <a:p>
            <a:pPr>
              <a:spcAft>
                <a:spcPts val="1000"/>
              </a:spcAft>
            </a:pPr>
            <a:r>
              <a:rPr sz="1800" b="0">
                <a:solidFill>
                  <a:srgbClr val="161B26"/>
                </a:solidFill>
                <a:latin typeface="Arial"/>
              </a:rPr>
              <a:t>•  Get operational insights about the state of your infrastructure</a:t>
            </a:r>
          </a:p>
          <a:p>
            <a:pPr>
              <a:spcAft>
                <a:spcPts val="1000"/>
              </a:spcAft>
            </a:pPr>
            <a:r>
              <a:rPr sz="1800" b="0">
                <a:solidFill>
                  <a:srgbClr val="161B26"/>
                </a:solidFill>
                <a:latin typeface="Arial"/>
              </a:rPr>
              <a:t>•  Easily detect problems</a:t>
            </a:r>
          </a:p>
          <a:p>
            <a:pPr>
              <a:spcAft>
                <a:spcPts val="1000"/>
              </a:spcAft>
            </a:pPr>
            <a:r>
              <a:rPr sz="1800" b="0">
                <a:solidFill>
                  <a:srgbClr val="161B26"/>
                </a:solidFill>
                <a:latin typeface="Arial"/>
              </a:rPr>
              <a:t>•  Patching automation for enhanced compliance</a:t>
            </a:r>
          </a:p>
          <a:p>
            <a:pPr>
              <a:spcAft>
                <a:spcPts val="1000"/>
              </a:spcAft>
            </a:pPr>
            <a:r>
              <a:rPr sz="1800" b="0">
                <a:solidFill>
                  <a:srgbClr val="161B26"/>
                </a:solidFill>
                <a:latin typeface="Arial"/>
              </a:rPr>
              <a:t>•  Works for both Windows and Linux OS</a:t>
            </a:r>
          </a:p>
          <a:p>
            <a:pPr>
              <a:spcAft>
                <a:spcPts val="1000"/>
              </a:spcAft>
            </a:pPr>
            <a:r>
              <a:rPr sz="1800" b="0">
                <a:solidFill>
                  <a:srgbClr val="161B26"/>
                </a:solidFill>
                <a:latin typeface="Arial"/>
              </a:rPr>
              <a:t>•  Integrated with CloudWatch metrics / dashboards</a:t>
            </a:r>
          </a:p>
          <a:p>
            <a:pPr>
              <a:spcAft>
                <a:spcPts val="1000"/>
              </a:spcAft>
            </a:pPr>
            <a:r>
              <a:rPr sz="1800" b="0">
                <a:solidFill>
                  <a:srgbClr val="161B26"/>
                </a:solidFill>
                <a:latin typeface="Arial"/>
              </a:rPr>
              <a:t>•  Integrated with AWS Config</a:t>
            </a:r>
          </a:p>
          <a:p>
            <a:pPr>
              <a:spcAft>
                <a:spcPts val="1000"/>
              </a:spcAft>
            </a:pPr>
            <a:r>
              <a:rPr sz="1800" b="0">
                <a:solidFill>
                  <a:srgbClr val="161B26"/>
                </a:solidFill>
                <a:latin typeface="Arial"/>
              </a:rPr>
              <a:t>•  Free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08661" y="1801368"/>
            <a:ext cx="954419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94_0.png"/>
          <p:cNvPicPr>
            <a:picLocks noChangeAspect="1"/>
          </p:cNvPicPr>
          <p:nvPr/>
        </p:nvPicPr>
        <p:blipFill>
          <a:blip r:embed="rId2"/>
          <a:stretch>
            <a:fillRect/>
          </a:stretch>
        </p:blipFill>
        <p:spPr>
          <a:xfrm>
            <a:off x="1336093" y="1828800"/>
            <a:ext cx="948933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 Features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Resource Groups</a:t>
            </a:r>
          </a:p>
          <a:p>
            <a:pPr>
              <a:spcAft>
                <a:spcPts val="1000"/>
              </a:spcAft>
            </a:pPr>
            <a:r>
              <a:rPr sz="1800" b="0">
                <a:solidFill>
                  <a:srgbClr val="161B26"/>
                </a:solidFill>
                <a:latin typeface="Arial"/>
              </a:rPr>
              <a:t>•  Operations Management</a:t>
            </a:r>
          </a:p>
          <a:p>
            <a:pPr>
              <a:spcAft>
                <a:spcPts val="1000"/>
              </a:spcAft>
            </a:pPr>
            <a:r>
              <a:rPr sz="1800" b="0">
                <a:solidFill>
                  <a:srgbClr val="161B26"/>
                </a:solidFill>
                <a:latin typeface="Arial"/>
              </a:rPr>
              <a:t>•  Explorer</a:t>
            </a:r>
          </a:p>
          <a:p>
            <a:pPr>
              <a:spcAft>
                <a:spcPts val="1000"/>
              </a:spcAft>
            </a:pPr>
            <a:r>
              <a:rPr sz="1800" b="0">
                <a:solidFill>
                  <a:srgbClr val="161B26"/>
                </a:solidFill>
                <a:latin typeface="Arial"/>
              </a:rPr>
              <a:t>•  OpsCenter</a:t>
            </a:r>
          </a:p>
          <a:p>
            <a:pPr>
              <a:spcAft>
                <a:spcPts val="1000"/>
              </a:spcAft>
            </a:pPr>
            <a:r>
              <a:rPr sz="1800" b="0">
                <a:solidFill>
                  <a:srgbClr val="161B26"/>
                </a:solidFill>
                <a:latin typeface="Arial"/>
              </a:rPr>
              <a:t>•  CloudWatch Dashboard</a:t>
            </a:r>
          </a:p>
          <a:p>
            <a:pPr>
              <a:spcAft>
                <a:spcPts val="1000"/>
              </a:spcAft>
            </a:pPr>
            <a:r>
              <a:rPr sz="1800" b="0">
                <a:solidFill>
                  <a:srgbClr val="161B26"/>
                </a:solidFill>
                <a:latin typeface="Arial"/>
              </a:rPr>
              <a:t>•  PHD</a:t>
            </a:r>
          </a:p>
          <a:p>
            <a:pPr>
              <a:spcAft>
                <a:spcPts val="1000"/>
              </a:spcAft>
            </a:pPr>
            <a:r>
              <a:rPr sz="1800" b="0">
                <a:solidFill>
                  <a:srgbClr val="161B26"/>
                </a:solidFill>
                <a:latin typeface="Arial"/>
              </a:rPr>
              <a:t>•  Incident Manager</a:t>
            </a:r>
          </a:p>
          <a:p>
            <a:pPr>
              <a:spcAft>
                <a:spcPts val="1000"/>
              </a:spcAft>
            </a:pPr>
            <a:r>
              <a:rPr sz="1800" b="0">
                <a:solidFill>
                  <a:srgbClr val="161B26"/>
                </a:solidFill>
                <a:latin typeface="Arial"/>
              </a:rPr>
              <a:t>•  Shared Resources</a:t>
            </a:r>
          </a:p>
          <a:p>
            <a:pPr>
              <a:spcAft>
                <a:spcPts val="1000"/>
              </a:spcAft>
            </a:pPr>
            <a:r>
              <a:rPr sz="1800" b="0">
                <a:solidFill>
                  <a:srgbClr val="161B26"/>
                </a:solidFill>
                <a:latin typeface="Arial"/>
              </a:rPr>
              <a:t>•  Documents</a:t>
            </a:r>
          </a:p>
          <a:p>
            <a:pPr>
              <a:spcAft>
                <a:spcPts val="1000"/>
              </a:spcAft>
            </a:pPr>
            <a:r>
              <a:rPr sz="1800" b="0">
                <a:solidFill>
                  <a:srgbClr val="161B26"/>
                </a:solidFill>
                <a:latin typeface="Arial"/>
              </a:rPr>
              <a:t>•  Change Management</a:t>
            </a:r>
          </a:p>
          <a:p>
            <a:pPr>
              <a:spcAft>
                <a:spcPts val="1000"/>
              </a:spcAft>
            </a:pPr>
            <a:r>
              <a:rPr sz="1800" b="0">
                <a:solidFill>
                  <a:srgbClr val="161B26"/>
                </a:solidFill>
                <a:latin typeface="Arial"/>
              </a:rPr>
              <a:t>•  Change Manager</a:t>
            </a:r>
          </a:p>
          <a:p>
            <a:pPr>
              <a:spcAft>
                <a:spcPts val="1000"/>
              </a:spcAft>
            </a:pPr>
            <a:r>
              <a:rPr sz="1800" b="0">
                <a:solidFill>
                  <a:srgbClr val="161B26"/>
                </a:solidFill>
                <a:latin typeface="Arial"/>
              </a:rPr>
              <a:t>•  Automation</a:t>
            </a:r>
          </a:p>
          <a:p>
            <a:pPr>
              <a:spcAft>
                <a:spcPts val="1000"/>
              </a:spcAft>
            </a:pPr>
            <a:r>
              <a:rPr sz="1800" b="0">
                <a:solidFill>
                  <a:srgbClr val="161B26"/>
                </a:solidFill>
                <a:latin typeface="Arial"/>
              </a:rPr>
              <a:t>•  Change Calendar</a:t>
            </a:r>
          </a:p>
          <a:p>
            <a:pPr>
              <a:spcAft>
                <a:spcPts val="1000"/>
              </a:spcAft>
            </a:pPr>
            <a:r>
              <a:rPr sz="1800" b="0">
                <a:solidFill>
                  <a:srgbClr val="161B26"/>
                </a:solidFill>
                <a:latin typeface="Arial"/>
              </a:rPr>
              <a:t>•  Maintenance Windows</a:t>
            </a:r>
          </a:p>
          <a:p>
            <a:pPr>
              <a:spcAft>
                <a:spcPts val="1000"/>
              </a:spcAft>
            </a:pPr>
            <a:r>
              <a:rPr sz="1800" b="0">
                <a:solidFill>
                  <a:srgbClr val="161B26"/>
                </a:solidFill>
                <a:latin typeface="Arial"/>
              </a:rPr>
              <a:t>•  Application Management</a:t>
            </a:r>
          </a:p>
          <a:p>
            <a:pPr>
              <a:spcAft>
                <a:spcPts val="1000"/>
              </a:spcAft>
            </a:pPr>
            <a:r>
              <a:rPr sz="1800" b="0">
                <a:solidFill>
                  <a:srgbClr val="161B26"/>
                </a:solidFill>
                <a:latin typeface="Arial"/>
              </a:rPr>
              <a:t>•  Application Manager</a:t>
            </a:r>
          </a:p>
          <a:p>
            <a:pPr>
              <a:spcAft>
                <a:spcPts val="1000"/>
              </a:spcAft>
            </a:pPr>
            <a:r>
              <a:rPr sz="1800" b="0">
                <a:solidFill>
                  <a:srgbClr val="161B26"/>
                </a:solidFill>
                <a:latin typeface="Arial"/>
              </a:rPr>
              <a:t>•  AppConfig</a:t>
            </a:r>
          </a:p>
          <a:p>
            <a:pPr>
              <a:spcAft>
                <a:spcPts val="1000"/>
              </a:spcAft>
            </a:pPr>
            <a:r>
              <a:rPr sz="1800" b="0">
                <a:solidFill>
                  <a:srgbClr val="161B26"/>
                </a:solidFill>
                <a:latin typeface="Arial"/>
              </a:rPr>
              <a:t>•  Parameter store</a:t>
            </a:r>
          </a:p>
          <a:p>
            <a:pPr>
              <a:spcAft>
                <a:spcPts val="1000"/>
              </a:spcAft>
            </a:pPr>
            <a:r>
              <a:rPr sz="1800" b="0">
                <a:solidFill>
                  <a:srgbClr val="161B26"/>
                </a:solidFill>
                <a:latin typeface="Arial"/>
              </a:rPr>
              <a:t>•  Node Management</a:t>
            </a:r>
          </a:p>
          <a:p>
            <a:pPr>
              <a:spcAft>
                <a:spcPts val="1000"/>
              </a:spcAft>
            </a:pPr>
            <a:r>
              <a:rPr sz="1800" b="0">
                <a:solidFill>
                  <a:srgbClr val="161B26"/>
                </a:solidFill>
                <a:latin typeface="Arial"/>
              </a:rPr>
              <a:t>•  Fleet Manager</a:t>
            </a:r>
          </a:p>
          <a:p>
            <a:pPr>
              <a:spcAft>
                <a:spcPts val="1000"/>
              </a:spcAft>
            </a:pPr>
            <a:r>
              <a:rPr sz="1800" b="0">
                <a:solidFill>
                  <a:srgbClr val="161B26"/>
                </a:solidFill>
                <a:latin typeface="Arial"/>
              </a:rPr>
              <a:t>•  Compliance</a:t>
            </a:r>
          </a:p>
          <a:p>
            <a:pPr>
              <a:spcAft>
                <a:spcPts val="1000"/>
              </a:spcAft>
            </a:pPr>
            <a:r>
              <a:rPr sz="1800" b="0">
                <a:solidFill>
                  <a:srgbClr val="161B26"/>
                </a:solidFill>
                <a:latin typeface="Arial"/>
              </a:rPr>
              <a:t>•  Inventory</a:t>
            </a:r>
          </a:p>
          <a:p>
            <a:pPr>
              <a:spcAft>
                <a:spcPts val="1000"/>
              </a:spcAft>
            </a:pPr>
            <a:r>
              <a:rPr sz="1800" b="0">
                <a:solidFill>
                  <a:srgbClr val="161B26"/>
                </a:solidFill>
                <a:latin typeface="Arial"/>
              </a:rPr>
              <a:t>•  Hybrid Activations</a:t>
            </a:r>
          </a:p>
          <a:p>
            <a:pPr>
              <a:spcAft>
                <a:spcPts val="1000"/>
              </a:spcAft>
            </a:pPr>
            <a:r>
              <a:rPr sz="1800" b="0">
                <a:solidFill>
                  <a:srgbClr val="161B26"/>
                </a:solidFill>
                <a:latin typeface="Arial"/>
              </a:rPr>
              <a:t>•  Session Manager</a:t>
            </a:r>
          </a:p>
          <a:p>
            <a:pPr>
              <a:spcAft>
                <a:spcPts val="1000"/>
              </a:spcAft>
            </a:pPr>
            <a:r>
              <a:rPr sz="1800" b="0">
                <a:solidFill>
                  <a:srgbClr val="161B26"/>
                </a:solidFill>
                <a:latin typeface="Arial"/>
              </a:rPr>
              <a:t>•  Run Command</a:t>
            </a:r>
          </a:p>
          <a:p>
            <a:pPr>
              <a:spcAft>
                <a:spcPts val="1000"/>
              </a:spcAft>
            </a:pPr>
            <a:r>
              <a:rPr sz="1800" b="0">
                <a:solidFill>
                  <a:srgbClr val="161B26"/>
                </a:solidFill>
                <a:latin typeface="Arial"/>
              </a:rPr>
              <a:t>•  State Manager</a:t>
            </a:r>
          </a:p>
          <a:p>
            <a:pPr>
              <a:spcAft>
                <a:spcPts val="1000"/>
              </a:spcAft>
            </a:pPr>
            <a:r>
              <a:rPr sz="1800" b="0">
                <a:solidFill>
                  <a:srgbClr val="161B26"/>
                </a:solidFill>
                <a:latin typeface="Arial"/>
              </a:rPr>
              <a:t>•  Patch Manager</a:t>
            </a:r>
          </a:p>
          <a:p>
            <a:pPr>
              <a:spcAft>
                <a:spcPts val="1000"/>
              </a:spcAft>
            </a:pPr>
            <a:r>
              <a:rPr sz="1800" b="0">
                <a:solidFill>
                  <a:srgbClr val="161B26"/>
                </a:solidFill>
                <a:latin typeface="Arial"/>
              </a:rPr>
              <a:t>•  Distributer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Systems Manager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need to install the SSM agent onto the systems we control</a:t>
            </a:r>
          </a:p>
          <a:p>
            <a:pPr>
              <a:spcAft>
                <a:spcPts val="1000"/>
              </a:spcAft>
            </a:pPr>
            <a:r>
              <a:rPr sz="1800" b="0">
                <a:solidFill>
                  <a:srgbClr val="161B26"/>
                </a:solidFill>
                <a:latin typeface="Arial"/>
              </a:rPr>
              <a:t>•  Installed by default on Amazon Linux 2 AMI &amp; some Ubuntu AMI</a:t>
            </a:r>
          </a:p>
          <a:p>
            <a:pPr>
              <a:spcAft>
                <a:spcPts val="1000"/>
              </a:spcAft>
            </a:pPr>
            <a:r>
              <a:rPr sz="1800" b="0">
                <a:solidFill>
                  <a:srgbClr val="161B26"/>
                </a:solidFill>
                <a:latin typeface="Arial"/>
              </a:rPr>
              <a:t>•  If an instance can’t be controlled with SSM, it’s probably an issue with the SSM agent!</a:t>
            </a:r>
          </a:p>
          <a:p>
            <a:pPr>
              <a:spcAft>
                <a:spcPts val="1000"/>
              </a:spcAft>
            </a:pPr>
            <a:r>
              <a:rPr sz="1800" b="0">
                <a:solidFill>
                  <a:srgbClr val="161B26"/>
                </a:solidFill>
                <a:latin typeface="Arial"/>
              </a:rPr>
              <a:t>•  Make sure the EC2 instances have a proper IAM role to allow SSM actions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AWS Systems Manager</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EC2 Instance On-premise</a:t>
            </a:r>
          </a:p>
          <a:p>
            <a:pPr>
              <a:spcAft>
                <a:spcPts val="1000"/>
              </a:spcAft>
            </a:pPr>
            <a:r>
              <a:rPr sz="1800" b="0">
                <a:solidFill>
                  <a:srgbClr val="161B26"/>
                </a:solidFill>
                <a:latin typeface="Arial"/>
              </a:rPr>
              <a:t>•  Server/VM</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IAM Permissions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Fleet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78539" y="1801368"/>
            <a:ext cx="840444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97_0.png"/>
          <p:cNvPicPr>
            <a:picLocks noChangeAspect="1"/>
          </p:cNvPicPr>
          <p:nvPr/>
        </p:nvPicPr>
        <p:blipFill>
          <a:blip r:embed="rId2"/>
          <a:stretch>
            <a:fillRect/>
          </a:stretch>
        </p:blipFill>
        <p:spPr>
          <a:xfrm>
            <a:off x="1905971" y="1828800"/>
            <a:ext cx="834957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Fleet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33067" y="1801368"/>
            <a:ext cx="949538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98_0.png"/>
          <p:cNvPicPr>
            <a:picLocks noChangeAspect="1"/>
          </p:cNvPicPr>
          <p:nvPr/>
        </p:nvPicPr>
        <p:blipFill>
          <a:blip r:embed="rId2"/>
          <a:stretch>
            <a:fillRect/>
          </a:stretch>
        </p:blipFill>
        <p:spPr>
          <a:xfrm>
            <a:off x="1360499" y="1828800"/>
            <a:ext cx="944052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Tags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add text key-value pairs called Tags to many AWS resources</a:t>
            </a:r>
          </a:p>
          <a:p>
            <a:pPr>
              <a:spcAft>
                <a:spcPts val="1000"/>
              </a:spcAft>
            </a:pPr>
            <a:r>
              <a:rPr sz="1800" b="0">
                <a:solidFill>
                  <a:srgbClr val="161B26"/>
                </a:solidFill>
                <a:latin typeface="Arial"/>
              </a:rPr>
              <a:t>•  Commonly used in EC2</a:t>
            </a:r>
          </a:p>
          <a:p>
            <a:pPr>
              <a:spcAft>
                <a:spcPts val="1000"/>
              </a:spcAft>
            </a:pPr>
            <a:r>
              <a:rPr sz="1800" b="0">
                <a:solidFill>
                  <a:srgbClr val="161B26"/>
                </a:solidFill>
                <a:latin typeface="Arial"/>
              </a:rPr>
              <a:t>•  Free naming, common tags are Name, Environment,Team …</a:t>
            </a:r>
          </a:p>
          <a:p>
            <a:pPr>
              <a:spcAft>
                <a:spcPts val="1000"/>
              </a:spcAft>
            </a:pPr>
            <a:r>
              <a:rPr sz="1800" b="0">
                <a:solidFill>
                  <a:srgbClr val="161B26"/>
                </a:solidFill>
                <a:latin typeface="Arial"/>
              </a:rPr>
              <a:t>•  They’re used for</a:t>
            </a:r>
          </a:p>
          <a:p>
            <a:pPr>
              <a:spcAft>
                <a:spcPts val="1000"/>
              </a:spcAft>
            </a:pPr>
            <a:r>
              <a:rPr sz="1800" b="0">
                <a:solidFill>
                  <a:srgbClr val="161B26"/>
                </a:solidFill>
                <a:latin typeface="Arial"/>
              </a:rPr>
              <a:t>•  Resource grouping</a:t>
            </a:r>
          </a:p>
          <a:p>
            <a:pPr>
              <a:spcAft>
                <a:spcPts val="1000"/>
              </a:spcAft>
            </a:pPr>
            <a:r>
              <a:rPr sz="1800" b="0">
                <a:solidFill>
                  <a:srgbClr val="161B26"/>
                </a:solidFill>
                <a:latin typeface="Arial"/>
              </a:rPr>
              <a:t>•  Automation</a:t>
            </a:r>
          </a:p>
          <a:p>
            <a:pPr>
              <a:spcAft>
                <a:spcPts val="1000"/>
              </a:spcAft>
            </a:pPr>
            <a:r>
              <a:rPr sz="1800" b="0">
                <a:solidFill>
                  <a:srgbClr val="161B26"/>
                </a:solidFill>
                <a:latin typeface="Arial"/>
              </a:rPr>
              <a:t>•  Cost allocation</a:t>
            </a:r>
          </a:p>
          <a:p>
            <a:pPr>
              <a:spcAft>
                <a:spcPts val="1000"/>
              </a:spcAft>
            </a:pPr>
            <a:r>
              <a:rPr sz="1800" b="0">
                <a:solidFill>
                  <a:srgbClr val="161B26"/>
                </a:solidFill>
                <a:latin typeface="Arial"/>
              </a:rPr>
              <a:t>•  Better to have too many tags than too few!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view or manage logical group of resources thanks to tags</a:t>
            </a:r>
          </a:p>
          <a:p>
            <a:pPr>
              <a:spcAft>
                <a:spcPts val="1000"/>
              </a:spcAft>
            </a:pPr>
            <a:r>
              <a:rPr sz="1800" b="0">
                <a:solidFill>
                  <a:srgbClr val="161B26"/>
                </a:solidFill>
                <a:latin typeface="Arial"/>
              </a:rPr>
              <a:t>•  Allows creation of logical groups of resources such as</a:t>
            </a:r>
          </a:p>
          <a:p>
            <a:pPr>
              <a:spcAft>
                <a:spcPts val="1000"/>
              </a:spcAft>
            </a:pPr>
            <a:r>
              <a:rPr sz="1800" b="0">
                <a:solidFill>
                  <a:srgbClr val="161B26"/>
                </a:solidFill>
                <a:latin typeface="Arial"/>
              </a:rPr>
              <a:t>•  Applications</a:t>
            </a:r>
          </a:p>
          <a:p>
            <a:pPr>
              <a:spcAft>
                <a:spcPts val="1000"/>
              </a:spcAft>
            </a:pPr>
            <a:r>
              <a:rPr sz="1800" b="0">
                <a:solidFill>
                  <a:srgbClr val="161B26"/>
                </a:solidFill>
                <a:latin typeface="Arial"/>
              </a:rPr>
              <a:t>•  Different layers of an application stack</a:t>
            </a:r>
          </a:p>
          <a:p>
            <a:pPr>
              <a:spcAft>
                <a:spcPts val="1000"/>
              </a:spcAft>
            </a:pPr>
            <a:r>
              <a:rPr sz="1800" b="0">
                <a:solidFill>
                  <a:srgbClr val="161B26"/>
                </a:solidFill>
                <a:latin typeface="Arial"/>
              </a:rPr>
              <a:t>•  Production versus development environments</a:t>
            </a:r>
          </a:p>
          <a:p>
            <a:pPr>
              <a:spcAft>
                <a:spcPts val="1000"/>
              </a:spcAft>
            </a:pPr>
            <a:r>
              <a:rPr sz="1800" b="0">
                <a:solidFill>
                  <a:srgbClr val="161B26"/>
                </a:solidFill>
                <a:latin typeface="Arial"/>
              </a:rPr>
              <a:t>•  Regional service</a:t>
            </a:r>
          </a:p>
          <a:p>
            <a:pPr>
              <a:spcAft>
                <a:spcPts val="1000"/>
              </a:spcAft>
            </a:pPr>
            <a:r>
              <a:rPr sz="1800" b="0">
                <a:solidFill>
                  <a:srgbClr val="161B26"/>
                </a:solidFill>
                <a:latin typeface="Arial"/>
              </a:rPr>
              <a:t>•  Works with EC2, S3, DynamoDB, Lambda, etc…</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Resource Group Environment = Dev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5235" y="1801368"/>
            <a:ext cx="92310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01_0.png"/>
          <p:cNvPicPr>
            <a:picLocks noChangeAspect="1"/>
          </p:cNvPicPr>
          <p:nvPr/>
        </p:nvPicPr>
        <p:blipFill>
          <a:blip r:embed="rId2"/>
          <a:stretch>
            <a:fillRect/>
          </a:stretch>
        </p:blipFill>
        <p:spPr>
          <a:xfrm>
            <a:off x="1492667" y="1828800"/>
            <a:ext cx="917618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01641"/>
            <a:ext cx="10479024" cy="373487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02_0.png"/>
          <p:cNvPicPr>
            <a:picLocks noChangeAspect="1"/>
          </p:cNvPicPr>
          <p:nvPr/>
        </p:nvPicPr>
        <p:blipFill>
          <a:blip r:embed="rId2"/>
          <a:stretch>
            <a:fillRect/>
          </a:stretch>
        </p:blipFill>
        <p:spPr>
          <a:xfrm>
            <a:off x="868680" y="2229073"/>
            <a:ext cx="10424160" cy="368001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Documents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4954" y="1801368"/>
            <a:ext cx="775161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03_0.png"/>
          <p:cNvPicPr>
            <a:picLocks noChangeAspect="1"/>
          </p:cNvPicPr>
          <p:nvPr/>
        </p:nvPicPr>
        <p:blipFill>
          <a:blip r:embed="rId2"/>
          <a:stretch>
            <a:fillRect/>
          </a:stretch>
        </p:blipFill>
        <p:spPr>
          <a:xfrm>
            <a:off x="2232386" y="1828800"/>
            <a:ext cx="769674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Documents can be in JSON or YAML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Document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8667" y="1801368"/>
            <a:ext cx="97241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04_0.png"/>
          <p:cNvPicPr>
            <a:picLocks noChangeAspect="1"/>
          </p:cNvPicPr>
          <p:nvPr/>
        </p:nvPicPr>
        <p:blipFill>
          <a:blip r:embed="rId2"/>
          <a:stretch>
            <a:fillRect/>
          </a:stretch>
        </p:blipFill>
        <p:spPr>
          <a:xfrm>
            <a:off x="1246099" y="1828800"/>
            <a:ext cx="96693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Run Command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Execute a document (= script) or just run a command</a:t>
            </a:r>
          </a:p>
          <a:p>
            <a:pPr>
              <a:spcAft>
                <a:spcPts val="1000"/>
              </a:spcAft>
            </a:pPr>
            <a:r>
              <a:rPr sz="1800" b="0">
                <a:solidFill>
                  <a:srgbClr val="161B26"/>
                </a:solidFill>
                <a:latin typeface="Arial"/>
              </a:rPr>
              <a:t>•  Run command across multiple instances (using resource groups)</a:t>
            </a:r>
          </a:p>
          <a:p>
            <a:pPr>
              <a:spcAft>
                <a:spcPts val="1000"/>
              </a:spcAft>
            </a:pPr>
            <a:r>
              <a:rPr sz="1800" b="0">
                <a:solidFill>
                  <a:srgbClr val="161B26"/>
                </a:solidFill>
                <a:latin typeface="Arial"/>
              </a:rPr>
              <a:t>•  Rate Control / Error Control</a:t>
            </a:r>
          </a:p>
          <a:p>
            <a:pPr>
              <a:spcAft>
                <a:spcPts val="1000"/>
              </a:spcAft>
            </a:pPr>
            <a:r>
              <a:rPr sz="1800" b="0">
                <a:solidFill>
                  <a:srgbClr val="161B26"/>
                </a:solidFill>
                <a:latin typeface="Arial"/>
              </a:rPr>
              <a:t>•  Integrated with IAM &amp; CloudTrail</a:t>
            </a:r>
          </a:p>
          <a:p>
            <a:pPr>
              <a:spcAft>
                <a:spcPts val="1000"/>
              </a:spcAft>
            </a:pPr>
            <a:r>
              <a:rPr sz="1800" b="0">
                <a:solidFill>
                  <a:srgbClr val="161B26"/>
                </a:solidFill>
                <a:latin typeface="Arial"/>
              </a:rPr>
              <a:t>•  No need for SSH</a:t>
            </a:r>
          </a:p>
          <a:p>
            <a:pPr>
              <a:spcAft>
                <a:spcPts val="1000"/>
              </a:spcAft>
            </a:pPr>
            <a:r>
              <a:rPr sz="1800" b="0">
                <a:solidFill>
                  <a:srgbClr val="161B26"/>
                </a:solidFill>
                <a:latin typeface="Arial"/>
              </a:rPr>
              <a:t>•  Command Output can be shown in the Console, sent to S3 bucket or CloudWatch Logs</a:t>
            </a:r>
          </a:p>
          <a:p>
            <a:pPr>
              <a:spcAft>
                <a:spcPts val="1000"/>
              </a:spcAft>
            </a:pPr>
            <a:r>
              <a:rPr sz="1800" b="0">
                <a:solidFill>
                  <a:srgbClr val="161B26"/>
                </a:solidFill>
                <a:latin typeface="Arial"/>
              </a:rPr>
              <a:t>•  Send notifications to SNS about command statues (In progress, Success, Failed, …)</a:t>
            </a:r>
          </a:p>
          <a:p>
            <a:pPr>
              <a:spcAft>
                <a:spcPts val="1000"/>
              </a:spcAft>
            </a:pPr>
            <a:r>
              <a:rPr sz="1800" b="0">
                <a:solidFill>
                  <a:srgbClr val="161B26"/>
                </a:solidFill>
                <a:latin typeface="Arial"/>
              </a:rPr>
              <a:t>•  Can be invoked using EventBridge</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Run Command</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output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notification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Simplifies common maintenance and deployment tasks of EC2 instances and other AWS resources</a:t>
            </a:r>
          </a:p>
          <a:p>
            <a:pPr>
              <a:spcAft>
                <a:spcPts val="1000"/>
              </a:spcAft>
            </a:pPr>
            <a:r>
              <a:rPr sz="1800" b="0">
                <a:solidFill>
                  <a:srgbClr val="161B26"/>
                </a:solidFill>
                <a:latin typeface="Arial"/>
              </a:rPr>
              <a:t>•  Example: restart instances, create an AMI, EBS snapshot</a:t>
            </a:r>
          </a:p>
          <a:p>
            <a:pPr>
              <a:spcAft>
                <a:spcPts val="1000"/>
              </a:spcAft>
            </a:pPr>
            <a:r>
              <a:rPr sz="1800" b="0">
                <a:solidFill>
                  <a:srgbClr val="161B26"/>
                </a:solidFill>
                <a:latin typeface="Arial"/>
              </a:rPr>
              <a:t>•  Automation snapbook</a:t>
            </a:r>
          </a:p>
          <a:p>
            <a:pPr>
              <a:spcAft>
                <a:spcPts val="1000"/>
              </a:spcAft>
            </a:pPr>
            <a:r>
              <a:rPr sz="1800" b="0">
                <a:solidFill>
                  <a:srgbClr val="161B26"/>
                </a:solidFill>
                <a:latin typeface="Arial"/>
              </a:rPr>
              <a:t>•  SSM Documents of type Automation</a:t>
            </a:r>
          </a:p>
          <a:p>
            <a:pPr>
              <a:spcAft>
                <a:spcPts val="1000"/>
              </a:spcAft>
            </a:pPr>
            <a:r>
              <a:rPr sz="1800" b="0">
                <a:solidFill>
                  <a:srgbClr val="161B26"/>
                </a:solidFill>
                <a:latin typeface="Arial"/>
              </a:rPr>
              <a:t>•  Defines actions performed on your EC2 instances or AWS resources</a:t>
            </a:r>
          </a:p>
          <a:p>
            <a:pPr>
              <a:spcAft>
                <a:spcPts val="1000"/>
              </a:spcAft>
            </a:pPr>
            <a:r>
              <a:rPr sz="1800" b="0">
                <a:solidFill>
                  <a:srgbClr val="161B26"/>
                </a:solidFill>
                <a:latin typeface="Arial"/>
              </a:rPr>
              <a:t>•  Pre-defined runbooks (AWS) or create custom runbooks</a:t>
            </a:r>
          </a:p>
          <a:p>
            <a:pPr>
              <a:spcAft>
                <a:spcPts val="1000"/>
              </a:spcAft>
            </a:pPr>
            <a:r>
              <a:rPr sz="1800" b="0">
                <a:solidFill>
                  <a:srgbClr val="161B26"/>
                </a:solidFill>
                <a:latin typeface="Arial"/>
              </a:rPr>
              <a:t>•  Can be triggered</a:t>
            </a:r>
          </a:p>
          <a:p>
            <a:pPr>
              <a:spcAft>
                <a:spcPts val="1000"/>
              </a:spcAft>
            </a:pPr>
            <a:r>
              <a:rPr sz="1800" b="0">
                <a:solidFill>
                  <a:srgbClr val="161B26"/>
                </a:solidFill>
                <a:latin typeface="Arial"/>
              </a:rPr>
              <a:t>•  Manually using AWS Console, AWS CLI or SDK</a:t>
            </a:r>
          </a:p>
          <a:p>
            <a:pPr>
              <a:spcAft>
                <a:spcPts val="1000"/>
              </a:spcAft>
            </a:pPr>
            <a:r>
              <a:rPr sz="1800" b="0">
                <a:solidFill>
                  <a:srgbClr val="161B26"/>
                </a:solidFill>
                <a:latin typeface="Arial"/>
              </a:rPr>
              <a:t>•  By Amazon EventBridge</a:t>
            </a:r>
          </a:p>
          <a:p>
            <a:pPr>
              <a:spcAft>
                <a:spcPts val="1000"/>
              </a:spcAft>
            </a:pPr>
            <a:r>
              <a:rPr sz="1800" b="0">
                <a:solidFill>
                  <a:srgbClr val="161B26"/>
                </a:solidFill>
                <a:latin typeface="Arial"/>
              </a:rPr>
              <a:t>•  On a schedule using Maintenance Windows</a:t>
            </a:r>
          </a:p>
          <a:p>
            <a:pPr>
              <a:spcAft>
                <a:spcPts val="1000"/>
              </a:spcAft>
            </a:pPr>
            <a:r>
              <a:rPr sz="1800" b="0">
                <a:solidFill>
                  <a:srgbClr val="161B26"/>
                </a:solidFill>
                <a:latin typeface="Arial"/>
              </a:rPr>
              <a:t>•  By AWS Config for rules remediations</a:t>
            </a:r>
          </a:p>
          <a:p>
            <a:pPr>
              <a:spcAft>
                <a:spcPts val="1000"/>
              </a:spcAft>
            </a:pPr>
            <a:r>
              <a:rPr sz="1800" b="0">
                <a:solidFill>
                  <a:srgbClr val="161B26"/>
                </a:solidFill>
                <a:latin typeface="Arial"/>
              </a:rPr>
              <a:t>•  SSM Automation</a:t>
            </a:r>
          </a:p>
          <a:p>
            <a:pPr>
              <a:spcAft>
                <a:spcPts val="1000"/>
              </a:spcAft>
            </a:pPr>
            <a:r>
              <a:rPr sz="1800" b="0">
                <a:solidFill>
                  <a:srgbClr val="161B26"/>
                </a:solidFill>
                <a:latin typeface="Arial"/>
              </a:rPr>
              <a:t>•  Runbooks (automation documents)</a:t>
            </a:r>
          </a:p>
          <a:p>
            <a:pPr>
              <a:spcAft>
                <a:spcPts val="1000"/>
              </a:spcAft>
            </a:pPr>
            <a:r>
              <a:rPr sz="1800" b="0">
                <a:solidFill>
                  <a:srgbClr val="161B26"/>
                </a:solidFill>
                <a:latin typeface="Arial"/>
              </a:rPr>
              <a:t>•  execute automation</a:t>
            </a:r>
          </a:p>
          <a:p>
            <a:pPr>
              <a:spcAft>
                <a:spcPts val="1000"/>
              </a:spcAft>
            </a:pPr>
            <a:r>
              <a:rPr sz="1800" b="0">
                <a:solidFill>
                  <a:srgbClr val="161B26"/>
                </a:solidFill>
                <a:latin typeface="Arial"/>
              </a:rPr>
              <a:t>•  (AWS-RestartEC2Instance)</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AWS Resources</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RDS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execute</a:t>
            </a:r>
          </a:p>
          <a:p>
            <a:pPr>
              <a:spcAft>
                <a:spcPts val="1000"/>
              </a:spcAft>
            </a:pPr>
            <a:r>
              <a:rPr sz="1800" b="0">
                <a:solidFill>
                  <a:srgbClr val="161B26"/>
                </a:solidFill>
                <a:latin typeface="Arial"/>
              </a:rPr>
              <a:t>•  AWS Console	AWS SDK Maintenance	Amazon	AWS Config</a:t>
            </a:r>
          </a:p>
          <a:p>
            <a:pPr>
              <a:spcAft>
                <a:spcPts val="1000"/>
              </a:spcAft>
            </a:pPr>
            <a:r>
              <a:rPr sz="1800" b="0">
                <a:solidFill>
                  <a:srgbClr val="161B26"/>
                </a:solidFill>
                <a:latin typeface="Arial"/>
              </a:rPr>
              <a:t>•  Windows	EventBridge Remediation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2653" y="1801368"/>
            <a:ext cx="873621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07_0.png"/>
          <p:cNvPicPr>
            <a:picLocks noChangeAspect="1"/>
          </p:cNvPicPr>
          <p:nvPr/>
        </p:nvPicPr>
        <p:blipFill>
          <a:blip r:embed="rId2"/>
          <a:stretch>
            <a:fillRect/>
          </a:stretch>
        </p:blipFill>
        <p:spPr>
          <a:xfrm>
            <a:off x="1740085" y="1828800"/>
            <a:ext cx="868134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93895" y="1801368"/>
            <a:ext cx="957373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08_0.png"/>
          <p:cNvPicPr>
            <a:picLocks noChangeAspect="1"/>
          </p:cNvPicPr>
          <p:nvPr/>
        </p:nvPicPr>
        <p:blipFill>
          <a:blip r:embed="rId2"/>
          <a:stretch>
            <a:fillRect/>
          </a:stretch>
        </p:blipFill>
        <p:spPr>
          <a:xfrm>
            <a:off x="1321327" y="1828800"/>
            <a:ext cx="951886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Secure storage for configuration and secrets</a:t>
            </a:r>
          </a:p>
          <a:p>
            <a:pPr>
              <a:spcAft>
                <a:spcPts val="1000"/>
              </a:spcAft>
            </a:pPr>
            <a:r>
              <a:rPr sz="1800" b="0">
                <a:solidFill>
                  <a:srgbClr val="161B26"/>
                </a:solidFill>
                <a:latin typeface="Arial"/>
              </a:rPr>
              <a:t>•  Optional Seamless Encryption using KMS</a:t>
            </a:r>
          </a:p>
          <a:p>
            <a:pPr>
              <a:spcAft>
                <a:spcPts val="1000"/>
              </a:spcAft>
            </a:pPr>
            <a:r>
              <a:rPr sz="1800" b="0">
                <a:solidFill>
                  <a:srgbClr val="161B26"/>
                </a:solidFill>
                <a:latin typeface="Arial"/>
              </a:rPr>
              <a:t>•  Serverless, scalable, durable, easy SDK</a:t>
            </a:r>
          </a:p>
          <a:p>
            <a:pPr>
              <a:spcAft>
                <a:spcPts val="1000"/>
              </a:spcAft>
            </a:pPr>
            <a:r>
              <a:rPr sz="1800" b="0">
                <a:solidFill>
                  <a:srgbClr val="161B26"/>
                </a:solidFill>
                <a:latin typeface="Arial"/>
              </a:rPr>
              <a:t>•  Version tracking of configurations / secrets</a:t>
            </a:r>
          </a:p>
          <a:p>
            <a:pPr>
              <a:spcAft>
                <a:spcPts val="1000"/>
              </a:spcAft>
            </a:pPr>
            <a:r>
              <a:rPr sz="1800" b="0">
                <a:solidFill>
                  <a:srgbClr val="161B26"/>
                </a:solidFill>
                <a:latin typeface="Arial"/>
              </a:rPr>
              <a:t>•  Security through IAM</a:t>
            </a:r>
          </a:p>
          <a:p>
            <a:pPr>
              <a:spcAft>
                <a:spcPts val="1000"/>
              </a:spcAft>
            </a:pPr>
            <a:r>
              <a:rPr sz="1800" b="0">
                <a:solidFill>
                  <a:srgbClr val="161B26"/>
                </a:solidFill>
                <a:latin typeface="Arial"/>
              </a:rPr>
              <a:t>•  Notifications with Amazon EventBridge</a:t>
            </a:r>
          </a:p>
          <a:p>
            <a:pPr>
              <a:spcAft>
                <a:spcPts val="1000"/>
              </a:spcAft>
            </a:pPr>
            <a:r>
              <a:rPr sz="1800" b="0">
                <a:solidFill>
                  <a:srgbClr val="161B26"/>
                </a:solidFill>
                <a:latin typeface="Arial"/>
              </a:rPr>
              <a:t>•  Integration with CloudFormation</a:t>
            </a:r>
          </a:p>
          <a:p>
            <a:pPr>
              <a:spcAft>
                <a:spcPts val="1000"/>
              </a:spcAft>
            </a:pPr>
            <a:r>
              <a:rPr sz="1800" b="0">
                <a:solidFill>
                  <a:srgbClr val="161B26"/>
                </a:solidFill>
                <a:latin typeface="Arial"/>
              </a:rPr>
              <a:t>•  SSM Parameter Store</a:t>
            </a:r>
          </a:p>
          <a:p>
            <a:pPr>
              <a:spcAft>
                <a:spcPts val="1000"/>
              </a:spcAft>
            </a:pPr>
            <a:r>
              <a:rPr sz="1800" b="0">
                <a:solidFill>
                  <a:srgbClr val="161B26"/>
                </a:solidFill>
                <a:latin typeface="Arial"/>
              </a:rPr>
              <a:t>•  Applications</a:t>
            </a:r>
          </a:p>
          <a:p>
            <a:pPr>
              <a:spcAft>
                <a:spcPts val="1000"/>
              </a:spcAft>
            </a:pPr>
            <a:r>
              <a:rPr sz="1800" b="0">
                <a:solidFill>
                  <a:srgbClr val="161B26"/>
                </a:solidFill>
                <a:latin typeface="Arial"/>
              </a:rPr>
              <a:t>•  Plaintext configuration</a:t>
            </a:r>
          </a:p>
          <a:p>
            <a:pPr>
              <a:spcAft>
                <a:spcPts val="1000"/>
              </a:spcAft>
            </a:pPr>
            <a:r>
              <a:rPr sz="1800" b="0">
                <a:solidFill>
                  <a:srgbClr val="161B26"/>
                </a:solidFill>
                <a:latin typeface="Arial"/>
              </a:rPr>
              <a:t>•  Encrypted configuration</a:t>
            </a:r>
          </a:p>
          <a:p>
            <a:pPr>
              <a:spcAft>
                <a:spcPts val="1000"/>
              </a:spcAft>
            </a:pPr>
            <a:r>
              <a:rPr sz="1800" b="0">
                <a:solidFill>
                  <a:srgbClr val="161B26"/>
                </a:solidFill>
                <a:latin typeface="Arial"/>
              </a:rPr>
              <a:t>•  Check IAM permissions</a:t>
            </a:r>
          </a:p>
          <a:p>
            <a:pPr>
              <a:spcAft>
                <a:spcPts val="1000"/>
              </a:spcAft>
            </a:pPr>
            <a:r>
              <a:rPr sz="1800" b="0">
                <a:solidFill>
                  <a:srgbClr val="161B26"/>
                </a:solidFill>
                <a:latin typeface="Arial"/>
              </a:rPr>
              <a:t>•  Decryption Service</a:t>
            </a:r>
          </a:p>
          <a:p>
            <a:pPr>
              <a:spcAft>
                <a:spcPts val="1000"/>
              </a:spcAft>
            </a:pPr>
            <a:r>
              <a:rPr sz="1800" b="0">
                <a:solidFill>
                  <a:srgbClr val="161B26"/>
                </a:solidFill>
                <a:latin typeface="Arial"/>
              </a:rPr>
              <a:t>•  AWS KMS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7088" y="1801368"/>
            <a:ext cx="100073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10_0.png"/>
          <p:cNvPicPr>
            <a:picLocks noChangeAspect="1"/>
          </p:cNvPicPr>
          <p:nvPr/>
        </p:nvPicPr>
        <p:blipFill>
          <a:blip r:embed="rId2"/>
          <a:stretch>
            <a:fillRect/>
          </a:stretch>
        </p:blipFill>
        <p:spPr>
          <a:xfrm>
            <a:off x="1104520" y="1828800"/>
            <a:ext cx="995248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63682" y="1801368"/>
            <a:ext cx="80341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11_0.png"/>
          <p:cNvPicPr>
            <a:picLocks noChangeAspect="1"/>
          </p:cNvPicPr>
          <p:nvPr/>
        </p:nvPicPr>
        <p:blipFill>
          <a:blip r:embed="rId2"/>
          <a:stretch>
            <a:fillRect/>
          </a:stretch>
        </p:blipFill>
        <p:spPr>
          <a:xfrm>
            <a:off x="2091114" y="1828800"/>
            <a:ext cx="79792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/my-department/</a:t>
            </a:r>
          </a:p>
          <a:p>
            <a:pPr>
              <a:spcAft>
                <a:spcPts val="1000"/>
              </a:spcAft>
            </a:pPr>
            <a:r>
              <a:rPr sz="1800" b="0">
                <a:solidFill>
                  <a:srgbClr val="161B26"/>
                </a:solidFill>
                <a:latin typeface="Arial"/>
              </a:rPr>
              <a:t>•  my-app/</a:t>
            </a:r>
          </a:p>
          <a:p>
            <a:pPr>
              <a:spcAft>
                <a:spcPts val="1000"/>
              </a:spcAft>
            </a:pPr>
            <a:r>
              <a:rPr sz="1800" b="0">
                <a:solidFill>
                  <a:srgbClr val="161B26"/>
                </a:solidFill>
                <a:latin typeface="Arial"/>
              </a:rPr>
              <a:t>•  dev/</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prod/</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other-app/</a:t>
            </a:r>
          </a:p>
          <a:p>
            <a:pPr>
              <a:spcAft>
                <a:spcPts val="1000"/>
              </a:spcAft>
            </a:pPr>
            <a:r>
              <a:rPr sz="1800" b="0">
                <a:solidFill>
                  <a:srgbClr val="161B26"/>
                </a:solidFill>
                <a:latin typeface="Arial"/>
              </a:rPr>
              <a:t>•  /other-department/</a:t>
            </a:r>
          </a:p>
          <a:p>
            <a:pPr>
              <a:spcAft>
                <a:spcPts val="1000"/>
              </a:spcAft>
            </a:pPr>
            <a:r>
              <a:rPr sz="1800" b="0">
                <a:solidFill>
                  <a:srgbClr val="161B26"/>
                </a:solidFill>
                <a:latin typeface="Arial"/>
              </a:rPr>
              <a:t>•  /aws/reference/secretsmanager/secret_ID_in_Secrets_Manager</a:t>
            </a:r>
          </a:p>
          <a:p>
            <a:pPr>
              <a:spcAft>
                <a:spcPts val="1000"/>
              </a:spcAft>
            </a:pPr>
            <a:r>
              <a:rPr sz="1800" b="0">
                <a:solidFill>
                  <a:srgbClr val="161B26"/>
                </a:solidFill>
                <a:latin typeface="Arial"/>
              </a:rPr>
              <a:t>•  /aws/service/ami-amazon-linux-latest/amzn2-ami-hvm-x86_64-gp2 (public)</a:t>
            </a:r>
          </a:p>
          <a:p>
            <a:pPr>
              <a:spcAft>
                <a:spcPts val="1000"/>
              </a:spcAft>
            </a:pPr>
            <a:r>
              <a:rPr sz="1800" b="0">
                <a:solidFill>
                  <a:srgbClr val="161B26"/>
                </a:solidFill>
                <a:latin typeface="Arial"/>
              </a:rPr>
              <a:t>•  Dev Lambda Function</a:t>
            </a:r>
          </a:p>
          <a:p>
            <a:pPr>
              <a:spcAft>
                <a:spcPts val="1000"/>
              </a:spcAft>
            </a:pPr>
            <a:r>
              <a:rPr sz="1800" b="0">
                <a:solidFill>
                  <a:srgbClr val="161B26"/>
                </a:solidFill>
                <a:latin typeface="Arial"/>
              </a:rPr>
              <a:t>•  GetParameters or GetParametersByPath API</a:t>
            </a:r>
          </a:p>
          <a:p>
            <a:pPr>
              <a:spcAft>
                <a:spcPts val="1000"/>
              </a:spcAft>
            </a:pPr>
            <a:r>
              <a:rPr sz="1800" b="0">
                <a:solidFill>
                  <a:srgbClr val="161B26"/>
                </a:solidFill>
                <a:latin typeface="Arial"/>
              </a:rPr>
              <a:t>•  Prod Lambda Function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Standard	and	advanced	parameter tiers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Standard	and	advanced	parameter tiers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Parameters Policies (for advanced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 to assign a TTL to a parameter (expiration date) to force updating or deleting sensitive data such as passwords</a:t>
            </a:r>
          </a:p>
          <a:p>
            <a:pPr>
              <a:spcAft>
                <a:spcPts val="1000"/>
              </a:spcAft>
            </a:pPr>
            <a:r>
              <a:rPr sz="2000" b="0">
                <a:solidFill>
                  <a:srgbClr val="161B26"/>
                </a:solidFill>
                <a:latin typeface="Arial"/>
              </a:rPr>
              <a:t>•  Can assign multiple policies at a time</a:t>
            </a:r>
          </a:p>
          <a:p>
            <a:pPr>
              <a:spcAft>
                <a:spcPts val="1000"/>
              </a:spcAft>
            </a:pPr>
            <a:r>
              <a:rPr sz="2000" b="0">
                <a:solidFill>
                  <a:srgbClr val="161B26"/>
                </a:solidFill>
                <a:latin typeface="Arial"/>
              </a:rPr>
              <a:t>•  Expiration (to delete a parameter)</a:t>
            </a:r>
          </a:p>
          <a:p>
            <a:pPr>
              <a:spcAft>
                <a:spcPts val="1000"/>
              </a:spcAft>
            </a:pPr>
            <a:r>
              <a:rPr sz="2000" b="0">
                <a:solidFill>
                  <a:srgbClr val="161B26"/>
                </a:solidFill>
                <a:latin typeface="Arial"/>
              </a:rPr>
              <a:t>•  ExpirationNotification (EventBridge)</a:t>
            </a:r>
          </a:p>
          <a:p>
            <a:pPr>
              <a:spcAft>
                <a:spcPts val="1000"/>
              </a:spcAft>
            </a:pPr>
            <a:r>
              <a:rPr sz="2000" b="0">
                <a:solidFill>
                  <a:srgbClr val="161B26"/>
                </a:solidFill>
                <a:latin typeface="Arial"/>
              </a:rPr>
              <a:t>•  NoChangeNotification (EventBridge)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Inventory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Collect metadata from your managed instances (EC2/On-premises)</a:t>
            </a:r>
          </a:p>
          <a:p>
            <a:pPr>
              <a:spcAft>
                <a:spcPts val="1000"/>
              </a:spcAft>
            </a:pPr>
            <a:r>
              <a:rPr sz="2000" b="0">
                <a:solidFill>
                  <a:srgbClr val="161B26"/>
                </a:solidFill>
                <a:latin typeface="Arial"/>
              </a:rPr>
              <a:t>•  Metadata includes installed software, OS drivers, configurations, installed updates, running services …</a:t>
            </a:r>
          </a:p>
          <a:p>
            <a:pPr>
              <a:spcAft>
                <a:spcPts val="1000"/>
              </a:spcAft>
            </a:pPr>
            <a:r>
              <a:rPr sz="2000" b="0">
                <a:solidFill>
                  <a:srgbClr val="161B26"/>
                </a:solidFill>
                <a:latin typeface="Arial"/>
              </a:rPr>
              <a:t>•  View data in AWS Console or store in S3 and query and analyze using Athena and QuickSight</a:t>
            </a:r>
          </a:p>
          <a:p>
            <a:pPr>
              <a:spcAft>
                <a:spcPts val="1000"/>
              </a:spcAft>
            </a:pPr>
            <a:r>
              <a:rPr sz="2000" b="0">
                <a:solidFill>
                  <a:srgbClr val="161B26"/>
                </a:solidFill>
                <a:latin typeface="Arial"/>
              </a:rPr>
              <a:t>•  Specify metadata collection interval (minutes, hours, days)</a:t>
            </a:r>
          </a:p>
          <a:p>
            <a:pPr>
              <a:spcAft>
                <a:spcPts val="1000"/>
              </a:spcAft>
            </a:pPr>
            <a:r>
              <a:rPr sz="2000" b="0">
                <a:solidFill>
                  <a:srgbClr val="161B26"/>
                </a:solidFill>
                <a:latin typeface="Arial"/>
              </a:rPr>
              <a:t>•  Query data from multiple AWS accounts and regions</a:t>
            </a:r>
          </a:p>
          <a:p>
            <a:pPr>
              <a:spcAft>
                <a:spcPts val="1000"/>
              </a:spcAft>
            </a:pPr>
            <a:r>
              <a:rPr sz="2000" b="0">
                <a:solidFill>
                  <a:srgbClr val="161B26"/>
                </a:solidFill>
                <a:latin typeface="Arial"/>
              </a:rPr>
              <a:t>•  Create Custom Inventory for your custom metadata (e.g., rack location of each managed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Inventory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5446" y="1801368"/>
            <a:ext cx="1025062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16_0.png"/>
          <p:cNvPicPr>
            <a:picLocks noChangeAspect="1"/>
          </p:cNvPicPr>
          <p:nvPr/>
        </p:nvPicPr>
        <p:blipFill>
          <a:blip r:embed="rId2"/>
          <a:stretch>
            <a:fillRect/>
          </a:stretch>
        </p:blipFill>
        <p:spPr>
          <a:xfrm>
            <a:off x="982878" y="1828800"/>
            <a:ext cx="1019576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State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the process of keeping your managed instances</a:t>
            </a:r>
          </a:p>
          <a:p>
            <a:pPr>
              <a:spcAft>
                <a:spcPts val="1000"/>
              </a:spcAft>
            </a:pPr>
            <a:r>
              <a:rPr sz="1800" b="0">
                <a:solidFill>
                  <a:srgbClr val="161B26"/>
                </a:solidFill>
                <a:latin typeface="Arial"/>
              </a:rPr>
              <a:t>•  (EC2/On- premises) in a state that you define</a:t>
            </a:r>
          </a:p>
          <a:p>
            <a:pPr>
              <a:spcAft>
                <a:spcPts val="1000"/>
              </a:spcAft>
            </a:pPr>
            <a:r>
              <a:rPr sz="1800" b="0">
                <a:solidFill>
                  <a:srgbClr val="161B26"/>
                </a:solidFill>
                <a:latin typeface="Arial"/>
              </a:rPr>
              <a:t>•  Use cases: bootstrap instances with software, patch OS/software updates on a schedule …</a:t>
            </a:r>
          </a:p>
          <a:p>
            <a:pPr>
              <a:spcAft>
                <a:spcPts val="1000"/>
              </a:spcAft>
            </a:pPr>
            <a:r>
              <a:rPr sz="1800" b="0">
                <a:solidFill>
                  <a:srgbClr val="161B26"/>
                </a:solidFill>
                <a:latin typeface="Arial"/>
              </a:rPr>
              <a:t>•  State Manager Association:</a:t>
            </a:r>
          </a:p>
          <a:p>
            <a:pPr>
              <a:spcAft>
                <a:spcPts val="1000"/>
              </a:spcAft>
            </a:pPr>
            <a:r>
              <a:rPr sz="1800" b="0">
                <a:solidFill>
                  <a:srgbClr val="161B26"/>
                </a:solidFill>
                <a:latin typeface="Arial"/>
              </a:rPr>
              <a:t>•  Defines the state that you want to maintain to your managed instances</a:t>
            </a:r>
          </a:p>
          <a:p>
            <a:pPr>
              <a:spcAft>
                <a:spcPts val="1000"/>
              </a:spcAft>
            </a:pPr>
            <a:r>
              <a:rPr sz="1800" b="0">
                <a:solidFill>
                  <a:srgbClr val="161B26"/>
                </a:solidFill>
                <a:latin typeface="Arial"/>
              </a:rPr>
              <a:t>•  Example: port 22 must be closed, antivirus must be installed …</a:t>
            </a:r>
          </a:p>
          <a:p>
            <a:pPr>
              <a:spcAft>
                <a:spcPts val="1000"/>
              </a:spcAft>
            </a:pPr>
            <a:r>
              <a:rPr sz="1800" b="0">
                <a:solidFill>
                  <a:srgbClr val="161B26"/>
                </a:solidFill>
                <a:latin typeface="Arial"/>
              </a:rPr>
              <a:t>•  Specify a schedule when this configuration is applied</a:t>
            </a:r>
          </a:p>
          <a:p>
            <a:pPr>
              <a:spcAft>
                <a:spcPts val="1000"/>
              </a:spcAft>
            </a:pPr>
            <a:r>
              <a:rPr sz="1800" b="0">
                <a:solidFill>
                  <a:srgbClr val="161B26"/>
                </a:solidFill>
                <a:latin typeface="Arial"/>
              </a:rPr>
              <a:t>•  Uses SSM Documents to create an Association (e.g., SSM Document to configure CW Agent)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State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95676" y="1801368"/>
            <a:ext cx="75701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18_0.png"/>
          <p:cNvPicPr>
            <a:picLocks noChangeAspect="1"/>
          </p:cNvPicPr>
          <p:nvPr/>
        </p:nvPicPr>
        <p:blipFill>
          <a:blip r:embed="rId2"/>
          <a:stretch>
            <a:fillRect/>
          </a:stretch>
        </p:blipFill>
        <p:spPr>
          <a:xfrm>
            <a:off x="2323108" y="1828800"/>
            <a:ext cx="751530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State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92087" y="1801368"/>
            <a:ext cx="67773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19_0.png"/>
          <p:cNvPicPr>
            <a:picLocks noChangeAspect="1"/>
          </p:cNvPicPr>
          <p:nvPr/>
        </p:nvPicPr>
        <p:blipFill>
          <a:blip r:embed="rId2"/>
          <a:stretch>
            <a:fillRect/>
          </a:stretch>
        </p:blipFill>
        <p:spPr>
          <a:xfrm>
            <a:off x="2719519" y="1828800"/>
            <a:ext cx="672248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Automates the process of patching managed instances</a:t>
            </a:r>
          </a:p>
          <a:p>
            <a:pPr>
              <a:spcAft>
                <a:spcPts val="1000"/>
              </a:spcAft>
            </a:pPr>
            <a:r>
              <a:rPr sz="1800" b="0">
                <a:solidFill>
                  <a:srgbClr val="161B26"/>
                </a:solidFill>
                <a:latin typeface="Arial"/>
              </a:rPr>
              <a:t>•  OS updates, applications updates, security updates, …</a:t>
            </a:r>
          </a:p>
          <a:p>
            <a:pPr>
              <a:spcAft>
                <a:spcPts val="1000"/>
              </a:spcAft>
            </a:pPr>
            <a:r>
              <a:rPr sz="1800" b="0">
                <a:solidFill>
                  <a:srgbClr val="161B26"/>
                </a:solidFill>
                <a:latin typeface="Arial"/>
              </a:rPr>
              <a:t>•  Supports both EC2 instances and on-premises servers</a:t>
            </a:r>
          </a:p>
          <a:p>
            <a:pPr>
              <a:spcAft>
                <a:spcPts val="1000"/>
              </a:spcAft>
            </a:pPr>
            <a:r>
              <a:rPr sz="1800" b="0">
                <a:solidFill>
                  <a:srgbClr val="161B26"/>
                </a:solidFill>
                <a:latin typeface="Arial"/>
              </a:rPr>
              <a:t>•  Supports Linux, macOS, and Windows</a:t>
            </a:r>
          </a:p>
          <a:p>
            <a:pPr>
              <a:spcAft>
                <a:spcPts val="1000"/>
              </a:spcAft>
            </a:pPr>
            <a:r>
              <a:rPr sz="1800" b="0">
                <a:solidFill>
                  <a:srgbClr val="161B26"/>
                </a:solidFill>
                <a:latin typeface="Arial"/>
              </a:rPr>
              <a:t>•  Patch on-demand or on a schedule using Maintenance Windows</a:t>
            </a:r>
          </a:p>
          <a:p>
            <a:pPr>
              <a:spcAft>
                <a:spcPts val="1000"/>
              </a:spcAft>
            </a:pPr>
            <a:r>
              <a:rPr sz="1800" b="0">
                <a:solidFill>
                  <a:srgbClr val="161B26"/>
                </a:solidFill>
                <a:latin typeface="Arial"/>
              </a:rPr>
              <a:t>•  Scan instances and generate patch compliance report (missing patches)</a:t>
            </a:r>
          </a:p>
          <a:p>
            <a:pPr>
              <a:spcAft>
                <a:spcPts val="1000"/>
              </a:spcAft>
            </a:pPr>
            <a:r>
              <a:rPr sz="1800" b="0">
                <a:solidFill>
                  <a:srgbClr val="161B26"/>
                </a:solidFill>
                <a:latin typeface="Arial"/>
              </a:rPr>
              <a:t>•  Patch compliance report can be sent to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85787" y="1801368"/>
            <a:ext cx="73899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21_0.png"/>
          <p:cNvPicPr>
            <a:picLocks noChangeAspect="1"/>
          </p:cNvPicPr>
          <p:nvPr/>
        </p:nvPicPr>
        <p:blipFill>
          <a:blip r:embed="rId2"/>
          <a:stretch>
            <a:fillRect/>
          </a:stretch>
        </p:blipFill>
        <p:spPr>
          <a:xfrm>
            <a:off x="2413219" y="1828800"/>
            <a:ext cx="733508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Patch Baseline</a:t>
            </a:r>
          </a:p>
          <a:p>
            <a:pPr>
              <a:spcAft>
                <a:spcPts val="1000"/>
              </a:spcAft>
            </a:pPr>
            <a:r>
              <a:rPr sz="1800" b="0">
                <a:solidFill>
                  <a:srgbClr val="161B26"/>
                </a:solidFill>
                <a:latin typeface="Arial"/>
              </a:rPr>
              <a:t>•  Defines which patches should and shouldn’t be installed on your instances</a:t>
            </a:r>
          </a:p>
          <a:p>
            <a:pPr>
              <a:spcAft>
                <a:spcPts val="1000"/>
              </a:spcAft>
            </a:pPr>
            <a:r>
              <a:rPr sz="1800" b="0">
                <a:solidFill>
                  <a:srgbClr val="161B26"/>
                </a:solidFill>
                <a:latin typeface="Arial"/>
              </a:rPr>
              <a:t>•  Ability to create custom Patch Baselines (specify approved/rejected patches)</a:t>
            </a:r>
          </a:p>
          <a:p>
            <a:pPr>
              <a:spcAft>
                <a:spcPts val="1000"/>
              </a:spcAft>
            </a:pPr>
            <a:r>
              <a:rPr sz="1800" b="0">
                <a:solidFill>
                  <a:srgbClr val="161B26"/>
                </a:solidFill>
                <a:latin typeface="Arial"/>
              </a:rPr>
              <a:t>•  Patches can be auto-approved within days of their release</a:t>
            </a:r>
          </a:p>
          <a:p>
            <a:pPr>
              <a:spcAft>
                <a:spcPts val="1000"/>
              </a:spcAft>
            </a:pPr>
            <a:r>
              <a:rPr sz="1800" b="0">
                <a:solidFill>
                  <a:srgbClr val="161B26"/>
                </a:solidFill>
                <a:latin typeface="Arial"/>
              </a:rPr>
              <a:t>•  By default, install only critical patches and patches related to security</a:t>
            </a:r>
          </a:p>
          <a:p>
            <a:pPr>
              <a:spcAft>
                <a:spcPts val="1000"/>
              </a:spcAft>
            </a:pPr>
            <a:r>
              <a:rPr sz="1800" b="0">
                <a:solidFill>
                  <a:srgbClr val="161B26"/>
                </a:solidFill>
                <a:latin typeface="Arial"/>
              </a:rPr>
              <a:t>•  Patch Group</a:t>
            </a:r>
          </a:p>
          <a:p>
            <a:pPr>
              <a:spcAft>
                <a:spcPts val="1000"/>
              </a:spcAft>
            </a:pPr>
            <a:r>
              <a:rPr sz="1800" b="0">
                <a:solidFill>
                  <a:srgbClr val="161B26"/>
                </a:solidFill>
                <a:latin typeface="Arial"/>
              </a:rPr>
              <a:t>•  Associate a set of instances with a specific Patch Baseline</a:t>
            </a:r>
          </a:p>
          <a:p>
            <a:pPr>
              <a:spcAft>
                <a:spcPts val="1000"/>
              </a:spcAft>
            </a:pPr>
            <a:r>
              <a:rPr sz="1800" b="0">
                <a:solidFill>
                  <a:srgbClr val="161B26"/>
                </a:solidFill>
                <a:latin typeface="Arial"/>
              </a:rPr>
              <a:t>•  Example: create Patch Groups for different environments (dev, test, prod)</a:t>
            </a:r>
          </a:p>
          <a:p>
            <a:pPr>
              <a:spcAft>
                <a:spcPts val="1000"/>
              </a:spcAft>
            </a:pPr>
            <a:r>
              <a:rPr sz="1800" b="0">
                <a:solidFill>
                  <a:srgbClr val="161B26"/>
                </a:solidFill>
                <a:latin typeface="Arial"/>
              </a:rPr>
              <a:t>•  Instances should be defined with the tag key Patch Group</a:t>
            </a:r>
          </a:p>
          <a:p>
            <a:pPr>
              <a:spcAft>
                <a:spcPts val="1000"/>
              </a:spcAft>
            </a:pPr>
            <a:r>
              <a:rPr sz="1800" b="0">
                <a:solidFill>
                  <a:srgbClr val="161B26"/>
                </a:solidFill>
                <a:latin typeface="Arial"/>
              </a:rPr>
              <a:t>•  An instance can only be in one Patch Group</a:t>
            </a:r>
          </a:p>
          <a:p>
            <a:pPr>
              <a:spcAft>
                <a:spcPts val="1000"/>
              </a:spcAft>
            </a:pPr>
            <a:r>
              <a:rPr sz="1800" b="0">
                <a:solidFill>
                  <a:srgbClr val="161B26"/>
                </a:solidFill>
                <a:latin typeface="Arial"/>
              </a:rPr>
              <a:t>•  Patch Group can be registered with only one Patch Baseline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 Patch Baselines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Pre-Defined Patch Baseline</a:t>
            </a:r>
          </a:p>
          <a:p>
            <a:pPr>
              <a:spcAft>
                <a:spcPts val="1000"/>
              </a:spcAft>
            </a:pPr>
            <a:r>
              <a:rPr sz="1800" b="0">
                <a:solidFill>
                  <a:srgbClr val="161B26"/>
                </a:solidFill>
                <a:latin typeface="Arial"/>
              </a:rPr>
              <a:t>•  Managed by AWS for different Operating Systems (can’t be modified)</a:t>
            </a:r>
          </a:p>
          <a:p>
            <a:pPr>
              <a:spcAft>
                <a:spcPts val="1000"/>
              </a:spcAft>
            </a:pPr>
            <a:r>
              <a:rPr sz="1800" b="0">
                <a:solidFill>
                  <a:srgbClr val="161B26"/>
                </a:solidFill>
                <a:latin typeface="Arial"/>
              </a:rPr>
              <a:t>•  AWS-RunPatchBaseline (SSM Document) - apply both operating system and application patches (Linux, macOS, Windows Server)</a:t>
            </a:r>
          </a:p>
          <a:p>
            <a:pPr>
              <a:spcAft>
                <a:spcPts val="1000"/>
              </a:spcAft>
            </a:pPr>
            <a:r>
              <a:rPr sz="1800" b="0">
                <a:solidFill>
                  <a:srgbClr val="161B26"/>
                </a:solidFill>
                <a:latin typeface="Arial"/>
              </a:rPr>
              <a:t>•  Custom Patch Baseline</a:t>
            </a:r>
          </a:p>
          <a:p>
            <a:pPr>
              <a:spcAft>
                <a:spcPts val="1000"/>
              </a:spcAft>
            </a:pPr>
            <a:r>
              <a:rPr sz="1800" b="0">
                <a:solidFill>
                  <a:srgbClr val="161B26"/>
                </a:solidFill>
                <a:latin typeface="Arial"/>
              </a:rPr>
              <a:t>•  Create your own Patch Baseline and choose which patches to auto-approve</a:t>
            </a:r>
          </a:p>
          <a:p>
            <a:pPr>
              <a:spcAft>
                <a:spcPts val="1000"/>
              </a:spcAft>
            </a:pPr>
            <a:r>
              <a:rPr sz="1800" b="0">
                <a:solidFill>
                  <a:srgbClr val="161B26"/>
                </a:solidFill>
                <a:latin typeface="Arial"/>
              </a:rPr>
              <a:t>•  Operating System, allowed patches, rejected patches, …</a:t>
            </a:r>
          </a:p>
          <a:p>
            <a:pPr>
              <a:spcAft>
                <a:spcPts val="1000"/>
              </a:spcAft>
            </a:pPr>
            <a:r>
              <a:rPr sz="1800" b="0">
                <a:solidFill>
                  <a:srgbClr val="161B26"/>
                </a:solidFill>
                <a:latin typeface="Arial"/>
              </a:rPr>
              <a:t>•  Ability to specify custom and alternative patch repositories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Run Command</a:t>
            </a:r>
          </a:p>
          <a:p>
            <a:pPr>
              <a:spcAft>
                <a:spcPts val="1000"/>
              </a:spcAft>
            </a:pPr>
            <a:r>
              <a:rPr sz="1800" b="0">
                <a:solidFill>
                  <a:srgbClr val="161B26"/>
                </a:solidFill>
                <a:latin typeface="Arial"/>
              </a:rPr>
              <a:t>•  EC2 Instances (with SSM Agent)</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EC2 Instances (with SSM Agent)</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EC2 Instances (with SSM Agent)</a:t>
            </a:r>
          </a:p>
          <a:p>
            <a:pPr>
              <a:spcAft>
                <a:spcPts val="1000"/>
              </a:spcAft>
            </a:pPr>
            <a:r>
              <a:rPr sz="1800" b="0">
                <a:solidFill>
                  <a:srgbClr val="161B26"/>
                </a:solidFill>
                <a:latin typeface="Arial"/>
              </a:rPr>
              <a:t>•  Patch Manager</a:t>
            </a:r>
          </a:p>
          <a:p>
            <a:pPr>
              <a:spcAft>
                <a:spcPts val="1000"/>
              </a:spcAft>
            </a:pPr>
            <a:r>
              <a:rPr sz="1800" b="0">
                <a:solidFill>
                  <a:srgbClr val="161B26"/>
                </a:solidFill>
                <a:latin typeface="Arial"/>
              </a:rPr>
              <a:t>•  Default</a:t>
            </a:r>
          </a:p>
          <a:p>
            <a:pPr>
              <a:spcAft>
                <a:spcPts val="1000"/>
              </a:spcAft>
            </a:pPr>
            <a:r>
              <a:rPr sz="1800" b="0">
                <a:solidFill>
                  <a:srgbClr val="161B26"/>
                </a:solidFill>
                <a:latin typeface="Arial"/>
              </a:rPr>
              <a:t>•  Yes</a:t>
            </a:r>
          </a:p>
          <a:p>
            <a:pPr>
              <a:spcAft>
                <a:spcPts val="1000"/>
              </a:spcAft>
            </a:pPr>
            <a:r>
              <a:rPr sz="1800" b="0">
                <a:solidFill>
                  <a:srgbClr val="161B26"/>
                </a:solidFill>
                <a:latin typeface="Arial"/>
              </a:rPr>
              <a:t>•  No</a:t>
            </a:r>
          </a:p>
          <a:p>
            <a:pPr>
              <a:spcAft>
                <a:spcPts val="1000"/>
              </a:spcAft>
            </a:pPr>
            <a:r>
              <a:rPr sz="1800" b="0">
                <a:solidFill>
                  <a:srgbClr val="161B26"/>
                </a:solidFill>
                <a:latin typeface="Arial"/>
              </a:rPr>
              <a:t>•  Patch Baselines</a:t>
            </a:r>
          </a:p>
          <a:p>
            <a:pPr>
              <a:spcAft>
                <a:spcPts val="1000"/>
              </a:spcAft>
            </a:pPr>
            <a:r>
              <a:rPr sz="1800" b="0">
                <a:solidFill>
                  <a:srgbClr val="161B26"/>
                </a:solidFill>
                <a:latin typeface="Arial"/>
              </a:rPr>
              <a:t>•  Patch Baseline ID	Patch Group</a:t>
            </a:r>
          </a:p>
          <a:p>
            <a:pPr>
              <a:spcAft>
                <a:spcPts val="1000"/>
              </a:spcAft>
            </a:pPr>
            <a:r>
              <a:rPr sz="1800" b="0">
                <a:solidFill>
                  <a:srgbClr val="161B26"/>
                </a:solidFill>
                <a:latin typeface="Arial"/>
              </a:rPr>
              <a:t>•  pb-0123456789abcdef0</a:t>
            </a:r>
          </a:p>
          <a:p>
            <a:pPr>
              <a:spcAft>
                <a:spcPts val="1000"/>
              </a:spcAft>
            </a:pPr>
            <a:r>
              <a:rPr sz="1800" b="0">
                <a:solidFill>
                  <a:srgbClr val="161B26"/>
                </a:solidFill>
                <a:latin typeface="Arial"/>
              </a:rPr>
              <a:t>•  Default pb-9876543210abcdef0 Dev</a:t>
            </a:r>
          </a:p>
          <a:p>
            <a:pPr>
              <a:spcAft>
                <a:spcPts val="1000"/>
              </a:spcAft>
            </a:pPr>
            <a:r>
              <a:rPr sz="1800" b="0">
                <a:solidFill>
                  <a:srgbClr val="161B26"/>
                </a:solidFill>
                <a:latin typeface="Arial"/>
              </a:rPr>
              <a:t>•  run Document</a:t>
            </a:r>
          </a:p>
          <a:p>
            <a:pPr>
              <a:spcAft>
                <a:spcPts val="1000"/>
              </a:spcAft>
            </a:pPr>
            <a:r>
              <a:rPr sz="1800" b="0">
                <a:solidFill>
                  <a:srgbClr val="161B26"/>
                </a:solidFill>
                <a:latin typeface="Arial"/>
              </a:rPr>
              <a:t>•  AWS-RunPatchBaseline</a:t>
            </a:r>
          </a:p>
          <a:p>
            <a:pPr>
              <a:spcAft>
                <a:spcPts val="1000"/>
              </a:spcAft>
            </a:pPr>
            <a:r>
              <a:rPr sz="1800" b="0">
                <a:solidFill>
                  <a:srgbClr val="161B26"/>
                </a:solidFill>
                <a:latin typeface="Arial"/>
              </a:rPr>
              <a:t>•  SSM Agent query for Batch Baselines</a:t>
            </a:r>
          </a:p>
          <a:p>
            <a:pPr>
              <a:spcAft>
                <a:spcPts val="1000"/>
              </a:spcAft>
            </a:pPr>
            <a:r>
              <a:rPr sz="1800" b="0">
                <a:solidFill>
                  <a:srgbClr val="161B26"/>
                </a:solidFill>
                <a:latin typeface="Arial"/>
              </a:rPr>
              <a:t>•  pb-9876543210abcdef0</a:t>
            </a:r>
          </a:p>
          <a:p>
            <a:pPr>
              <a:spcAft>
                <a:spcPts val="1000"/>
              </a:spcAft>
            </a:pPr>
            <a:r>
              <a:rPr sz="1800" b="0">
                <a:solidFill>
                  <a:srgbClr val="161B26"/>
                </a:solidFill>
                <a:latin typeface="Arial"/>
              </a:rPr>
              <a:t>•  pb-0123456789abcdef0</a:t>
            </a:r>
          </a:p>
          <a:p>
            <a:pPr>
              <a:spcAft>
                <a:spcPts val="1000"/>
              </a:spcAft>
            </a:pPr>
            <a:r>
              <a:rPr sz="1800" b="0">
                <a:solidFill>
                  <a:srgbClr val="161B26"/>
                </a:solidFill>
                <a:latin typeface="Arial"/>
              </a:rPr>
              <a:t>•  pb-0123456789abcdef0</a:t>
            </a:r>
          </a:p>
          <a:p>
            <a:pPr>
              <a:spcAft>
                <a:spcPts val="1000"/>
              </a:spcAft>
            </a:pPr>
            <a:r>
              <a:rPr sz="1800" b="0">
                <a:solidFill>
                  <a:srgbClr val="161B26"/>
                </a:solidFill>
                <a:latin typeface="Arial"/>
              </a:rPr>
              <a:t>•  AWS Console</a:t>
            </a:r>
          </a:p>
          <a:p>
            <a:pPr>
              <a:spcAft>
                <a:spcPts val="1000"/>
              </a:spcAft>
            </a:pPr>
            <a:r>
              <a:rPr sz="1800" b="0">
                <a:solidFill>
                  <a:srgbClr val="161B26"/>
                </a:solidFill>
                <a:latin typeface="Arial"/>
              </a:rPr>
              <a:t>•  AWS SDK</a:t>
            </a:r>
          </a:p>
          <a:p>
            <a:pPr>
              <a:spcAft>
                <a:spcPts val="1000"/>
              </a:spcAft>
            </a:pPr>
            <a:r>
              <a:rPr sz="1800" b="0">
                <a:solidFill>
                  <a:srgbClr val="161B26"/>
                </a:solidFill>
                <a:latin typeface="Arial"/>
              </a:rPr>
              <a:t>•  Maintenance Windows</a:t>
            </a:r>
          </a:p>
          <a:p>
            <a:pPr>
              <a:spcAft>
                <a:spcPts val="1000"/>
              </a:spcAft>
            </a:pPr>
            <a:r>
              <a:rPr sz="1800" b="0">
                <a:solidFill>
                  <a:srgbClr val="161B26"/>
                </a:solidFill>
                <a:latin typeface="Arial"/>
              </a:rPr>
              <a:t>•  Key</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OS</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Key</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OS</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Patch Group</a:t>
            </a:r>
          </a:p>
          <a:p>
            <a:pPr>
              <a:spcAft>
                <a:spcPts val="1000"/>
              </a:spcAft>
            </a:pPr>
            <a:r>
              <a:rPr sz="1800" b="0">
                <a:solidFill>
                  <a:srgbClr val="161B26"/>
                </a:solidFill>
                <a:latin typeface="Arial"/>
              </a:rPr>
              <a:t>•  Prod</a:t>
            </a:r>
          </a:p>
          <a:p>
            <a:pPr>
              <a:spcAft>
                <a:spcPts val="1000"/>
              </a:spcAft>
            </a:pPr>
            <a:r>
              <a:rPr sz="1800" b="0">
                <a:solidFill>
                  <a:srgbClr val="161B26"/>
                </a:solidFill>
                <a:latin typeface="Arial"/>
              </a:rPr>
              <a:t>•  When using Maintenance Windows, use Rate Control to specify the</a:t>
            </a:r>
          </a:p>
          <a:p>
            <a:pPr>
              <a:spcAft>
                <a:spcPts val="1000"/>
              </a:spcAft>
            </a:pPr>
            <a:r>
              <a:rPr sz="1800" b="0">
                <a:solidFill>
                  <a:srgbClr val="161B26"/>
                </a:solidFill>
                <a:latin typeface="Arial"/>
              </a:rPr>
              <a:t>•  max. number/percentage of targets allowed to run in parallel</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Key</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OS</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Patch Group</a:t>
            </a:r>
          </a:p>
          <a:p>
            <a:pPr>
              <a:spcAft>
                <a:spcPts val="1000"/>
              </a:spcAft>
            </a:pPr>
            <a:r>
              <a:rPr sz="1800" b="0">
                <a:solidFill>
                  <a:srgbClr val="161B26"/>
                </a:solidFill>
                <a:latin typeface="Arial"/>
              </a:rPr>
              <a:t>•  Dev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Maintenance Windows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Defines a schedule for when to perform actions on your instances</a:t>
            </a:r>
          </a:p>
          <a:p>
            <a:pPr>
              <a:spcAft>
                <a:spcPts val="1000"/>
              </a:spcAft>
            </a:pPr>
            <a:r>
              <a:rPr sz="1800" b="0">
                <a:solidFill>
                  <a:srgbClr val="161B26"/>
                </a:solidFill>
                <a:latin typeface="Arial"/>
              </a:rPr>
              <a:t>•  Example: OS patching, updating drivers, installing software, …</a:t>
            </a:r>
          </a:p>
          <a:p>
            <a:pPr>
              <a:spcAft>
                <a:spcPts val="1000"/>
              </a:spcAft>
            </a:pPr>
            <a:r>
              <a:rPr sz="1800" b="0">
                <a:solidFill>
                  <a:srgbClr val="161B26"/>
                </a:solidFill>
                <a:latin typeface="Arial"/>
              </a:rPr>
              <a:t>•  Maintenance Window contains</a:t>
            </a:r>
          </a:p>
          <a:p>
            <a:pPr>
              <a:spcAft>
                <a:spcPts val="1000"/>
              </a:spcAft>
            </a:pPr>
            <a:r>
              <a:rPr sz="1800" b="0">
                <a:solidFill>
                  <a:srgbClr val="161B26"/>
                </a:solidFill>
                <a:latin typeface="Arial"/>
              </a:rPr>
              <a:t>•  Schedule</a:t>
            </a:r>
          </a:p>
          <a:p>
            <a:pPr>
              <a:spcAft>
                <a:spcPts val="1000"/>
              </a:spcAft>
            </a:pPr>
            <a:r>
              <a:rPr sz="1800" b="0">
                <a:solidFill>
                  <a:srgbClr val="161B26"/>
                </a:solidFill>
                <a:latin typeface="Arial"/>
              </a:rPr>
              <a:t>•  Duration</a:t>
            </a:r>
          </a:p>
          <a:p>
            <a:pPr>
              <a:spcAft>
                <a:spcPts val="1000"/>
              </a:spcAft>
            </a:pPr>
            <a:r>
              <a:rPr sz="1800" b="0">
                <a:solidFill>
                  <a:srgbClr val="161B26"/>
                </a:solidFill>
                <a:latin typeface="Arial"/>
              </a:rPr>
              <a:t>•  Set of registered instances</a:t>
            </a:r>
          </a:p>
          <a:p>
            <a:pPr>
              <a:spcAft>
                <a:spcPts val="1000"/>
              </a:spcAft>
            </a:pPr>
            <a:r>
              <a:rPr sz="1800" b="0">
                <a:solidFill>
                  <a:srgbClr val="161B26"/>
                </a:solidFill>
                <a:latin typeface="Arial"/>
              </a:rPr>
              <a:t>•  Set of registered tasks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24114" y="1801368"/>
            <a:ext cx="911329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26_0.png"/>
          <p:cNvPicPr>
            <a:picLocks noChangeAspect="1"/>
          </p:cNvPicPr>
          <p:nvPr/>
        </p:nvPicPr>
        <p:blipFill>
          <a:blip r:embed="rId2"/>
          <a:stretch>
            <a:fillRect/>
          </a:stretch>
        </p:blipFill>
        <p:spPr>
          <a:xfrm>
            <a:off x="1551546" y="1828800"/>
            <a:ext cx="905842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you to start a secure shell on your EC2 and on-premises servers</a:t>
            </a:r>
          </a:p>
          <a:p>
            <a:pPr>
              <a:spcAft>
                <a:spcPts val="1000"/>
              </a:spcAft>
            </a:pPr>
            <a:r>
              <a:rPr sz="1800" b="0">
                <a:solidFill>
                  <a:srgbClr val="161B26"/>
                </a:solidFill>
                <a:latin typeface="Arial"/>
              </a:rPr>
              <a:t>•  Access through AWS Console, AWS CLI, or Session Manager SDK</a:t>
            </a:r>
          </a:p>
          <a:p>
            <a:pPr>
              <a:spcAft>
                <a:spcPts val="1000"/>
              </a:spcAft>
            </a:pPr>
            <a:r>
              <a:rPr sz="1800" b="0">
                <a:solidFill>
                  <a:srgbClr val="161B26"/>
                </a:solidFill>
                <a:latin typeface="Arial"/>
              </a:rPr>
              <a:t>•  Does not need SSH access, bastion hosts, or SSH keys</a:t>
            </a:r>
          </a:p>
          <a:p>
            <a:pPr>
              <a:spcAft>
                <a:spcPts val="1000"/>
              </a:spcAft>
            </a:pPr>
            <a:r>
              <a:rPr sz="1800" b="0">
                <a:solidFill>
                  <a:srgbClr val="161B26"/>
                </a:solidFill>
                <a:latin typeface="Arial"/>
              </a:rPr>
              <a:t>•  Supports Linux, macOS, and Windows</a:t>
            </a:r>
          </a:p>
          <a:p>
            <a:pPr>
              <a:spcAft>
                <a:spcPts val="1000"/>
              </a:spcAft>
            </a:pPr>
            <a:r>
              <a:rPr sz="1800" b="0">
                <a:solidFill>
                  <a:srgbClr val="161B26"/>
                </a:solidFill>
                <a:latin typeface="Arial"/>
              </a:rPr>
              <a:t>•  Log connections to your instances and executed commands</a:t>
            </a:r>
          </a:p>
          <a:p>
            <a:pPr>
              <a:spcAft>
                <a:spcPts val="1000"/>
              </a:spcAft>
            </a:pPr>
            <a:r>
              <a:rPr sz="1800" b="0">
                <a:solidFill>
                  <a:srgbClr val="161B26"/>
                </a:solidFill>
                <a:latin typeface="Arial"/>
              </a:rPr>
              <a:t>•  Session log data can be sent to S3 or CloudWatch Logs</a:t>
            </a:r>
          </a:p>
          <a:p>
            <a:pPr>
              <a:spcAft>
                <a:spcPts val="1000"/>
              </a:spcAft>
            </a:pPr>
            <a:r>
              <a:rPr sz="1800" b="0">
                <a:solidFill>
                  <a:srgbClr val="161B26"/>
                </a:solidFill>
                <a:latin typeface="Arial"/>
              </a:rPr>
              <a:t>•  CloudTrail can intercept startsession events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Execute commands</a:t>
            </a:r>
          </a:p>
          <a:p>
            <a:pPr>
              <a:spcAft>
                <a:spcPts val="1000"/>
              </a:spcAft>
            </a:pPr>
            <a:r>
              <a:rPr sz="1800" b="0">
                <a:solidFill>
                  <a:srgbClr val="161B26"/>
                </a:solidFill>
                <a:latin typeface="Arial"/>
              </a:rPr>
              <a:t>•  Session Manager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35262" y="1801368"/>
            <a:ext cx="749099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28_0.png"/>
          <p:cNvPicPr>
            <a:picLocks noChangeAspect="1"/>
          </p:cNvPicPr>
          <p:nvPr/>
        </p:nvPicPr>
        <p:blipFill>
          <a:blip r:embed="rId2"/>
          <a:stretch>
            <a:fillRect/>
          </a:stretch>
        </p:blipFill>
        <p:spPr>
          <a:xfrm>
            <a:off x="2362694" y="1828800"/>
            <a:ext cx="743613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2079" y="1801368"/>
            <a:ext cx="76773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29_0.png"/>
          <p:cNvPicPr>
            <a:picLocks noChangeAspect="1"/>
          </p:cNvPicPr>
          <p:nvPr/>
        </p:nvPicPr>
        <p:blipFill>
          <a:blip r:embed="rId2"/>
          <a:stretch>
            <a:fillRect/>
          </a:stretch>
        </p:blipFill>
        <p:spPr>
          <a:xfrm>
            <a:off x="2269511" y="1828800"/>
            <a:ext cx="762249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IAM Permissions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SSH vs. SSM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Inbound Rules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Inbound Rules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Session Manager</a:t>
            </a:r>
          </a:p>
          <a:p>
            <a:pPr>
              <a:spcAft>
                <a:spcPts val="1000"/>
              </a:spcAft>
            </a:pPr>
            <a:r>
              <a:rPr sz="1800" b="0">
                <a:solidFill>
                  <a:srgbClr val="161B26"/>
                </a:solidFill>
                <a:latin typeface="Arial"/>
              </a:rPr>
              <a:t>•  AWS Console, AWS CLI,</a:t>
            </a:r>
          </a:p>
          <a:p>
            <a:pPr>
              <a:spcAft>
                <a:spcPts val="1000"/>
              </a:spcAft>
            </a:pPr>
            <a:r>
              <a:rPr sz="1800" b="0">
                <a:solidFill>
                  <a:srgbClr val="161B26"/>
                </a:solidFill>
                <a:latin typeface="Arial"/>
              </a:rPr>
              <a:t>•  or Session Manager SDK</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IAM Instance Profile</a:t>
            </a:r>
          </a:p>
          <a:p>
            <a:pPr>
              <a:spcAft>
                <a:spcPts val="1000"/>
              </a:spcAft>
            </a:pPr>
            <a:r>
              <a:rPr sz="1800" b="0">
                <a:solidFill>
                  <a:srgbClr val="161B26"/>
                </a:solidFill>
                <a:latin typeface="Arial"/>
              </a:rPr>
              <a:t>•  Connect using SSH	            Connect using SSM Session Manager</a:t>
            </a:r>
          </a:p>
          <a:p>
            <a:pPr>
              <a:spcAft>
                <a:spcPts val="1000"/>
              </a:spcAft>
            </a:pPr>
            <a:r>
              <a:rPr sz="1800" b="0">
                <a:solidFill>
                  <a:srgbClr val="161B26"/>
                </a:solidFill>
                <a:latin typeface="Arial"/>
              </a:rPr>
              <a:t>•  AmazonSSMManagedInstanceCore</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session log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8667" y="1801368"/>
            <a:ext cx="97241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31_0.png"/>
          <p:cNvPicPr>
            <a:picLocks noChangeAspect="1"/>
          </p:cNvPicPr>
          <p:nvPr/>
        </p:nvPicPr>
        <p:blipFill>
          <a:blip r:embed="rId2"/>
          <a:stretch>
            <a:fillRect/>
          </a:stretch>
        </p:blipFill>
        <p:spPr>
          <a:xfrm>
            <a:off x="1246099" y="1828800"/>
            <a:ext cx="96693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High Availability &amp; Scalability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and High Availability Section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Load Balancers:</a:t>
            </a:r>
          </a:p>
          <a:p>
            <a:pPr>
              <a:spcAft>
                <a:spcPts val="1000"/>
              </a:spcAft>
            </a:pPr>
            <a:r>
              <a:rPr sz="1800" b="0">
                <a:solidFill>
                  <a:srgbClr val="161B26"/>
                </a:solidFill>
                <a:latin typeface="Arial"/>
              </a:rPr>
              <a:t>•  Troubleshooting</a:t>
            </a:r>
          </a:p>
          <a:p>
            <a:pPr>
              <a:spcAft>
                <a:spcPts val="1000"/>
              </a:spcAft>
            </a:pPr>
            <a:r>
              <a:rPr sz="1800" b="0">
                <a:solidFill>
                  <a:srgbClr val="161B26"/>
                </a:solidFill>
                <a:latin typeface="Arial"/>
              </a:rPr>
              <a:t>•  Advanced options and logging</a:t>
            </a:r>
          </a:p>
          <a:p>
            <a:pPr>
              <a:spcAft>
                <a:spcPts val="1000"/>
              </a:spcAft>
            </a:pPr>
            <a:r>
              <a:rPr sz="1800" b="0">
                <a:solidFill>
                  <a:srgbClr val="161B26"/>
                </a:solidFill>
                <a:latin typeface="Arial"/>
              </a:rPr>
              <a:t>•  CloudWatch integrations</a:t>
            </a:r>
          </a:p>
          <a:p>
            <a:pPr>
              <a:spcAft>
                <a:spcPts val="1000"/>
              </a:spcAft>
            </a:pPr>
            <a:r>
              <a:rPr sz="1800" b="0">
                <a:solidFill>
                  <a:srgbClr val="161B26"/>
                </a:solidFill>
                <a:latin typeface="Arial"/>
              </a:rPr>
              <a:t>•  Auto Scaling</a:t>
            </a:r>
          </a:p>
          <a:p>
            <a:pPr>
              <a:spcAft>
                <a:spcPts val="1000"/>
              </a:spcAft>
            </a:pPr>
            <a:r>
              <a:rPr sz="1800" b="0">
                <a:solidFill>
                  <a:srgbClr val="161B26"/>
                </a:solidFill>
                <a:latin typeface="Arial"/>
              </a:rPr>
              <a:t>•  Troubleshooting</a:t>
            </a:r>
          </a:p>
          <a:p>
            <a:pPr>
              <a:spcAft>
                <a:spcPts val="1000"/>
              </a:spcAft>
            </a:pPr>
            <a:r>
              <a:rPr sz="1800" b="0">
                <a:solidFill>
                  <a:srgbClr val="161B26"/>
                </a:solidFill>
                <a:latin typeface="Arial"/>
              </a:rPr>
              <a:t>•  Advanced options and logging</a:t>
            </a:r>
          </a:p>
          <a:p>
            <a:pPr>
              <a:spcAft>
                <a:spcPts val="1000"/>
              </a:spcAft>
            </a:pPr>
            <a:r>
              <a:rPr sz="1800" b="0">
                <a:solidFill>
                  <a:srgbClr val="161B26"/>
                </a:solidFill>
                <a:latin typeface="Arial"/>
              </a:rPr>
              <a:t>•  CloudWatch integrations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&amp;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Scalability means that an application / system can handle greater loads by adapting.</a:t>
            </a:r>
          </a:p>
          <a:p>
            <a:pPr>
              <a:spcAft>
                <a:spcPts val="1000"/>
              </a:spcAft>
            </a:pPr>
            <a:r>
              <a:rPr sz="2000" b="0">
                <a:solidFill>
                  <a:srgbClr val="161B26"/>
                </a:solidFill>
                <a:latin typeface="Arial"/>
              </a:rPr>
              <a:t>•  There are two kinds of scalability:</a:t>
            </a:r>
          </a:p>
          <a:p>
            <a:pPr>
              <a:spcAft>
                <a:spcPts val="1000"/>
              </a:spcAft>
            </a:pPr>
            <a:r>
              <a:rPr sz="2000" b="0">
                <a:solidFill>
                  <a:srgbClr val="161B26"/>
                </a:solidFill>
                <a:latin typeface="Arial"/>
              </a:rPr>
              <a:t>•  Vertical Scalability</a:t>
            </a:r>
          </a:p>
          <a:p>
            <a:pPr>
              <a:spcAft>
                <a:spcPts val="1000"/>
              </a:spcAft>
            </a:pPr>
            <a:r>
              <a:rPr sz="2000" b="0">
                <a:solidFill>
                  <a:srgbClr val="161B26"/>
                </a:solidFill>
                <a:latin typeface="Arial"/>
              </a:rPr>
              <a:t>•  Horizontal Scalability (= elasticity)</a:t>
            </a:r>
          </a:p>
          <a:p>
            <a:pPr>
              <a:spcAft>
                <a:spcPts val="1000"/>
              </a:spcAft>
            </a:pPr>
            <a:r>
              <a:rPr sz="2000" b="0">
                <a:solidFill>
                  <a:srgbClr val="161B26"/>
                </a:solidFill>
                <a:latin typeface="Arial"/>
              </a:rPr>
              <a:t>•  Scalability is linked but different to High Availability</a:t>
            </a:r>
          </a:p>
          <a:p>
            <a:pPr>
              <a:spcAft>
                <a:spcPts val="1000"/>
              </a:spcAft>
            </a:pPr>
            <a:r>
              <a:rPr sz="2000" b="0">
                <a:solidFill>
                  <a:srgbClr val="161B26"/>
                </a:solidFill>
                <a:latin typeface="Arial"/>
              </a:rPr>
              <a:t>•  Let’s deep dive into the distinction, using a call center as an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Vertical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Vertically scalability means increasing the size of the instance</a:t>
            </a:r>
          </a:p>
          <a:p>
            <a:pPr>
              <a:spcAft>
                <a:spcPts val="1000"/>
              </a:spcAft>
            </a:pPr>
            <a:r>
              <a:rPr sz="1800" b="0">
                <a:solidFill>
                  <a:srgbClr val="161B26"/>
                </a:solidFill>
                <a:latin typeface="Arial"/>
              </a:rPr>
              <a:t>•  For example, your application runs on a t2.micro</a:t>
            </a:r>
          </a:p>
          <a:p>
            <a:pPr>
              <a:spcAft>
                <a:spcPts val="1000"/>
              </a:spcAft>
            </a:pPr>
            <a:r>
              <a:rPr sz="1800" b="0">
                <a:solidFill>
                  <a:srgbClr val="161B26"/>
                </a:solidFill>
                <a:latin typeface="Arial"/>
              </a:rPr>
              <a:t>•  Scaling that application vertically means running it on a t2.large</a:t>
            </a:r>
          </a:p>
          <a:p>
            <a:pPr>
              <a:spcAft>
                <a:spcPts val="1000"/>
              </a:spcAft>
            </a:pPr>
            <a:r>
              <a:rPr sz="1800" b="0">
                <a:solidFill>
                  <a:srgbClr val="161B26"/>
                </a:solidFill>
                <a:latin typeface="Arial"/>
              </a:rPr>
              <a:t>•  Vertical scalability is very common for non distributed systems, such as a database.</a:t>
            </a:r>
          </a:p>
          <a:p>
            <a:pPr>
              <a:spcAft>
                <a:spcPts val="1000"/>
              </a:spcAft>
            </a:pPr>
            <a:r>
              <a:rPr sz="1800" b="0">
                <a:solidFill>
                  <a:srgbClr val="161B26"/>
                </a:solidFill>
                <a:latin typeface="Arial"/>
              </a:rPr>
              <a:t>•  RDS, ElastiCache are services that can scale vertically.</a:t>
            </a:r>
          </a:p>
          <a:p>
            <a:pPr>
              <a:spcAft>
                <a:spcPts val="1000"/>
              </a:spcAft>
            </a:pPr>
            <a:r>
              <a:rPr sz="1800" b="0">
                <a:solidFill>
                  <a:srgbClr val="161B26"/>
                </a:solidFill>
                <a:latin typeface="Arial"/>
              </a:rPr>
              <a:t>•  There’s usually a limit to how much you can vertically scale (hardware limit)</a:t>
            </a:r>
          </a:p>
          <a:p>
            <a:pPr>
              <a:spcAft>
                <a:spcPts val="1000"/>
              </a:spcAft>
            </a:pPr>
            <a:r>
              <a:rPr sz="1800" b="0">
                <a:solidFill>
                  <a:srgbClr val="161B26"/>
                </a:solidFill>
                <a:latin typeface="Arial"/>
              </a:rPr>
              <a:t>•  junior operator</a:t>
            </a:r>
          </a:p>
          <a:p>
            <a:pPr>
              <a:spcAft>
                <a:spcPts val="1000"/>
              </a:spcAft>
            </a:pPr>
            <a:r>
              <a:rPr sz="1800" b="0">
                <a:solidFill>
                  <a:srgbClr val="161B26"/>
                </a:solidFill>
                <a:latin typeface="Arial"/>
              </a:rPr>
              <a:t>•  senior operator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Horizontal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Horizontal Scalability means increasing the number of instances / systems for your application</a:t>
            </a:r>
          </a:p>
          <a:p>
            <a:pPr>
              <a:spcAft>
                <a:spcPts val="1000"/>
              </a:spcAft>
            </a:pPr>
            <a:r>
              <a:rPr sz="1800" b="0">
                <a:solidFill>
                  <a:srgbClr val="161B26"/>
                </a:solidFill>
                <a:latin typeface="Arial"/>
              </a:rPr>
              <a:t>•  Horizontal scaling implies distributed systems.</a:t>
            </a:r>
          </a:p>
          <a:p>
            <a:pPr>
              <a:spcAft>
                <a:spcPts val="1000"/>
              </a:spcAft>
            </a:pPr>
            <a:r>
              <a:rPr sz="1800" b="0">
                <a:solidFill>
                  <a:srgbClr val="161B26"/>
                </a:solidFill>
                <a:latin typeface="Arial"/>
              </a:rPr>
              <a:t>•  This is very common for web applications / modern applications</a:t>
            </a:r>
          </a:p>
          <a:p>
            <a:pPr>
              <a:spcAft>
                <a:spcPts val="1000"/>
              </a:spcAft>
            </a:pPr>
            <a:r>
              <a:rPr sz="1800" b="0">
                <a:solidFill>
                  <a:srgbClr val="161B26"/>
                </a:solidFill>
                <a:latin typeface="Arial"/>
              </a:rPr>
              <a:t>•  It’s easy to horizontally scale thanks the cloud offerings such as Amazon EC2</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second building in San Francisco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first building in New York</a:t>
            </a:r>
          </a:p>
          <a:p>
            <a:pPr>
              <a:spcAft>
                <a:spcPts val="1000"/>
              </a:spcAft>
            </a:pPr>
            <a:r>
              <a:rPr sz="1800" b="0">
                <a:solidFill>
                  <a:srgbClr val="161B26"/>
                </a:solidFill>
                <a:latin typeface="Arial"/>
              </a:rPr>
              <a:t>•  High Availability</a:t>
            </a:r>
          </a:p>
          <a:p>
            <a:pPr>
              <a:spcAft>
                <a:spcPts val="1000"/>
              </a:spcAft>
            </a:pPr>
            <a:r>
              <a:rPr sz="1800" b="0">
                <a:solidFill>
                  <a:srgbClr val="161B26"/>
                </a:solidFill>
                <a:latin typeface="Arial"/>
              </a:rPr>
              <a:t>•  High Availability usually goes hand in hand with horizontal scaling</a:t>
            </a:r>
          </a:p>
          <a:p>
            <a:pPr>
              <a:spcAft>
                <a:spcPts val="1000"/>
              </a:spcAft>
            </a:pPr>
            <a:r>
              <a:rPr sz="1800" b="0">
                <a:solidFill>
                  <a:srgbClr val="161B26"/>
                </a:solidFill>
                <a:latin typeface="Arial"/>
              </a:rPr>
              <a:t>•  High availability means running your</a:t>
            </a:r>
          </a:p>
          <a:p>
            <a:pPr>
              <a:spcAft>
                <a:spcPts val="1000"/>
              </a:spcAft>
            </a:pPr>
            <a:r>
              <a:rPr sz="1800" b="0">
                <a:solidFill>
                  <a:srgbClr val="161B26"/>
                </a:solidFill>
                <a:latin typeface="Arial"/>
              </a:rPr>
              <a:t>•  application / system in at least 2 data centers (== Availability Zones)</a:t>
            </a:r>
          </a:p>
          <a:p>
            <a:pPr>
              <a:spcAft>
                <a:spcPts val="1000"/>
              </a:spcAft>
            </a:pPr>
            <a:r>
              <a:rPr sz="1800" b="0">
                <a:solidFill>
                  <a:srgbClr val="161B26"/>
                </a:solidFill>
                <a:latin typeface="Arial"/>
              </a:rPr>
              <a:t>•  The goal of high availability is to survive a data center loss</a:t>
            </a:r>
          </a:p>
          <a:p>
            <a:pPr>
              <a:spcAft>
                <a:spcPts val="1000"/>
              </a:spcAft>
            </a:pPr>
            <a:r>
              <a:rPr sz="1800" b="0">
                <a:solidFill>
                  <a:srgbClr val="161B26"/>
                </a:solidFill>
                <a:latin typeface="Arial"/>
              </a:rPr>
              <a:t>•  The high availability can be passive (for RDS Multi AZ for example)</a:t>
            </a:r>
          </a:p>
          <a:p>
            <a:pPr>
              <a:spcAft>
                <a:spcPts val="1000"/>
              </a:spcAft>
            </a:pPr>
            <a:r>
              <a:rPr sz="1800" b="0">
                <a:solidFill>
                  <a:srgbClr val="161B26"/>
                </a:solidFill>
                <a:latin typeface="Arial"/>
              </a:rPr>
              <a:t>•  The high availability can be active (for horizontal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High Availability &amp; Scalability For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Vertical Scaling: Increase instance size (= scale up / down)</a:t>
            </a:r>
          </a:p>
          <a:p>
            <a:pPr>
              <a:spcAft>
                <a:spcPts val="1000"/>
              </a:spcAft>
            </a:pPr>
            <a:r>
              <a:rPr sz="1800" b="0">
                <a:solidFill>
                  <a:srgbClr val="161B26"/>
                </a:solidFill>
                <a:latin typeface="Arial"/>
              </a:rPr>
              <a:t>•  From: t2.nano - 0.5G of RAM, 1 vCPU</a:t>
            </a:r>
          </a:p>
          <a:p>
            <a:pPr>
              <a:spcAft>
                <a:spcPts val="1000"/>
              </a:spcAft>
            </a:pPr>
            <a:r>
              <a:rPr sz="1800" b="0">
                <a:solidFill>
                  <a:srgbClr val="161B26"/>
                </a:solidFill>
                <a:latin typeface="Arial"/>
              </a:rPr>
              <a:t>•  To: u-12tb1.metal – 12.3 TB of RAM, 448 vCPUs</a:t>
            </a:r>
          </a:p>
          <a:p>
            <a:pPr>
              <a:spcAft>
                <a:spcPts val="1000"/>
              </a:spcAft>
            </a:pPr>
            <a:r>
              <a:rPr sz="1800" b="0">
                <a:solidFill>
                  <a:srgbClr val="161B26"/>
                </a:solidFill>
                <a:latin typeface="Arial"/>
              </a:rPr>
              <a:t>•  Horizontal Scaling: Increase number of instances (= scale out / in)</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High Availability: Run instances for the same application across multi-AZ</a:t>
            </a:r>
          </a:p>
          <a:p>
            <a:pPr>
              <a:spcAft>
                <a:spcPts val="1000"/>
              </a:spcAft>
            </a:pPr>
            <a:r>
              <a:rPr sz="1800" b="0">
                <a:solidFill>
                  <a:srgbClr val="161B26"/>
                </a:solidFill>
                <a:latin typeface="Arial"/>
              </a:rPr>
              <a:t>•  Auto Scaling Group multi-AZ</a:t>
            </a:r>
          </a:p>
          <a:p>
            <a:pPr>
              <a:spcAft>
                <a:spcPts val="1000"/>
              </a:spcAft>
            </a:pPr>
            <a:r>
              <a:rPr sz="1800" b="0">
                <a:solidFill>
                  <a:srgbClr val="161B26"/>
                </a:solidFill>
                <a:latin typeface="Arial"/>
              </a:rPr>
              <a:t>•  Load Balancer multi-AZ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Elastic Load Balancer</a:t>
            </a:r>
          </a:p>
          <a:p>
            <a:pPr>
              <a:spcAft>
                <a:spcPts val="1000"/>
              </a:spcAft>
            </a:pPr>
            <a:r>
              <a:rPr sz="2000" b="0">
                <a:solidFill>
                  <a:srgbClr val="161B26"/>
                </a:solidFill>
                <a:latin typeface="Arial"/>
              </a:rPr>
              <a:t>•  EC2 Instance</a:t>
            </a:r>
          </a:p>
          <a:p>
            <a:pPr>
              <a:spcAft>
                <a:spcPts val="1000"/>
              </a:spcAft>
            </a:pPr>
            <a:r>
              <a:rPr sz="2000" b="0">
                <a:solidFill>
                  <a:srgbClr val="161B26"/>
                </a:solidFill>
                <a:latin typeface="Arial"/>
              </a:rPr>
              <a:t>•  EC2 Instance</a:t>
            </a:r>
          </a:p>
          <a:p>
            <a:pPr>
              <a:spcAft>
                <a:spcPts val="1000"/>
              </a:spcAft>
            </a:pPr>
            <a:r>
              <a:rPr sz="2000" b="0">
                <a:solidFill>
                  <a:srgbClr val="161B26"/>
                </a:solidFill>
                <a:latin typeface="Arial"/>
              </a:rPr>
              <a:t>•  EC2 Instance</a:t>
            </a:r>
          </a:p>
          <a:p>
            <a:pPr>
              <a:spcAft>
                <a:spcPts val="1000"/>
              </a:spcAft>
            </a:pPr>
            <a:r>
              <a:rPr sz="2000" b="0">
                <a:solidFill>
                  <a:srgbClr val="161B26"/>
                </a:solidFill>
                <a:latin typeface="Arial"/>
              </a:rPr>
              <a:t>•  Load Balances are servers that forward traffic to multiple servers (e.g., EC2 instances) downstream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use a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Spread load across multiple downstream instances</a:t>
            </a:r>
          </a:p>
          <a:p>
            <a:pPr>
              <a:spcAft>
                <a:spcPts val="1000"/>
              </a:spcAft>
            </a:pPr>
            <a:r>
              <a:rPr sz="1800" b="0">
                <a:solidFill>
                  <a:srgbClr val="161B26"/>
                </a:solidFill>
                <a:latin typeface="Arial"/>
              </a:rPr>
              <a:t>•  Expose a single point of access (DNS) to your application</a:t>
            </a:r>
          </a:p>
          <a:p>
            <a:pPr>
              <a:spcAft>
                <a:spcPts val="1000"/>
              </a:spcAft>
            </a:pPr>
            <a:r>
              <a:rPr sz="1800" b="0">
                <a:solidFill>
                  <a:srgbClr val="161B26"/>
                </a:solidFill>
                <a:latin typeface="Arial"/>
              </a:rPr>
              <a:t>•  Seamlessly handle failures of downstream instances</a:t>
            </a:r>
          </a:p>
          <a:p>
            <a:pPr>
              <a:spcAft>
                <a:spcPts val="1000"/>
              </a:spcAft>
            </a:pPr>
            <a:r>
              <a:rPr sz="1800" b="0">
                <a:solidFill>
                  <a:srgbClr val="161B26"/>
                </a:solidFill>
                <a:latin typeface="Arial"/>
              </a:rPr>
              <a:t>•  Do regular health checks to your instances</a:t>
            </a:r>
          </a:p>
          <a:p>
            <a:pPr>
              <a:spcAft>
                <a:spcPts val="1000"/>
              </a:spcAft>
            </a:pPr>
            <a:r>
              <a:rPr sz="1800" b="0">
                <a:solidFill>
                  <a:srgbClr val="161B26"/>
                </a:solidFill>
                <a:latin typeface="Arial"/>
              </a:rPr>
              <a:t>•  Provide SSL termination (HTTPS) for your websites</a:t>
            </a:r>
          </a:p>
          <a:p>
            <a:pPr>
              <a:spcAft>
                <a:spcPts val="1000"/>
              </a:spcAft>
            </a:pPr>
            <a:r>
              <a:rPr sz="1800" b="0">
                <a:solidFill>
                  <a:srgbClr val="161B26"/>
                </a:solidFill>
                <a:latin typeface="Arial"/>
              </a:rPr>
              <a:t>•  Enforce stickiness with cookies</a:t>
            </a:r>
          </a:p>
          <a:p>
            <a:pPr>
              <a:spcAft>
                <a:spcPts val="1000"/>
              </a:spcAft>
            </a:pPr>
            <a:r>
              <a:rPr sz="1800" b="0">
                <a:solidFill>
                  <a:srgbClr val="161B26"/>
                </a:solidFill>
                <a:latin typeface="Arial"/>
              </a:rPr>
              <a:t>•  High availability across zones</a:t>
            </a:r>
          </a:p>
          <a:p>
            <a:pPr>
              <a:spcAft>
                <a:spcPts val="1000"/>
              </a:spcAft>
            </a:pPr>
            <a:r>
              <a:rPr sz="1800" b="0">
                <a:solidFill>
                  <a:srgbClr val="161B26"/>
                </a:solidFill>
                <a:latin typeface="Arial"/>
              </a:rPr>
              <a:t>•  Separate public traffic from private traffic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use an Elastic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Elastic Load Balancer is a managed load balancer</a:t>
            </a:r>
          </a:p>
          <a:p>
            <a:pPr>
              <a:spcAft>
                <a:spcPts val="1000"/>
              </a:spcAft>
            </a:pPr>
            <a:r>
              <a:rPr sz="1800" b="0">
                <a:solidFill>
                  <a:srgbClr val="161B26"/>
                </a:solidFill>
                <a:latin typeface="Arial"/>
              </a:rPr>
              <a:t>•  AWS guarantees that it will be working</a:t>
            </a:r>
          </a:p>
          <a:p>
            <a:pPr>
              <a:spcAft>
                <a:spcPts val="1000"/>
              </a:spcAft>
            </a:pPr>
            <a:r>
              <a:rPr sz="1800" b="0">
                <a:solidFill>
                  <a:srgbClr val="161B26"/>
                </a:solidFill>
                <a:latin typeface="Arial"/>
              </a:rPr>
              <a:t>•  AWS takes care of upgrades, maintenance, high availability</a:t>
            </a:r>
          </a:p>
          <a:p>
            <a:pPr>
              <a:spcAft>
                <a:spcPts val="1000"/>
              </a:spcAft>
            </a:pPr>
            <a:r>
              <a:rPr sz="1800" b="0">
                <a:solidFill>
                  <a:srgbClr val="161B26"/>
                </a:solidFill>
                <a:latin typeface="Arial"/>
              </a:rPr>
              <a:t>•  AWS provides only a few configuration knobs</a:t>
            </a:r>
          </a:p>
          <a:p>
            <a:pPr>
              <a:spcAft>
                <a:spcPts val="1000"/>
              </a:spcAft>
            </a:pPr>
            <a:r>
              <a:rPr sz="1800" b="0">
                <a:solidFill>
                  <a:srgbClr val="161B26"/>
                </a:solidFill>
                <a:latin typeface="Arial"/>
              </a:rPr>
              <a:t>•  It costs less to setup your own load balancer but it will be a lot more effort on your end</a:t>
            </a:r>
          </a:p>
          <a:p>
            <a:pPr>
              <a:spcAft>
                <a:spcPts val="1000"/>
              </a:spcAft>
            </a:pPr>
            <a:r>
              <a:rPr sz="1800" b="0">
                <a:solidFill>
                  <a:srgbClr val="161B26"/>
                </a:solidFill>
                <a:latin typeface="Arial"/>
              </a:rPr>
              <a:t>•  It is integrated with many AWS offerings / services</a:t>
            </a:r>
          </a:p>
          <a:p>
            <a:pPr>
              <a:spcAft>
                <a:spcPts val="1000"/>
              </a:spcAft>
            </a:pPr>
            <a:r>
              <a:rPr sz="1800" b="0">
                <a:solidFill>
                  <a:srgbClr val="161B26"/>
                </a:solidFill>
                <a:latin typeface="Arial"/>
              </a:rPr>
              <a:t>•  EC2, EC2 Auto Scaling Groups, Amazon ECS</a:t>
            </a:r>
          </a:p>
          <a:p>
            <a:pPr>
              <a:spcAft>
                <a:spcPts val="1000"/>
              </a:spcAft>
            </a:pPr>
            <a:r>
              <a:rPr sz="1800" b="0">
                <a:solidFill>
                  <a:srgbClr val="161B26"/>
                </a:solidFill>
                <a:latin typeface="Arial"/>
              </a:rPr>
              <a:t>•  AWS Certificate Manager (ACM), CloudWatch</a:t>
            </a:r>
          </a:p>
          <a:p>
            <a:pPr>
              <a:spcAft>
                <a:spcPts val="1000"/>
              </a:spcAft>
            </a:pPr>
            <a:r>
              <a:rPr sz="1800" b="0">
                <a:solidFill>
                  <a:srgbClr val="161B26"/>
                </a:solidFill>
                <a:latin typeface="Arial"/>
              </a:rPr>
              <a:t>•  Route 53, AWS WAF, AWS Global Accelerator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Health Checks are crucial for Load Balancers</a:t>
            </a:r>
          </a:p>
          <a:p>
            <a:pPr>
              <a:spcAft>
                <a:spcPts val="1000"/>
              </a:spcAft>
            </a:pPr>
            <a:r>
              <a:rPr sz="1800" b="0">
                <a:solidFill>
                  <a:srgbClr val="161B26"/>
                </a:solidFill>
                <a:latin typeface="Arial"/>
              </a:rPr>
              <a:t>•  They enable the load balancer to know if instances it forwards traffic to are available to reply to requests</a:t>
            </a:r>
          </a:p>
          <a:p>
            <a:pPr>
              <a:spcAft>
                <a:spcPts val="1000"/>
              </a:spcAft>
            </a:pPr>
            <a:r>
              <a:rPr sz="1800" b="0">
                <a:solidFill>
                  <a:srgbClr val="161B26"/>
                </a:solidFill>
                <a:latin typeface="Arial"/>
              </a:rPr>
              <a:t>•  The health check is done on a port and a route (/health is common)</a:t>
            </a:r>
          </a:p>
          <a:p>
            <a:pPr>
              <a:spcAft>
                <a:spcPts val="1000"/>
              </a:spcAft>
            </a:pPr>
            <a:r>
              <a:rPr sz="1800" b="0">
                <a:solidFill>
                  <a:srgbClr val="161B26"/>
                </a:solidFill>
                <a:latin typeface="Arial"/>
              </a:rPr>
              <a:t>•  If the response is not 200 (OK), then the instance is unhealthy</a:t>
            </a:r>
          </a:p>
          <a:p>
            <a:pPr>
              <a:spcAft>
                <a:spcPts val="1000"/>
              </a:spcAft>
            </a:pPr>
            <a:r>
              <a:rPr sz="1800" b="0">
                <a:solidFill>
                  <a:srgbClr val="161B26"/>
                </a:solidFill>
                <a:latin typeface="Arial"/>
              </a:rPr>
              <a:t>•  Elastic Load Balancer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Health Checks</a:t>
            </a:r>
          </a:p>
          <a:p>
            <a:pPr>
              <a:spcAft>
                <a:spcPts val="1000"/>
              </a:spcAft>
            </a:pPr>
            <a:r>
              <a:rPr sz="1800" b="0">
                <a:solidFill>
                  <a:srgbClr val="161B26"/>
                </a:solidFill>
                <a:latin typeface="Arial"/>
              </a:rPr>
              <a:t>•  Protocol: HTTP Port: 4567 Endpoint: /health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load	balancer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has 4 kinds of managed Load Balancers</a:t>
            </a:r>
          </a:p>
          <a:p>
            <a:pPr>
              <a:spcAft>
                <a:spcPts val="1000"/>
              </a:spcAft>
            </a:pPr>
            <a:r>
              <a:rPr sz="1800" b="0">
                <a:solidFill>
                  <a:srgbClr val="161B26"/>
                </a:solidFill>
                <a:latin typeface="Arial"/>
              </a:rPr>
              <a:t>•  Classic Load Balancers (v1 - old generation) - 2009 - CLB</a:t>
            </a:r>
          </a:p>
          <a:p>
            <a:pPr>
              <a:spcAft>
                <a:spcPts val="1000"/>
              </a:spcAft>
            </a:pPr>
            <a:r>
              <a:rPr sz="1800" b="0">
                <a:solidFill>
                  <a:srgbClr val="161B26"/>
                </a:solidFill>
                <a:latin typeface="Arial"/>
              </a:rPr>
              <a:t>•  HTTP, HTTPS,TCP, SSL (secure TCP)</a:t>
            </a:r>
          </a:p>
          <a:p>
            <a:pPr>
              <a:spcAft>
                <a:spcPts val="1000"/>
              </a:spcAft>
            </a:pPr>
            <a:r>
              <a:rPr sz="1800" b="0">
                <a:solidFill>
                  <a:srgbClr val="161B26"/>
                </a:solidFill>
                <a:latin typeface="Arial"/>
              </a:rPr>
              <a:t>•  Application Load Balancer v2 - new generation) - 2016 - ALB</a:t>
            </a:r>
          </a:p>
          <a:p>
            <a:pPr>
              <a:spcAft>
                <a:spcPts val="1000"/>
              </a:spcAft>
            </a:pPr>
            <a:r>
              <a:rPr sz="1800" b="0">
                <a:solidFill>
                  <a:srgbClr val="161B26"/>
                </a:solidFill>
                <a:latin typeface="Arial"/>
              </a:rPr>
              <a:t>•  HTTP, HTTPS, WebSocket</a:t>
            </a:r>
          </a:p>
          <a:p>
            <a:pPr>
              <a:spcAft>
                <a:spcPts val="1000"/>
              </a:spcAft>
            </a:pPr>
            <a:r>
              <a:rPr sz="1800" b="0">
                <a:solidFill>
                  <a:srgbClr val="161B26"/>
                </a:solidFill>
                <a:latin typeface="Arial"/>
              </a:rPr>
              <a:t>•  Network Load Balancer (v2 - new generation) - 2017 - NLB</a:t>
            </a:r>
          </a:p>
          <a:p>
            <a:pPr>
              <a:spcAft>
                <a:spcPts val="1000"/>
              </a:spcAft>
            </a:pPr>
            <a:r>
              <a:rPr sz="1800" b="0">
                <a:solidFill>
                  <a:srgbClr val="161B26"/>
                </a:solidFill>
                <a:latin typeface="Arial"/>
              </a:rPr>
              <a:t>•  TCP, TLS (secure TCP), UDP</a:t>
            </a:r>
          </a:p>
          <a:p>
            <a:pPr>
              <a:spcAft>
                <a:spcPts val="1000"/>
              </a:spcAft>
            </a:pPr>
            <a:r>
              <a:rPr sz="1800" b="0">
                <a:solidFill>
                  <a:srgbClr val="161B26"/>
                </a:solidFill>
                <a:latin typeface="Arial"/>
              </a:rPr>
              <a:t>•  Gateway Load Balancer - 2020 - GWLB</a:t>
            </a:r>
          </a:p>
          <a:p>
            <a:pPr>
              <a:spcAft>
                <a:spcPts val="1000"/>
              </a:spcAft>
            </a:pPr>
            <a:r>
              <a:rPr sz="1800" b="0">
                <a:solidFill>
                  <a:srgbClr val="161B26"/>
                </a:solidFill>
                <a:latin typeface="Arial"/>
              </a:rPr>
              <a:t>•  Operates at layer 3 (Network layer) - IP Protocol</a:t>
            </a:r>
          </a:p>
          <a:p>
            <a:pPr>
              <a:spcAft>
                <a:spcPts val="1000"/>
              </a:spcAft>
            </a:pPr>
            <a:r>
              <a:rPr sz="1800" b="0">
                <a:solidFill>
                  <a:srgbClr val="161B26"/>
                </a:solidFill>
                <a:latin typeface="Arial"/>
              </a:rPr>
              <a:t>•  Overall, it is recommended to use the newer generation load balancers as they provide more features</a:t>
            </a:r>
          </a:p>
          <a:p>
            <a:pPr>
              <a:spcAft>
                <a:spcPts val="1000"/>
              </a:spcAft>
            </a:pPr>
            <a:r>
              <a:rPr sz="1800" b="0">
                <a:solidFill>
                  <a:srgbClr val="161B26"/>
                </a:solidFill>
                <a:latin typeface="Arial"/>
              </a:rPr>
              <a:t>•  Some load balancers can be setup as internal (private) or external (public) ELB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load	balancer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17755" y="1801368"/>
            <a:ext cx="73260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44_0.png"/>
          <p:cNvPicPr>
            <a:picLocks noChangeAspect="1"/>
          </p:cNvPicPr>
          <p:nvPr/>
        </p:nvPicPr>
        <p:blipFill>
          <a:blip r:embed="rId2"/>
          <a:stretch>
            <a:fillRect/>
          </a:stretch>
        </p:blipFill>
        <p:spPr>
          <a:xfrm>
            <a:off x="2445187" y="1828800"/>
            <a:ext cx="727114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250522"/>
            <a:ext cx="10479024" cy="127135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45_0.jpg"/>
          <p:cNvPicPr>
            <a:picLocks noChangeAspect="1"/>
          </p:cNvPicPr>
          <p:nvPr/>
        </p:nvPicPr>
        <p:blipFill>
          <a:blip r:embed="rId2"/>
          <a:stretch>
            <a:fillRect/>
          </a:stretch>
        </p:blipFill>
        <p:spPr>
          <a:xfrm>
            <a:off x="868680" y="3277954"/>
            <a:ext cx="10424160" cy="121649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 / HTTP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Classic Load Balancers (v1)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CLB</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listener</a:t>
            </a:r>
          </a:p>
          <a:p>
            <a:pPr>
              <a:spcAft>
                <a:spcPts val="1000"/>
              </a:spcAft>
            </a:pPr>
            <a:r>
              <a:rPr sz="1800" b="0">
                <a:solidFill>
                  <a:srgbClr val="161B26"/>
                </a:solidFill>
                <a:latin typeface="Arial"/>
              </a:rPr>
              <a:t>•  internal</a:t>
            </a:r>
          </a:p>
          <a:p>
            <a:pPr>
              <a:spcAft>
                <a:spcPts val="1000"/>
              </a:spcAft>
            </a:pPr>
            <a:r>
              <a:rPr sz="1800" b="0">
                <a:solidFill>
                  <a:srgbClr val="161B26"/>
                </a:solidFill>
                <a:latin typeface="Arial"/>
              </a:rPr>
              <a:t>•  Supports TCP (Layer 4), HTTP &amp; HTTPS (Layer 7)</a:t>
            </a:r>
          </a:p>
          <a:p>
            <a:pPr>
              <a:spcAft>
                <a:spcPts val="1000"/>
              </a:spcAft>
            </a:pPr>
            <a:r>
              <a:rPr sz="1800" b="0">
                <a:solidFill>
                  <a:srgbClr val="161B26"/>
                </a:solidFill>
                <a:latin typeface="Arial"/>
              </a:rPr>
              <a:t>•  Health checks are TCP or HTTP based</a:t>
            </a:r>
          </a:p>
          <a:p>
            <a:pPr>
              <a:spcAft>
                <a:spcPts val="1000"/>
              </a:spcAft>
            </a:pPr>
            <a:r>
              <a:rPr sz="1800" b="0">
                <a:solidFill>
                  <a:srgbClr val="161B26"/>
                </a:solidFill>
                <a:latin typeface="Arial"/>
              </a:rPr>
              <a:t>•  Fixed hostname XXX.region.elb.amazonaws.com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Application Load Balancer (v2)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Application load balancers is Layer 7 (HTTP)</a:t>
            </a:r>
          </a:p>
          <a:p>
            <a:pPr>
              <a:spcAft>
                <a:spcPts val="1000"/>
              </a:spcAft>
            </a:pPr>
            <a:r>
              <a:rPr sz="2000" b="0">
                <a:solidFill>
                  <a:srgbClr val="161B26"/>
                </a:solidFill>
                <a:latin typeface="Arial"/>
              </a:rPr>
              <a:t>•  Load balancing to multiple HTTP applications across machines (target groups)</a:t>
            </a:r>
          </a:p>
          <a:p>
            <a:pPr>
              <a:spcAft>
                <a:spcPts val="1000"/>
              </a:spcAft>
            </a:pPr>
            <a:r>
              <a:rPr sz="2000" b="0">
                <a:solidFill>
                  <a:srgbClr val="161B26"/>
                </a:solidFill>
                <a:latin typeface="Arial"/>
              </a:rPr>
              <a:t>•  Load balancing to multiple applications on the same machine (ex: containers)</a:t>
            </a:r>
          </a:p>
          <a:p>
            <a:pPr>
              <a:spcAft>
                <a:spcPts val="1000"/>
              </a:spcAft>
            </a:pPr>
            <a:r>
              <a:rPr sz="2000" b="0">
                <a:solidFill>
                  <a:srgbClr val="161B26"/>
                </a:solidFill>
                <a:latin typeface="Arial"/>
              </a:rPr>
              <a:t>•  Support for HTTP/2 and WebSocket</a:t>
            </a:r>
          </a:p>
          <a:p>
            <a:pPr>
              <a:spcAft>
                <a:spcPts val="1000"/>
              </a:spcAft>
            </a:pPr>
            <a:r>
              <a:rPr sz="2000" b="0">
                <a:solidFill>
                  <a:srgbClr val="161B26"/>
                </a:solidFill>
                <a:latin typeface="Arial"/>
              </a:rPr>
              <a:t>•  Support redirects (from HTTP to HTTPS for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Application Load Balancer (v2)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Routing tables to different target groups:</a:t>
            </a:r>
          </a:p>
          <a:p>
            <a:pPr>
              <a:spcAft>
                <a:spcPts val="1000"/>
              </a:spcAft>
            </a:pPr>
            <a:r>
              <a:rPr sz="1800" b="0">
                <a:solidFill>
                  <a:srgbClr val="161B26"/>
                </a:solidFill>
                <a:latin typeface="Arial"/>
              </a:rPr>
              <a:t>•  Routing based on path in URL	(example.com/users &amp; example.com/posts)</a:t>
            </a:r>
          </a:p>
          <a:p>
            <a:pPr>
              <a:spcAft>
                <a:spcPts val="1000"/>
              </a:spcAft>
            </a:pPr>
            <a:r>
              <a:rPr sz="1800" b="0">
                <a:solidFill>
                  <a:srgbClr val="161B26"/>
                </a:solidFill>
                <a:latin typeface="Arial"/>
              </a:rPr>
              <a:t>•  Routing based on hostname in URL	( &amp; other.example.com)</a:t>
            </a:r>
          </a:p>
          <a:p>
            <a:pPr>
              <a:spcAft>
                <a:spcPts val="1000"/>
              </a:spcAft>
            </a:pPr>
            <a:r>
              <a:rPr sz="1800" b="0">
                <a:solidFill>
                  <a:srgbClr val="161B26"/>
                </a:solidFill>
                <a:latin typeface="Arial"/>
              </a:rPr>
              <a:t>•  Routing based on Query String, Headers 	(example.com/users? id=123=false)</a:t>
            </a:r>
          </a:p>
          <a:p>
            <a:pPr>
              <a:spcAft>
                <a:spcPts val="1000"/>
              </a:spcAft>
            </a:pPr>
            <a:r>
              <a:rPr sz="1800" b="0">
                <a:solidFill>
                  <a:srgbClr val="161B26"/>
                </a:solidFill>
                <a:latin typeface="Arial"/>
              </a:rPr>
              <a:t>•  ALB are a great fit for micro services &amp; container-based application (example: Docker &amp; Amazon ECS)</a:t>
            </a:r>
          </a:p>
          <a:p>
            <a:pPr>
              <a:spcAft>
                <a:spcPts val="1000"/>
              </a:spcAft>
            </a:pPr>
            <a:r>
              <a:rPr sz="1800" b="0">
                <a:solidFill>
                  <a:srgbClr val="161B26"/>
                </a:solidFill>
                <a:latin typeface="Arial"/>
              </a:rPr>
              <a:t>•  Has a port mapping feature to redirect to a dynamic port in ECS</a:t>
            </a:r>
          </a:p>
          <a:p>
            <a:pPr>
              <a:spcAft>
                <a:spcPts val="1000"/>
              </a:spcAft>
            </a:pPr>
            <a:r>
              <a:rPr sz="1800" b="0">
                <a:solidFill>
                  <a:srgbClr val="161B26"/>
                </a:solidFill>
                <a:latin typeface="Arial"/>
              </a:rPr>
              <a:t>•  In comparison, we’d need multiple Classic Load Balancer per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 for Users application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Load Balancer (v2) HTTP Based Traffic</a:t>
            </a:r>
          </a:p>
          <a:p>
            <a:pPr>
              <a:spcAft>
                <a:spcPts val="1000"/>
              </a:spcAft>
            </a:pPr>
            <a:r>
              <a:rPr sz="1800" b="0">
                <a:solidFill>
                  <a:srgbClr val="161B26"/>
                </a:solidFill>
                <a:latin typeface="Arial"/>
              </a:rPr>
              <a:t>•  External Application Load Balancer (v2)</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Route /user</a:t>
            </a:r>
          </a:p>
          <a:p>
            <a:pPr>
              <a:spcAft>
                <a:spcPts val="1000"/>
              </a:spcAft>
            </a:pPr>
            <a:r>
              <a:rPr sz="1800" b="0">
                <a:solidFill>
                  <a:srgbClr val="161B26"/>
                </a:solidFill>
                <a:latin typeface="Arial"/>
              </a:rPr>
              <a:t>•  Target Group for Search application</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Route /search</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Health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Application Load Balancer (v2) Target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instances (can be managed by an Auto Scaling Group) - HTTP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ECS tasks (managed by ECS itself) - HTTP</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Lambda functions - HTTP request is translated into a JSON event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IP Addresses - must be private IPs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ALB can route to multiple target groups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Health checks are at the target group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 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 EC2 based</a:t>
            </a:r>
          </a:p>
          <a:p>
            <a:pPr>
              <a:spcAft>
                <a:spcPts val="1000"/>
              </a:spcAft>
            </a:pPr>
            <a:r>
              <a:rPr sz="1800" b="0">
                <a:solidFill>
                  <a:srgbClr val="161B26"/>
                </a:solidFill>
                <a:latin typeface="Arial"/>
              </a:rPr>
              <a:t>•  Application Load Balancer (v2) Query Strings/Parameters Routing</a:t>
            </a:r>
          </a:p>
          <a:p>
            <a:pPr>
              <a:spcAft>
                <a:spcPts val="1000"/>
              </a:spcAft>
            </a:pPr>
            <a:r>
              <a:rPr sz="1800" b="0">
                <a:solidFill>
                  <a:srgbClr val="161B26"/>
                </a:solidFill>
                <a:latin typeface="Arial"/>
              </a:rPr>
              <a:t>•  External Application Load Balancer (v2)</a:t>
            </a:r>
          </a:p>
          <a:p>
            <a:pPr>
              <a:spcAft>
                <a:spcPts val="1000"/>
              </a:spcAft>
            </a:pPr>
            <a:r>
              <a:rPr sz="1800" b="0">
                <a:solidFill>
                  <a:srgbClr val="161B26"/>
                </a:solidFill>
                <a:latin typeface="Arial"/>
              </a:rPr>
              <a:t>•  ?Platform=Mobile</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Requests</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On-premises – Private IP routing</a:t>
            </a:r>
          </a:p>
          <a:p>
            <a:pPr>
              <a:spcAft>
                <a:spcPts val="1000"/>
              </a:spcAft>
            </a:pPr>
            <a:r>
              <a:rPr sz="1800" b="0">
                <a:solidFill>
                  <a:srgbClr val="161B26"/>
                </a:solidFill>
                <a:latin typeface="Arial"/>
              </a:rPr>
              <a:t>•  ?Platform=Desktop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Application Load Balancer (v2)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Fixed hostname (XXX.region.elb.amazonaws.com)</a:t>
            </a:r>
          </a:p>
          <a:p>
            <a:pPr>
              <a:spcAft>
                <a:spcPts val="1000"/>
              </a:spcAft>
            </a:pPr>
            <a:r>
              <a:rPr sz="1800" b="0">
                <a:solidFill>
                  <a:srgbClr val="161B26"/>
                </a:solidFill>
                <a:latin typeface="Arial"/>
              </a:rPr>
              <a:t>•  The application servers don’t see the IP of the client directly</a:t>
            </a:r>
          </a:p>
          <a:p>
            <a:pPr>
              <a:spcAft>
                <a:spcPts val="1000"/>
              </a:spcAft>
            </a:pPr>
            <a:r>
              <a:rPr sz="1800" b="0">
                <a:solidFill>
                  <a:srgbClr val="161B26"/>
                </a:solidFill>
                <a:latin typeface="Arial"/>
              </a:rPr>
              <a:t>•  The true IP of the client is inserted in the header X-Forwarded-For</a:t>
            </a:r>
          </a:p>
          <a:p>
            <a:pPr>
              <a:spcAft>
                <a:spcPts val="1000"/>
              </a:spcAft>
            </a:pPr>
            <a:r>
              <a:rPr sz="1800" b="0">
                <a:solidFill>
                  <a:srgbClr val="161B26"/>
                </a:solidFill>
                <a:latin typeface="Arial"/>
              </a:rPr>
              <a:t>•  We can also get Port (X-Forwarded-Port) and proto (X-Forwarded-Proto)</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Client IP 12.34.56.78</a:t>
            </a:r>
          </a:p>
          <a:p>
            <a:pPr>
              <a:spcAft>
                <a:spcPts val="1000"/>
              </a:spcAft>
            </a:pPr>
            <a:r>
              <a:rPr sz="1800" b="0">
                <a:solidFill>
                  <a:srgbClr val="161B26"/>
                </a:solidFill>
                <a:latin typeface="Arial"/>
              </a:rPr>
              <a:t>•  Load Balancer IP (Private IP)</a:t>
            </a:r>
          </a:p>
          <a:p>
            <a:pPr>
              <a:spcAft>
                <a:spcPts val="1000"/>
              </a:spcAft>
            </a:pPr>
            <a:r>
              <a:rPr sz="1800" b="0">
                <a:solidFill>
                  <a:srgbClr val="161B26"/>
                </a:solidFill>
                <a:latin typeface="Arial"/>
              </a:rPr>
              <a:t>•  Connection termination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Application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09509" y="1801368"/>
            <a:ext cx="934250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53_0.png"/>
          <p:cNvPicPr>
            <a:picLocks noChangeAspect="1"/>
          </p:cNvPicPr>
          <p:nvPr/>
        </p:nvPicPr>
        <p:blipFill>
          <a:blip r:embed="rId2"/>
          <a:stretch>
            <a:fillRect/>
          </a:stretch>
        </p:blipFill>
        <p:spPr>
          <a:xfrm>
            <a:off x="1436941" y="1828800"/>
            <a:ext cx="928763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Load Balancer (v2)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Network load balancers (Layer 4) allow to:</a:t>
            </a:r>
          </a:p>
          <a:p>
            <a:pPr>
              <a:spcAft>
                <a:spcPts val="1000"/>
              </a:spcAft>
            </a:pPr>
            <a:r>
              <a:rPr sz="1800" b="0">
                <a:solidFill>
                  <a:srgbClr val="161B26"/>
                </a:solidFill>
                <a:latin typeface="Arial"/>
              </a:rPr>
              <a:t>•  Forward TCP &amp; UDP traffic to your instances</a:t>
            </a:r>
          </a:p>
          <a:p>
            <a:pPr>
              <a:spcAft>
                <a:spcPts val="1000"/>
              </a:spcAft>
            </a:pPr>
            <a:r>
              <a:rPr sz="1800" b="0">
                <a:solidFill>
                  <a:srgbClr val="161B26"/>
                </a:solidFill>
                <a:latin typeface="Arial"/>
              </a:rPr>
              <a:t>•  Handle millions of request per seconds</a:t>
            </a:r>
          </a:p>
          <a:p>
            <a:pPr>
              <a:spcAft>
                <a:spcPts val="1000"/>
              </a:spcAft>
            </a:pPr>
            <a:r>
              <a:rPr sz="1800" b="0">
                <a:solidFill>
                  <a:srgbClr val="161B26"/>
                </a:solidFill>
                <a:latin typeface="Arial"/>
              </a:rPr>
              <a:t>•  Ultra-low latency</a:t>
            </a:r>
          </a:p>
          <a:p>
            <a:pPr>
              <a:spcAft>
                <a:spcPts val="1000"/>
              </a:spcAft>
            </a:pPr>
            <a:r>
              <a:rPr sz="1800" b="0">
                <a:solidFill>
                  <a:srgbClr val="161B26"/>
                </a:solidFill>
                <a:latin typeface="Arial"/>
              </a:rPr>
              <a:t>•  NLB has one static IP per AZ and supports assigning Elastic IP</a:t>
            </a:r>
          </a:p>
          <a:p>
            <a:pPr>
              <a:spcAft>
                <a:spcPts val="1000"/>
              </a:spcAft>
            </a:pPr>
            <a:r>
              <a:rPr sz="1800" b="0">
                <a:solidFill>
                  <a:srgbClr val="161B26"/>
                </a:solidFill>
                <a:latin typeface="Arial"/>
              </a:rPr>
              <a:t>•  (helpful for whitelisting specific IP)</a:t>
            </a:r>
          </a:p>
          <a:p>
            <a:pPr>
              <a:spcAft>
                <a:spcPts val="1000"/>
              </a:spcAft>
            </a:pPr>
            <a:r>
              <a:rPr sz="1800" b="0">
                <a:solidFill>
                  <a:srgbClr val="161B26"/>
                </a:solidFill>
                <a:latin typeface="Arial"/>
              </a:rPr>
              <a:t>•  NLB are used for extreme performance,TCP or UDP traffic</a:t>
            </a:r>
          </a:p>
          <a:p>
            <a:pPr>
              <a:spcAft>
                <a:spcPts val="1000"/>
              </a:spcAft>
            </a:pPr>
            <a:r>
              <a:rPr sz="1800" b="0">
                <a:solidFill>
                  <a:srgbClr val="161B26"/>
                </a:solidFill>
                <a:latin typeface="Arial"/>
              </a:rPr>
              <a:t>•  Not included in the AWS free 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Network Load Balancer (v2) TCP (Layer 4) Based Traffic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Target Group for Users application</a:t>
            </a:r>
          </a:p>
          <a:p>
            <a:pPr>
              <a:spcAft>
                <a:spcPts val="1000"/>
              </a:spcAft>
            </a:pPr>
            <a:r>
              <a:rPr sz="1800" b="0">
                <a:solidFill>
                  <a:srgbClr val="161B26"/>
                </a:solidFill>
                <a:latin typeface="Arial"/>
              </a:rPr>
              <a:t>•  External Network Load Balancer (v2)</a:t>
            </a:r>
          </a:p>
          <a:p>
            <a:pPr>
              <a:spcAft>
                <a:spcPts val="1000"/>
              </a:spcAft>
            </a:pPr>
            <a:r>
              <a:rPr sz="1800" b="0">
                <a:solidFill>
                  <a:srgbClr val="161B26"/>
                </a:solidFill>
                <a:latin typeface="Arial"/>
              </a:rPr>
              <a:t>•  TCP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TCP + Rules</a:t>
            </a:r>
          </a:p>
          <a:p>
            <a:pPr>
              <a:spcAft>
                <a:spcPts val="1000"/>
              </a:spcAft>
            </a:pPr>
            <a:r>
              <a:rPr sz="1800" b="0">
                <a:solidFill>
                  <a:srgbClr val="161B26"/>
                </a:solidFill>
                <a:latin typeface="Arial"/>
              </a:rPr>
              <a:t>•  Target Group for Search application</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TCP + Rules</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Health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Load Balancer - Target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IP Addresses - must be private IPs</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Health Checks support the TCP, HTTP, HTTPS Protocols</a:t>
            </a:r>
          </a:p>
          <a:p>
            <a:pPr>
              <a:spcAft>
                <a:spcPts val="1000"/>
              </a:spcAft>
            </a:pPr>
            <a:r>
              <a:rPr sz="1800" b="0">
                <a:solidFill>
                  <a:srgbClr val="161B26"/>
                </a:solidFill>
                <a:latin typeface="Arial"/>
              </a:rPr>
              <a:t>•  i-1234567890abcdef0	i-1234567890abcdef0</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(IP Addresses)</a:t>
            </a:r>
          </a:p>
          <a:p>
            <a:pPr>
              <a:spcAft>
                <a:spcPts val="1000"/>
              </a:spcAft>
            </a:pPr>
            <a:r>
              <a:rPr sz="1800" b="0">
                <a:solidFill>
                  <a:srgbClr val="161B26"/>
                </a:solidFill>
                <a:latin typeface="Arial"/>
              </a:rPr>
              <a:t>•  192.168.1.118</a:t>
            </a:r>
          </a:p>
          <a:p>
            <a:pPr>
              <a:spcAft>
                <a:spcPts val="1000"/>
              </a:spcAft>
            </a:pPr>
            <a:r>
              <a:rPr sz="1800" b="0">
                <a:solidFill>
                  <a:srgbClr val="161B26"/>
                </a:solidFill>
                <a:latin typeface="Arial"/>
              </a:rPr>
              <a:t>•  10.0.4.21</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Network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33902" y="1801368"/>
            <a:ext cx="969371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57_0.png"/>
          <p:cNvPicPr>
            <a:picLocks noChangeAspect="1"/>
          </p:cNvPicPr>
          <p:nvPr/>
        </p:nvPicPr>
        <p:blipFill>
          <a:blip r:embed="rId2"/>
          <a:stretch>
            <a:fillRect/>
          </a:stretch>
        </p:blipFill>
        <p:spPr>
          <a:xfrm>
            <a:off x="1261334" y="1828800"/>
            <a:ext cx="963885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Gateway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Deploy, scale, and manage a fleet of 3rd party network virtual appliances in AWS</a:t>
            </a:r>
          </a:p>
          <a:p>
            <a:pPr>
              <a:spcAft>
                <a:spcPts val="1000"/>
              </a:spcAft>
            </a:pPr>
            <a:r>
              <a:rPr sz="1800" b="0">
                <a:solidFill>
                  <a:srgbClr val="161B26"/>
                </a:solidFill>
                <a:latin typeface="Arial"/>
              </a:rPr>
              <a:t>•  Example: Firewalls, Intrusion Detection and</a:t>
            </a:r>
          </a:p>
          <a:p>
            <a:pPr>
              <a:spcAft>
                <a:spcPts val="1000"/>
              </a:spcAft>
            </a:pPr>
            <a:r>
              <a:rPr sz="1800" b="0">
                <a:solidFill>
                  <a:srgbClr val="161B26"/>
                </a:solidFill>
                <a:latin typeface="Arial"/>
              </a:rPr>
              <a:t>•  Prevention Systems, Deep Packet Inspection Systems, payload manipulation, …</a:t>
            </a:r>
          </a:p>
          <a:p>
            <a:pPr>
              <a:spcAft>
                <a:spcPts val="1000"/>
              </a:spcAft>
            </a:pPr>
            <a:r>
              <a:rPr sz="1800" b="0">
                <a:solidFill>
                  <a:srgbClr val="161B26"/>
                </a:solidFill>
                <a:latin typeface="Arial"/>
              </a:rPr>
              <a:t>•  Operates at Layer 3 (Network Layer) – IP Packets</a:t>
            </a:r>
          </a:p>
          <a:p>
            <a:pPr>
              <a:spcAft>
                <a:spcPts val="1000"/>
              </a:spcAft>
            </a:pPr>
            <a:r>
              <a:rPr sz="1800" b="0">
                <a:solidFill>
                  <a:srgbClr val="161B26"/>
                </a:solidFill>
                <a:latin typeface="Arial"/>
              </a:rPr>
              <a:t>•  Combines the following functions:</a:t>
            </a:r>
          </a:p>
          <a:p>
            <a:pPr>
              <a:spcAft>
                <a:spcPts val="1000"/>
              </a:spcAft>
            </a:pPr>
            <a:r>
              <a:rPr sz="1800" b="0">
                <a:solidFill>
                  <a:srgbClr val="161B26"/>
                </a:solidFill>
                <a:latin typeface="Arial"/>
              </a:rPr>
              <a:t>•  Transparent Network Gateway - single entry/exit for all traffic</a:t>
            </a:r>
          </a:p>
          <a:p>
            <a:pPr>
              <a:spcAft>
                <a:spcPts val="1000"/>
              </a:spcAft>
            </a:pPr>
            <a:r>
              <a:rPr sz="1800" b="0">
                <a:solidFill>
                  <a:srgbClr val="161B26"/>
                </a:solidFill>
                <a:latin typeface="Arial"/>
              </a:rPr>
              <a:t>•  Load Balancer - distributes traffic to your virtual appliances</a:t>
            </a:r>
          </a:p>
          <a:p>
            <a:pPr>
              <a:spcAft>
                <a:spcPts val="1000"/>
              </a:spcAft>
            </a:pPr>
            <a:r>
              <a:rPr sz="1800" b="0">
                <a:solidFill>
                  <a:srgbClr val="161B26"/>
                </a:solidFill>
                <a:latin typeface="Arial"/>
              </a:rPr>
              <a:t>•  Uses the GENEVE protocol on port 60</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Gateway Load Balancer</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(destination)</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3rd Party Security Virtual Appliances</a:t>
            </a:r>
          </a:p>
          <a:p>
            <a:pPr>
              <a:spcAft>
                <a:spcPts val="1000"/>
              </a:spcAft>
            </a:pPr>
            <a:r>
              <a:rPr sz="1800" b="0">
                <a:solidFill>
                  <a:srgbClr val="161B26"/>
                </a:solidFill>
                <a:latin typeface="Arial"/>
              </a:rPr>
              <a:t>•  traffic</a:t>
            </a:r>
          </a:p>
          <a:p>
            <a:pPr>
              <a:spcAft>
                <a:spcPts val="1000"/>
              </a:spcAft>
            </a:pPr>
            <a:r>
              <a:rPr sz="1800" b="0">
                <a:solidFill>
                  <a:srgbClr val="161B26"/>
                </a:solidFill>
                <a:latin typeface="Arial"/>
              </a:rPr>
              <a:t>•  traffic</a:t>
            </a:r>
          </a:p>
          <a:p>
            <a:pPr>
              <a:spcAft>
                <a:spcPts val="1000"/>
              </a:spcAft>
            </a:pPr>
            <a:r>
              <a:rPr sz="1800" b="0">
                <a:solidFill>
                  <a:srgbClr val="161B26"/>
                </a:solidFill>
                <a:latin typeface="Arial"/>
              </a:rPr>
              <a:t>•  Route 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Gateway Load	Balancer - Target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IP Addresses - must be private IPs</a:t>
            </a:r>
          </a:p>
          <a:p>
            <a:pPr>
              <a:spcAft>
                <a:spcPts val="1000"/>
              </a:spcAft>
            </a:pPr>
            <a:r>
              <a:rPr sz="1800" b="0">
                <a:solidFill>
                  <a:srgbClr val="161B26"/>
                </a:solidFill>
                <a:latin typeface="Arial"/>
              </a:rPr>
              <a:t>•  i-1234567890abcdef0	i-1234567890abcdef0</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Gateway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(IP Addresses)</a:t>
            </a:r>
          </a:p>
          <a:p>
            <a:pPr>
              <a:spcAft>
                <a:spcPts val="1000"/>
              </a:spcAft>
            </a:pPr>
            <a:r>
              <a:rPr sz="1800" b="0">
                <a:solidFill>
                  <a:srgbClr val="161B26"/>
                </a:solidFill>
                <a:latin typeface="Arial"/>
              </a:rPr>
              <a:t>•  192.168.1.118</a:t>
            </a:r>
          </a:p>
          <a:p>
            <a:pPr>
              <a:spcAft>
                <a:spcPts val="1000"/>
              </a:spcAft>
            </a:pPr>
            <a:r>
              <a:rPr sz="1800" b="0">
                <a:solidFill>
                  <a:srgbClr val="161B26"/>
                </a:solidFill>
                <a:latin typeface="Arial"/>
              </a:rPr>
              <a:t>•  10.0.4.21</a:t>
            </a:r>
          </a:p>
          <a:p>
            <a:pPr>
              <a:spcAft>
                <a:spcPts val="1000"/>
              </a:spcAft>
            </a:pPr>
            <a:r>
              <a:rPr sz="1800" b="0">
                <a:solidFill>
                  <a:srgbClr val="161B26"/>
                </a:solidFill>
                <a:latin typeface="Arial"/>
              </a:rPr>
              <a:t>•  Gateway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Sticky Sessions (Session Affinity)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 is possible to implement stickiness so that the</a:t>
            </a:r>
          </a:p>
          <a:p>
            <a:pPr>
              <a:spcAft>
                <a:spcPts val="1000"/>
              </a:spcAft>
            </a:pPr>
            <a:r>
              <a:rPr sz="1800" b="0">
                <a:solidFill>
                  <a:srgbClr val="161B26"/>
                </a:solidFill>
                <a:latin typeface="Arial"/>
              </a:rPr>
              <a:t>•  same client is always redirected to the same instance behind a load balancer</a:t>
            </a:r>
          </a:p>
          <a:p>
            <a:pPr>
              <a:spcAft>
                <a:spcPts val="1000"/>
              </a:spcAft>
            </a:pPr>
            <a:r>
              <a:rPr sz="1800" b="0">
                <a:solidFill>
                  <a:srgbClr val="161B26"/>
                </a:solidFill>
                <a:latin typeface="Arial"/>
              </a:rPr>
              <a:t>•  This works for Classic Load Balancer</a:t>
            </a:r>
          </a:p>
          <a:p>
            <a:pPr>
              <a:spcAft>
                <a:spcPts val="1000"/>
              </a:spcAft>
            </a:pPr>
            <a:r>
              <a:rPr sz="1800" b="0">
                <a:solidFill>
                  <a:srgbClr val="161B26"/>
                </a:solidFill>
                <a:latin typeface="Arial"/>
              </a:rPr>
              <a:t>•  Application Load Balancer, and Network Load Balancer</a:t>
            </a:r>
          </a:p>
          <a:p>
            <a:pPr>
              <a:spcAft>
                <a:spcPts val="1000"/>
              </a:spcAft>
            </a:pPr>
            <a:r>
              <a:rPr sz="1800" b="0">
                <a:solidFill>
                  <a:srgbClr val="161B26"/>
                </a:solidFill>
                <a:latin typeface="Arial"/>
              </a:rPr>
              <a:t>•  For both CLB &amp; ALB, the “cookie” used for stickiness has an expiration date you control</a:t>
            </a:r>
          </a:p>
          <a:p>
            <a:pPr>
              <a:spcAft>
                <a:spcPts val="1000"/>
              </a:spcAft>
            </a:pPr>
            <a:r>
              <a:rPr sz="1800" b="0">
                <a:solidFill>
                  <a:srgbClr val="161B26"/>
                </a:solidFill>
                <a:latin typeface="Arial"/>
              </a:rPr>
              <a:t>•  Use case: make sure the user doesn’t lose his session data</a:t>
            </a:r>
          </a:p>
          <a:p>
            <a:pPr>
              <a:spcAft>
                <a:spcPts val="1000"/>
              </a:spcAft>
            </a:pPr>
            <a:r>
              <a:rPr sz="1800" b="0">
                <a:solidFill>
                  <a:srgbClr val="161B26"/>
                </a:solidFill>
                <a:latin typeface="Arial"/>
              </a:rPr>
              <a:t>•  Enabling stickiness may bring imbalance to the load over the backend EC2 instances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Client 1</a:t>
            </a:r>
          </a:p>
          <a:p>
            <a:pPr>
              <a:spcAft>
                <a:spcPts val="1000"/>
              </a:spcAft>
            </a:pPr>
            <a:r>
              <a:rPr sz="1800" b="0">
                <a:solidFill>
                  <a:srgbClr val="161B26"/>
                </a:solidFill>
                <a:latin typeface="Arial"/>
              </a:rPr>
              <a:t>•  Client 2</a:t>
            </a:r>
          </a:p>
          <a:p>
            <a:pPr>
              <a:spcAft>
                <a:spcPts val="1000"/>
              </a:spcAft>
            </a:pPr>
            <a:r>
              <a:rPr sz="1800" b="0">
                <a:solidFill>
                  <a:srgbClr val="161B26"/>
                </a:solidFill>
                <a:latin typeface="Arial"/>
              </a:rPr>
              <a:t>•  Client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Sticky Sessions – Cookie Names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based cookies</a:t>
            </a:r>
          </a:p>
          <a:p>
            <a:pPr>
              <a:spcAft>
                <a:spcPts val="1000"/>
              </a:spcAft>
            </a:pPr>
            <a:r>
              <a:rPr sz="1800" b="0">
                <a:solidFill>
                  <a:srgbClr val="161B26"/>
                </a:solidFill>
                <a:latin typeface="Arial"/>
              </a:rPr>
              <a:t>•  Custom cookie</a:t>
            </a:r>
          </a:p>
          <a:p>
            <a:pPr>
              <a:spcAft>
                <a:spcPts val="1000"/>
              </a:spcAft>
            </a:pPr>
            <a:r>
              <a:rPr sz="1800" b="0">
                <a:solidFill>
                  <a:srgbClr val="161B26"/>
                </a:solidFill>
                <a:latin typeface="Arial"/>
              </a:rPr>
              <a:t>•  Generated by the target</a:t>
            </a:r>
          </a:p>
          <a:p>
            <a:pPr>
              <a:spcAft>
                <a:spcPts val="1000"/>
              </a:spcAft>
            </a:pPr>
            <a:r>
              <a:rPr sz="1800" b="0">
                <a:solidFill>
                  <a:srgbClr val="161B26"/>
                </a:solidFill>
                <a:latin typeface="Arial"/>
              </a:rPr>
              <a:t>•  Can include any custom attributes required by the application</a:t>
            </a:r>
          </a:p>
          <a:p>
            <a:pPr>
              <a:spcAft>
                <a:spcPts val="1000"/>
              </a:spcAft>
            </a:pPr>
            <a:r>
              <a:rPr sz="1800" b="0">
                <a:solidFill>
                  <a:srgbClr val="161B26"/>
                </a:solidFill>
                <a:latin typeface="Arial"/>
              </a:rPr>
              <a:t>•  Cookie name must be specified individually for each target group</a:t>
            </a:r>
          </a:p>
          <a:p>
            <a:pPr>
              <a:spcAft>
                <a:spcPts val="1000"/>
              </a:spcAft>
            </a:pPr>
            <a:r>
              <a:rPr sz="1800" b="0">
                <a:solidFill>
                  <a:srgbClr val="161B26"/>
                </a:solidFill>
                <a:latin typeface="Arial"/>
              </a:rPr>
              <a:t>•  Don’t use AWSALB, AWSALBAPP or AWSALBTG reserved for use by the ELB)</a:t>
            </a:r>
          </a:p>
          <a:p>
            <a:pPr>
              <a:spcAft>
                <a:spcPts val="1000"/>
              </a:spcAft>
            </a:pPr>
            <a:r>
              <a:rPr sz="1800" b="0">
                <a:solidFill>
                  <a:srgbClr val="161B26"/>
                </a:solidFill>
                <a:latin typeface="Arial"/>
              </a:rPr>
              <a:t>•  Application cookie</a:t>
            </a:r>
          </a:p>
          <a:p>
            <a:pPr>
              <a:spcAft>
                <a:spcPts val="1000"/>
              </a:spcAft>
            </a:pPr>
            <a:r>
              <a:rPr sz="1800" b="0">
                <a:solidFill>
                  <a:srgbClr val="161B26"/>
                </a:solidFill>
                <a:latin typeface="Arial"/>
              </a:rPr>
              <a:t>•  Generated by the load balancer</a:t>
            </a:r>
          </a:p>
          <a:p>
            <a:pPr>
              <a:spcAft>
                <a:spcPts val="1000"/>
              </a:spcAft>
            </a:pPr>
            <a:r>
              <a:rPr sz="1800" b="0">
                <a:solidFill>
                  <a:srgbClr val="161B26"/>
                </a:solidFill>
                <a:latin typeface="Arial"/>
              </a:rPr>
              <a:t>•  Cookie name is AWSALBAPP</a:t>
            </a:r>
          </a:p>
          <a:p>
            <a:pPr>
              <a:spcAft>
                <a:spcPts val="1000"/>
              </a:spcAft>
            </a:pPr>
            <a:r>
              <a:rPr sz="1800" b="0">
                <a:solidFill>
                  <a:srgbClr val="161B26"/>
                </a:solidFill>
                <a:latin typeface="Arial"/>
              </a:rPr>
              <a:t>•  Duration based cookies</a:t>
            </a:r>
          </a:p>
          <a:p>
            <a:pPr>
              <a:spcAft>
                <a:spcPts val="1000"/>
              </a:spcAft>
            </a:pPr>
            <a:r>
              <a:rPr sz="1800" b="0">
                <a:solidFill>
                  <a:srgbClr val="161B26"/>
                </a:solidFill>
                <a:latin typeface="Arial"/>
              </a:rPr>
              <a:t>•  Cookie generated by the load balancer</a:t>
            </a:r>
          </a:p>
          <a:p>
            <a:pPr>
              <a:spcAft>
                <a:spcPts val="1000"/>
              </a:spcAft>
            </a:pPr>
            <a:r>
              <a:rPr sz="1800" b="0">
                <a:solidFill>
                  <a:srgbClr val="161B26"/>
                </a:solidFill>
                <a:latin typeface="Arial"/>
              </a:rPr>
              <a:t>•  Cookie name is AWSALB for ALB, AWSELB for CLB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Sticky Session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1621" y="1801368"/>
            <a:ext cx="623827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62_0.png"/>
          <p:cNvPicPr>
            <a:picLocks noChangeAspect="1"/>
          </p:cNvPicPr>
          <p:nvPr/>
        </p:nvPicPr>
        <p:blipFill>
          <a:blip r:embed="rId2"/>
          <a:stretch>
            <a:fillRect/>
          </a:stretch>
        </p:blipFill>
        <p:spPr>
          <a:xfrm>
            <a:off x="2989053" y="1828800"/>
            <a:ext cx="618341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Cross-Zone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25</a:t>
            </a:r>
          </a:p>
          <a:p>
            <a:pPr>
              <a:spcAft>
                <a:spcPts val="1000"/>
              </a:spcAft>
            </a:pPr>
            <a:r>
              <a:rPr sz="1800" b="0">
                <a:solidFill>
                  <a:srgbClr val="161B26"/>
                </a:solidFill>
                <a:latin typeface="Arial"/>
              </a:rPr>
              <a:t>•  25</a:t>
            </a:r>
          </a:p>
          <a:p>
            <a:pPr>
              <a:spcAft>
                <a:spcPts val="1000"/>
              </a:spcAft>
            </a:pPr>
            <a:r>
              <a:rPr sz="1800" b="0">
                <a:solidFill>
                  <a:srgbClr val="161B26"/>
                </a:solidFill>
                <a:latin typeface="Arial"/>
              </a:rPr>
              <a:t>•  6.25</a:t>
            </a:r>
          </a:p>
          <a:p>
            <a:pPr>
              <a:spcAft>
                <a:spcPts val="1000"/>
              </a:spcAft>
            </a:pPr>
            <a:r>
              <a:rPr sz="1800" b="0">
                <a:solidFill>
                  <a:srgbClr val="161B26"/>
                </a:solidFill>
                <a:latin typeface="Arial"/>
              </a:rPr>
              <a:t>•  6.25</a:t>
            </a:r>
          </a:p>
          <a:p>
            <a:pPr>
              <a:spcAft>
                <a:spcPts val="1000"/>
              </a:spcAft>
            </a:pPr>
            <a:r>
              <a:rPr sz="1800" b="0">
                <a:solidFill>
                  <a:srgbClr val="161B26"/>
                </a:solidFill>
                <a:latin typeface="Arial"/>
              </a:rPr>
              <a:t>•  With Cross Zone Load Balancing:</a:t>
            </a:r>
          </a:p>
          <a:p>
            <a:pPr>
              <a:spcAft>
                <a:spcPts val="1000"/>
              </a:spcAft>
            </a:pPr>
            <a:r>
              <a:rPr sz="1800" b="0">
                <a:solidFill>
                  <a:srgbClr val="161B26"/>
                </a:solidFill>
                <a:latin typeface="Arial"/>
              </a:rPr>
              <a:t>•  each load balancer instance distributes evenly across all registered instances in all AZ</a:t>
            </a:r>
          </a:p>
          <a:p>
            <a:pPr>
              <a:spcAft>
                <a:spcPts val="1000"/>
              </a:spcAft>
            </a:pPr>
            <a:r>
              <a:rPr sz="1800" b="0">
                <a:solidFill>
                  <a:srgbClr val="161B26"/>
                </a:solidFill>
                <a:latin typeface="Arial"/>
              </a:rPr>
              <a:t>•  Without Cross Zone Load Balancing:</a:t>
            </a:r>
          </a:p>
          <a:p>
            <a:pPr>
              <a:spcAft>
                <a:spcPts val="1000"/>
              </a:spcAft>
            </a:pPr>
            <a:r>
              <a:rPr sz="1800" b="0">
                <a:solidFill>
                  <a:srgbClr val="161B26"/>
                </a:solidFill>
                <a:latin typeface="Arial"/>
              </a:rPr>
              <a:t>•  Requests are distributed in the instances of the node of the Elastic Load Balancer</a:t>
            </a:r>
          </a:p>
          <a:p>
            <a:pPr>
              <a:spcAft>
                <a:spcPts val="1000"/>
              </a:spcAft>
            </a:pPr>
            <a:r>
              <a:rPr sz="1800" b="0">
                <a:solidFill>
                  <a:srgbClr val="161B26"/>
                </a:solidFill>
                <a:latin typeface="Arial"/>
              </a:rPr>
              <a:t>•  50</a:t>
            </a:r>
          </a:p>
          <a:p>
            <a:pPr>
              <a:spcAft>
                <a:spcPts val="1000"/>
              </a:spcAft>
            </a:pPr>
            <a:r>
              <a:rPr sz="1800" b="0">
                <a:solidFill>
                  <a:srgbClr val="161B26"/>
                </a:solidFill>
                <a:latin typeface="Arial"/>
              </a:rPr>
              <a:t>•  50</a:t>
            </a:r>
          </a:p>
          <a:p>
            <a:pPr>
              <a:spcAft>
                <a:spcPts val="1000"/>
              </a:spcAft>
            </a:pPr>
            <a:r>
              <a:rPr sz="1800" b="0">
                <a:solidFill>
                  <a:srgbClr val="161B26"/>
                </a:solidFill>
                <a:latin typeface="Arial"/>
              </a:rPr>
              <a:t>•  50</a:t>
            </a:r>
          </a:p>
          <a:p>
            <a:pPr>
              <a:spcAft>
                <a:spcPts val="1000"/>
              </a:spcAft>
            </a:pPr>
            <a:r>
              <a:rPr sz="1800" b="0">
                <a:solidFill>
                  <a:srgbClr val="161B26"/>
                </a:solidFill>
                <a:latin typeface="Arial"/>
              </a:rPr>
              <a:t>•  50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Cross-Zone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Enabled by default (can be disabled at the Target Group level)</a:t>
            </a:r>
          </a:p>
          <a:p>
            <a:pPr>
              <a:spcAft>
                <a:spcPts val="1000"/>
              </a:spcAft>
            </a:pPr>
            <a:r>
              <a:rPr sz="1800" b="0">
                <a:solidFill>
                  <a:srgbClr val="161B26"/>
                </a:solidFill>
                <a:latin typeface="Arial"/>
              </a:rPr>
              <a:t>•  No charges for inter AZ data</a:t>
            </a:r>
          </a:p>
          <a:p>
            <a:pPr>
              <a:spcAft>
                <a:spcPts val="1000"/>
              </a:spcAft>
            </a:pPr>
            <a:r>
              <a:rPr sz="1800" b="0">
                <a:solidFill>
                  <a:srgbClr val="161B26"/>
                </a:solidFill>
                <a:latin typeface="Arial"/>
              </a:rPr>
              <a:t>•  Network Load Balancer $ Gateway Load Balancer</a:t>
            </a:r>
          </a:p>
          <a:p>
            <a:pPr>
              <a:spcAft>
                <a:spcPts val="1000"/>
              </a:spcAft>
            </a:pPr>
            <a:r>
              <a:rPr sz="1800" b="0">
                <a:solidFill>
                  <a:srgbClr val="161B26"/>
                </a:solidFill>
                <a:latin typeface="Arial"/>
              </a:rPr>
              <a:t>•  Disabled by default</a:t>
            </a:r>
          </a:p>
          <a:p>
            <a:pPr>
              <a:spcAft>
                <a:spcPts val="1000"/>
              </a:spcAft>
            </a:pPr>
            <a:r>
              <a:rPr sz="1800" b="0">
                <a:solidFill>
                  <a:srgbClr val="161B26"/>
                </a:solidFill>
                <a:latin typeface="Arial"/>
              </a:rPr>
              <a:t>•  You pay charges ($) for inter AZ data if enabled</a:t>
            </a:r>
          </a:p>
          <a:p>
            <a:pPr>
              <a:spcAft>
                <a:spcPts val="1000"/>
              </a:spcAft>
            </a:pPr>
            <a:r>
              <a:rPr sz="1800" b="0">
                <a:solidFill>
                  <a:srgbClr val="161B26"/>
                </a:solidFill>
                <a:latin typeface="Arial"/>
              </a:rPr>
              <a:t>•  Classic Load Balancer</a:t>
            </a:r>
          </a:p>
          <a:p>
            <a:pPr>
              <a:spcAft>
                <a:spcPts val="1000"/>
              </a:spcAft>
            </a:pPr>
            <a:r>
              <a:rPr sz="1800" b="0">
                <a:solidFill>
                  <a:srgbClr val="161B26"/>
                </a:solidFill>
                <a:latin typeface="Arial"/>
              </a:rPr>
              <a:t>•  Disabled by default</a:t>
            </a:r>
          </a:p>
          <a:p>
            <a:pPr>
              <a:spcAft>
                <a:spcPts val="1000"/>
              </a:spcAft>
            </a:pPr>
            <a:r>
              <a:rPr sz="1800" b="0">
                <a:solidFill>
                  <a:srgbClr val="161B26"/>
                </a:solidFill>
                <a:latin typeface="Arial"/>
              </a:rPr>
              <a:t>•  No charges for inter AZ data if enabled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Cross Zone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3189" y="1801368"/>
            <a:ext cx="895514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65_0.png"/>
          <p:cNvPicPr>
            <a:picLocks noChangeAspect="1"/>
          </p:cNvPicPr>
          <p:nvPr/>
        </p:nvPicPr>
        <p:blipFill>
          <a:blip r:embed="rId2"/>
          <a:stretch>
            <a:fillRect/>
          </a:stretch>
        </p:blipFill>
        <p:spPr>
          <a:xfrm>
            <a:off x="1630621" y="1828800"/>
            <a:ext cx="890027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SSL/TLS - Basics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SSL Certificate allows traffic between your clients and your load balancer to be encrypted in transit (in-flight encryption)</a:t>
            </a:r>
          </a:p>
          <a:p>
            <a:pPr>
              <a:spcAft>
                <a:spcPts val="1000"/>
              </a:spcAft>
            </a:pPr>
            <a:r>
              <a:rPr sz="1800" b="0">
                <a:solidFill>
                  <a:srgbClr val="161B26"/>
                </a:solidFill>
                <a:latin typeface="Arial"/>
              </a:rPr>
              <a:t>•  SSL refers to Secure Sockets Layer, used to encrypt connections</a:t>
            </a:r>
          </a:p>
          <a:p>
            <a:pPr>
              <a:spcAft>
                <a:spcPts val="1000"/>
              </a:spcAft>
            </a:pPr>
            <a:r>
              <a:rPr sz="1800" b="0">
                <a:solidFill>
                  <a:srgbClr val="161B26"/>
                </a:solidFill>
                <a:latin typeface="Arial"/>
              </a:rPr>
              <a:t>•  TLS refers to Transport Layer Security, which is a newer version</a:t>
            </a:r>
          </a:p>
          <a:p>
            <a:pPr>
              <a:spcAft>
                <a:spcPts val="1000"/>
              </a:spcAft>
            </a:pPr>
            <a:r>
              <a:rPr sz="1800" b="0">
                <a:solidFill>
                  <a:srgbClr val="161B26"/>
                </a:solidFill>
                <a:latin typeface="Arial"/>
              </a:rPr>
              <a:t>•  Nowadays, TLS certificates are mainly used, but people still refer as SSL</a:t>
            </a:r>
          </a:p>
          <a:p>
            <a:pPr>
              <a:spcAft>
                <a:spcPts val="1000"/>
              </a:spcAft>
            </a:pPr>
            <a:r>
              <a:rPr sz="1800" b="0">
                <a:solidFill>
                  <a:srgbClr val="161B26"/>
                </a:solidFill>
                <a:latin typeface="Arial"/>
              </a:rPr>
              <a:t>•  Public SSL certificates are issued by Certificate Authorities (CA)</a:t>
            </a:r>
          </a:p>
          <a:p>
            <a:pPr>
              <a:spcAft>
                <a:spcPts val="1000"/>
              </a:spcAft>
            </a:pPr>
            <a:r>
              <a:rPr sz="1800" b="0">
                <a:solidFill>
                  <a:srgbClr val="161B26"/>
                </a:solidFill>
                <a:latin typeface="Arial"/>
              </a:rPr>
              <a:t>•  Comodo, Symantec, GoDaddy, GlobalSign, Digicert, Letsencrypt, etc…</a:t>
            </a:r>
          </a:p>
          <a:p>
            <a:pPr>
              <a:spcAft>
                <a:spcPts val="1000"/>
              </a:spcAft>
            </a:pPr>
            <a:r>
              <a:rPr sz="1800" b="0">
                <a:solidFill>
                  <a:srgbClr val="161B26"/>
                </a:solidFill>
                <a:latin typeface="Arial"/>
              </a:rPr>
              <a:t>•  SSL certificates have an expiration date (you set) and must be renewed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The load balancer uses an X.509 certificate (SSL/TLS server certificate)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manage certificates using ACM (AWS Certificate Manager)</a:t>
            </a:r>
          </a:p>
          <a:p>
            <a:pPr>
              <a:spcAft>
                <a:spcPts val="1000"/>
              </a:spcAft>
            </a:pPr>
            <a:r>
              <a:rPr sz="1800" b="0">
                <a:solidFill>
                  <a:srgbClr val="161B26"/>
                </a:solidFill>
                <a:latin typeface="Arial"/>
              </a:rPr>
              <a:t>•  You can create upload your own certificates alternatively</a:t>
            </a:r>
          </a:p>
          <a:p>
            <a:pPr>
              <a:spcAft>
                <a:spcPts val="1000"/>
              </a:spcAft>
            </a:pPr>
            <a:r>
              <a:rPr sz="1800" b="0">
                <a:solidFill>
                  <a:srgbClr val="161B26"/>
                </a:solidFill>
                <a:latin typeface="Arial"/>
              </a:rPr>
              <a:t>•  HTTPS listener:</a:t>
            </a:r>
          </a:p>
          <a:p>
            <a:pPr>
              <a:spcAft>
                <a:spcPts val="1000"/>
              </a:spcAft>
            </a:pPr>
            <a:r>
              <a:rPr sz="1800" b="0">
                <a:solidFill>
                  <a:srgbClr val="161B26"/>
                </a:solidFill>
                <a:latin typeface="Arial"/>
              </a:rPr>
              <a:t>•  You must specify a default certificate</a:t>
            </a:r>
          </a:p>
          <a:p>
            <a:pPr>
              <a:spcAft>
                <a:spcPts val="1000"/>
              </a:spcAft>
            </a:pPr>
            <a:r>
              <a:rPr sz="1800" b="0">
                <a:solidFill>
                  <a:srgbClr val="161B26"/>
                </a:solidFill>
                <a:latin typeface="Arial"/>
              </a:rPr>
              <a:t>•  You can add an optional list of certs to support multiple domains</a:t>
            </a:r>
          </a:p>
          <a:p>
            <a:pPr>
              <a:spcAft>
                <a:spcPts val="1000"/>
              </a:spcAft>
            </a:pPr>
            <a:r>
              <a:rPr sz="1800" b="0">
                <a:solidFill>
                  <a:srgbClr val="161B26"/>
                </a:solidFill>
                <a:latin typeface="Arial"/>
              </a:rPr>
              <a:t>•  Cilents can use SNI (Server Name Indication) to specify the hostname they reach</a:t>
            </a:r>
          </a:p>
          <a:p>
            <a:pPr>
              <a:spcAft>
                <a:spcPts val="1000"/>
              </a:spcAft>
            </a:pPr>
            <a:r>
              <a:rPr sz="1800" b="0">
                <a:solidFill>
                  <a:srgbClr val="161B26"/>
                </a:solidFill>
                <a:latin typeface="Arial"/>
              </a:rPr>
              <a:t>•  Ability to specify a security policy to support older versions of SSL / TLS (legacy clients)</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HTTPS (encrypted) Over www</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Over private VPC</a:t>
            </a:r>
          </a:p>
          <a:p>
            <a:pPr>
              <a:spcAft>
                <a:spcPts val="1000"/>
              </a:spcAft>
            </a:pPr>
            <a:r>
              <a:rPr sz="1800" b="0">
                <a:solidFill>
                  <a:srgbClr val="161B26"/>
                </a:solidFill>
                <a:latin typeface="Arial"/>
              </a:rPr>
              <a:t>•  Load Balancer - SSL Certificates</a:t>
            </a:r>
          </a:p>
          <a:p>
            <a:pPr>
              <a:spcAft>
                <a:spcPts val="1000"/>
              </a:spcAft>
            </a:pPr>
            <a:r>
              <a:rPr sz="1800" b="0">
                <a:solidFill>
                  <a:srgbClr val="161B26"/>
                </a:solidFill>
                <a:latin typeface="Arial"/>
              </a:rPr>
              <a:t>•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SSL - Server Name Indication (SNI)</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SNI solves the problem of loading multiple SSL certificates onto multiple web servers (to serve multiple websites)</a:t>
            </a:r>
          </a:p>
          <a:p>
            <a:pPr>
              <a:spcAft>
                <a:spcPts val="1000"/>
              </a:spcAft>
            </a:pPr>
            <a:r>
              <a:rPr sz="1800" b="0">
                <a:solidFill>
                  <a:srgbClr val="161B26"/>
                </a:solidFill>
                <a:latin typeface="Arial"/>
              </a:rPr>
              <a:t>•  It’s a “newer” protocol, and requires the client</a:t>
            </a:r>
          </a:p>
          <a:p>
            <a:pPr>
              <a:spcAft>
                <a:spcPts val="1000"/>
              </a:spcAft>
            </a:pPr>
            <a:r>
              <a:rPr sz="1800" b="0">
                <a:solidFill>
                  <a:srgbClr val="161B26"/>
                </a:solidFill>
                <a:latin typeface="Arial"/>
              </a:rPr>
              <a:t>•  to indicate the hostname of the target server in the initial SSL handshake</a:t>
            </a:r>
          </a:p>
          <a:p>
            <a:pPr>
              <a:spcAft>
                <a:spcPts val="1000"/>
              </a:spcAft>
            </a:pPr>
            <a:r>
              <a:rPr sz="1800" b="0">
                <a:solidFill>
                  <a:srgbClr val="161B26"/>
                </a:solidFill>
                <a:latin typeface="Arial"/>
              </a:rPr>
              <a:t>•  The server will then find the correct certificate, or return the default one</a:t>
            </a:r>
          </a:p>
          <a:p>
            <a:pPr>
              <a:spcAft>
                <a:spcPts val="1000"/>
              </a:spcAft>
            </a:pPr>
            <a:r>
              <a:rPr sz="1800" b="0">
                <a:solidFill>
                  <a:srgbClr val="161B26"/>
                </a:solidFill>
                <a:latin typeface="Arial"/>
              </a:rPr>
              <a:t>•  Note:</a:t>
            </a:r>
          </a:p>
          <a:p>
            <a:pPr>
              <a:spcAft>
                <a:spcPts val="1000"/>
              </a:spcAft>
            </a:pPr>
            <a:r>
              <a:rPr sz="1800" b="0">
                <a:solidFill>
                  <a:srgbClr val="161B26"/>
                </a:solidFill>
                <a:latin typeface="Arial"/>
              </a:rPr>
              <a:t>•  Only works for ALB &amp; NLB (newer generation), CloudFront</a:t>
            </a:r>
          </a:p>
          <a:p>
            <a:pPr>
              <a:spcAft>
                <a:spcPts val="1000"/>
              </a:spcAft>
            </a:pPr>
            <a:r>
              <a:rPr sz="1800" b="0">
                <a:solidFill>
                  <a:srgbClr val="161B26"/>
                </a:solidFill>
                <a:latin typeface="Arial"/>
              </a:rPr>
              <a:t>•  Does not work for CLB (older gen)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SSL Cert: Domain1.example.com</a:t>
            </a:r>
          </a:p>
          <a:p>
            <a:pPr>
              <a:spcAft>
                <a:spcPts val="1000"/>
              </a:spcAft>
            </a:pPr>
            <a:r>
              <a:rPr sz="1800" b="0">
                <a:solidFill>
                  <a:srgbClr val="161B26"/>
                </a:solidFill>
                <a:latin typeface="Arial"/>
              </a:rPr>
              <a:t>•  SSL Cert: www.mycorp.com</a:t>
            </a:r>
          </a:p>
          <a:p>
            <a:pPr>
              <a:spcAft>
                <a:spcPts val="1000"/>
              </a:spcAft>
            </a:pPr>
            <a:r>
              <a:rPr sz="1800" b="0">
                <a:solidFill>
                  <a:srgbClr val="161B26"/>
                </a:solidFill>
                <a:latin typeface="Arial"/>
              </a:rPr>
              <a:t>•  I would like www.mycorp.com</a:t>
            </a:r>
          </a:p>
          <a:p>
            <a:pPr>
              <a:spcAft>
                <a:spcPts val="1000"/>
              </a:spcAft>
            </a:pPr>
            <a:r>
              <a:rPr sz="1800" b="0">
                <a:solidFill>
                  <a:srgbClr val="161B26"/>
                </a:solidFill>
                <a:latin typeface="Arial"/>
              </a:rPr>
              <a:t>•  Target group for www.mycorp.com</a:t>
            </a:r>
          </a:p>
          <a:p>
            <a:pPr>
              <a:spcAft>
                <a:spcPts val="1000"/>
              </a:spcAft>
            </a:pPr>
            <a:r>
              <a:rPr sz="1800" b="0">
                <a:solidFill>
                  <a:srgbClr val="161B26"/>
                </a:solidFill>
                <a:latin typeface="Arial"/>
              </a:rPr>
              <a:t>•  Target group for Domain1.example.com</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Use the correct SSL cert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Load Balancers - SSL Certificates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Classic Load Balancer (v1)</a:t>
            </a:r>
          </a:p>
          <a:p>
            <a:pPr>
              <a:spcAft>
                <a:spcPts val="1000"/>
              </a:spcAft>
            </a:pPr>
            <a:r>
              <a:rPr sz="1800" b="0">
                <a:solidFill>
                  <a:srgbClr val="161B26"/>
                </a:solidFill>
                <a:latin typeface="Arial"/>
              </a:rPr>
              <a:t>•  Support only one SSL certificate</a:t>
            </a:r>
          </a:p>
          <a:p>
            <a:pPr>
              <a:spcAft>
                <a:spcPts val="1000"/>
              </a:spcAft>
            </a:pPr>
            <a:r>
              <a:rPr sz="1800" b="0">
                <a:solidFill>
                  <a:srgbClr val="161B26"/>
                </a:solidFill>
                <a:latin typeface="Arial"/>
              </a:rPr>
              <a:t>•  Must use multiple CLB for multiple hostname with multiple SSL certificates</a:t>
            </a:r>
          </a:p>
          <a:p>
            <a:pPr>
              <a:spcAft>
                <a:spcPts val="1000"/>
              </a:spcAft>
            </a:pPr>
            <a:r>
              <a:rPr sz="1800" b="0">
                <a:solidFill>
                  <a:srgbClr val="161B26"/>
                </a:solidFill>
                <a:latin typeface="Arial"/>
              </a:rPr>
              <a:t>•  Application Load Balancer (v2)</a:t>
            </a:r>
          </a:p>
          <a:p>
            <a:pPr>
              <a:spcAft>
                <a:spcPts val="1000"/>
              </a:spcAft>
            </a:pPr>
            <a:r>
              <a:rPr sz="1800" b="0">
                <a:solidFill>
                  <a:srgbClr val="161B26"/>
                </a:solidFill>
                <a:latin typeface="Arial"/>
              </a:rPr>
              <a:t>•  Supports multiple listeners with multiple SSL certificates</a:t>
            </a:r>
          </a:p>
          <a:p>
            <a:pPr>
              <a:spcAft>
                <a:spcPts val="1000"/>
              </a:spcAft>
            </a:pPr>
            <a:r>
              <a:rPr sz="1800" b="0">
                <a:solidFill>
                  <a:srgbClr val="161B26"/>
                </a:solidFill>
                <a:latin typeface="Arial"/>
              </a:rPr>
              <a:t>•  Uses Server Name Indication (SNI) to make it work</a:t>
            </a:r>
          </a:p>
          <a:p>
            <a:pPr>
              <a:spcAft>
                <a:spcPts val="1000"/>
              </a:spcAft>
            </a:pPr>
            <a:r>
              <a:rPr sz="1800" b="0">
                <a:solidFill>
                  <a:srgbClr val="161B26"/>
                </a:solidFill>
                <a:latin typeface="Arial"/>
              </a:rPr>
              <a:t>•  Network Load Balancer (v2)</a:t>
            </a:r>
          </a:p>
          <a:p>
            <a:pPr>
              <a:spcAft>
                <a:spcPts val="1000"/>
              </a:spcAft>
            </a:pPr>
            <a:r>
              <a:rPr sz="1800" b="0">
                <a:solidFill>
                  <a:srgbClr val="161B26"/>
                </a:solidFill>
                <a:latin typeface="Arial"/>
              </a:rPr>
              <a:t>•  Supports multiple listeners with multiple SSL certificates</a:t>
            </a:r>
          </a:p>
          <a:p>
            <a:pPr>
              <a:spcAft>
                <a:spcPts val="1000"/>
              </a:spcAft>
            </a:pPr>
            <a:r>
              <a:rPr sz="1800" b="0">
                <a:solidFill>
                  <a:srgbClr val="161B26"/>
                </a:solidFill>
                <a:latin typeface="Arial"/>
              </a:rPr>
              <a:t>•  Uses Server Name Indication (SNI) to make it 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SSL/TLS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55197" y="1801368"/>
            <a:ext cx="90511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70_0.png"/>
          <p:cNvPicPr>
            <a:picLocks noChangeAspect="1"/>
          </p:cNvPicPr>
          <p:nvPr/>
        </p:nvPicPr>
        <p:blipFill>
          <a:blip r:embed="rId2"/>
          <a:stretch>
            <a:fillRect/>
          </a:stretch>
        </p:blipFill>
        <p:spPr>
          <a:xfrm>
            <a:off x="1582629" y="1828800"/>
            <a:ext cx="899626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Connection Draining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Feature naming</a:t>
            </a:r>
          </a:p>
          <a:p>
            <a:pPr>
              <a:spcAft>
                <a:spcPts val="1000"/>
              </a:spcAft>
            </a:pPr>
            <a:r>
              <a:rPr sz="1800" b="0">
                <a:solidFill>
                  <a:srgbClr val="161B26"/>
                </a:solidFill>
                <a:latin typeface="Arial"/>
              </a:rPr>
              <a:t>•  Connection Draining – for CLB</a:t>
            </a:r>
          </a:p>
          <a:p>
            <a:pPr>
              <a:spcAft>
                <a:spcPts val="1000"/>
              </a:spcAft>
            </a:pPr>
            <a:r>
              <a:rPr sz="1800" b="0">
                <a:solidFill>
                  <a:srgbClr val="161B26"/>
                </a:solidFill>
                <a:latin typeface="Arial"/>
              </a:rPr>
              <a:t>•  Deregistration Delay – for ALB &amp; NLB</a:t>
            </a:r>
          </a:p>
          <a:p>
            <a:pPr>
              <a:spcAft>
                <a:spcPts val="1000"/>
              </a:spcAft>
            </a:pPr>
            <a:r>
              <a:rPr sz="1800" b="0">
                <a:solidFill>
                  <a:srgbClr val="161B26"/>
                </a:solidFill>
                <a:latin typeface="Arial"/>
              </a:rPr>
              <a:t>•  Time to complete “in-flight requests” while the instance is de-registering or unhealthy</a:t>
            </a:r>
          </a:p>
          <a:p>
            <a:pPr>
              <a:spcAft>
                <a:spcPts val="1000"/>
              </a:spcAft>
            </a:pPr>
            <a:r>
              <a:rPr sz="1800" b="0">
                <a:solidFill>
                  <a:srgbClr val="161B26"/>
                </a:solidFill>
                <a:latin typeface="Arial"/>
              </a:rPr>
              <a:t>•  Stops sending new requests to the EC2 instance which is de-registering</a:t>
            </a:r>
          </a:p>
          <a:p>
            <a:pPr>
              <a:spcAft>
                <a:spcPts val="1000"/>
              </a:spcAft>
            </a:pPr>
            <a:r>
              <a:rPr sz="1800" b="0">
                <a:solidFill>
                  <a:srgbClr val="161B26"/>
                </a:solidFill>
                <a:latin typeface="Arial"/>
              </a:rPr>
              <a:t>•  Between 1 to 3600 seconds (default: 300 	seconds)</a:t>
            </a:r>
          </a:p>
          <a:p>
            <a:pPr>
              <a:spcAft>
                <a:spcPts val="1000"/>
              </a:spcAft>
            </a:pPr>
            <a:r>
              <a:rPr sz="1800" b="0">
                <a:solidFill>
                  <a:srgbClr val="161B26"/>
                </a:solidFill>
                <a:latin typeface="Arial"/>
              </a:rPr>
              <a:t>•  Can be disabled (set value to 0)</a:t>
            </a:r>
          </a:p>
          <a:p>
            <a:pPr>
              <a:spcAft>
                <a:spcPts val="1000"/>
              </a:spcAft>
            </a:pPr>
            <a:r>
              <a:rPr sz="1800" b="0">
                <a:solidFill>
                  <a:srgbClr val="161B26"/>
                </a:solidFill>
                <a:latin typeface="Arial"/>
              </a:rPr>
              <a:t>•  Set to a low value if your requests are short</a:t>
            </a:r>
          </a:p>
          <a:p>
            <a:pPr>
              <a:spcAft>
                <a:spcPts val="1000"/>
              </a:spcAft>
            </a:pPr>
            <a:r>
              <a:rPr sz="1800" b="0">
                <a:solidFill>
                  <a:srgbClr val="161B26"/>
                </a:solidFill>
                <a:latin typeface="Arial"/>
              </a:rPr>
              <a:t>•  ELB</a:t>
            </a:r>
          </a:p>
          <a:p>
            <a:pPr>
              <a:spcAft>
                <a:spcPts val="1000"/>
              </a:spcAft>
            </a:pPr>
            <a:r>
              <a:rPr sz="1800" b="0">
                <a:solidFill>
                  <a:srgbClr val="161B26"/>
                </a:solidFill>
                <a:latin typeface="Arial"/>
              </a:rPr>
              <a:t>•  waiting for existing</a:t>
            </a:r>
          </a:p>
          <a:p>
            <a:pPr>
              <a:spcAft>
                <a:spcPts val="1000"/>
              </a:spcAft>
            </a:pPr>
            <a:r>
              <a:rPr sz="1800" b="0">
                <a:solidFill>
                  <a:srgbClr val="161B26"/>
                </a:solidFill>
                <a:latin typeface="Arial"/>
              </a:rPr>
              <a:t>•  connections to complete</a:t>
            </a:r>
          </a:p>
          <a:p>
            <a:pPr>
              <a:spcAft>
                <a:spcPts val="1000"/>
              </a:spcAft>
            </a:pPr>
            <a:r>
              <a:rPr sz="1800" b="0">
                <a:solidFill>
                  <a:srgbClr val="161B26"/>
                </a:solidFill>
                <a:latin typeface="Arial"/>
              </a:rPr>
              <a:t>•  new connections</a:t>
            </a:r>
          </a:p>
          <a:p>
            <a:pPr>
              <a:spcAft>
                <a:spcPts val="1000"/>
              </a:spcAft>
            </a:pPr>
            <a:r>
              <a:rPr sz="1800" b="0">
                <a:solidFill>
                  <a:srgbClr val="161B26"/>
                </a:solidFill>
                <a:latin typeface="Arial"/>
              </a:rPr>
              <a:t>•  established to all other instances</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DRAINING</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ELB 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Target Health Status</a:t>
            </a:r>
          </a:p>
          <a:p>
            <a:pPr>
              <a:spcAft>
                <a:spcPts val="1000"/>
              </a:spcAft>
            </a:pPr>
            <a:r>
              <a:rPr sz="1800" b="0">
                <a:solidFill>
                  <a:srgbClr val="161B26"/>
                </a:solidFill>
                <a:latin typeface="Arial"/>
              </a:rPr>
              <a:t>•  Initial: registering the target</a:t>
            </a:r>
          </a:p>
          <a:p>
            <a:pPr>
              <a:spcAft>
                <a:spcPts val="1000"/>
              </a:spcAft>
            </a:pPr>
            <a:r>
              <a:rPr sz="1800" b="0">
                <a:solidFill>
                  <a:srgbClr val="161B26"/>
                </a:solidFill>
                <a:latin typeface="Arial"/>
              </a:rPr>
              <a:t>•  Healthy</a:t>
            </a:r>
          </a:p>
          <a:p>
            <a:pPr>
              <a:spcAft>
                <a:spcPts val="1000"/>
              </a:spcAft>
            </a:pPr>
            <a:r>
              <a:rPr sz="1800" b="0">
                <a:solidFill>
                  <a:srgbClr val="161B26"/>
                </a:solidFill>
                <a:latin typeface="Arial"/>
              </a:rPr>
              <a:t>•  Unhealthy</a:t>
            </a:r>
          </a:p>
          <a:p>
            <a:pPr>
              <a:spcAft>
                <a:spcPts val="1000"/>
              </a:spcAft>
            </a:pPr>
            <a:r>
              <a:rPr sz="1800" b="0">
                <a:solidFill>
                  <a:srgbClr val="161B26"/>
                </a:solidFill>
                <a:latin typeface="Arial"/>
              </a:rPr>
              <a:t>•  Unused: target is not registered</a:t>
            </a:r>
          </a:p>
          <a:p>
            <a:pPr>
              <a:spcAft>
                <a:spcPts val="1000"/>
              </a:spcAft>
            </a:pPr>
            <a:r>
              <a:rPr sz="1800" b="0">
                <a:solidFill>
                  <a:srgbClr val="161B26"/>
                </a:solidFill>
                <a:latin typeface="Arial"/>
              </a:rPr>
              <a:t>•  Draining: de-registering the target</a:t>
            </a:r>
          </a:p>
          <a:p>
            <a:pPr>
              <a:spcAft>
                <a:spcPts val="1000"/>
              </a:spcAft>
            </a:pPr>
            <a:r>
              <a:rPr sz="1800" b="0">
                <a:solidFill>
                  <a:srgbClr val="161B26"/>
                </a:solidFill>
                <a:latin typeface="Arial"/>
              </a:rPr>
              <a:t>•  unavailable: health checks disabled</a:t>
            </a:r>
          </a:p>
          <a:p>
            <a:pPr>
              <a:spcAft>
                <a:spcPts val="1000"/>
              </a:spcAft>
            </a:pPr>
            <a:r>
              <a:rPr sz="1800" b="0">
                <a:solidFill>
                  <a:srgbClr val="161B26"/>
                </a:solidFill>
                <a:latin typeface="Arial"/>
              </a:rPr>
              <a:t>•  If a group contains only unhealthy targets, ELB routes requests across its unhealthy targets</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Setting</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Description</a:t>
            </a:r>
          </a:p>
          <a:p>
            <a:pPr>
              <a:spcAft>
                <a:spcPts val="1000"/>
              </a:spcAft>
            </a:pPr>
            <a:r>
              <a:rPr sz="1800" b="0">
                <a:solidFill>
                  <a:srgbClr val="161B26"/>
                </a:solidFill>
                <a:latin typeface="Arial"/>
              </a:rPr>
              <a:t>•  HealthCheckProtocol</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Protocol used to perform health checks</a:t>
            </a:r>
          </a:p>
          <a:p>
            <a:pPr>
              <a:spcAft>
                <a:spcPts val="1000"/>
              </a:spcAft>
            </a:pPr>
            <a:r>
              <a:rPr sz="1800" b="0">
                <a:solidFill>
                  <a:srgbClr val="161B26"/>
                </a:solidFill>
                <a:latin typeface="Arial"/>
              </a:rPr>
              <a:t>•  HealthCheckPort</a:t>
            </a:r>
          </a:p>
          <a:p>
            <a:pPr>
              <a:spcAft>
                <a:spcPts val="1000"/>
              </a:spcAft>
            </a:pPr>
            <a:r>
              <a:rPr sz="1800" b="0">
                <a:solidFill>
                  <a:srgbClr val="161B26"/>
                </a:solidFill>
                <a:latin typeface="Arial"/>
              </a:rPr>
              <a:t>•  80</a:t>
            </a:r>
          </a:p>
          <a:p>
            <a:pPr>
              <a:spcAft>
                <a:spcPts val="1000"/>
              </a:spcAft>
            </a:pPr>
            <a:r>
              <a:rPr sz="1800" b="0">
                <a:solidFill>
                  <a:srgbClr val="161B26"/>
                </a:solidFill>
                <a:latin typeface="Arial"/>
              </a:rPr>
              <a:t>•  Port used to perform health checks</a:t>
            </a:r>
          </a:p>
          <a:p>
            <a:pPr>
              <a:spcAft>
                <a:spcPts val="1000"/>
              </a:spcAft>
            </a:pPr>
            <a:r>
              <a:rPr sz="1800" b="0">
                <a:solidFill>
                  <a:srgbClr val="161B26"/>
                </a:solidFill>
                <a:latin typeface="Arial"/>
              </a:rPr>
              <a:t>•  HealthCheckPath</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Destination for health checks on targets</a:t>
            </a:r>
          </a:p>
          <a:p>
            <a:pPr>
              <a:spcAft>
                <a:spcPts val="1000"/>
              </a:spcAft>
            </a:pPr>
            <a:r>
              <a:rPr sz="1800" b="0">
                <a:solidFill>
                  <a:srgbClr val="161B26"/>
                </a:solidFill>
                <a:latin typeface="Arial"/>
              </a:rPr>
              <a:t>•  HealthCheckTimeoutSeconds     5</a:t>
            </a:r>
          </a:p>
          <a:p>
            <a:pPr>
              <a:spcAft>
                <a:spcPts val="1000"/>
              </a:spcAft>
            </a:pPr>
            <a:r>
              <a:rPr sz="1800" b="0">
                <a:solidFill>
                  <a:srgbClr val="161B26"/>
                </a:solidFill>
                <a:latin typeface="Arial"/>
              </a:rPr>
              <a:t>•  Consider the health check failed if no response after 5 seconds</a:t>
            </a:r>
          </a:p>
          <a:p>
            <a:pPr>
              <a:spcAft>
                <a:spcPts val="1000"/>
              </a:spcAft>
            </a:pPr>
            <a:r>
              <a:rPr sz="1800" b="0">
                <a:solidFill>
                  <a:srgbClr val="161B26"/>
                </a:solidFill>
                <a:latin typeface="Arial"/>
              </a:rPr>
              <a:t>•  HealthCheckIntervalSeconds      30</a:t>
            </a:r>
          </a:p>
          <a:p>
            <a:pPr>
              <a:spcAft>
                <a:spcPts val="1000"/>
              </a:spcAft>
            </a:pPr>
            <a:r>
              <a:rPr sz="1800" b="0">
                <a:solidFill>
                  <a:srgbClr val="161B26"/>
                </a:solidFill>
                <a:latin typeface="Arial"/>
              </a:rPr>
              <a:t>•  Send health check every 30 seconds</a:t>
            </a:r>
          </a:p>
          <a:p>
            <a:pPr>
              <a:spcAft>
                <a:spcPts val="1000"/>
              </a:spcAft>
            </a:pPr>
            <a:r>
              <a:rPr sz="1800" b="0">
                <a:solidFill>
                  <a:srgbClr val="161B26"/>
                </a:solidFill>
                <a:latin typeface="Arial"/>
              </a:rPr>
              <a:t>•  HealthyThresholdCount</a:t>
            </a:r>
          </a:p>
          <a:p>
            <a:pPr>
              <a:spcAft>
                <a:spcPts val="1000"/>
              </a:spcAft>
            </a:pPr>
            <a:r>
              <a:rPr sz="1800" b="0">
                <a:solidFill>
                  <a:srgbClr val="161B26"/>
                </a:solidFill>
                <a:latin typeface="Arial"/>
              </a:rPr>
              <a:t>•  3</a:t>
            </a:r>
          </a:p>
          <a:p>
            <a:pPr>
              <a:spcAft>
                <a:spcPts val="1000"/>
              </a:spcAft>
            </a:pPr>
            <a:r>
              <a:rPr sz="1800" b="0">
                <a:solidFill>
                  <a:srgbClr val="161B26"/>
                </a:solidFill>
                <a:latin typeface="Arial"/>
              </a:rPr>
              <a:t>•  Consider the target healthy after 3 successful health checks</a:t>
            </a:r>
          </a:p>
          <a:p>
            <a:pPr>
              <a:spcAft>
                <a:spcPts val="1000"/>
              </a:spcAft>
            </a:pPr>
            <a:r>
              <a:rPr sz="1800" b="0">
                <a:solidFill>
                  <a:srgbClr val="161B26"/>
                </a:solidFill>
                <a:latin typeface="Arial"/>
              </a:rPr>
              <a:t>•  UnhealthyThresholdCount</a:t>
            </a:r>
          </a:p>
          <a:p>
            <a:pPr>
              <a:spcAft>
                <a:spcPts val="1000"/>
              </a:spcAft>
            </a:pPr>
            <a:r>
              <a:rPr sz="1800" b="0">
                <a:solidFill>
                  <a:srgbClr val="161B26"/>
                </a:solidFill>
                <a:latin typeface="Arial"/>
              </a:rPr>
              <a:t>•  5</a:t>
            </a:r>
          </a:p>
          <a:p>
            <a:pPr>
              <a:spcAft>
                <a:spcPts val="1000"/>
              </a:spcAft>
            </a:pPr>
            <a:r>
              <a:rPr sz="1800" b="0">
                <a:solidFill>
                  <a:srgbClr val="161B26"/>
                </a:solidFill>
                <a:latin typeface="Arial"/>
              </a:rPr>
              <a:t>•  Consider the target unhealthy after 5 failed health checks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Load	Balancer Error codes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Successful request : Code 200.</a:t>
            </a:r>
          </a:p>
          <a:p>
            <a:pPr>
              <a:spcAft>
                <a:spcPts val="1000"/>
              </a:spcAft>
            </a:pPr>
            <a:r>
              <a:rPr sz="1800" b="0">
                <a:solidFill>
                  <a:srgbClr val="161B26"/>
                </a:solidFill>
                <a:latin typeface="Arial"/>
              </a:rPr>
              <a:t>•  Unsuccessful at client side : 4XX code.</a:t>
            </a:r>
          </a:p>
          <a:p>
            <a:pPr>
              <a:spcAft>
                <a:spcPts val="1000"/>
              </a:spcAft>
            </a:pPr>
            <a:r>
              <a:rPr sz="1800" b="0">
                <a:solidFill>
                  <a:srgbClr val="161B26"/>
                </a:solidFill>
                <a:latin typeface="Arial"/>
              </a:rPr>
              <a:t>•  Error 400 : Bad Request</a:t>
            </a:r>
          </a:p>
          <a:p>
            <a:pPr>
              <a:spcAft>
                <a:spcPts val="1000"/>
              </a:spcAft>
            </a:pPr>
            <a:r>
              <a:rPr sz="1800" b="0">
                <a:solidFill>
                  <a:srgbClr val="161B26"/>
                </a:solidFill>
                <a:latin typeface="Arial"/>
              </a:rPr>
              <a:t>•  Error 401 : Unauthorized</a:t>
            </a:r>
          </a:p>
          <a:p>
            <a:pPr>
              <a:spcAft>
                <a:spcPts val="1000"/>
              </a:spcAft>
            </a:pPr>
            <a:r>
              <a:rPr sz="1800" b="0">
                <a:solidFill>
                  <a:srgbClr val="161B26"/>
                </a:solidFill>
                <a:latin typeface="Arial"/>
              </a:rPr>
              <a:t>•  Error 403 : Forbidden</a:t>
            </a:r>
          </a:p>
          <a:p>
            <a:pPr>
              <a:spcAft>
                <a:spcPts val="1000"/>
              </a:spcAft>
            </a:pPr>
            <a:r>
              <a:rPr sz="1800" b="0">
                <a:solidFill>
                  <a:srgbClr val="161B26"/>
                </a:solidFill>
                <a:latin typeface="Arial"/>
              </a:rPr>
              <a:t>•  Error 460 : Client closed connection.</a:t>
            </a:r>
          </a:p>
          <a:p>
            <a:pPr>
              <a:spcAft>
                <a:spcPts val="1000"/>
              </a:spcAft>
            </a:pPr>
            <a:r>
              <a:rPr sz="1800" b="0">
                <a:solidFill>
                  <a:srgbClr val="161B26"/>
                </a:solidFill>
                <a:latin typeface="Arial"/>
              </a:rPr>
              <a:t>•  Error 463 : X-Forwarded For header with &gt;30 IP (Similar to malformed request).</a:t>
            </a:r>
          </a:p>
          <a:p>
            <a:pPr>
              <a:spcAft>
                <a:spcPts val="1000"/>
              </a:spcAft>
            </a:pPr>
            <a:r>
              <a:rPr sz="1800" b="0">
                <a:solidFill>
                  <a:srgbClr val="161B26"/>
                </a:solidFill>
                <a:latin typeface="Arial"/>
              </a:rPr>
              <a:t>•  Unsuccessful at server side : 5xx code.</a:t>
            </a:r>
          </a:p>
          <a:p>
            <a:pPr>
              <a:spcAft>
                <a:spcPts val="1000"/>
              </a:spcAft>
            </a:pPr>
            <a:r>
              <a:rPr sz="1800" b="0">
                <a:solidFill>
                  <a:srgbClr val="161B26"/>
                </a:solidFill>
                <a:latin typeface="Arial"/>
              </a:rPr>
              <a:t>•  An error 500 / Internal server error would mean some error on the ELB itself.</a:t>
            </a:r>
          </a:p>
          <a:p>
            <a:pPr>
              <a:spcAft>
                <a:spcPts val="1000"/>
              </a:spcAft>
            </a:pPr>
            <a:r>
              <a:rPr sz="1800" b="0">
                <a:solidFill>
                  <a:srgbClr val="161B26"/>
                </a:solidFill>
                <a:latin typeface="Arial"/>
              </a:rPr>
              <a:t>•  Error 502 : Bad Gateway</a:t>
            </a:r>
          </a:p>
          <a:p>
            <a:pPr>
              <a:spcAft>
                <a:spcPts val="1000"/>
              </a:spcAft>
            </a:pPr>
            <a:r>
              <a:rPr sz="1800" b="0">
                <a:solidFill>
                  <a:srgbClr val="161B26"/>
                </a:solidFill>
                <a:latin typeface="Arial"/>
              </a:rPr>
              <a:t>•  An error 503/ Service Unavailable</a:t>
            </a:r>
          </a:p>
          <a:p>
            <a:pPr>
              <a:spcAft>
                <a:spcPts val="1000"/>
              </a:spcAft>
            </a:pPr>
            <a:r>
              <a:rPr sz="1800" b="0">
                <a:solidFill>
                  <a:srgbClr val="161B26"/>
                </a:solidFill>
                <a:latin typeface="Arial"/>
              </a:rPr>
              <a:t>•  Error 504 / Gateway timeout : probably an issue within the server.</a:t>
            </a:r>
          </a:p>
          <a:p>
            <a:pPr>
              <a:spcAft>
                <a:spcPts val="1000"/>
              </a:spcAft>
            </a:pPr>
            <a:r>
              <a:rPr sz="1800" b="0">
                <a:solidFill>
                  <a:srgbClr val="161B26"/>
                </a:solidFill>
                <a:latin typeface="Arial"/>
              </a:rPr>
              <a:t>•  Error 561 : Unauthorized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Health Check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5193" y="1801368"/>
            <a:ext cx="99111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74_0.png"/>
          <p:cNvPicPr>
            <a:picLocks noChangeAspect="1"/>
          </p:cNvPicPr>
          <p:nvPr/>
        </p:nvPicPr>
        <p:blipFill>
          <a:blip r:embed="rId2"/>
          <a:stretch>
            <a:fillRect/>
          </a:stretch>
        </p:blipFill>
        <p:spPr>
          <a:xfrm>
            <a:off x="1152625" y="1828800"/>
            <a:ext cx="98562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Load Balancers Monitoring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 Load Balancer metrics are directly pushed to CloudWatch metrics</a:t>
            </a:r>
          </a:p>
          <a:p>
            <a:pPr>
              <a:spcAft>
                <a:spcPts val="1000"/>
              </a:spcAft>
            </a:pPr>
            <a:r>
              <a:rPr sz="1800" b="0">
                <a:solidFill>
                  <a:srgbClr val="161B26"/>
                </a:solidFill>
                <a:latin typeface="Arial"/>
              </a:rPr>
              <a:t>•  BackendConnectionErrors</a:t>
            </a:r>
          </a:p>
          <a:p>
            <a:pPr>
              <a:spcAft>
                <a:spcPts val="1000"/>
              </a:spcAft>
            </a:pPr>
            <a:r>
              <a:rPr sz="1800" b="0">
                <a:solidFill>
                  <a:srgbClr val="161B26"/>
                </a:solidFill>
                <a:latin typeface="Arial"/>
              </a:rPr>
              <a:t>•  HealthyHostCount / UnHealthyHostCount</a:t>
            </a:r>
          </a:p>
          <a:p>
            <a:pPr>
              <a:spcAft>
                <a:spcPts val="1000"/>
              </a:spcAft>
            </a:pPr>
            <a:r>
              <a:rPr sz="1800" b="0">
                <a:solidFill>
                  <a:srgbClr val="161B26"/>
                </a:solidFill>
                <a:latin typeface="Arial"/>
              </a:rPr>
              <a:t>•  HTTPCode_Backend_2XX: Successful request.</a:t>
            </a:r>
          </a:p>
          <a:p>
            <a:pPr>
              <a:spcAft>
                <a:spcPts val="1000"/>
              </a:spcAft>
            </a:pPr>
            <a:r>
              <a:rPr sz="1800" b="0">
                <a:solidFill>
                  <a:srgbClr val="161B26"/>
                </a:solidFill>
                <a:latin typeface="Arial"/>
              </a:rPr>
              <a:t>•  HTTPCode_Backend_3XX, redirected request</a:t>
            </a:r>
          </a:p>
          <a:p>
            <a:pPr>
              <a:spcAft>
                <a:spcPts val="1000"/>
              </a:spcAft>
            </a:pPr>
            <a:r>
              <a:rPr sz="1800" b="0">
                <a:solidFill>
                  <a:srgbClr val="161B26"/>
                </a:solidFill>
                <a:latin typeface="Arial"/>
              </a:rPr>
              <a:t>•  HTTPCode_ELB_4XX: Client error codes</a:t>
            </a:r>
          </a:p>
          <a:p>
            <a:pPr>
              <a:spcAft>
                <a:spcPts val="1000"/>
              </a:spcAft>
            </a:pPr>
            <a:r>
              <a:rPr sz="1800" b="0">
                <a:solidFill>
                  <a:srgbClr val="161B26"/>
                </a:solidFill>
                <a:latin typeface="Arial"/>
              </a:rPr>
              <a:t>•  HTTPCode_ELB_5XX:</a:t>
            </a:r>
          </a:p>
          <a:p>
            <a:pPr>
              <a:spcAft>
                <a:spcPts val="1000"/>
              </a:spcAft>
            </a:pPr>
            <a:r>
              <a:rPr sz="1800" b="0">
                <a:solidFill>
                  <a:srgbClr val="161B26"/>
                </a:solidFill>
                <a:latin typeface="Arial"/>
              </a:rPr>
              <a:t>•  Server error codes generated by the load balancer.</a:t>
            </a:r>
          </a:p>
          <a:p>
            <a:pPr>
              <a:spcAft>
                <a:spcPts val="1000"/>
              </a:spcAft>
            </a:pPr>
            <a:r>
              <a:rPr sz="1800" b="0">
                <a:solidFill>
                  <a:srgbClr val="161B26"/>
                </a:solidFill>
                <a:latin typeface="Arial"/>
              </a:rPr>
              <a:t>•  Latency</a:t>
            </a:r>
          </a:p>
          <a:p>
            <a:pPr>
              <a:spcAft>
                <a:spcPts val="1000"/>
              </a:spcAft>
            </a:pPr>
            <a:r>
              <a:rPr sz="1800" b="0">
                <a:solidFill>
                  <a:srgbClr val="161B26"/>
                </a:solidFill>
                <a:latin typeface="Arial"/>
              </a:rPr>
              <a:t>•  RequestCount</a:t>
            </a:r>
          </a:p>
          <a:p>
            <a:pPr>
              <a:spcAft>
                <a:spcPts val="1000"/>
              </a:spcAft>
            </a:pPr>
            <a:r>
              <a:rPr sz="1800" b="0">
                <a:solidFill>
                  <a:srgbClr val="161B26"/>
                </a:solidFill>
                <a:latin typeface="Arial"/>
              </a:rPr>
              <a:t>•  ReuqestCountPerTarget:</a:t>
            </a:r>
          </a:p>
          <a:p>
            <a:pPr>
              <a:spcAft>
                <a:spcPts val="1000"/>
              </a:spcAft>
            </a:pPr>
            <a:r>
              <a:rPr sz="1800" b="0">
                <a:solidFill>
                  <a:srgbClr val="161B26"/>
                </a:solidFill>
                <a:latin typeface="Arial"/>
              </a:rPr>
              <a:t>•  SurgeQueueLength: the total</a:t>
            </a:r>
          </a:p>
          <a:p>
            <a:pPr>
              <a:spcAft>
                <a:spcPts val="1000"/>
              </a:spcAft>
            </a:pPr>
            <a:r>
              <a:rPr sz="1800" b="0">
                <a:solidFill>
                  <a:srgbClr val="161B26"/>
                </a:solidFill>
                <a:latin typeface="Arial"/>
              </a:rPr>
              <a:t>•  number of requests (HTTP listener) or connections (TCP</a:t>
            </a:r>
          </a:p>
          <a:p>
            <a:pPr>
              <a:spcAft>
                <a:spcPts val="1000"/>
              </a:spcAft>
            </a:pPr>
            <a:r>
              <a:rPr sz="1800" b="0">
                <a:solidFill>
                  <a:srgbClr val="161B26"/>
                </a:solidFill>
                <a:latin typeface="Arial"/>
              </a:rPr>
              <a:t>•  listener) that are pending routing to a healthy instance.</a:t>
            </a:r>
          </a:p>
          <a:p>
            <a:pPr>
              <a:spcAft>
                <a:spcPts val="1000"/>
              </a:spcAft>
            </a:pPr>
            <a:r>
              <a:rPr sz="1800" b="0">
                <a:solidFill>
                  <a:srgbClr val="161B26"/>
                </a:solidFill>
                <a:latin typeface="Arial"/>
              </a:rPr>
              <a:t>•  Help to scale out ASG. Max value is 1024</a:t>
            </a:r>
          </a:p>
          <a:p>
            <a:pPr>
              <a:spcAft>
                <a:spcPts val="1000"/>
              </a:spcAft>
            </a:pPr>
            <a:r>
              <a:rPr sz="1800" b="0">
                <a:solidFill>
                  <a:srgbClr val="161B26"/>
                </a:solidFill>
                <a:latin typeface="Arial"/>
              </a:rPr>
              <a:t>•  SpilloverCount: The total number of requests that were</a:t>
            </a:r>
          </a:p>
          <a:p>
            <a:pPr>
              <a:spcAft>
                <a:spcPts val="1000"/>
              </a:spcAft>
            </a:pPr>
            <a:r>
              <a:rPr sz="1800" b="0">
                <a:solidFill>
                  <a:srgbClr val="161B26"/>
                </a:solidFill>
                <a:latin typeface="Arial"/>
              </a:rPr>
              <a:t>•  rejected because the surge queue is full.</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Target Group 1</a:t>
            </a:r>
          </a:p>
          <a:p>
            <a:pPr>
              <a:spcAft>
                <a:spcPts val="1000"/>
              </a:spcAft>
            </a:pPr>
            <a:r>
              <a:rPr sz="1800" b="0">
                <a:solidFill>
                  <a:srgbClr val="161B26"/>
                </a:solidFill>
                <a:latin typeface="Arial"/>
              </a:rPr>
              <a:t>•  Health Checks</a:t>
            </a:r>
          </a:p>
          <a:p>
            <a:pPr>
              <a:spcAft>
                <a:spcPts val="1000"/>
              </a:spcAft>
            </a:pPr>
            <a:r>
              <a:rPr sz="1800" b="0">
                <a:solidFill>
                  <a:srgbClr val="161B26"/>
                </a:solidFill>
                <a:latin typeface="Arial"/>
              </a:rPr>
              <a:t>•  HealthyHostCount: 4</a:t>
            </a:r>
          </a:p>
          <a:p>
            <a:pPr>
              <a:spcAft>
                <a:spcPts val="1000"/>
              </a:spcAft>
            </a:pPr>
            <a:r>
              <a:rPr sz="1800" b="0">
                <a:solidFill>
                  <a:srgbClr val="161B26"/>
                </a:solidFill>
                <a:latin typeface="Arial"/>
              </a:rPr>
              <a:t>•  UnHealthyHostCount: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Load Balancer troubleshooting using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 400: BAD_REQUEST=&gt; The client sent a malformed request that does not meet HTTP specifications.</a:t>
            </a:r>
          </a:p>
          <a:p>
            <a:pPr>
              <a:spcAft>
                <a:spcPts val="1000"/>
              </a:spcAft>
            </a:pPr>
            <a:r>
              <a:rPr sz="2000" b="0">
                <a:solidFill>
                  <a:srgbClr val="161B26"/>
                </a:solidFill>
                <a:latin typeface="Arial"/>
              </a:rPr>
              <a:t>•  HTTP 503: Service Unavailable =&gt; Ensure that you have healthy instances in</a:t>
            </a:r>
          </a:p>
          <a:p>
            <a:pPr>
              <a:spcAft>
                <a:spcPts val="1000"/>
              </a:spcAft>
            </a:pPr>
            <a:r>
              <a:rPr sz="2000" b="0">
                <a:solidFill>
                  <a:srgbClr val="161B26"/>
                </a:solidFill>
                <a:latin typeface="Arial"/>
              </a:rPr>
              <a:t>•  every Availability Zone that your load balancer is configured to respond in. Look for HealthyHostCount in CloudWatch</a:t>
            </a:r>
          </a:p>
          <a:p>
            <a:pPr>
              <a:spcAft>
                <a:spcPts val="1000"/>
              </a:spcAft>
            </a:pPr>
            <a:r>
              <a:rPr sz="2000" b="0">
                <a:solidFill>
                  <a:srgbClr val="161B26"/>
                </a:solidFill>
                <a:latin typeface="Arial"/>
              </a:rPr>
              <a:t>•  HTTP 504: Gateway Timeout =&gt; Check if keep-alive settings on your EC2</a:t>
            </a:r>
          </a:p>
          <a:p>
            <a:pPr>
              <a:spcAft>
                <a:spcPts val="1000"/>
              </a:spcAft>
            </a:pPr>
            <a:r>
              <a:rPr sz="2000" b="0">
                <a:solidFill>
                  <a:srgbClr val="161B26"/>
                </a:solidFill>
                <a:latin typeface="Arial"/>
              </a:rPr>
              <a:t>•  instances are enabled and make sure that the keep-alive timeout is greater than the idle timeout settings of load balancer.</a:t>
            </a:r>
          </a:p>
          <a:p>
            <a:pPr>
              <a:spcAft>
                <a:spcPts val="1000"/>
              </a:spcAft>
            </a:pPr>
            <a:r>
              <a:rPr sz="2000" b="0">
                <a:solidFill>
                  <a:srgbClr val="161B26"/>
                </a:solidFill>
                <a:latin typeface="Arial"/>
              </a:rPr>
              <a:t>•  Set alarms &amp; look at the documentation for troubleshooting: https://docs.aws.amazon.com/elasticloadbalancing/latest/classic/ts-elb-error- message.html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Load Balancers Access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Access logs from Load Balancers can be stored in S3 and contain:</a:t>
            </a:r>
          </a:p>
          <a:p>
            <a:pPr>
              <a:spcAft>
                <a:spcPts val="1000"/>
              </a:spcAft>
            </a:pPr>
            <a:r>
              <a:rPr sz="1800" b="0">
                <a:solidFill>
                  <a:srgbClr val="161B26"/>
                </a:solidFill>
                <a:latin typeface="Arial"/>
              </a:rPr>
              <a:t>•  Time</a:t>
            </a:r>
          </a:p>
          <a:p>
            <a:pPr>
              <a:spcAft>
                <a:spcPts val="1000"/>
              </a:spcAft>
            </a:pPr>
            <a:r>
              <a:rPr sz="1800" b="0">
                <a:solidFill>
                  <a:srgbClr val="161B26"/>
                </a:solidFill>
                <a:latin typeface="Arial"/>
              </a:rPr>
              <a:t>•  Client IP address</a:t>
            </a:r>
          </a:p>
          <a:p>
            <a:pPr>
              <a:spcAft>
                <a:spcPts val="1000"/>
              </a:spcAft>
            </a:pPr>
            <a:r>
              <a:rPr sz="1800" b="0">
                <a:solidFill>
                  <a:srgbClr val="161B26"/>
                </a:solidFill>
                <a:latin typeface="Arial"/>
              </a:rPr>
              <a:t>•  Latencies</a:t>
            </a:r>
          </a:p>
          <a:p>
            <a:pPr>
              <a:spcAft>
                <a:spcPts val="1000"/>
              </a:spcAft>
            </a:pPr>
            <a:r>
              <a:rPr sz="1800" b="0">
                <a:solidFill>
                  <a:srgbClr val="161B26"/>
                </a:solidFill>
                <a:latin typeface="Arial"/>
              </a:rPr>
              <a:t>•  Request paths</a:t>
            </a:r>
          </a:p>
          <a:p>
            <a:pPr>
              <a:spcAft>
                <a:spcPts val="1000"/>
              </a:spcAft>
            </a:pPr>
            <a:r>
              <a:rPr sz="1800" b="0">
                <a:solidFill>
                  <a:srgbClr val="161B26"/>
                </a:solidFill>
                <a:latin typeface="Arial"/>
              </a:rPr>
              <a:t>•  Server response</a:t>
            </a:r>
          </a:p>
          <a:p>
            <a:pPr>
              <a:spcAft>
                <a:spcPts val="1000"/>
              </a:spcAft>
            </a:pPr>
            <a:r>
              <a:rPr sz="1800" b="0">
                <a:solidFill>
                  <a:srgbClr val="161B26"/>
                </a:solidFill>
                <a:latin typeface="Arial"/>
              </a:rPr>
              <a:t>•  Trace Id</a:t>
            </a:r>
          </a:p>
          <a:p>
            <a:pPr>
              <a:spcAft>
                <a:spcPts val="1000"/>
              </a:spcAft>
            </a:pPr>
            <a:r>
              <a:rPr sz="1800" b="0">
                <a:solidFill>
                  <a:srgbClr val="161B26"/>
                </a:solidFill>
                <a:latin typeface="Arial"/>
              </a:rPr>
              <a:t>•  Only pay for the S3 storage</a:t>
            </a:r>
          </a:p>
          <a:p>
            <a:pPr>
              <a:spcAft>
                <a:spcPts val="1000"/>
              </a:spcAft>
            </a:pPr>
            <a:r>
              <a:rPr sz="1800" b="0">
                <a:solidFill>
                  <a:srgbClr val="161B26"/>
                </a:solidFill>
                <a:latin typeface="Arial"/>
              </a:rPr>
              <a:t>•  Helpful for compliance reason</a:t>
            </a:r>
          </a:p>
          <a:p>
            <a:pPr>
              <a:spcAft>
                <a:spcPts val="1000"/>
              </a:spcAft>
            </a:pPr>
            <a:r>
              <a:rPr sz="1800" b="0">
                <a:solidFill>
                  <a:srgbClr val="161B26"/>
                </a:solidFill>
                <a:latin typeface="Arial"/>
              </a:rPr>
              <a:t>•  Helpful for keeping access data even after ELB or EC2 instances are terminated</a:t>
            </a:r>
          </a:p>
          <a:p>
            <a:pPr>
              <a:spcAft>
                <a:spcPts val="1000"/>
              </a:spcAft>
            </a:pPr>
            <a:r>
              <a:rPr sz="1800" b="0">
                <a:solidFill>
                  <a:srgbClr val="161B26"/>
                </a:solidFill>
                <a:latin typeface="Arial"/>
              </a:rPr>
              <a:t>•  Access Logs are already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Application Load Balancer Request Tracing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Request tracing – Each HTTP request has an added custom header</a:t>
            </a:r>
          </a:p>
          <a:p>
            <a:pPr>
              <a:spcAft>
                <a:spcPts val="1000"/>
              </a:spcAft>
            </a:pPr>
            <a:r>
              <a:rPr sz="2000" b="0">
                <a:solidFill>
                  <a:srgbClr val="161B26"/>
                </a:solidFill>
                <a:latin typeface="Arial"/>
              </a:rPr>
              <a:t>•  ‘X-Amzn-Trace-Id’</a:t>
            </a:r>
          </a:p>
          <a:p>
            <a:pPr>
              <a:spcAft>
                <a:spcPts val="1000"/>
              </a:spcAft>
            </a:pPr>
            <a:r>
              <a:rPr sz="2000" b="0">
                <a:solidFill>
                  <a:srgbClr val="161B26"/>
                </a:solidFill>
                <a:latin typeface="Arial"/>
              </a:rPr>
              <a:t>•  Example:</a:t>
            </a:r>
          </a:p>
          <a:p>
            <a:pPr>
              <a:spcAft>
                <a:spcPts val="1000"/>
              </a:spcAft>
            </a:pPr>
            <a:r>
              <a:rPr sz="2000" b="0">
                <a:solidFill>
                  <a:srgbClr val="161B26"/>
                </a:solidFill>
                <a:latin typeface="Arial"/>
              </a:rPr>
              <a:t>•  X-Amzn-Trace-Id: Root=1-67891233-abcdef012345678912345678</a:t>
            </a:r>
          </a:p>
          <a:p>
            <a:pPr>
              <a:spcAft>
                <a:spcPts val="1000"/>
              </a:spcAft>
            </a:pPr>
            <a:r>
              <a:rPr sz="2000" b="0">
                <a:solidFill>
                  <a:srgbClr val="161B26"/>
                </a:solidFill>
                <a:latin typeface="Arial"/>
              </a:rPr>
              <a:t>•  This is useful in logs / distributed tracing platform to track a single request</a:t>
            </a:r>
          </a:p>
          <a:p>
            <a:pPr>
              <a:spcAft>
                <a:spcPts val="1000"/>
              </a:spcAft>
            </a:pPr>
            <a:r>
              <a:rPr sz="2000" b="0">
                <a:solidFill>
                  <a:srgbClr val="161B26"/>
                </a:solidFill>
                <a:latin typeface="Arial"/>
              </a:rPr>
              <a:t>•  Application Load Balancer is not (yet) integrated with X-Ray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Groups Settings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Deregistration_delay.timeout_seconds time the load balancer waits before deregistering a target</a:t>
            </a:r>
          </a:p>
          <a:p>
            <a:pPr>
              <a:spcAft>
                <a:spcPts val="1000"/>
              </a:spcAft>
            </a:pPr>
            <a:r>
              <a:rPr sz="1800" b="0">
                <a:solidFill>
                  <a:srgbClr val="161B26"/>
                </a:solidFill>
                <a:latin typeface="Arial"/>
              </a:rPr>
              <a:t>•  slow_start.duration_seconds: (see next slide)</a:t>
            </a:r>
          </a:p>
          <a:p>
            <a:pPr>
              <a:spcAft>
                <a:spcPts val="1000"/>
              </a:spcAft>
            </a:pPr>
            <a:r>
              <a:rPr sz="1800" b="0">
                <a:solidFill>
                  <a:srgbClr val="161B26"/>
                </a:solidFill>
                <a:latin typeface="Arial"/>
              </a:rPr>
              <a:t>•  load_balancing.algorithm.type: ow the load balancer selects targets when routing requests (Round Robin, Least Outstanding Requests)</a:t>
            </a:r>
          </a:p>
          <a:p>
            <a:pPr>
              <a:spcAft>
                <a:spcPts val="1000"/>
              </a:spcAft>
            </a:pPr>
            <a:r>
              <a:rPr sz="1800" b="0">
                <a:solidFill>
                  <a:srgbClr val="161B26"/>
                </a:solidFill>
                <a:latin typeface="Arial"/>
              </a:rPr>
              <a:t>•  Stickiness.enabled</a:t>
            </a:r>
          </a:p>
          <a:p>
            <a:pPr>
              <a:spcAft>
                <a:spcPts val="1000"/>
              </a:spcAft>
            </a:pPr>
            <a:r>
              <a:rPr sz="1800" b="0">
                <a:solidFill>
                  <a:srgbClr val="161B26"/>
                </a:solidFill>
                <a:latin typeface="Arial"/>
              </a:rPr>
              <a:t>•  Stickiness.type: application-based or duration-based cookie</a:t>
            </a:r>
          </a:p>
          <a:p>
            <a:pPr>
              <a:spcAft>
                <a:spcPts val="1000"/>
              </a:spcAft>
            </a:pPr>
            <a:r>
              <a:rPr sz="1800" b="0">
                <a:solidFill>
                  <a:srgbClr val="161B26"/>
                </a:solidFill>
                <a:latin typeface="Arial"/>
              </a:rPr>
              <a:t>•  Stickiness.app_cookie.cookie_name: name of the application cookie</a:t>
            </a:r>
          </a:p>
          <a:p>
            <a:pPr>
              <a:spcAft>
                <a:spcPts val="1000"/>
              </a:spcAft>
            </a:pPr>
            <a:r>
              <a:rPr sz="1800" b="0">
                <a:solidFill>
                  <a:srgbClr val="161B26"/>
                </a:solidFill>
                <a:latin typeface="Arial"/>
              </a:rPr>
              <a:t>•  Stickiness.app_cookie.duration_seconds: application-based cookie expiration period</a:t>
            </a:r>
          </a:p>
          <a:p>
            <a:pPr>
              <a:spcAft>
                <a:spcPts val="1000"/>
              </a:spcAft>
            </a:pPr>
            <a:r>
              <a:rPr sz="1800" b="0">
                <a:solidFill>
                  <a:srgbClr val="161B26"/>
                </a:solidFill>
                <a:latin typeface="Arial"/>
              </a:rPr>
              <a:t>•  Stickiness.lb_cookie.duration_seconds: duration-based cookie expiration period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Slow Start	Mode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By default, a target receives its full share of requests once it’s registered with the target group</a:t>
            </a:r>
          </a:p>
          <a:p>
            <a:pPr>
              <a:spcAft>
                <a:spcPts val="1000"/>
              </a:spcAft>
            </a:pPr>
            <a:r>
              <a:rPr sz="1800" b="0">
                <a:solidFill>
                  <a:srgbClr val="161B26"/>
                </a:solidFill>
                <a:latin typeface="Arial"/>
              </a:rPr>
              <a:t>•  slow start mode gives healthy targets time to warm-up before the load balancer sends them a full share of requests</a:t>
            </a:r>
          </a:p>
          <a:p>
            <a:pPr>
              <a:spcAft>
                <a:spcPts val="1000"/>
              </a:spcAft>
            </a:pPr>
            <a:r>
              <a:rPr sz="1800" b="0">
                <a:solidFill>
                  <a:srgbClr val="161B26"/>
                </a:solidFill>
                <a:latin typeface="Arial"/>
              </a:rPr>
              <a:t>•  The load balancer linearly increases the number of requests that it sends to the target</a:t>
            </a:r>
          </a:p>
          <a:p>
            <a:pPr>
              <a:spcAft>
                <a:spcPts val="1000"/>
              </a:spcAft>
            </a:pPr>
            <a:r>
              <a:rPr sz="1800" b="0">
                <a:solidFill>
                  <a:srgbClr val="161B26"/>
                </a:solidFill>
                <a:latin typeface="Arial"/>
              </a:rPr>
              <a:t>•  A target exits Slow Start Mode when:</a:t>
            </a:r>
          </a:p>
          <a:p>
            <a:pPr>
              <a:spcAft>
                <a:spcPts val="1000"/>
              </a:spcAft>
            </a:pPr>
            <a:r>
              <a:rPr sz="1800" b="0">
                <a:solidFill>
                  <a:srgbClr val="161B26"/>
                </a:solidFill>
                <a:latin typeface="Arial"/>
              </a:rPr>
              <a:t>•  The duration period elapses</a:t>
            </a:r>
          </a:p>
          <a:p>
            <a:pPr>
              <a:spcAft>
                <a:spcPts val="1000"/>
              </a:spcAft>
            </a:pPr>
            <a:r>
              <a:rPr sz="1800" b="0">
                <a:solidFill>
                  <a:srgbClr val="161B26"/>
                </a:solidFill>
                <a:latin typeface="Arial"/>
              </a:rPr>
              <a:t>•  The target becomes unhealthy</a:t>
            </a:r>
          </a:p>
          <a:p>
            <a:pPr>
              <a:spcAft>
                <a:spcPts val="1000"/>
              </a:spcAft>
            </a:pPr>
            <a:r>
              <a:rPr sz="1800" b="0">
                <a:solidFill>
                  <a:srgbClr val="161B26"/>
                </a:solidFill>
                <a:latin typeface="Arial"/>
              </a:rPr>
              <a:t>•  To disable, set slow start duration value to 0</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Slow Start duration</a:t>
            </a:r>
          </a:p>
          <a:p>
            <a:pPr>
              <a:spcAft>
                <a:spcPts val="1000"/>
              </a:spcAft>
            </a:pPr>
            <a:r>
              <a:rPr sz="1800" b="0">
                <a:solidFill>
                  <a:srgbClr val="161B26"/>
                </a:solidFill>
                <a:latin typeface="Arial"/>
              </a:rPr>
              <a:t>•  without Slow Start mode</a:t>
            </a:r>
          </a:p>
          <a:p>
            <a:pPr>
              <a:spcAft>
                <a:spcPts val="1000"/>
              </a:spcAft>
            </a:pPr>
            <a:r>
              <a:rPr sz="1800" b="0">
                <a:solidFill>
                  <a:srgbClr val="161B26"/>
                </a:solidFill>
                <a:latin typeface="Arial"/>
              </a:rPr>
              <a:t>•  with Slow Start mode</a:t>
            </a:r>
          </a:p>
          <a:p>
            <a:pPr>
              <a:spcAft>
                <a:spcPts val="1000"/>
              </a:spcAft>
            </a:pPr>
            <a:r>
              <a:rPr sz="1800" b="0">
                <a:solidFill>
                  <a:srgbClr val="161B26"/>
                </a:solidFill>
                <a:latin typeface="Arial"/>
              </a:rPr>
              <a:t>•  EC2 Instance	 EC2 Instance</a:t>
            </a:r>
          </a:p>
          <a:p>
            <a:pPr>
              <a:spcAft>
                <a:spcPts val="1000"/>
              </a:spcAft>
            </a:pPr>
            <a:r>
              <a:rPr sz="1800" b="0">
                <a:solidFill>
                  <a:srgbClr val="161B26"/>
                </a:solidFill>
                <a:latin typeface="Arial"/>
              </a:rPr>
              <a:t>•  Target 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Request Routing Algorithms - Least Outstanding Requests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next instance to receive the request is the instance that has the lowest number of pending/unfinished requests</a:t>
            </a:r>
          </a:p>
          <a:p>
            <a:pPr>
              <a:spcAft>
                <a:spcPts val="1000"/>
              </a:spcAft>
            </a:pPr>
            <a:r>
              <a:rPr sz="1800" b="0">
                <a:solidFill>
                  <a:srgbClr val="161B26"/>
                </a:solidFill>
                <a:latin typeface="Arial"/>
              </a:rPr>
              <a:t>•  Works with Application Load Balancer and Classic Load Balancer (HTTP/HTTPS)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Registered Instances</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CLB</a:t>
            </a:r>
          </a:p>
          <a:p>
            <a:pPr>
              <a:spcAft>
                <a:spcPts val="1000"/>
              </a:spcAft>
            </a:pPr>
            <a:r>
              <a:rPr sz="1800" b="0">
                <a:solidFill>
                  <a:srgbClr val="161B26"/>
                </a:solidFill>
                <a:latin typeface="Arial"/>
              </a:rPr>
              <a:t>•  (HTTP/HTTPS Listener)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Request Routing Algorithms - Round Robin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Equally choose the targets from the target group</a:t>
            </a:r>
          </a:p>
          <a:p>
            <a:pPr>
              <a:spcAft>
                <a:spcPts val="1000"/>
              </a:spcAft>
            </a:pPr>
            <a:r>
              <a:rPr sz="1800" b="0">
                <a:solidFill>
                  <a:srgbClr val="161B26"/>
                </a:solidFill>
                <a:latin typeface="Arial"/>
              </a:rPr>
              <a:t>•  Works with Application Load Balancer and Classic Load Balancer (TCP)</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 OR ---</a:t>
            </a:r>
          </a:p>
          <a:p>
            <a:pPr>
              <a:spcAft>
                <a:spcPts val="1000"/>
              </a:spcAft>
            </a:pPr>
            <a:r>
              <a:rPr sz="1800" b="0">
                <a:solidFill>
                  <a:srgbClr val="161B26"/>
                </a:solidFill>
                <a:latin typeface="Arial"/>
              </a:rPr>
              <a:t>•  CLB (TCP Listener)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Target Group (ALB) / Registered Instances (CLB)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Request Routing Algorithms - Flow Hash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Selects a target based on the protocol, source/destination IP address, source/destination port, and TCP sequence number</a:t>
            </a:r>
          </a:p>
          <a:p>
            <a:pPr>
              <a:spcAft>
                <a:spcPts val="1000"/>
              </a:spcAft>
            </a:pPr>
            <a:r>
              <a:rPr sz="1800" b="0">
                <a:solidFill>
                  <a:srgbClr val="161B26"/>
                </a:solidFill>
                <a:latin typeface="Arial"/>
              </a:rPr>
              <a:t>•  Each TCP/UDP connection is routed to a single target for the life of the connection</a:t>
            </a:r>
          </a:p>
          <a:p>
            <a:pPr>
              <a:spcAft>
                <a:spcPts val="1000"/>
              </a:spcAft>
            </a:pPr>
            <a:r>
              <a:rPr sz="1800" b="0">
                <a:solidFill>
                  <a:srgbClr val="161B26"/>
                </a:solidFill>
                <a:latin typeface="Arial"/>
              </a:rPr>
              <a:t>•  Works with Network Load Balancer</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Flow Hash Algorithm</a:t>
            </a:r>
          </a:p>
          <a:p>
            <a:pPr>
              <a:spcAft>
                <a:spcPts val="1000"/>
              </a:spcAft>
            </a:pPr>
            <a:r>
              <a:rPr sz="1800" b="0">
                <a:solidFill>
                  <a:srgbClr val="161B26"/>
                </a:solidFill>
                <a:latin typeface="Arial"/>
              </a:rPr>
              <a:t>•  Protocol</a:t>
            </a:r>
          </a:p>
          <a:p>
            <a:pPr>
              <a:spcAft>
                <a:spcPts val="1000"/>
              </a:spcAft>
            </a:pPr>
            <a:r>
              <a:rPr sz="1800" b="0">
                <a:solidFill>
                  <a:srgbClr val="161B26"/>
                </a:solidFill>
                <a:latin typeface="Arial"/>
              </a:rPr>
              <a:t>•  Source &amp; destination IP Source &amp; destination Port TCP sequence no.</a:t>
            </a:r>
          </a:p>
          <a:p>
            <a:pPr>
              <a:spcAft>
                <a:spcPts val="1000"/>
              </a:spcAft>
            </a:pPr>
            <a:r>
              <a:rPr sz="1800" b="0">
                <a:solidFill>
                  <a:srgbClr val="161B26"/>
                </a:solidFill>
                <a:latin typeface="Arial"/>
              </a:rPr>
              <a:t>•  Hash 8743b…</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Target 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ALB - Listener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Processed in order (with Default Rule)</a:t>
            </a:r>
          </a:p>
          <a:p>
            <a:pPr>
              <a:spcAft>
                <a:spcPts val="1000"/>
              </a:spcAft>
            </a:pPr>
            <a:r>
              <a:rPr sz="1800" b="0">
                <a:solidFill>
                  <a:srgbClr val="161B26"/>
                </a:solidFill>
                <a:latin typeface="Arial"/>
              </a:rPr>
              <a:t>•  Supported Actions (forward, redirect, fixed-response)</a:t>
            </a:r>
          </a:p>
          <a:p>
            <a:pPr>
              <a:spcAft>
                <a:spcPts val="1000"/>
              </a:spcAft>
            </a:pPr>
            <a:r>
              <a:rPr sz="1800" b="0">
                <a:solidFill>
                  <a:srgbClr val="161B26"/>
                </a:solidFill>
                <a:latin typeface="Arial"/>
              </a:rPr>
              <a:t>•  Rule Conditions:</a:t>
            </a:r>
          </a:p>
          <a:p>
            <a:pPr>
              <a:spcAft>
                <a:spcPts val="1000"/>
              </a:spcAft>
            </a:pPr>
            <a:r>
              <a:rPr sz="1800" b="0">
                <a:solidFill>
                  <a:srgbClr val="161B26"/>
                </a:solidFill>
                <a:latin typeface="Arial"/>
              </a:rPr>
              <a:t>•  host-header</a:t>
            </a:r>
          </a:p>
          <a:p>
            <a:pPr>
              <a:spcAft>
                <a:spcPts val="1000"/>
              </a:spcAft>
            </a:pPr>
            <a:r>
              <a:rPr sz="1800" b="0">
                <a:solidFill>
                  <a:srgbClr val="161B26"/>
                </a:solidFill>
                <a:latin typeface="Arial"/>
              </a:rPr>
              <a:t>•  http-request-method</a:t>
            </a:r>
          </a:p>
          <a:p>
            <a:pPr>
              <a:spcAft>
                <a:spcPts val="1000"/>
              </a:spcAft>
            </a:pPr>
            <a:r>
              <a:rPr sz="1800" b="0">
                <a:solidFill>
                  <a:srgbClr val="161B26"/>
                </a:solidFill>
                <a:latin typeface="Arial"/>
              </a:rPr>
              <a:t>•  path-pattern</a:t>
            </a:r>
          </a:p>
          <a:p>
            <a:pPr>
              <a:spcAft>
                <a:spcPts val="1000"/>
              </a:spcAft>
            </a:pPr>
            <a:r>
              <a:rPr sz="1800" b="0">
                <a:solidFill>
                  <a:srgbClr val="161B26"/>
                </a:solidFill>
                <a:latin typeface="Arial"/>
              </a:rPr>
              <a:t>•  source-ip</a:t>
            </a:r>
          </a:p>
          <a:p>
            <a:pPr>
              <a:spcAft>
                <a:spcPts val="1000"/>
              </a:spcAft>
            </a:pPr>
            <a:r>
              <a:rPr sz="1800" b="0">
                <a:solidFill>
                  <a:srgbClr val="161B26"/>
                </a:solidFill>
                <a:latin typeface="Arial"/>
              </a:rPr>
              <a:t>•  http-header</a:t>
            </a:r>
          </a:p>
          <a:p>
            <a:pPr>
              <a:spcAft>
                <a:spcPts val="1000"/>
              </a:spcAft>
            </a:pPr>
            <a:r>
              <a:rPr sz="1800" b="0">
                <a:solidFill>
                  <a:srgbClr val="161B26"/>
                </a:solidFill>
                <a:latin typeface="Arial"/>
              </a:rPr>
              <a:t>•  query-string</a:t>
            </a:r>
          </a:p>
          <a:p>
            <a:pPr>
              <a:spcAft>
                <a:spcPts val="1000"/>
              </a:spcAft>
            </a:pPr>
            <a:r>
              <a:rPr sz="1800" b="0">
                <a:solidFill>
                  <a:srgbClr val="161B26"/>
                </a:solidFill>
                <a:latin typeface="Arial"/>
              </a:rPr>
              <a:t>•  Rule #1</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Rule #2</a:t>
            </a:r>
          </a:p>
          <a:p>
            <a:pPr>
              <a:spcAft>
                <a:spcPts val="1000"/>
              </a:spcAft>
            </a:pPr>
            <a:r>
              <a:rPr sz="1800" b="0">
                <a:solidFill>
                  <a:srgbClr val="161B26"/>
                </a:solidFill>
                <a:latin typeface="Arial"/>
              </a:rPr>
              <a:t>•  Rule (Default)</a:t>
            </a:r>
          </a:p>
          <a:p>
            <a:pPr>
              <a:spcAft>
                <a:spcPts val="1000"/>
              </a:spcAft>
            </a:pPr>
            <a:r>
              <a:rPr sz="1800" b="0">
                <a:solidFill>
                  <a:srgbClr val="161B26"/>
                </a:solidFill>
                <a:latin typeface="Arial"/>
              </a:rPr>
              <a:t>•  Listener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Target Group 3</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Target Group 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 Weighting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Specify weight for each Target Group on a single Rule</a:t>
            </a:r>
          </a:p>
          <a:p>
            <a:pPr>
              <a:spcAft>
                <a:spcPts val="1000"/>
              </a:spcAft>
            </a:pPr>
            <a:r>
              <a:rPr sz="1800" b="0">
                <a:solidFill>
                  <a:srgbClr val="161B26"/>
                </a:solidFill>
                <a:latin typeface="Arial"/>
              </a:rPr>
              <a:t>•  Example: multiple versions of your app, blue/green deployment</a:t>
            </a:r>
          </a:p>
          <a:p>
            <a:pPr>
              <a:spcAft>
                <a:spcPts val="1000"/>
              </a:spcAft>
            </a:pPr>
            <a:r>
              <a:rPr sz="1800" b="0">
                <a:solidFill>
                  <a:srgbClr val="161B26"/>
                </a:solidFill>
                <a:latin typeface="Arial"/>
              </a:rPr>
              <a:t>•  Allows you to control the distribution of the traffic to your applications</a:t>
            </a:r>
          </a:p>
          <a:p>
            <a:pPr>
              <a:spcAft>
                <a:spcPts val="1000"/>
              </a:spcAft>
            </a:pPr>
            <a:r>
              <a:rPr sz="1800" b="0">
                <a:solidFill>
                  <a:srgbClr val="161B26"/>
                </a:solidFill>
                <a:latin typeface="Arial"/>
              </a:rPr>
              <a:t>•  Target Group 1 (Blue)</a:t>
            </a:r>
          </a:p>
          <a:p>
            <a:pPr>
              <a:spcAft>
                <a:spcPts val="1000"/>
              </a:spcAft>
            </a:pPr>
            <a:r>
              <a:rPr sz="1800" b="0">
                <a:solidFill>
                  <a:srgbClr val="161B26"/>
                </a:solidFill>
                <a:latin typeface="Arial"/>
              </a:rPr>
              <a:t>•  Target Group 2 (Green)</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Weight</a:t>
            </a:r>
          </a:p>
          <a:p>
            <a:pPr>
              <a:spcAft>
                <a:spcPts val="1000"/>
              </a:spcAft>
            </a:pPr>
            <a:r>
              <a:rPr sz="1800" b="0">
                <a:solidFill>
                  <a:srgbClr val="161B26"/>
                </a:solidFill>
                <a:latin typeface="Arial"/>
              </a:rPr>
              <a:t>•  Target Group 1</a:t>
            </a:r>
          </a:p>
          <a:p>
            <a:pPr>
              <a:spcAft>
                <a:spcPts val="1000"/>
              </a:spcAft>
            </a:pPr>
            <a:r>
              <a:rPr sz="1800" b="0">
                <a:solidFill>
                  <a:srgbClr val="161B26"/>
                </a:solidFill>
                <a:latin typeface="Arial"/>
              </a:rPr>
              <a:t>•  8</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20%</a:t>
            </a:r>
          </a:p>
          <a:p>
            <a:pPr>
              <a:spcAft>
                <a:spcPts val="1000"/>
              </a:spcAft>
            </a:pPr>
            <a:r>
              <a:rPr sz="1800" b="0">
                <a:solidFill>
                  <a:srgbClr val="161B26"/>
                </a:solidFill>
                <a:latin typeface="Arial"/>
              </a:rPr>
              <a:t>•  80%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 real-life, the load on your websites and application can change</a:t>
            </a:r>
          </a:p>
          <a:p>
            <a:pPr>
              <a:spcAft>
                <a:spcPts val="1000"/>
              </a:spcAft>
            </a:pPr>
            <a:r>
              <a:rPr sz="1800" b="0">
                <a:solidFill>
                  <a:srgbClr val="161B26"/>
                </a:solidFill>
                <a:latin typeface="Arial"/>
              </a:rPr>
              <a:t>•  In the cloud, you can create and get rid of servers very quickly</a:t>
            </a:r>
          </a:p>
          <a:p>
            <a:pPr>
              <a:spcAft>
                <a:spcPts val="1000"/>
              </a:spcAft>
            </a:pPr>
            <a:r>
              <a:rPr sz="1800" b="0">
                <a:solidFill>
                  <a:srgbClr val="161B26"/>
                </a:solidFill>
                <a:latin typeface="Arial"/>
              </a:rPr>
              <a:t>•  The goal of an Auto Scaling Group (ASG) is to:</a:t>
            </a:r>
          </a:p>
          <a:p>
            <a:pPr>
              <a:spcAft>
                <a:spcPts val="1000"/>
              </a:spcAft>
            </a:pPr>
            <a:r>
              <a:rPr sz="1800" b="0">
                <a:solidFill>
                  <a:srgbClr val="161B26"/>
                </a:solidFill>
                <a:latin typeface="Arial"/>
              </a:rPr>
              <a:t>•  Scale out (add EC2 instances) to match an increased load</a:t>
            </a:r>
          </a:p>
          <a:p>
            <a:pPr>
              <a:spcAft>
                <a:spcPts val="1000"/>
              </a:spcAft>
            </a:pPr>
            <a:r>
              <a:rPr sz="1800" b="0">
                <a:solidFill>
                  <a:srgbClr val="161B26"/>
                </a:solidFill>
                <a:latin typeface="Arial"/>
              </a:rPr>
              <a:t>•  Scale in (remove EC2 instances) to match a decreased load</a:t>
            </a:r>
          </a:p>
          <a:p>
            <a:pPr>
              <a:spcAft>
                <a:spcPts val="1000"/>
              </a:spcAft>
            </a:pPr>
            <a:r>
              <a:rPr sz="1800" b="0">
                <a:solidFill>
                  <a:srgbClr val="161B26"/>
                </a:solidFill>
                <a:latin typeface="Arial"/>
              </a:rPr>
              <a:t>•  Ensure we have a minimum and a maximum number of EC2 instances running</a:t>
            </a:r>
          </a:p>
          <a:p>
            <a:pPr>
              <a:spcAft>
                <a:spcPts val="1000"/>
              </a:spcAft>
            </a:pPr>
            <a:r>
              <a:rPr sz="1800" b="0">
                <a:solidFill>
                  <a:srgbClr val="161B26"/>
                </a:solidFill>
                <a:latin typeface="Arial"/>
              </a:rPr>
              <a:t>•  Automatically register new instances to a load balancer</a:t>
            </a:r>
          </a:p>
          <a:p>
            <a:pPr>
              <a:spcAft>
                <a:spcPts val="1000"/>
              </a:spcAft>
            </a:pPr>
            <a:r>
              <a:rPr sz="1800" b="0">
                <a:solidFill>
                  <a:srgbClr val="161B26"/>
                </a:solidFill>
                <a:latin typeface="Arial"/>
              </a:rPr>
              <a:t>•  Re-create an EC2 instance in case a previous one is terminated (ex: if unhealthy)</a:t>
            </a:r>
          </a:p>
          <a:p>
            <a:pPr>
              <a:spcAft>
                <a:spcPts val="1000"/>
              </a:spcAft>
            </a:pPr>
            <a:r>
              <a:rPr sz="1800" b="0">
                <a:solidFill>
                  <a:srgbClr val="161B26"/>
                </a:solidFill>
                <a:latin typeface="Arial"/>
              </a:rPr>
              <a:t>•  ASG are free (you only pay for the underlying EC2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59082" y="1801368"/>
            <a:ext cx="96433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87_0.png"/>
          <p:cNvPicPr>
            <a:picLocks noChangeAspect="1"/>
          </p:cNvPicPr>
          <p:nvPr/>
        </p:nvPicPr>
        <p:blipFill>
          <a:blip r:embed="rId2"/>
          <a:stretch>
            <a:fillRect/>
          </a:stretch>
        </p:blipFill>
        <p:spPr>
          <a:xfrm>
            <a:off x="1286514" y="1828800"/>
            <a:ext cx="95884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Auto Scaling Group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Minimum Capacity</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Desired Capacity</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Maximum Capacity</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Scale Out as Needed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Auto Scaling Group in AWS With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Users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Elastic Load Balancer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ELB can check the health of your EC2 instances!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Auto Scaling Group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Attributes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Launch Template (older “Launch Configurations” are deprecated)</a:t>
            </a:r>
          </a:p>
          <a:p>
            <a:pPr>
              <a:spcAft>
                <a:spcPts val="1000"/>
              </a:spcAft>
            </a:pPr>
            <a:r>
              <a:rPr sz="1800" b="0">
                <a:solidFill>
                  <a:srgbClr val="161B26"/>
                </a:solidFill>
                <a:latin typeface="Arial"/>
              </a:rPr>
              <a:t>•  AMI + Instance Type</a:t>
            </a:r>
          </a:p>
          <a:p>
            <a:pPr>
              <a:spcAft>
                <a:spcPts val="1000"/>
              </a:spcAft>
            </a:pPr>
            <a:r>
              <a:rPr sz="1800" b="0">
                <a:solidFill>
                  <a:srgbClr val="161B26"/>
                </a:solidFill>
                <a:latin typeface="Arial"/>
              </a:rPr>
              <a:t>•  EC2 User Data</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Security Groups</a:t>
            </a:r>
          </a:p>
          <a:p>
            <a:pPr>
              <a:spcAft>
                <a:spcPts val="1000"/>
              </a:spcAft>
            </a:pPr>
            <a:r>
              <a:rPr sz="1800" b="0">
                <a:solidFill>
                  <a:srgbClr val="161B26"/>
                </a:solidFill>
                <a:latin typeface="Arial"/>
              </a:rPr>
              <a:t>•  SSH Key Pair</a:t>
            </a:r>
          </a:p>
          <a:p>
            <a:pPr>
              <a:spcAft>
                <a:spcPts val="1000"/>
              </a:spcAft>
            </a:pPr>
            <a:r>
              <a:rPr sz="1800" b="0">
                <a:solidFill>
                  <a:srgbClr val="161B26"/>
                </a:solidFill>
                <a:latin typeface="Arial"/>
              </a:rPr>
              <a:t>•  IAM Roles for your EC2 Instances</a:t>
            </a:r>
          </a:p>
          <a:p>
            <a:pPr>
              <a:spcAft>
                <a:spcPts val="1000"/>
              </a:spcAft>
            </a:pPr>
            <a:r>
              <a:rPr sz="1800" b="0">
                <a:solidFill>
                  <a:srgbClr val="161B26"/>
                </a:solidFill>
                <a:latin typeface="Arial"/>
              </a:rPr>
              <a:t>•  Network + Subnets Information</a:t>
            </a:r>
          </a:p>
          <a:p>
            <a:pPr>
              <a:spcAft>
                <a:spcPts val="1000"/>
              </a:spcAft>
            </a:pPr>
            <a:r>
              <a:rPr sz="1800" b="0">
                <a:solidFill>
                  <a:srgbClr val="161B26"/>
                </a:solidFill>
                <a:latin typeface="Arial"/>
              </a:rPr>
              <a:t>•  Load Balancer Information</a:t>
            </a:r>
          </a:p>
          <a:p>
            <a:pPr>
              <a:spcAft>
                <a:spcPts val="1000"/>
              </a:spcAft>
            </a:pPr>
            <a:r>
              <a:rPr sz="1800" b="0">
                <a:solidFill>
                  <a:srgbClr val="161B26"/>
                </a:solidFill>
                <a:latin typeface="Arial"/>
              </a:rPr>
              <a:t>•  Min Size / Max Size / Initial Capacity</a:t>
            </a:r>
          </a:p>
          <a:p>
            <a:pPr>
              <a:spcAft>
                <a:spcPts val="1000"/>
              </a:spcAft>
            </a:pPr>
            <a:r>
              <a:rPr sz="1800" b="0">
                <a:solidFill>
                  <a:srgbClr val="161B26"/>
                </a:solidFill>
                <a:latin typeface="Arial"/>
              </a:rPr>
              <a:t>•  Scaling Policies</a:t>
            </a:r>
          </a:p>
          <a:p>
            <a:pPr>
              <a:spcAft>
                <a:spcPts val="1000"/>
              </a:spcAft>
            </a:pPr>
            <a:r>
              <a:rPr sz="1800" b="0">
                <a:solidFill>
                  <a:srgbClr val="161B26"/>
                </a:solidFill>
                <a:latin typeface="Arial"/>
              </a:rPr>
              <a:t>•  ASG Launch Template</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Instance Type</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Security Groups</a:t>
            </a:r>
          </a:p>
          <a:p>
            <a:pPr>
              <a:spcAft>
                <a:spcPts val="1000"/>
              </a:spcAft>
            </a:pPr>
            <a:r>
              <a:rPr sz="1800" b="0">
                <a:solidFill>
                  <a:srgbClr val="161B26"/>
                </a:solidFill>
                <a:latin typeface="Arial"/>
              </a:rPr>
              <a:t>•  SSH Key Pair</a:t>
            </a:r>
          </a:p>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VPC + Subnets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 CloudWatch Alarms &amp;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 is possible to scale an ASG based on CloudWatch alarms</a:t>
            </a:r>
          </a:p>
          <a:p>
            <a:pPr>
              <a:spcAft>
                <a:spcPts val="1000"/>
              </a:spcAft>
            </a:pPr>
            <a:r>
              <a:rPr sz="1800" b="0">
                <a:solidFill>
                  <a:srgbClr val="161B26"/>
                </a:solidFill>
                <a:latin typeface="Arial"/>
              </a:rPr>
              <a:t>•  An alarm monitors a metric (such as Average CPU or a custom metric)</a:t>
            </a:r>
          </a:p>
          <a:p>
            <a:pPr>
              <a:spcAft>
                <a:spcPts val="1000"/>
              </a:spcAft>
            </a:pPr>
            <a:r>
              <a:rPr sz="1800" b="0">
                <a:solidFill>
                  <a:srgbClr val="161B26"/>
                </a:solidFill>
                <a:latin typeface="Arial"/>
              </a:rPr>
              <a:t>•  Metrics such as Average CPU are computed for the overall ASG instances</a:t>
            </a:r>
          </a:p>
          <a:p>
            <a:pPr>
              <a:spcAft>
                <a:spcPts val="1000"/>
              </a:spcAft>
            </a:pPr>
            <a:r>
              <a:rPr sz="1800" b="0">
                <a:solidFill>
                  <a:srgbClr val="161B26"/>
                </a:solidFill>
                <a:latin typeface="Arial"/>
              </a:rPr>
              <a:t>•  Based on the alarm:</a:t>
            </a:r>
          </a:p>
          <a:p>
            <a:pPr>
              <a:spcAft>
                <a:spcPts val="1000"/>
              </a:spcAft>
            </a:pPr>
            <a:r>
              <a:rPr sz="1800" b="0">
                <a:solidFill>
                  <a:srgbClr val="161B26"/>
                </a:solidFill>
                <a:latin typeface="Arial"/>
              </a:rPr>
              <a:t>•  We can create scale-out policies (increase the number of instances)</a:t>
            </a:r>
          </a:p>
          <a:p>
            <a:pPr>
              <a:spcAft>
                <a:spcPts val="1000"/>
              </a:spcAft>
            </a:pPr>
            <a:r>
              <a:rPr sz="1800" b="0">
                <a:solidFill>
                  <a:srgbClr val="161B26"/>
                </a:solidFill>
                <a:latin typeface="Arial"/>
              </a:rPr>
              <a:t>•  We can create scale-in policies (decrease the number of instances)</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trigger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96551"/>
            <a:ext cx="10479024" cy="37450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92_0.png"/>
          <p:cNvPicPr>
            <a:picLocks noChangeAspect="1"/>
          </p:cNvPicPr>
          <p:nvPr/>
        </p:nvPicPr>
        <p:blipFill>
          <a:blip r:embed="rId2"/>
          <a:stretch>
            <a:fillRect/>
          </a:stretch>
        </p:blipFill>
        <p:spPr>
          <a:xfrm>
            <a:off x="868680" y="2223983"/>
            <a:ext cx="10424160" cy="369019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Dynamic Scaling</a:t>
            </a:r>
          </a:p>
          <a:p>
            <a:pPr>
              <a:spcAft>
                <a:spcPts val="1000"/>
              </a:spcAft>
            </a:pPr>
            <a:r>
              <a:rPr sz="1800" b="0">
                <a:solidFill>
                  <a:srgbClr val="161B26"/>
                </a:solidFill>
                <a:latin typeface="Arial"/>
              </a:rPr>
              <a:t>•  Target Tracking Scaling</a:t>
            </a:r>
          </a:p>
          <a:p>
            <a:pPr>
              <a:spcAft>
                <a:spcPts val="1000"/>
              </a:spcAft>
            </a:pPr>
            <a:r>
              <a:rPr sz="1800" b="0">
                <a:solidFill>
                  <a:srgbClr val="161B26"/>
                </a:solidFill>
                <a:latin typeface="Arial"/>
              </a:rPr>
              <a:t>•  Simple to set-up</a:t>
            </a:r>
          </a:p>
          <a:p>
            <a:pPr>
              <a:spcAft>
                <a:spcPts val="1000"/>
              </a:spcAft>
            </a:pPr>
            <a:r>
              <a:rPr sz="1800" b="0">
                <a:solidFill>
                  <a:srgbClr val="161B26"/>
                </a:solidFill>
                <a:latin typeface="Arial"/>
              </a:rPr>
              <a:t>•  Example: I want the average ASG CPU to stay at around 40%</a:t>
            </a:r>
          </a:p>
          <a:p>
            <a:pPr>
              <a:spcAft>
                <a:spcPts val="1000"/>
              </a:spcAft>
            </a:pPr>
            <a:r>
              <a:rPr sz="1800" b="0">
                <a:solidFill>
                  <a:srgbClr val="161B26"/>
                </a:solidFill>
                <a:latin typeface="Arial"/>
              </a:rPr>
              <a:t>•  Simple / Step Scaling</a:t>
            </a:r>
          </a:p>
          <a:p>
            <a:pPr>
              <a:spcAft>
                <a:spcPts val="1000"/>
              </a:spcAft>
            </a:pPr>
            <a:r>
              <a:rPr sz="1800" b="0">
                <a:solidFill>
                  <a:srgbClr val="161B26"/>
                </a:solidFill>
                <a:latin typeface="Arial"/>
              </a:rPr>
              <a:t>•  When a CloudWatch alarm is triggered (example CPU &gt; 70%), then add 2 units</a:t>
            </a:r>
          </a:p>
          <a:p>
            <a:pPr>
              <a:spcAft>
                <a:spcPts val="1000"/>
              </a:spcAft>
            </a:pPr>
            <a:r>
              <a:rPr sz="1800" b="0">
                <a:solidFill>
                  <a:srgbClr val="161B26"/>
                </a:solidFill>
                <a:latin typeface="Arial"/>
              </a:rPr>
              <a:t>•  When a CloudWatch alarm is triggered (example CPU &lt; 30%), then remove 1</a:t>
            </a:r>
          </a:p>
          <a:p>
            <a:pPr>
              <a:spcAft>
                <a:spcPts val="1000"/>
              </a:spcAft>
            </a:pPr>
            <a:r>
              <a:rPr sz="1800" b="0">
                <a:solidFill>
                  <a:srgbClr val="161B26"/>
                </a:solidFill>
                <a:latin typeface="Arial"/>
              </a:rPr>
              <a:t>•  Scheduled Scaling</a:t>
            </a:r>
          </a:p>
          <a:p>
            <a:pPr>
              <a:spcAft>
                <a:spcPts val="1000"/>
              </a:spcAft>
            </a:pPr>
            <a:r>
              <a:rPr sz="1800" b="0">
                <a:solidFill>
                  <a:srgbClr val="161B26"/>
                </a:solidFill>
                <a:latin typeface="Arial"/>
              </a:rPr>
              <a:t>•  Anticipate a scaling based on known usage patterns</a:t>
            </a:r>
          </a:p>
          <a:p>
            <a:pPr>
              <a:spcAft>
                <a:spcPts val="1000"/>
              </a:spcAft>
            </a:pPr>
            <a:r>
              <a:rPr sz="1800" b="0">
                <a:solidFill>
                  <a:srgbClr val="161B26"/>
                </a:solidFill>
                <a:latin typeface="Arial"/>
              </a:rPr>
              <a:t>•  Example: increase the min capacity to 10 at 5 pm on Fridays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16963"/>
            <a:ext cx="10479024" cy="33384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94_0.png"/>
          <p:cNvPicPr>
            <a:picLocks noChangeAspect="1"/>
          </p:cNvPicPr>
          <p:nvPr/>
        </p:nvPicPr>
        <p:blipFill>
          <a:blip r:embed="rId2"/>
          <a:stretch>
            <a:fillRect/>
          </a:stretch>
        </p:blipFill>
        <p:spPr>
          <a:xfrm>
            <a:off x="868680" y="2244395"/>
            <a:ext cx="10424160" cy="328361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Predictive scaling: continuously forecast load and schedule scaling ahead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Good metrics to scale 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CPUUtilization: Average CPU utilization across your instances</a:t>
            </a:r>
          </a:p>
          <a:p>
            <a:pPr>
              <a:spcAft>
                <a:spcPts val="1000"/>
              </a:spcAft>
            </a:pPr>
            <a:r>
              <a:rPr sz="1800" b="0">
                <a:solidFill>
                  <a:srgbClr val="161B26"/>
                </a:solidFill>
                <a:latin typeface="Arial"/>
              </a:rPr>
              <a:t>•  RequestCountPerTarget: to make sure the number of requests per EC2 instances is stable</a:t>
            </a:r>
          </a:p>
          <a:p>
            <a:pPr>
              <a:spcAft>
                <a:spcPts val="1000"/>
              </a:spcAft>
            </a:pPr>
            <a:r>
              <a:rPr sz="1800" b="0">
                <a:solidFill>
                  <a:srgbClr val="161B26"/>
                </a:solidFill>
                <a:latin typeface="Arial"/>
              </a:rPr>
              <a:t>•  Average Network In / Out: if you’re application is network bound)</a:t>
            </a:r>
          </a:p>
          <a:p>
            <a:pPr>
              <a:spcAft>
                <a:spcPts val="1000"/>
              </a:spcAft>
            </a:pPr>
            <a:r>
              <a:rPr sz="1800" b="0">
                <a:solidFill>
                  <a:srgbClr val="161B26"/>
                </a:solidFill>
                <a:latin typeface="Arial"/>
              </a:rPr>
              <a:t>•  Any custom metric (that you push using CloudWatch)</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RequestCountPerTarget</a:t>
            </a:r>
          </a:p>
          <a:p>
            <a:pPr>
              <a:spcAft>
                <a:spcPts val="1000"/>
              </a:spcAft>
            </a:pPr>
            <a:r>
              <a:rPr sz="1800" b="0">
                <a:solidFill>
                  <a:srgbClr val="161B26"/>
                </a:solidFill>
                <a:latin typeface="Arial"/>
              </a:rPr>
              <a:t>•  Target Value: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Cooldowns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After a scaling activity happens, you are in the cooldown period (default 300 seconds)</a:t>
            </a:r>
          </a:p>
          <a:p>
            <a:pPr>
              <a:spcAft>
                <a:spcPts val="1000"/>
              </a:spcAft>
            </a:pPr>
            <a:r>
              <a:rPr sz="1800" b="0">
                <a:solidFill>
                  <a:srgbClr val="161B26"/>
                </a:solidFill>
                <a:latin typeface="Arial"/>
              </a:rPr>
              <a:t>•  During the cooldown period, the ASG will not launch or terminate additional instances (to allow for metrics to stabilize)</a:t>
            </a:r>
          </a:p>
          <a:p>
            <a:pPr>
              <a:spcAft>
                <a:spcPts val="1000"/>
              </a:spcAft>
            </a:pPr>
            <a:r>
              <a:rPr sz="1800" b="0">
                <a:solidFill>
                  <a:srgbClr val="161B26"/>
                </a:solidFill>
                <a:latin typeface="Arial"/>
              </a:rPr>
              <a:t>•  Advice: Use a ready-to-use AMI to reduce configuration time in order to be serving request fasters and reduce the cooldown period</a:t>
            </a:r>
          </a:p>
          <a:p>
            <a:pPr>
              <a:spcAft>
                <a:spcPts val="1000"/>
              </a:spcAft>
            </a:pPr>
            <a:r>
              <a:rPr sz="1800" b="0">
                <a:solidFill>
                  <a:srgbClr val="161B26"/>
                </a:solidFill>
                <a:latin typeface="Arial"/>
              </a:rPr>
              <a:t>•  Scaling Action Occurs</a:t>
            </a:r>
          </a:p>
          <a:p>
            <a:pPr>
              <a:spcAft>
                <a:spcPts val="1000"/>
              </a:spcAft>
            </a:pPr>
            <a:r>
              <a:rPr sz="1800" b="0">
                <a:solidFill>
                  <a:srgbClr val="161B26"/>
                </a:solidFill>
                <a:latin typeface="Arial"/>
              </a:rPr>
              <a:t>•  Default Cooldown in effect?</a:t>
            </a:r>
          </a:p>
          <a:p>
            <a:pPr>
              <a:spcAft>
                <a:spcPts val="1000"/>
              </a:spcAft>
            </a:pPr>
            <a:r>
              <a:rPr sz="1800" b="0">
                <a:solidFill>
                  <a:srgbClr val="161B26"/>
                </a:solidFill>
                <a:latin typeface="Arial"/>
              </a:rPr>
              <a:t>•  Ignore Action</a:t>
            </a:r>
          </a:p>
          <a:p>
            <a:pPr>
              <a:spcAft>
                <a:spcPts val="1000"/>
              </a:spcAft>
            </a:pPr>
            <a:r>
              <a:rPr sz="1800" b="0">
                <a:solidFill>
                  <a:srgbClr val="161B26"/>
                </a:solidFill>
                <a:latin typeface="Arial"/>
              </a:rPr>
              <a:t>•  Launch or Teminate Instance</a:t>
            </a:r>
          </a:p>
          <a:p>
            <a:pPr>
              <a:spcAft>
                <a:spcPts val="1000"/>
              </a:spcAft>
            </a:pPr>
            <a:r>
              <a:rPr sz="1800" b="0">
                <a:solidFill>
                  <a:srgbClr val="161B26"/>
                </a:solidFill>
                <a:latin typeface="Arial"/>
              </a:rPr>
              <a:t>•  No</a:t>
            </a:r>
          </a:p>
          <a:p>
            <a:pPr>
              <a:spcAft>
                <a:spcPts val="1000"/>
              </a:spcAft>
            </a:pPr>
            <a:r>
              <a:rPr sz="1800" b="0">
                <a:solidFill>
                  <a:srgbClr val="161B26"/>
                </a:solidFill>
                <a:latin typeface="Arial"/>
              </a:rPr>
              <a:t>•  Yes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Scaling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98827" y="1801368"/>
            <a:ext cx="956386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197_0.png"/>
          <p:cNvPicPr>
            <a:picLocks noChangeAspect="1"/>
          </p:cNvPicPr>
          <p:nvPr/>
        </p:nvPicPr>
        <p:blipFill>
          <a:blip r:embed="rId2"/>
          <a:stretch>
            <a:fillRect/>
          </a:stretch>
        </p:blipFill>
        <p:spPr>
          <a:xfrm>
            <a:off x="1326259" y="1828800"/>
            <a:ext cx="950900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ASG - Lifecycle Hooks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By default, as soon as an instance is launched in an ASG it’s in service</a:t>
            </a:r>
          </a:p>
          <a:p>
            <a:pPr>
              <a:spcAft>
                <a:spcPts val="1000"/>
              </a:spcAft>
            </a:pPr>
            <a:r>
              <a:rPr sz="1800" b="0">
                <a:solidFill>
                  <a:srgbClr val="161B26"/>
                </a:solidFill>
                <a:latin typeface="Arial"/>
              </a:rPr>
              <a:t>•  You can perform extra steps before</a:t>
            </a:r>
          </a:p>
          <a:p>
            <a:pPr>
              <a:spcAft>
                <a:spcPts val="1000"/>
              </a:spcAft>
            </a:pPr>
            <a:r>
              <a:rPr sz="1800" b="0">
                <a:solidFill>
                  <a:srgbClr val="161B26"/>
                </a:solidFill>
                <a:latin typeface="Arial"/>
              </a:rPr>
              <a:t>•  the instance goes in service (Pending state)</a:t>
            </a:r>
          </a:p>
          <a:p>
            <a:pPr>
              <a:spcAft>
                <a:spcPts val="1000"/>
              </a:spcAft>
            </a:pPr>
            <a:r>
              <a:rPr sz="1800" b="0">
                <a:solidFill>
                  <a:srgbClr val="161B26"/>
                </a:solidFill>
                <a:latin typeface="Arial"/>
              </a:rPr>
              <a:t>•  Define a script to run on the instances as they start</a:t>
            </a:r>
          </a:p>
          <a:p>
            <a:pPr>
              <a:spcAft>
                <a:spcPts val="1000"/>
              </a:spcAft>
            </a:pPr>
            <a:r>
              <a:rPr sz="1800" b="0">
                <a:solidFill>
                  <a:srgbClr val="161B26"/>
                </a:solidFill>
                <a:latin typeface="Arial"/>
              </a:rPr>
              <a:t>•  You can perform some actions before</a:t>
            </a:r>
          </a:p>
          <a:p>
            <a:pPr>
              <a:spcAft>
                <a:spcPts val="1000"/>
              </a:spcAft>
            </a:pPr>
            <a:r>
              <a:rPr sz="1800" b="0">
                <a:solidFill>
                  <a:srgbClr val="161B26"/>
                </a:solidFill>
                <a:latin typeface="Arial"/>
              </a:rPr>
              <a:t>•  the instance is terminated (Terminating state)</a:t>
            </a:r>
          </a:p>
          <a:p>
            <a:pPr>
              <a:spcAft>
                <a:spcPts val="1000"/>
              </a:spcAft>
            </a:pPr>
            <a:r>
              <a:rPr sz="1800" b="0">
                <a:solidFill>
                  <a:srgbClr val="161B26"/>
                </a:solidFill>
                <a:latin typeface="Arial"/>
              </a:rPr>
              <a:t>•  Pause the instances before they’re terminated for troubleshooting</a:t>
            </a:r>
          </a:p>
          <a:p>
            <a:pPr>
              <a:spcAft>
                <a:spcPts val="1000"/>
              </a:spcAft>
            </a:pPr>
            <a:r>
              <a:rPr sz="1800" b="0">
                <a:solidFill>
                  <a:srgbClr val="161B26"/>
                </a:solidFill>
                <a:latin typeface="Arial"/>
              </a:rPr>
              <a:t>•  Use cases: cleanup, log extraction, special health checks</a:t>
            </a:r>
          </a:p>
          <a:p>
            <a:pPr>
              <a:spcAft>
                <a:spcPts val="1000"/>
              </a:spcAft>
            </a:pPr>
            <a:r>
              <a:rPr sz="1800" b="0">
                <a:solidFill>
                  <a:srgbClr val="161B26"/>
                </a:solidFill>
                <a:latin typeface="Arial"/>
              </a:rPr>
              <a:t>•  Integration with EventBridge, SNS, and 	SQS</a:t>
            </a:r>
          </a:p>
          <a:p>
            <a:pPr>
              <a:spcAft>
                <a:spcPts val="1000"/>
              </a:spcAft>
            </a:pPr>
            <a:r>
              <a:rPr sz="1800" b="0">
                <a:solidFill>
                  <a:srgbClr val="161B26"/>
                </a:solidFill>
                <a:latin typeface="Arial"/>
              </a:rPr>
              <a:t>•  Pending</a:t>
            </a:r>
          </a:p>
          <a:p>
            <a:pPr>
              <a:spcAft>
                <a:spcPts val="1000"/>
              </a:spcAft>
            </a:pPr>
            <a:r>
              <a:rPr sz="1800" b="0">
                <a:solidFill>
                  <a:srgbClr val="161B26"/>
                </a:solidFill>
                <a:latin typeface="Arial"/>
              </a:rPr>
              <a:t>•  Lifecycle Hook</a:t>
            </a:r>
          </a:p>
          <a:p>
            <a:pPr>
              <a:spcAft>
                <a:spcPts val="1000"/>
              </a:spcAft>
            </a:pPr>
            <a:r>
              <a:rPr sz="1800" b="0">
                <a:solidFill>
                  <a:srgbClr val="161B26"/>
                </a:solidFill>
                <a:latin typeface="Arial"/>
              </a:rPr>
              <a:t>•  (EC2_Instance_Launching)</a:t>
            </a:r>
          </a:p>
          <a:p>
            <a:pPr>
              <a:spcAft>
                <a:spcPts val="1000"/>
              </a:spcAft>
            </a:pPr>
            <a:r>
              <a:rPr sz="1800" b="0">
                <a:solidFill>
                  <a:srgbClr val="161B26"/>
                </a:solidFill>
                <a:latin typeface="Arial"/>
              </a:rPr>
              <a:t>•  Pending:Wait</a:t>
            </a:r>
          </a:p>
          <a:p>
            <a:pPr>
              <a:spcAft>
                <a:spcPts val="1000"/>
              </a:spcAft>
            </a:pPr>
            <a:r>
              <a:rPr sz="1800" b="0">
                <a:solidFill>
                  <a:srgbClr val="161B26"/>
                </a:solidFill>
                <a:latin typeface="Arial"/>
              </a:rPr>
              <a:t>•  Pending:Proceed</a:t>
            </a:r>
          </a:p>
          <a:p>
            <a:pPr>
              <a:spcAft>
                <a:spcPts val="1000"/>
              </a:spcAft>
            </a:pPr>
            <a:r>
              <a:rPr sz="1800" b="0">
                <a:solidFill>
                  <a:srgbClr val="161B26"/>
                </a:solidFill>
                <a:latin typeface="Arial"/>
              </a:rPr>
              <a:t>•  InService</a:t>
            </a:r>
          </a:p>
          <a:p>
            <a:pPr>
              <a:spcAft>
                <a:spcPts val="1000"/>
              </a:spcAft>
            </a:pPr>
            <a:r>
              <a:rPr sz="1800" b="0">
                <a:solidFill>
                  <a:srgbClr val="161B26"/>
                </a:solidFill>
                <a:latin typeface="Arial"/>
              </a:rPr>
              <a:t>•  Terminating</a:t>
            </a:r>
          </a:p>
          <a:p>
            <a:pPr>
              <a:spcAft>
                <a:spcPts val="1000"/>
              </a:spcAft>
            </a:pPr>
            <a:r>
              <a:rPr sz="1800" b="0">
                <a:solidFill>
                  <a:srgbClr val="161B26"/>
                </a:solidFill>
                <a:latin typeface="Arial"/>
              </a:rPr>
              <a:t>•  Terminated</a:t>
            </a:r>
          </a:p>
          <a:p>
            <a:pPr>
              <a:spcAft>
                <a:spcPts val="1000"/>
              </a:spcAft>
            </a:pPr>
            <a:r>
              <a:rPr sz="1800" b="0">
                <a:solidFill>
                  <a:srgbClr val="161B26"/>
                </a:solidFill>
                <a:latin typeface="Arial"/>
              </a:rPr>
              <a:t>•  Lifecycle Hook</a:t>
            </a:r>
          </a:p>
          <a:p>
            <a:pPr>
              <a:spcAft>
                <a:spcPts val="1000"/>
              </a:spcAft>
            </a:pPr>
            <a:r>
              <a:rPr sz="1800" b="0">
                <a:solidFill>
                  <a:srgbClr val="161B26"/>
                </a:solidFill>
                <a:latin typeface="Arial"/>
              </a:rPr>
              <a:t>•  (EC2_Instance_Terminating)</a:t>
            </a:r>
          </a:p>
          <a:p>
            <a:pPr>
              <a:spcAft>
                <a:spcPts val="1000"/>
              </a:spcAft>
            </a:pPr>
            <a:r>
              <a:rPr sz="1800" b="0">
                <a:solidFill>
                  <a:srgbClr val="161B26"/>
                </a:solidFill>
                <a:latin typeface="Arial"/>
              </a:rPr>
              <a:t>•  Terminating:Wait</a:t>
            </a:r>
          </a:p>
          <a:p>
            <a:pPr>
              <a:spcAft>
                <a:spcPts val="1000"/>
              </a:spcAft>
            </a:pPr>
            <a:r>
              <a:rPr sz="1800" b="0">
                <a:solidFill>
                  <a:srgbClr val="161B26"/>
                </a:solidFill>
                <a:latin typeface="Arial"/>
              </a:rPr>
              <a:t>•  Terminating:Proceed</a:t>
            </a:r>
          </a:p>
          <a:p>
            <a:pPr>
              <a:spcAft>
                <a:spcPts val="1000"/>
              </a:spcAft>
            </a:pPr>
            <a:r>
              <a:rPr sz="1800" b="0">
                <a:solidFill>
                  <a:srgbClr val="161B26"/>
                </a:solidFill>
                <a:latin typeface="Arial"/>
              </a:rPr>
              <a:t>•  ASG</a:t>
            </a:r>
          </a:p>
          <a:p>
            <a:pPr>
              <a:spcAft>
                <a:spcPts val="1000"/>
              </a:spcAft>
            </a:pPr>
            <a:r>
              <a:rPr sz="1800" b="0">
                <a:solidFill>
                  <a:srgbClr val="161B26"/>
                </a:solidFill>
                <a:latin typeface="Arial"/>
              </a:rPr>
              <a:t>•  scale out</a:t>
            </a:r>
          </a:p>
          <a:p>
            <a:pPr>
              <a:spcAft>
                <a:spcPts val="1000"/>
              </a:spcAft>
            </a:pPr>
            <a:r>
              <a:rPr sz="1800" b="0">
                <a:solidFill>
                  <a:srgbClr val="161B26"/>
                </a:solidFill>
                <a:latin typeface="Arial"/>
              </a:rPr>
              <a:t>•  1</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3</a:t>
            </a:r>
          </a:p>
          <a:p>
            <a:pPr>
              <a:spcAft>
                <a:spcPts val="1000"/>
              </a:spcAft>
            </a:pPr>
            <a:r>
              <a:rPr sz="1800" b="0">
                <a:solidFill>
                  <a:srgbClr val="161B26"/>
                </a:solidFill>
                <a:latin typeface="Arial"/>
              </a:rPr>
              <a:t>•  4</a:t>
            </a:r>
          </a:p>
          <a:p>
            <a:pPr>
              <a:spcAft>
                <a:spcPts val="1000"/>
              </a:spcAft>
            </a:pPr>
            <a:r>
              <a:rPr sz="1800" b="0">
                <a:solidFill>
                  <a:srgbClr val="161B26"/>
                </a:solidFill>
                <a:latin typeface="Arial"/>
              </a:rPr>
              <a:t>•  5</a:t>
            </a:r>
          </a:p>
          <a:p>
            <a:pPr>
              <a:spcAft>
                <a:spcPts val="1000"/>
              </a:spcAft>
            </a:pPr>
            <a:r>
              <a:rPr sz="1800" b="0">
                <a:solidFill>
                  <a:srgbClr val="161B26"/>
                </a:solidFill>
                <a:latin typeface="Arial"/>
              </a:rPr>
              <a:t>•  6</a:t>
            </a:r>
          </a:p>
          <a:p>
            <a:pPr>
              <a:spcAft>
                <a:spcPts val="1000"/>
              </a:spcAft>
            </a:pPr>
            <a:r>
              <a:rPr sz="1800" b="0">
                <a:solidFill>
                  <a:srgbClr val="161B26"/>
                </a:solidFill>
                <a:latin typeface="Arial"/>
              </a:rPr>
              <a:t>•  ASG</a:t>
            </a:r>
          </a:p>
          <a:p>
            <a:pPr>
              <a:spcAft>
                <a:spcPts val="1000"/>
              </a:spcAft>
            </a:pPr>
            <a:r>
              <a:rPr sz="1800" b="0">
                <a:solidFill>
                  <a:srgbClr val="161B26"/>
                </a:solidFill>
                <a:latin typeface="Arial"/>
              </a:rPr>
              <a:t>•  lifecycle event trigger</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invoke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Launch Configuration vs. Launch Template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Both:</a:t>
            </a:r>
          </a:p>
          <a:p>
            <a:pPr>
              <a:spcAft>
                <a:spcPts val="1000"/>
              </a:spcAft>
            </a:pPr>
            <a:r>
              <a:rPr sz="1800" b="0">
                <a:solidFill>
                  <a:srgbClr val="161B26"/>
                </a:solidFill>
                <a:latin typeface="Arial"/>
              </a:rPr>
              <a:t>•  ID of the Amazon Machine Image (AMI), the instance type, a key pair, security groups, and the other parameters that you use to launch EC2 instances (tags, EC2 user-data...)</a:t>
            </a:r>
          </a:p>
          <a:p>
            <a:pPr>
              <a:spcAft>
                <a:spcPts val="1000"/>
              </a:spcAft>
            </a:pPr>
            <a:r>
              <a:rPr sz="1800" b="0">
                <a:solidFill>
                  <a:srgbClr val="161B26"/>
                </a:solidFill>
                <a:latin typeface="Arial"/>
              </a:rPr>
              <a:t>•  You can’t edit both Launch Configurations and Launch Templates</a:t>
            </a:r>
          </a:p>
          <a:p>
            <a:pPr>
              <a:spcAft>
                <a:spcPts val="1000"/>
              </a:spcAft>
            </a:pPr>
            <a:r>
              <a:rPr sz="1800" b="0">
                <a:solidFill>
                  <a:srgbClr val="161B26"/>
                </a:solidFill>
                <a:latin typeface="Arial"/>
              </a:rPr>
              <a:t>•  Launch configuration (legacy):</a:t>
            </a:r>
          </a:p>
          <a:p>
            <a:pPr>
              <a:spcAft>
                <a:spcPts val="1000"/>
              </a:spcAft>
            </a:pPr>
            <a:r>
              <a:rPr sz="1800" b="0">
                <a:solidFill>
                  <a:srgbClr val="161B26"/>
                </a:solidFill>
                <a:latin typeface="Arial"/>
              </a:rPr>
              <a:t>•  must be re-created everytime</a:t>
            </a:r>
          </a:p>
          <a:p>
            <a:pPr>
              <a:spcAft>
                <a:spcPts val="1000"/>
              </a:spcAft>
            </a:pPr>
            <a:r>
              <a:rPr sz="1800" b="0">
                <a:solidFill>
                  <a:srgbClr val="161B26"/>
                </a:solidFill>
                <a:latin typeface="Arial"/>
              </a:rPr>
              <a:t>•  Launch Template (newer):</a:t>
            </a:r>
          </a:p>
          <a:p>
            <a:pPr>
              <a:spcAft>
                <a:spcPts val="1000"/>
              </a:spcAft>
            </a:pPr>
            <a:r>
              <a:rPr sz="1800" b="0">
                <a:solidFill>
                  <a:srgbClr val="161B26"/>
                </a:solidFill>
                <a:latin typeface="Arial"/>
              </a:rPr>
              <a:t>•  Can have multiple versions</a:t>
            </a:r>
          </a:p>
          <a:p>
            <a:pPr>
              <a:spcAft>
                <a:spcPts val="1000"/>
              </a:spcAft>
            </a:pPr>
            <a:r>
              <a:rPr sz="1800" b="0">
                <a:solidFill>
                  <a:srgbClr val="161B26"/>
                </a:solidFill>
                <a:latin typeface="Arial"/>
              </a:rPr>
              <a:t>•  Create parameters subsets (partial configuration for re-use and inheritance)</a:t>
            </a:r>
          </a:p>
          <a:p>
            <a:pPr>
              <a:spcAft>
                <a:spcPts val="1000"/>
              </a:spcAft>
            </a:pPr>
            <a:r>
              <a:rPr sz="1800" b="0">
                <a:solidFill>
                  <a:srgbClr val="161B26"/>
                </a:solidFill>
                <a:latin typeface="Arial"/>
              </a:rPr>
              <a:t>•  Provision using both On-Demand and Spot instances (or a mix)</a:t>
            </a:r>
          </a:p>
          <a:p>
            <a:pPr>
              <a:spcAft>
                <a:spcPts val="1000"/>
              </a:spcAft>
            </a:pPr>
            <a:r>
              <a:rPr sz="1800" b="0">
                <a:solidFill>
                  <a:srgbClr val="161B26"/>
                </a:solidFill>
                <a:latin typeface="Arial"/>
              </a:rPr>
              <a:t>•  Supports Placement Groups, Capacity Reservations, Dedicated hosts, multiple instance types</a:t>
            </a:r>
          </a:p>
          <a:p>
            <a:pPr>
              <a:spcAft>
                <a:spcPts val="1000"/>
              </a:spcAft>
            </a:pPr>
            <a:r>
              <a:rPr sz="1800" b="0">
                <a:solidFill>
                  <a:srgbClr val="161B26"/>
                </a:solidFill>
                <a:latin typeface="Arial"/>
              </a:rPr>
              <a:t>•  Can use T2 unlimited burst feature</a:t>
            </a:r>
          </a:p>
          <a:p>
            <a:pPr>
              <a:spcAft>
                <a:spcPts val="1000"/>
              </a:spcAft>
            </a:pPr>
            <a:r>
              <a:rPr sz="1800" b="0">
                <a:solidFill>
                  <a:srgbClr val="161B26"/>
                </a:solidFill>
                <a:latin typeface="Arial"/>
              </a:rPr>
              <a:t>•  Recommended by AWS going forward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SQS with Auto Scaling	Group	(ASG)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SQS Queue</a:t>
            </a:r>
          </a:p>
          <a:p>
            <a:pPr>
              <a:spcAft>
                <a:spcPts val="1000"/>
              </a:spcAft>
            </a:pPr>
            <a:r>
              <a:rPr sz="1800" b="0">
                <a:solidFill>
                  <a:srgbClr val="161B26"/>
                </a:solidFill>
                <a:latin typeface="Arial"/>
              </a:rPr>
              <a:t>•  CloudWatch Metric - Queue Length</a:t>
            </a:r>
          </a:p>
          <a:p>
            <a:pPr>
              <a:spcAft>
                <a:spcPts val="1000"/>
              </a:spcAft>
            </a:pPr>
            <a:r>
              <a:rPr sz="1800" b="0">
                <a:solidFill>
                  <a:srgbClr val="161B26"/>
                </a:solidFill>
                <a:latin typeface="Arial"/>
              </a:rPr>
              <a:t>•  ApproximateNumberOfMessages</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Poll for messages</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scale</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Alarm for breach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ASG 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make sure you have high availability, means you have least 2 instances running across 2 AZ in your ASG (must configure multi-AZ ASG)</a:t>
            </a:r>
          </a:p>
          <a:p>
            <a:pPr>
              <a:spcAft>
                <a:spcPts val="1000"/>
              </a:spcAft>
            </a:pPr>
            <a:r>
              <a:rPr sz="1800" b="0">
                <a:solidFill>
                  <a:srgbClr val="161B26"/>
                </a:solidFill>
                <a:latin typeface="Arial"/>
              </a:rPr>
              <a:t>•  Health checks available:</a:t>
            </a:r>
          </a:p>
          <a:p>
            <a:pPr>
              <a:spcAft>
                <a:spcPts val="1000"/>
              </a:spcAft>
            </a:pPr>
            <a:r>
              <a:rPr sz="1800" b="0">
                <a:solidFill>
                  <a:srgbClr val="161B26"/>
                </a:solidFill>
                <a:latin typeface="Arial"/>
              </a:rPr>
              <a:t>•  EC2 Status Checks</a:t>
            </a:r>
          </a:p>
          <a:p>
            <a:pPr>
              <a:spcAft>
                <a:spcPts val="1000"/>
              </a:spcAft>
            </a:pPr>
            <a:r>
              <a:rPr sz="1800" b="0">
                <a:solidFill>
                  <a:srgbClr val="161B26"/>
                </a:solidFill>
                <a:latin typeface="Arial"/>
              </a:rPr>
              <a:t>•  ELB Health Checks</a:t>
            </a:r>
          </a:p>
          <a:p>
            <a:pPr>
              <a:spcAft>
                <a:spcPts val="1000"/>
              </a:spcAft>
            </a:pPr>
            <a:r>
              <a:rPr sz="1800" b="0">
                <a:solidFill>
                  <a:srgbClr val="161B26"/>
                </a:solidFill>
                <a:latin typeface="Arial"/>
              </a:rPr>
              <a:t>•  Custom Health Checks: send instance’s health to ASG using AWS CLI or AWS SDK</a:t>
            </a:r>
          </a:p>
          <a:p>
            <a:pPr>
              <a:spcAft>
                <a:spcPts val="1000"/>
              </a:spcAft>
            </a:pPr>
            <a:r>
              <a:rPr sz="1800" b="0">
                <a:solidFill>
                  <a:srgbClr val="161B26"/>
                </a:solidFill>
                <a:latin typeface="Arial"/>
              </a:rPr>
              <a:t>•  ASG will launch a new instance after terminating an unhealthy one</a:t>
            </a:r>
          </a:p>
          <a:p>
            <a:pPr>
              <a:spcAft>
                <a:spcPts val="1000"/>
              </a:spcAft>
            </a:pPr>
            <a:r>
              <a:rPr sz="1800" b="0">
                <a:solidFill>
                  <a:srgbClr val="161B26"/>
                </a:solidFill>
                <a:latin typeface="Arial"/>
              </a:rPr>
              <a:t>•  ASG will not reboot unhealthy hosts for you</a:t>
            </a:r>
          </a:p>
          <a:p>
            <a:pPr>
              <a:spcAft>
                <a:spcPts val="1000"/>
              </a:spcAft>
            </a:pPr>
            <a:r>
              <a:rPr sz="1800" b="0">
                <a:solidFill>
                  <a:srgbClr val="161B26"/>
                </a:solidFill>
                <a:latin typeface="Arial"/>
              </a:rPr>
              <a:t>•  Good to know CLI:</a:t>
            </a:r>
          </a:p>
          <a:p>
            <a:pPr>
              <a:spcAft>
                <a:spcPts val="1000"/>
              </a:spcAft>
            </a:pPr>
            <a:r>
              <a:rPr sz="1800" b="0">
                <a:solidFill>
                  <a:srgbClr val="161B26"/>
                </a:solidFill>
                <a:latin typeface="Arial"/>
              </a:rPr>
              <a:t>•  set-instance-health (use with Custom Health Checks)</a:t>
            </a:r>
          </a:p>
          <a:p>
            <a:pPr>
              <a:spcAft>
                <a:spcPts val="1000"/>
              </a:spcAft>
            </a:pPr>
            <a:r>
              <a:rPr sz="1800" b="0">
                <a:solidFill>
                  <a:srgbClr val="161B26"/>
                </a:solidFill>
                <a:latin typeface="Arial"/>
              </a:rPr>
              <a:t>•  terminate-instance-in-auto-scaling-group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Troubleshooting ASG issues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&lt;number of instances&gt; instance(s) are already running. Launching EC2 instance failed.</a:t>
            </a:r>
          </a:p>
          <a:p>
            <a:pPr>
              <a:spcAft>
                <a:spcPts val="1000"/>
              </a:spcAft>
            </a:pPr>
            <a:r>
              <a:rPr sz="2000" b="0">
                <a:solidFill>
                  <a:srgbClr val="161B26"/>
                </a:solidFill>
                <a:latin typeface="Arial"/>
              </a:rPr>
              <a:t>•  The Auto Scaling group has reached the limit set by the MaximumCapacity parameter. Update your Auto Scaling group by providing a new value for the maximum capacity.</a:t>
            </a:r>
          </a:p>
          <a:p>
            <a:pPr>
              <a:spcAft>
                <a:spcPts val="1000"/>
              </a:spcAft>
            </a:pPr>
            <a:r>
              <a:rPr sz="2000" b="0">
                <a:solidFill>
                  <a:srgbClr val="161B26"/>
                </a:solidFill>
                <a:latin typeface="Arial"/>
              </a:rPr>
              <a:t>•  Launching EC2 instances is failing:</a:t>
            </a:r>
          </a:p>
          <a:p>
            <a:pPr>
              <a:spcAft>
                <a:spcPts val="1000"/>
              </a:spcAft>
            </a:pPr>
            <a:r>
              <a:rPr sz="2000" b="0">
                <a:solidFill>
                  <a:srgbClr val="161B26"/>
                </a:solidFill>
                <a:latin typeface="Arial"/>
              </a:rPr>
              <a:t>•  The security group does not exist. SG might have been deleted</a:t>
            </a:r>
          </a:p>
          <a:p>
            <a:pPr>
              <a:spcAft>
                <a:spcPts val="1000"/>
              </a:spcAft>
            </a:pPr>
            <a:r>
              <a:rPr sz="2000" b="0">
                <a:solidFill>
                  <a:srgbClr val="161B26"/>
                </a:solidFill>
                <a:latin typeface="Arial"/>
              </a:rPr>
              <a:t>•  The key pair does not exist. The key pair might have been deleted</a:t>
            </a:r>
          </a:p>
          <a:p>
            <a:pPr>
              <a:spcAft>
                <a:spcPts val="1000"/>
              </a:spcAft>
            </a:pPr>
            <a:r>
              <a:rPr sz="2000" b="0">
                <a:solidFill>
                  <a:srgbClr val="161B26"/>
                </a:solidFill>
                <a:latin typeface="Arial"/>
              </a:rPr>
              <a:t>•  If the ASG fails to launch an instance for over 24 hours, it will automatically suspend the processes (administration suspension)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Metrics for ASG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Metrics are collected every 1 minute</a:t>
            </a:r>
          </a:p>
          <a:p>
            <a:pPr>
              <a:spcAft>
                <a:spcPts val="1000"/>
              </a:spcAft>
            </a:pPr>
            <a:r>
              <a:rPr sz="1800" b="0">
                <a:solidFill>
                  <a:srgbClr val="161B26"/>
                </a:solidFill>
                <a:latin typeface="Arial"/>
              </a:rPr>
              <a:t>•  ASG-level metrics: (opt-in)</a:t>
            </a:r>
          </a:p>
          <a:p>
            <a:pPr>
              <a:spcAft>
                <a:spcPts val="1000"/>
              </a:spcAft>
            </a:pPr>
            <a:r>
              <a:rPr sz="1800" b="0">
                <a:solidFill>
                  <a:srgbClr val="161B26"/>
                </a:solidFill>
                <a:latin typeface="Arial"/>
              </a:rPr>
              <a:t>•  GroupMinSize, GroupMaxSize, GroupDesiredCapacity</a:t>
            </a:r>
          </a:p>
          <a:p>
            <a:pPr>
              <a:spcAft>
                <a:spcPts val="1000"/>
              </a:spcAft>
            </a:pPr>
            <a:r>
              <a:rPr sz="1800" b="0">
                <a:solidFill>
                  <a:srgbClr val="161B26"/>
                </a:solidFill>
                <a:latin typeface="Arial"/>
              </a:rPr>
              <a:t>•  GroupInServiceInstances, GroupPendingInstances, GroupStandbyInstances</a:t>
            </a:r>
          </a:p>
          <a:p>
            <a:pPr>
              <a:spcAft>
                <a:spcPts val="1000"/>
              </a:spcAft>
            </a:pPr>
            <a:r>
              <a:rPr sz="1800" b="0">
                <a:solidFill>
                  <a:srgbClr val="161B26"/>
                </a:solidFill>
                <a:latin typeface="Arial"/>
              </a:rPr>
              <a:t>•  GroupTerminatingInstances, GroupTotalInstances</a:t>
            </a:r>
          </a:p>
          <a:p>
            <a:pPr>
              <a:spcAft>
                <a:spcPts val="1000"/>
              </a:spcAft>
            </a:pPr>
            <a:r>
              <a:rPr sz="1800" b="0">
                <a:solidFill>
                  <a:srgbClr val="161B26"/>
                </a:solidFill>
                <a:latin typeface="Arial"/>
              </a:rPr>
              <a:t>•  You should enable metric collection to see these metrics</a:t>
            </a:r>
          </a:p>
          <a:p>
            <a:pPr>
              <a:spcAft>
                <a:spcPts val="1000"/>
              </a:spcAft>
            </a:pPr>
            <a:r>
              <a:rPr sz="1800" b="0">
                <a:solidFill>
                  <a:srgbClr val="161B26"/>
                </a:solidFill>
                <a:latin typeface="Arial"/>
              </a:rPr>
              <a:t>•  EC2-level metrics (enabled): CPU Utilization, etc…</a:t>
            </a:r>
          </a:p>
          <a:p>
            <a:pPr>
              <a:spcAft>
                <a:spcPts val="1000"/>
              </a:spcAft>
            </a:pPr>
            <a:r>
              <a:rPr sz="1800" b="0">
                <a:solidFill>
                  <a:srgbClr val="161B26"/>
                </a:solidFill>
                <a:latin typeface="Arial"/>
              </a:rPr>
              <a:t>•  Basic monitoring: 5 minutes granularity</a:t>
            </a:r>
          </a:p>
          <a:p>
            <a:pPr>
              <a:spcAft>
                <a:spcPts val="1000"/>
              </a:spcAft>
            </a:pPr>
            <a:r>
              <a:rPr sz="1800" b="0">
                <a:solidFill>
                  <a:srgbClr val="161B26"/>
                </a:solidFill>
                <a:latin typeface="Arial"/>
              </a:rPr>
              <a:t>•  Detailed monitoring: 1 minute granularity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Backbone service of auto scaling for scalable resources in AWS:</a:t>
            </a:r>
          </a:p>
          <a:p>
            <a:pPr>
              <a:spcAft>
                <a:spcPts val="1000"/>
              </a:spcAft>
            </a:pPr>
            <a:r>
              <a:rPr sz="2000" b="0">
                <a:solidFill>
                  <a:srgbClr val="161B26"/>
                </a:solidFill>
                <a:latin typeface="Arial"/>
              </a:rPr>
              <a:t>•  Amazon EC2 Auto Scaling groups:  Launch or terminate EC2 instances</a:t>
            </a:r>
          </a:p>
          <a:p>
            <a:pPr>
              <a:spcAft>
                <a:spcPts val="1000"/>
              </a:spcAft>
            </a:pPr>
            <a:r>
              <a:rPr sz="2000" b="0">
                <a:solidFill>
                  <a:srgbClr val="161B26"/>
                </a:solidFill>
                <a:latin typeface="Arial"/>
              </a:rPr>
              <a:t>•  Amazon EC2 Spot Fleet requests: Launch or terminate instances from a Spot Fleet request, or automatically replace instances that get interrupted for price or capacity reasons.</a:t>
            </a:r>
          </a:p>
          <a:p>
            <a:pPr>
              <a:spcAft>
                <a:spcPts val="1000"/>
              </a:spcAft>
            </a:pPr>
            <a:r>
              <a:rPr sz="2000" b="0">
                <a:solidFill>
                  <a:srgbClr val="161B26"/>
                </a:solidFill>
                <a:latin typeface="Arial"/>
              </a:rPr>
              <a:t>•  Amazon ECS: Adjust the ECS service desired count up or down</a:t>
            </a:r>
          </a:p>
          <a:p>
            <a:pPr>
              <a:spcAft>
                <a:spcPts val="1000"/>
              </a:spcAft>
            </a:pPr>
            <a:r>
              <a:rPr sz="2000" b="0">
                <a:solidFill>
                  <a:srgbClr val="161B26"/>
                </a:solidFill>
                <a:latin typeface="Arial"/>
              </a:rPr>
              <a:t>•  Amazon DynamoDB (table or global secondary index): WCU &amp; RCU</a:t>
            </a:r>
          </a:p>
          <a:p>
            <a:pPr>
              <a:spcAft>
                <a:spcPts val="1000"/>
              </a:spcAft>
            </a:pPr>
            <a:r>
              <a:rPr sz="2000" b="0">
                <a:solidFill>
                  <a:srgbClr val="161B26"/>
                </a:solidFill>
                <a:latin typeface="Arial"/>
              </a:rPr>
              <a:t>•  Amazon Aurora: Dynamic Read Replicas Auto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Auto Scaling - Scaling Plans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9567" y="1801368"/>
            <a:ext cx="88623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05_0.png"/>
          <p:cNvPicPr>
            <a:picLocks noChangeAspect="1"/>
          </p:cNvPicPr>
          <p:nvPr/>
        </p:nvPicPr>
        <p:blipFill>
          <a:blip r:embed="rId2"/>
          <a:stretch>
            <a:fillRect/>
          </a:stretch>
        </p:blipFill>
        <p:spPr>
          <a:xfrm>
            <a:off x="1676999" y="1828800"/>
            <a:ext cx="880752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Dynamic scaling: creates a target tracking scaling policy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Elastic Beanstalk</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3678" y="1801368"/>
            <a:ext cx="83741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07_0.png"/>
          <p:cNvPicPr>
            <a:picLocks noChangeAspect="1"/>
          </p:cNvPicPr>
          <p:nvPr/>
        </p:nvPicPr>
        <p:blipFill>
          <a:blip r:embed="rId2"/>
          <a:stretch>
            <a:fillRect/>
          </a:stretch>
        </p:blipFill>
        <p:spPr>
          <a:xfrm>
            <a:off x="1921110" y="1828800"/>
            <a:ext cx="831929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0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09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 Beanstalk is a developer centric view of deploying an application on AWS</a:t>
            </a:r>
          </a:p>
          <a:p>
            <a:pPr>
              <a:spcAft>
                <a:spcPts val="1000"/>
              </a:spcAft>
            </a:pPr>
            <a:r>
              <a:rPr sz="1800" b="0">
                <a:solidFill>
                  <a:srgbClr val="161B26"/>
                </a:solidFill>
                <a:latin typeface="Arial"/>
              </a:rPr>
              <a:t>•  It uses all the component’s we’ve seen before: EC2, ASG, ELB, RDS, …</a:t>
            </a:r>
          </a:p>
          <a:p>
            <a:pPr>
              <a:spcAft>
                <a:spcPts val="1000"/>
              </a:spcAft>
            </a:pPr>
            <a:r>
              <a:rPr sz="1800" b="0">
                <a:solidFill>
                  <a:srgbClr val="161B26"/>
                </a:solidFill>
                <a:latin typeface="Arial"/>
              </a:rPr>
              <a:t>•  Managed service</a:t>
            </a:r>
          </a:p>
          <a:p>
            <a:pPr>
              <a:spcAft>
                <a:spcPts val="1000"/>
              </a:spcAft>
            </a:pPr>
            <a:r>
              <a:rPr sz="1800" b="0">
                <a:solidFill>
                  <a:srgbClr val="161B26"/>
                </a:solidFill>
                <a:latin typeface="Arial"/>
              </a:rPr>
              <a:t>•  Automatically handles capacity provisioning, load balancing, scaling, application health monitoring, instance configuration, …</a:t>
            </a:r>
          </a:p>
          <a:p>
            <a:pPr>
              <a:spcAft>
                <a:spcPts val="1000"/>
              </a:spcAft>
            </a:pPr>
            <a:r>
              <a:rPr sz="1800" b="0">
                <a:solidFill>
                  <a:srgbClr val="161B26"/>
                </a:solidFill>
                <a:latin typeface="Arial"/>
              </a:rPr>
              <a:t>•  Just the application code is the responsibility of the developer</a:t>
            </a:r>
          </a:p>
          <a:p>
            <a:pPr>
              <a:spcAft>
                <a:spcPts val="1000"/>
              </a:spcAft>
            </a:pPr>
            <a:r>
              <a:rPr sz="1800" b="0">
                <a:solidFill>
                  <a:srgbClr val="161B26"/>
                </a:solidFill>
                <a:latin typeface="Arial"/>
              </a:rPr>
              <a:t>•  We still have full control over the configuration</a:t>
            </a:r>
          </a:p>
          <a:p>
            <a:pPr>
              <a:spcAft>
                <a:spcPts val="1000"/>
              </a:spcAft>
            </a:pPr>
            <a:r>
              <a:rPr sz="1800" b="0">
                <a:solidFill>
                  <a:srgbClr val="161B26"/>
                </a:solidFill>
                <a:latin typeface="Arial"/>
              </a:rPr>
              <a:t>•  Beanstalk is free but you pay for the underlying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Availability zone 3</a:t>
            </a:r>
          </a:p>
          <a:p>
            <a:pPr>
              <a:spcAft>
                <a:spcPts val="1000"/>
              </a:spcAft>
            </a:pPr>
            <a:r>
              <a:rPr sz="1800" b="0">
                <a:solidFill>
                  <a:srgbClr val="161B26"/>
                </a:solidFill>
                <a:latin typeface="Arial"/>
              </a:rPr>
              <a:t>•  ElastiCache</a:t>
            </a:r>
          </a:p>
          <a:p>
            <a:pPr>
              <a:spcAft>
                <a:spcPts val="1000"/>
              </a:spcAft>
            </a:pPr>
            <a:r>
              <a:rPr sz="1800" b="0">
                <a:solidFill>
                  <a:srgbClr val="161B26"/>
                </a:solidFill>
                <a:latin typeface="Arial"/>
              </a:rPr>
              <a:t>•  Store / retrieve</a:t>
            </a:r>
          </a:p>
          <a:p>
            <a:pPr>
              <a:spcAft>
                <a:spcPts val="1000"/>
              </a:spcAft>
            </a:pPr>
            <a:r>
              <a:rPr sz="1800" b="0">
                <a:solidFill>
                  <a:srgbClr val="161B26"/>
                </a:solidFill>
                <a:latin typeface="Arial"/>
              </a:rPr>
              <a:t>•  session data</a:t>
            </a:r>
          </a:p>
          <a:p>
            <a:pPr>
              <a:spcAft>
                <a:spcPts val="1000"/>
              </a:spcAft>
            </a:pPr>
            <a:r>
              <a:rPr sz="1800" b="0">
                <a:solidFill>
                  <a:srgbClr val="161B26"/>
                </a:solidFill>
                <a:latin typeface="Arial"/>
              </a:rPr>
              <a:t>•  + Cached data</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Amazon RDS Read / write data</a:t>
            </a:r>
          </a:p>
          <a:p>
            <a:pPr>
              <a:spcAft>
                <a:spcPts val="1000"/>
              </a:spcAft>
            </a:pPr>
            <a:r>
              <a:rPr sz="1800" b="0">
                <a:solidFill>
                  <a:srgbClr val="161B26"/>
                </a:solidFill>
                <a:latin typeface="Arial"/>
              </a:rPr>
              <a:t>•  DATA SUBNET</a:t>
            </a:r>
          </a:p>
          <a:p>
            <a:pPr>
              <a:spcAft>
                <a:spcPts val="1000"/>
              </a:spcAft>
            </a:pPr>
            <a:r>
              <a:rPr sz="1800" b="0">
                <a:solidFill>
                  <a:srgbClr val="161B26"/>
                </a:solidFill>
                <a:latin typeface="Arial"/>
              </a:rPr>
              <a:t>•  ELB</a:t>
            </a:r>
          </a:p>
          <a:p>
            <a:pPr>
              <a:spcAft>
                <a:spcPts val="1000"/>
              </a:spcAft>
            </a:pPr>
            <a:r>
              <a:rPr sz="1800" b="0">
                <a:solidFill>
                  <a:srgbClr val="161B26"/>
                </a:solidFill>
                <a:latin typeface="Arial"/>
              </a:rPr>
              <a:t>•  Typical architecture: Web App 3-tier</a:t>
            </a:r>
          </a:p>
          <a:p>
            <a:pPr>
              <a:spcAft>
                <a:spcPts val="1000"/>
              </a:spcAft>
            </a:pPr>
            <a:r>
              <a:rPr sz="1800" b="0">
                <a:solidFill>
                  <a:srgbClr val="161B26"/>
                </a:solidFill>
                <a:latin typeface="Arial"/>
              </a:rPr>
              <a:t>•  Route 53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Developer problems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Managing infrastructure</a:t>
            </a:r>
          </a:p>
          <a:p>
            <a:pPr>
              <a:spcAft>
                <a:spcPts val="1000"/>
              </a:spcAft>
            </a:pPr>
            <a:r>
              <a:rPr sz="1800" b="0">
                <a:solidFill>
                  <a:srgbClr val="161B26"/>
                </a:solidFill>
                <a:latin typeface="Arial"/>
              </a:rPr>
              <a:t>•  Deploying Code</a:t>
            </a:r>
          </a:p>
          <a:p>
            <a:pPr>
              <a:spcAft>
                <a:spcPts val="1000"/>
              </a:spcAft>
            </a:pPr>
            <a:r>
              <a:rPr sz="1800" b="0">
                <a:solidFill>
                  <a:srgbClr val="161B26"/>
                </a:solidFill>
                <a:latin typeface="Arial"/>
              </a:rPr>
              <a:t>•  Configuring all the databases, load balancers, etc</a:t>
            </a:r>
          </a:p>
          <a:p>
            <a:pPr>
              <a:spcAft>
                <a:spcPts val="1000"/>
              </a:spcAft>
            </a:pPr>
            <a:r>
              <a:rPr sz="1800" b="0">
                <a:solidFill>
                  <a:srgbClr val="161B26"/>
                </a:solidFill>
                <a:latin typeface="Arial"/>
              </a:rPr>
              <a:t>•  Scaling concerns</a:t>
            </a:r>
          </a:p>
          <a:p>
            <a:pPr>
              <a:spcAft>
                <a:spcPts val="1000"/>
              </a:spcAft>
            </a:pPr>
            <a:r>
              <a:rPr sz="1800" b="0">
                <a:solidFill>
                  <a:srgbClr val="161B26"/>
                </a:solidFill>
                <a:latin typeface="Arial"/>
              </a:rPr>
              <a:t>•  Most web apps have the same architecture (ALB + ASG)</a:t>
            </a:r>
          </a:p>
          <a:p>
            <a:pPr>
              <a:spcAft>
                <a:spcPts val="1000"/>
              </a:spcAft>
            </a:pPr>
            <a:r>
              <a:rPr sz="1800" b="0">
                <a:solidFill>
                  <a:srgbClr val="161B26"/>
                </a:solidFill>
                <a:latin typeface="Arial"/>
              </a:rPr>
              <a:t>•  All the developers want is for their code to run!</a:t>
            </a:r>
          </a:p>
          <a:p>
            <a:pPr>
              <a:spcAft>
                <a:spcPts val="1000"/>
              </a:spcAft>
            </a:pPr>
            <a:r>
              <a:rPr sz="1800" b="0">
                <a:solidFill>
                  <a:srgbClr val="161B26"/>
                </a:solidFill>
                <a:latin typeface="Arial"/>
              </a:rPr>
              <a:t>•  Possibly, consistently across different applications and environments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Components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collection of Elastic Beanstalk components (environments, versions, configurations, …)</a:t>
            </a:r>
          </a:p>
          <a:p>
            <a:pPr>
              <a:spcAft>
                <a:spcPts val="1000"/>
              </a:spcAft>
            </a:pPr>
            <a:r>
              <a:rPr sz="1800" b="0">
                <a:solidFill>
                  <a:srgbClr val="161B26"/>
                </a:solidFill>
                <a:latin typeface="Arial"/>
              </a:rPr>
              <a:t>•  Application Version: an iteration of your application code</a:t>
            </a:r>
          </a:p>
          <a:p>
            <a:pPr>
              <a:spcAft>
                <a:spcPts val="1000"/>
              </a:spcAft>
            </a:pPr>
            <a:r>
              <a:rPr sz="1800" b="0">
                <a:solidFill>
                  <a:srgbClr val="161B26"/>
                </a:solidFill>
                <a:latin typeface="Arial"/>
              </a:rPr>
              <a:t>•  Environment</a:t>
            </a:r>
          </a:p>
          <a:p>
            <a:pPr>
              <a:spcAft>
                <a:spcPts val="1000"/>
              </a:spcAft>
            </a:pPr>
            <a:r>
              <a:rPr sz="1800" b="0">
                <a:solidFill>
                  <a:srgbClr val="161B26"/>
                </a:solidFill>
                <a:latin typeface="Arial"/>
              </a:rPr>
              <a:t>•  Collection of AWS resources running an application version (only one application version at a time)</a:t>
            </a:r>
          </a:p>
          <a:p>
            <a:pPr>
              <a:spcAft>
                <a:spcPts val="1000"/>
              </a:spcAft>
            </a:pPr>
            <a:r>
              <a:rPr sz="1800" b="0">
                <a:solidFill>
                  <a:srgbClr val="161B26"/>
                </a:solidFill>
                <a:latin typeface="Arial"/>
              </a:rPr>
              <a:t>•  Tiers: Web Server Environment Tier &amp; Worker Environment Tier</a:t>
            </a:r>
          </a:p>
          <a:p>
            <a:pPr>
              <a:spcAft>
                <a:spcPts val="1000"/>
              </a:spcAft>
            </a:pPr>
            <a:r>
              <a:rPr sz="1800" b="0">
                <a:solidFill>
                  <a:srgbClr val="161B26"/>
                </a:solidFill>
                <a:latin typeface="Arial"/>
              </a:rPr>
              <a:t>•  You can create multiple environments (dev, test, prod, …)</a:t>
            </a:r>
          </a:p>
          <a:p>
            <a:pPr>
              <a:spcAft>
                <a:spcPts val="1000"/>
              </a:spcAft>
            </a:pPr>
            <a:r>
              <a:rPr sz="1800" b="0">
                <a:solidFill>
                  <a:srgbClr val="161B26"/>
                </a:solidFill>
                <a:latin typeface="Arial"/>
              </a:rPr>
              <a:t>•  update version</a:t>
            </a:r>
          </a:p>
          <a:p>
            <a:pPr>
              <a:spcAft>
                <a:spcPts val="1000"/>
              </a:spcAft>
            </a:pPr>
            <a:r>
              <a:rPr sz="1800" b="0">
                <a:solidFill>
                  <a:srgbClr val="161B26"/>
                </a:solidFill>
                <a:latin typeface="Arial"/>
              </a:rPr>
              <a:t>•  Create Application</a:t>
            </a:r>
          </a:p>
          <a:p>
            <a:pPr>
              <a:spcAft>
                <a:spcPts val="1000"/>
              </a:spcAft>
            </a:pPr>
            <a:r>
              <a:rPr sz="1800" b="0">
                <a:solidFill>
                  <a:srgbClr val="161B26"/>
                </a:solidFill>
                <a:latin typeface="Arial"/>
              </a:rPr>
              <a:t>•  Upload Version</a:t>
            </a:r>
          </a:p>
          <a:p>
            <a:pPr>
              <a:spcAft>
                <a:spcPts val="1000"/>
              </a:spcAft>
            </a:pPr>
            <a:r>
              <a:rPr sz="1800" b="0">
                <a:solidFill>
                  <a:srgbClr val="161B26"/>
                </a:solidFill>
                <a:latin typeface="Arial"/>
              </a:rPr>
              <a:t>•  Launch Environment</a:t>
            </a:r>
          </a:p>
          <a:p>
            <a:pPr>
              <a:spcAft>
                <a:spcPts val="1000"/>
              </a:spcAft>
            </a:pPr>
            <a:r>
              <a:rPr sz="1800" b="0">
                <a:solidFill>
                  <a:srgbClr val="161B26"/>
                </a:solidFill>
                <a:latin typeface="Arial"/>
              </a:rPr>
              <a:t>•  Manage Environment</a:t>
            </a:r>
          </a:p>
          <a:p>
            <a:pPr>
              <a:spcAft>
                <a:spcPts val="1000"/>
              </a:spcAft>
            </a:pPr>
            <a:r>
              <a:rPr sz="1800" b="0">
                <a:solidFill>
                  <a:srgbClr val="161B26"/>
                </a:solidFill>
                <a:latin typeface="Arial"/>
              </a:rPr>
              <a:t>•  deploy new version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Supported Platforms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Go</a:t>
            </a:r>
          </a:p>
          <a:p>
            <a:pPr>
              <a:spcAft>
                <a:spcPts val="1000"/>
              </a:spcAft>
            </a:pPr>
            <a:r>
              <a:rPr sz="1800" b="0">
                <a:solidFill>
                  <a:srgbClr val="161B26"/>
                </a:solidFill>
                <a:latin typeface="Arial"/>
              </a:rPr>
              <a:t>•  Java SE</a:t>
            </a:r>
          </a:p>
          <a:p>
            <a:pPr>
              <a:spcAft>
                <a:spcPts val="1000"/>
              </a:spcAft>
            </a:pPr>
            <a:r>
              <a:rPr sz="1800" b="0">
                <a:solidFill>
                  <a:srgbClr val="161B26"/>
                </a:solidFill>
                <a:latin typeface="Arial"/>
              </a:rPr>
              <a:t>•  Java with Tomcat</a:t>
            </a:r>
          </a:p>
          <a:p>
            <a:pPr>
              <a:spcAft>
                <a:spcPts val="1000"/>
              </a:spcAft>
            </a:pPr>
            <a:r>
              <a:rPr sz="1800" b="0">
                <a:solidFill>
                  <a:srgbClr val="161B26"/>
                </a:solidFill>
                <a:latin typeface="Arial"/>
              </a:rPr>
              <a:t>•  .NET Core on Linux</a:t>
            </a:r>
          </a:p>
          <a:p>
            <a:pPr>
              <a:spcAft>
                <a:spcPts val="1000"/>
              </a:spcAft>
            </a:pPr>
            <a:r>
              <a:rPr sz="1800" b="0">
                <a:solidFill>
                  <a:srgbClr val="161B26"/>
                </a:solidFill>
                <a:latin typeface="Arial"/>
              </a:rPr>
              <a:t>•  .NET on Windows Server</a:t>
            </a:r>
          </a:p>
          <a:p>
            <a:pPr>
              <a:spcAft>
                <a:spcPts val="1000"/>
              </a:spcAft>
            </a:pPr>
            <a:r>
              <a:rPr sz="1800" b="0">
                <a:solidFill>
                  <a:srgbClr val="161B26"/>
                </a:solidFill>
                <a:latin typeface="Arial"/>
              </a:rPr>
              <a:t>•  Node.js</a:t>
            </a:r>
          </a:p>
          <a:p>
            <a:pPr>
              <a:spcAft>
                <a:spcPts val="1000"/>
              </a:spcAft>
            </a:pPr>
            <a:r>
              <a:rPr sz="1800" b="0">
                <a:solidFill>
                  <a:srgbClr val="161B26"/>
                </a:solidFill>
                <a:latin typeface="Arial"/>
              </a:rPr>
              <a:t>•  PHP</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Packer Builder</a:t>
            </a:r>
          </a:p>
          <a:p>
            <a:pPr>
              <a:spcAft>
                <a:spcPts val="1000"/>
              </a:spcAft>
            </a:pPr>
            <a:r>
              <a:rPr sz="1800" b="0">
                <a:solidFill>
                  <a:srgbClr val="161B26"/>
                </a:solidFill>
                <a:latin typeface="Arial"/>
              </a:rPr>
              <a:t>•  Single Container Docker</a:t>
            </a:r>
          </a:p>
          <a:p>
            <a:pPr>
              <a:spcAft>
                <a:spcPts val="1000"/>
              </a:spcAft>
            </a:pPr>
            <a:r>
              <a:rPr sz="1800" b="0">
                <a:solidFill>
                  <a:srgbClr val="161B26"/>
                </a:solidFill>
                <a:latin typeface="Arial"/>
              </a:rPr>
              <a:t>•  Multi-container Docker</a:t>
            </a:r>
          </a:p>
          <a:p>
            <a:pPr>
              <a:spcAft>
                <a:spcPts val="1000"/>
              </a:spcAft>
            </a:pPr>
            <a:r>
              <a:rPr sz="1800" b="0">
                <a:solidFill>
                  <a:srgbClr val="161B26"/>
                </a:solidFill>
                <a:latin typeface="Arial"/>
              </a:rPr>
              <a:t>•  Preconfigured Docker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Web Server Tier vs Worker Tier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Environment</a:t>
            </a:r>
          </a:p>
          <a:p>
            <a:pPr>
              <a:spcAft>
                <a:spcPts val="1000"/>
              </a:spcAft>
            </a:pPr>
            <a:r>
              <a:rPr sz="1800" b="0">
                <a:solidFill>
                  <a:srgbClr val="161B26"/>
                </a:solidFill>
                <a:latin typeface="Arial"/>
              </a:rPr>
              <a:t>•  (myapp.us-east-1.elasticbeanstalk.com)</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Worker Environment</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SQS Queue</a:t>
            </a:r>
          </a:p>
          <a:p>
            <a:pPr>
              <a:spcAft>
                <a:spcPts val="1000"/>
              </a:spcAft>
            </a:pPr>
            <a:r>
              <a:rPr sz="1800" b="0">
                <a:solidFill>
                  <a:srgbClr val="161B26"/>
                </a:solidFill>
                <a:latin typeface="Arial"/>
              </a:rPr>
              <a:t>•  SQS message</a:t>
            </a:r>
          </a:p>
          <a:p>
            <a:pPr>
              <a:spcAft>
                <a:spcPts val="1000"/>
              </a:spcAft>
            </a:pPr>
            <a:r>
              <a:rPr sz="1800" b="0">
                <a:solidFill>
                  <a:srgbClr val="161B26"/>
                </a:solidFill>
                <a:latin typeface="Arial"/>
              </a:rPr>
              <a:t>•  pull	SQS message</a:t>
            </a:r>
          </a:p>
          <a:p>
            <a:pPr>
              <a:spcAft>
                <a:spcPts val="1000"/>
              </a:spcAft>
            </a:pPr>
            <a:r>
              <a:rPr sz="1800" b="0">
                <a:solidFill>
                  <a:srgbClr val="161B26"/>
                </a:solidFill>
                <a:latin typeface="Arial"/>
              </a:rPr>
              <a:t>•  messages</a:t>
            </a:r>
          </a:p>
          <a:p>
            <a:pPr>
              <a:spcAft>
                <a:spcPts val="1000"/>
              </a:spcAft>
            </a:pPr>
            <a:r>
              <a:rPr sz="1800" b="0">
                <a:solidFill>
                  <a:srgbClr val="161B26"/>
                </a:solidFill>
                <a:latin typeface="Arial"/>
              </a:rPr>
              <a:t>•  EC2 Instance (Worker)</a:t>
            </a:r>
          </a:p>
          <a:p>
            <a:pPr>
              <a:spcAft>
                <a:spcPts val="1000"/>
              </a:spcAft>
            </a:pPr>
            <a:r>
              <a:rPr sz="1800" b="0">
                <a:solidFill>
                  <a:srgbClr val="161B26"/>
                </a:solidFill>
                <a:latin typeface="Arial"/>
              </a:rPr>
              <a:t>•  EC2 Instance (Worker)</a:t>
            </a:r>
          </a:p>
          <a:p>
            <a:pPr>
              <a:spcAft>
                <a:spcPts val="1000"/>
              </a:spcAft>
            </a:pPr>
            <a:r>
              <a:rPr sz="1800" b="0">
                <a:solidFill>
                  <a:srgbClr val="161B26"/>
                </a:solidFill>
                <a:latin typeface="Arial"/>
              </a:rPr>
              <a:t>•  Scale based on the number of SQS messages</a:t>
            </a:r>
          </a:p>
          <a:p>
            <a:pPr>
              <a:spcAft>
                <a:spcPts val="1000"/>
              </a:spcAft>
            </a:pPr>
            <a:r>
              <a:rPr sz="1800" b="0">
                <a:solidFill>
                  <a:srgbClr val="161B26"/>
                </a:solidFill>
                <a:latin typeface="Arial"/>
              </a:rPr>
              <a:t>•  Can push messages to SQS queue from another Web Server 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Deployment Modes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Single Instance Great for dev</a:t>
            </a:r>
          </a:p>
          <a:p>
            <a:pPr>
              <a:spcAft>
                <a:spcPts val="1000"/>
              </a:spcAft>
            </a:pPr>
            <a:r>
              <a:rPr sz="1800" b="0">
                <a:solidFill>
                  <a:srgbClr val="161B26"/>
                </a:solidFill>
                <a:latin typeface="Arial"/>
              </a:rPr>
              <a:t>•  High Availability with Load Balancer Great for prod</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RDS Master</a:t>
            </a:r>
          </a:p>
          <a:p>
            <a:pPr>
              <a:spcAft>
                <a:spcPts val="1000"/>
              </a:spcAft>
            </a:pPr>
            <a:r>
              <a:rPr sz="1800" b="0">
                <a:solidFill>
                  <a:srgbClr val="161B26"/>
                </a:solidFill>
                <a:latin typeface="Arial"/>
              </a:rPr>
              <a:t>•  RDS Standby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Elastic IP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RDS Master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Elastic Beamstalk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4670" y="1801368"/>
            <a:ext cx="85121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17_0.png"/>
          <p:cNvPicPr>
            <a:picLocks noChangeAspect="1"/>
          </p:cNvPicPr>
          <p:nvPr/>
        </p:nvPicPr>
        <p:blipFill>
          <a:blip r:embed="rId2"/>
          <a:stretch>
            <a:fillRect/>
          </a:stretch>
        </p:blipFill>
        <p:spPr>
          <a:xfrm>
            <a:off x="1852102" y="1828800"/>
            <a:ext cx="845731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CloudFormation for SysOps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CloudFormation is a declarative way of outlining your AWS Infrastructure, for any resources (most of them are supported)</a:t>
            </a:r>
          </a:p>
          <a:p>
            <a:pPr>
              <a:spcAft>
                <a:spcPts val="1000"/>
              </a:spcAft>
            </a:pPr>
            <a:r>
              <a:rPr sz="1800" b="0">
                <a:solidFill>
                  <a:srgbClr val="161B26"/>
                </a:solidFill>
                <a:latin typeface="Arial"/>
              </a:rPr>
              <a:t>•  For example, within a CloudFormation template, you say:</a:t>
            </a:r>
          </a:p>
          <a:p>
            <a:pPr>
              <a:spcAft>
                <a:spcPts val="1000"/>
              </a:spcAft>
            </a:pPr>
            <a:r>
              <a:rPr sz="1800" b="0">
                <a:solidFill>
                  <a:srgbClr val="161B26"/>
                </a:solidFill>
                <a:latin typeface="Arial"/>
              </a:rPr>
              <a:t>•  I want a security group</a:t>
            </a:r>
          </a:p>
          <a:p>
            <a:pPr>
              <a:spcAft>
                <a:spcPts val="1000"/>
              </a:spcAft>
            </a:pPr>
            <a:r>
              <a:rPr sz="1800" b="0">
                <a:solidFill>
                  <a:srgbClr val="161B26"/>
                </a:solidFill>
                <a:latin typeface="Arial"/>
              </a:rPr>
              <a:t>•  I want two EC2 instances using this security group</a:t>
            </a:r>
          </a:p>
          <a:p>
            <a:pPr>
              <a:spcAft>
                <a:spcPts val="1000"/>
              </a:spcAft>
            </a:pPr>
            <a:r>
              <a:rPr sz="1800" b="0">
                <a:solidFill>
                  <a:srgbClr val="161B26"/>
                </a:solidFill>
                <a:latin typeface="Arial"/>
              </a:rPr>
              <a:t>•  I want two Elastic IPs for these EC2 instances</a:t>
            </a:r>
          </a:p>
          <a:p>
            <a:pPr>
              <a:spcAft>
                <a:spcPts val="1000"/>
              </a:spcAft>
            </a:pPr>
            <a:r>
              <a:rPr sz="1800" b="0">
                <a:solidFill>
                  <a:srgbClr val="161B26"/>
                </a:solidFill>
                <a:latin typeface="Arial"/>
              </a:rPr>
              <a:t>•  I want an S3 bucket</a:t>
            </a:r>
          </a:p>
          <a:p>
            <a:pPr>
              <a:spcAft>
                <a:spcPts val="1000"/>
              </a:spcAft>
            </a:pPr>
            <a:r>
              <a:rPr sz="1800" b="0">
                <a:solidFill>
                  <a:srgbClr val="161B26"/>
                </a:solidFill>
                <a:latin typeface="Arial"/>
              </a:rPr>
              <a:t>•  I want a load balancer (ELB) in front of these EC2 instances</a:t>
            </a:r>
          </a:p>
          <a:p>
            <a:pPr>
              <a:spcAft>
                <a:spcPts val="1000"/>
              </a:spcAft>
            </a:pPr>
            <a:r>
              <a:rPr sz="1800" b="0">
                <a:solidFill>
                  <a:srgbClr val="161B26"/>
                </a:solidFill>
                <a:latin typeface="Arial"/>
              </a:rPr>
              <a:t>•  Then CloudFormation creates those for you, in the right order, with the exact configuration that you specify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20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Template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35145" y="1801368"/>
            <a:ext cx="409122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21_0.jpg"/>
          <p:cNvPicPr>
            <a:picLocks noChangeAspect="1"/>
          </p:cNvPicPr>
          <p:nvPr/>
        </p:nvPicPr>
        <p:blipFill>
          <a:blip r:embed="rId2"/>
          <a:stretch>
            <a:fillRect/>
          </a:stretch>
        </p:blipFill>
        <p:spPr>
          <a:xfrm>
            <a:off x="4062577" y="1828800"/>
            <a:ext cx="403636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Application Composer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(1/2)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code</a:t>
            </a:r>
          </a:p>
          <a:p>
            <a:pPr>
              <a:spcAft>
                <a:spcPts val="1000"/>
              </a:spcAft>
            </a:pPr>
            <a:r>
              <a:rPr sz="1800" b="0">
                <a:solidFill>
                  <a:srgbClr val="161B26"/>
                </a:solidFill>
                <a:latin typeface="Arial"/>
              </a:rPr>
              <a:t>•  No resources are manually created, which is excellent for control</a:t>
            </a:r>
          </a:p>
          <a:p>
            <a:pPr>
              <a:spcAft>
                <a:spcPts val="1000"/>
              </a:spcAft>
            </a:pPr>
            <a:r>
              <a:rPr sz="1800" b="0">
                <a:solidFill>
                  <a:srgbClr val="161B26"/>
                </a:solidFill>
                <a:latin typeface="Arial"/>
              </a:rPr>
              <a:t>•  The code can be version controlled for example using Git</a:t>
            </a:r>
          </a:p>
          <a:p>
            <a:pPr>
              <a:spcAft>
                <a:spcPts val="1000"/>
              </a:spcAft>
            </a:pPr>
            <a:r>
              <a:rPr sz="1800" b="0">
                <a:solidFill>
                  <a:srgbClr val="161B26"/>
                </a:solidFill>
                <a:latin typeface="Arial"/>
              </a:rPr>
              <a:t>•  Changes to the infrastructure are reviewed through code</a:t>
            </a:r>
          </a:p>
          <a:p>
            <a:pPr>
              <a:spcAft>
                <a:spcPts val="1000"/>
              </a:spcAft>
            </a:pPr>
            <a:r>
              <a:rPr sz="1800" b="0">
                <a:solidFill>
                  <a:srgbClr val="161B26"/>
                </a:solidFill>
                <a:latin typeface="Arial"/>
              </a:rPr>
              <a:t>•  Cost</a:t>
            </a:r>
          </a:p>
          <a:p>
            <a:pPr>
              <a:spcAft>
                <a:spcPts val="1000"/>
              </a:spcAft>
            </a:pPr>
            <a:r>
              <a:rPr sz="1800" b="0">
                <a:solidFill>
                  <a:srgbClr val="161B26"/>
                </a:solidFill>
                <a:latin typeface="Arial"/>
              </a:rPr>
              <a:t>•  Each resources within the stack is tagged with an identifier so you can easily see how much a stack costs you</a:t>
            </a:r>
          </a:p>
          <a:p>
            <a:pPr>
              <a:spcAft>
                <a:spcPts val="1000"/>
              </a:spcAft>
            </a:pPr>
            <a:r>
              <a:rPr sz="1800" b="0">
                <a:solidFill>
                  <a:srgbClr val="161B26"/>
                </a:solidFill>
                <a:latin typeface="Arial"/>
              </a:rPr>
              <a:t>•  You can estimate the costs of your resources using the CloudFormation template</a:t>
            </a:r>
          </a:p>
          <a:p>
            <a:pPr>
              <a:spcAft>
                <a:spcPts val="1000"/>
              </a:spcAft>
            </a:pPr>
            <a:r>
              <a:rPr sz="1800" b="0">
                <a:solidFill>
                  <a:srgbClr val="161B26"/>
                </a:solidFill>
                <a:latin typeface="Arial"/>
              </a:rPr>
              <a:t>•  Savings strategy: In Dev, you could automation deletion of templates at 5 PM and recreated at 8 AM, safely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(2/2)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Productivity</a:t>
            </a:r>
          </a:p>
          <a:p>
            <a:pPr>
              <a:spcAft>
                <a:spcPts val="1000"/>
              </a:spcAft>
            </a:pPr>
            <a:r>
              <a:rPr sz="1800" b="0">
                <a:solidFill>
                  <a:srgbClr val="161B26"/>
                </a:solidFill>
                <a:latin typeface="Arial"/>
              </a:rPr>
              <a:t>•  Ability to destroy and re-create an infrastructure on the cloud on the fly</a:t>
            </a:r>
          </a:p>
          <a:p>
            <a:pPr>
              <a:spcAft>
                <a:spcPts val="1000"/>
              </a:spcAft>
            </a:pPr>
            <a:r>
              <a:rPr sz="1800" b="0">
                <a:solidFill>
                  <a:srgbClr val="161B26"/>
                </a:solidFill>
                <a:latin typeface="Arial"/>
              </a:rPr>
              <a:t>•  Automated generation of Diagram for your templates!</a:t>
            </a:r>
          </a:p>
          <a:p>
            <a:pPr>
              <a:spcAft>
                <a:spcPts val="1000"/>
              </a:spcAft>
            </a:pPr>
            <a:r>
              <a:rPr sz="1800" b="0">
                <a:solidFill>
                  <a:srgbClr val="161B26"/>
                </a:solidFill>
                <a:latin typeface="Arial"/>
              </a:rPr>
              <a:t>•  Declarative programming (no need to figure out ordering and orchestration)</a:t>
            </a:r>
          </a:p>
          <a:p>
            <a:pPr>
              <a:spcAft>
                <a:spcPts val="1000"/>
              </a:spcAft>
            </a:pPr>
            <a:r>
              <a:rPr sz="1800" b="0">
                <a:solidFill>
                  <a:srgbClr val="161B26"/>
                </a:solidFill>
                <a:latin typeface="Arial"/>
              </a:rPr>
              <a:t>•  Separation of concern: create many stacks for many apps and many layers. Eg.</a:t>
            </a:r>
          </a:p>
          <a:p>
            <a:pPr>
              <a:spcAft>
                <a:spcPts val="1000"/>
              </a:spcAft>
            </a:pPr>
            <a:r>
              <a:rPr sz="1800" b="0">
                <a:solidFill>
                  <a:srgbClr val="161B26"/>
                </a:solidFill>
                <a:latin typeface="Arial"/>
              </a:rPr>
              <a:t>•  VPC stacks</a:t>
            </a:r>
          </a:p>
          <a:p>
            <a:pPr>
              <a:spcAft>
                <a:spcPts val="1000"/>
              </a:spcAft>
            </a:pPr>
            <a:r>
              <a:rPr sz="1800" b="0">
                <a:solidFill>
                  <a:srgbClr val="161B26"/>
                </a:solidFill>
                <a:latin typeface="Arial"/>
              </a:rPr>
              <a:t>•  Network stacks</a:t>
            </a:r>
          </a:p>
          <a:p>
            <a:pPr>
              <a:spcAft>
                <a:spcPts val="1000"/>
              </a:spcAft>
            </a:pPr>
            <a:r>
              <a:rPr sz="1800" b="0">
                <a:solidFill>
                  <a:srgbClr val="161B26"/>
                </a:solidFill>
                <a:latin typeface="Arial"/>
              </a:rPr>
              <a:t>•  App stacks</a:t>
            </a:r>
          </a:p>
          <a:p>
            <a:pPr>
              <a:spcAft>
                <a:spcPts val="1000"/>
              </a:spcAft>
            </a:pPr>
            <a:r>
              <a:rPr sz="1800" b="0">
                <a:solidFill>
                  <a:srgbClr val="161B26"/>
                </a:solidFill>
                <a:latin typeface="Arial"/>
              </a:rPr>
              <a:t>•  Don't re-invent the wheel</a:t>
            </a:r>
          </a:p>
          <a:p>
            <a:pPr>
              <a:spcAft>
                <a:spcPts val="1000"/>
              </a:spcAft>
            </a:pPr>
            <a:r>
              <a:rPr sz="1800" b="0">
                <a:solidFill>
                  <a:srgbClr val="161B26"/>
                </a:solidFill>
                <a:latin typeface="Arial"/>
              </a:rPr>
              <a:t>•  Leverage existing templates on the web!</a:t>
            </a:r>
          </a:p>
          <a:p>
            <a:pPr>
              <a:spcAft>
                <a:spcPts val="1000"/>
              </a:spcAft>
            </a:pPr>
            <a:r>
              <a:rPr sz="1800" b="0">
                <a:solidFill>
                  <a:srgbClr val="161B26"/>
                </a:solidFill>
                <a:latin typeface="Arial"/>
              </a:rPr>
              <a:t>•  Leverage the documentation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CloudFormation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Templates must be uploaded in S3 and then referenced in CloudFormation</a:t>
            </a:r>
          </a:p>
          <a:p>
            <a:pPr>
              <a:spcAft>
                <a:spcPts val="1000"/>
              </a:spcAft>
            </a:pPr>
            <a:r>
              <a:rPr sz="1800" b="0">
                <a:solidFill>
                  <a:srgbClr val="161B26"/>
                </a:solidFill>
                <a:latin typeface="Arial"/>
              </a:rPr>
              <a:t>•  To update a template, we can’t edit previous ones. We have to re- upload a new version of the template to AWS</a:t>
            </a:r>
          </a:p>
          <a:p>
            <a:pPr>
              <a:spcAft>
                <a:spcPts val="1000"/>
              </a:spcAft>
            </a:pPr>
            <a:r>
              <a:rPr sz="1800" b="0">
                <a:solidFill>
                  <a:srgbClr val="161B26"/>
                </a:solidFill>
                <a:latin typeface="Arial"/>
              </a:rPr>
              <a:t>•  Stacks are identified by a name</a:t>
            </a:r>
          </a:p>
          <a:p>
            <a:pPr>
              <a:spcAft>
                <a:spcPts val="1000"/>
              </a:spcAft>
            </a:pPr>
            <a:r>
              <a:rPr sz="1800" b="0">
                <a:solidFill>
                  <a:srgbClr val="161B26"/>
                </a:solidFill>
                <a:latin typeface="Arial"/>
              </a:rPr>
              <a:t>•  Deleting a stack deletes every single artifact that was created by CloudFormation.</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AWS CloudFormation</a:t>
            </a:r>
          </a:p>
          <a:p>
            <a:pPr>
              <a:spcAft>
                <a:spcPts val="1000"/>
              </a:spcAft>
            </a:pPr>
            <a:r>
              <a:rPr sz="1800" b="0">
                <a:solidFill>
                  <a:srgbClr val="161B26"/>
                </a:solidFill>
                <a:latin typeface="Arial"/>
              </a:rPr>
              <a:t>•  Stack</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reference</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AWS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Deploying CloudFormation Templates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Manual way</a:t>
            </a:r>
          </a:p>
          <a:p>
            <a:pPr>
              <a:spcAft>
                <a:spcPts val="1000"/>
              </a:spcAft>
            </a:pPr>
            <a:r>
              <a:rPr sz="1800" b="0">
                <a:solidFill>
                  <a:srgbClr val="161B26"/>
                </a:solidFill>
                <a:latin typeface="Arial"/>
              </a:rPr>
              <a:t>•  Editing templates in Application Composer or code editor</a:t>
            </a:r>
          </a:p>
          <a:p>
            <a:pPr>
              <a:spcAft>
                <a:spcPts val="1000"/>
              </a:spcAft>
            </a:pPr>
            <a:r>
              <a:rPr sz="1800" b="0">
                <a:solidFill>
                  <a:srgbClr val="161B26"/>
                </a:solidFill>
                <a:latin typeface="Arial"/>
              </a:rPr>
              <a:t>•  Using the console to input parameters, etc…</a:t>
            </a:r>
          </a:p>
          <a:p>
            <a:pPr>
              <a:spcAft>
                <a:spcPts val="1000"/>
              </a:spcAft>
            </a:pPr>
            <a:r>
              <a:rPr sz="1800" b="0">
                <a:solidFill>
                  <a:srgbClr val="161B26"/>
                </a:solidFill>
                <a:latin typeface="Arial"/>
              </a:rPr>
              <a:t>•  We’ll mostly do this way in the course for learning 	purposes</a:t>
            </a:r>
          </a:p>
          <a:p>
            <a:pPr>
              <a:spcAft>
                <a:spcPts val="1000"/>
              </a:spcAft>
            </a:pPr>
            <a:r>
              <a:rPr sz="1800" b="0">
                <a:solidFill>
                  <a:srgbClr val="161B26"/>
                </a:solidFill>
                <a:latin typeface="Arial"/>
              </a:rPr>
              <a:t>•  Automated way</a:t>
            </a:r>
          </a:p>
          <a:p>
            <a:pPr>
              <a:spcAft>
                <a:spcPts val="1000"/>
              </a:spcAft>
            </a:pPr>
            <a:r>
              <a:rPr sz="1800" b="0">
                <a:solidFill>
                  <a:srgbClr val="161B26"/>
                </a:solidFill>
                <a:latin typeface="Arial"/>
              </a:rPr>
              <a:t>•  Editing templates in a YAML file</a:t>
            </a:r>
          </a:p>
          <a:p>
            <a:pPr>
              <a:spcAft>
                <a:spcPts val="1000"/>
              </a:spcAft>
            </a:pPr>
            <a:r>
              <a:rPr sz="1800" b="0">
                <a:solidFill>
                  <a:srgbClr val="161B26"/>
                </a:solidFill>
                <a:latin typeface="Arial"/>
              </a:rPr>
              <a:t>•  Using the AWS CLI (Command Line Interface) to deploy the templates, or using a Continuous Delivery (CD) tool</a:t>
            </a:r>
          </a:p>
          <a:p>
            <a:pPr>
              <a:spcAft>
                <a:spcPts val="1000"/>
              </a:spcAft>
            </a:pPr>
            <a:r>
              <a:rPr sz="1800" b="0">
                <a:solidFill>
                  <a:srgbClr val="161B26"/>
                </a:solidFill>
                <a:latin typeface="Arial"/>
              </a:rPr>
              <a:t>•  Recommended way when you fully want to automate your flow</a:t>
            </a:r>
          </a:p>
          <a:p>
            <a:pPr>
              <a:spcAft>
                <a:spcPts val="1000"/>
              </a:spcAft>
            </a:pPr>
            <a:r>
              <a:rPr sz="1800" b="0">
                <a:solidFill>
                  <a:srgbClr val="161B26"/>
                </a:solidFill>
                <a:latin typeface="Arial"/>
              </a:rPr>
              <a:t>•  CloudFormation Console</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Application Composer / Code Editor</a:t>
            </a:r>
          </a:p>
          <a:p>
            <a:pPr>
              <a:spcAft>
                <a:spcPts val="1000"/>
              </a:spcAft>
            </a:pPr>
            <a:r>
              <a:rPr sz="1800" b="0">
                <a:solidFill>
                  <a:srgbClr val="161B26"/>
                </a:solidFill>
                <a:latin typeface="Arial"/>
              </a:rPr>
              <a:t>•  Stack</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AWS CLI</a:t>
            </a:r>
          </a:p>
          <a:p>
            <a:pPr>
              <a:spcAft>
                <a:spcPts val="1000"/>
              </a:spcAft>
            </a:pPr>
            <a:r>
              <a:rPr sz="1800" b="0">
                <a:solidFill>
                  <a:srgbClr val="161B26"/>
                </a:solidFill>
                <a:latin typeface="Arial"/>
              </a:rPr>
              <a:t>•  create-stack</a:t>
            </a:r>
          </a:p>
          <a:p>
            <a:pPr>
              <a:spcAft>
                <a:spcPts val="1000"/>
              </a:spcAft>
            </a:pPr>
            <a:r>
              <a:rPr sz="1800" b="0">
                <a:solidFill>
                  <a:srgbClr val="161B26"/>
                </a:solidFill>
                <a:latin typeface="Arial"/>
              </a:rPr>
              <a:t>•  CloudFormation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Building Blocks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Template's Components</a:t>
            </a:r>
          </a:p>
          <a:p>
            <a:pPr>
              <a:spcAft>
                <a:spcPts val="1000"/>
              </a:spcAft>
            </a:pPr>
            <a:r>
              <a:rPr sz="1800" b="0">
                <a:solidFill>
                  <a:srgbClr val="161B26"/>
                </a:solidFill>
                <a:latin typeface="Arial"/>
              </a:rPr>
              <a:t>•  AWSTemplateFormatVersion - identifies the capabilities of the template “2010-09-09”</a:t>
            </a:r>
          </a:p>
          <a:p>
            <a:pPr>
              <a:spcAft>
                <a:spcPts val="1000"/>
              </a:spcAft>
            </a:pPr>
            <a:r>
              <a:rPr sz="1800" b="0">
                <a:solidFill>
                  <a:srgbClr val="161B26"/>
                </a:solidFill>
                <a:latin typeface="Arial"/>
              </a:rPr>
              <a:t>•  Description - comments about the template</a:t>
            </a:r>
          </a:p>
          <a:p>
            <a:pPr>
              <a:spcAft>
                <a:spcPts val="1000"/>
              </a:spcAft>
            </a:pPr>
            <a:r>
              <a:rPr sz="1800" b="0">
                <a:solidFill>
                  <a:srgbClr val="161B26"/>
                </a:solidFill>
                <a:latin typeface="Arial"/>
              </a:rPr>
              <a:t>•  Resources (MANDATORY) - your AWS resources declared in the template</a:t>
            </a:r>
          </a:p>
          <a:p>
            <a:pPr>
              <a:spcAft>
                <a:spcPts val="1000"/>
              </a:spcAft>
            </a:pPr>
            <a:r>
              <a:rPr sz="1800" b="0">
                <a:solidFill>
                  <a:srgbClr val="161B26"/>
                </a:solidFill>
                <a:latin typeface="Arial"/>
              </a:rPr>
              <a:t>•  Parameters - the dynamic inputs for your template</a:t>
            </a:r>
          </a:p>
          <a:p>
            <a:pPr>
              <a:spcAft>
                <a:spcPts val="1000"/>
              </a:spcAft>
            </a:pPr>
            <a:r>
              <a:rPr sz="1800" b="0">
                <a:solidFill>
                  <a:srgbClr val="161B26"/>
                </a:solidFill>
                <a:latin typeface="Arial"/>
              </a:rPr>
              <a:t>•  Mappings - the static variables for your template</a:t>
            </a:r>
          </a:p>
          <a:p>
            <a:pPr>
              <a:spcAft>
                <a:spcPts val="1000"/>
              </a:spcAft>
            </a:pPr>
            <a:r>
              <a:rPr sz="1800" b="0">
                <a:solidFill>
                  <a:srgbClr val="161B26"/>
                </a:solidFill>
                <a:latin typeface="Arial"/>
              </a:rPr>
              <a:t>•  Outputs - references to what has been created</a:t>
            </a:r>
          </a:p>
          <a:p>
            <a:pPr>
              <a:spcAft>
                <a:spcPts val="1000"/>
              </a:spcAft>
            </a:pPr>
            <a:r>
              <a:rPr sz="1800" b="0">
                <a:solidFill>
                  <a:srgbClr val="161B26"/>
                </a:solidFill>
                <a:latin typeface="Arial"/>
              </a:rPr>
              <a:t>•  Conditionals - list of conditions to perform resource creation</a:t>
            </a:r>
          </a:p>
          <a:p>
            <a:pPr>
              <a:spcAft>
                <a:spcPts val="1000"/>
              </a:spcAft>
            </a:pPr>
            <a:r>
              <a:rPr sz="1800" b="0">
                <a:solidFill>
                  <a:srgbClr val="161B26"/>
                </a:solidFill>
                <a:latin typeface="Arial"/>
              </a:rPr>
              <a:t>•  Template's Helpers</a:t>
            </a:r>
          </a:p>
          <a:p>
            <a:pPr>
              <a:spcAft>
                <a:spcPts val="1000"/>
              </a:spcAft>
            </a:pPr>
            <a:r>
              <a:rPr sz="1800" b="0">
                <a:solidFill>
                  <a:srgbClr val="161B26"/>
                </a:solidFill>
                <a:latin typeface="Arial"/>
              </a:rPr>
              <a:t>•  Reference</a:t>
            </a:r>
          </a:p>
          <a:p>
            <a:pPr>
              <a:spcAft>
                <a:spcPts val="1000"/>
              </a:spcAft>
            </a:pPr>
            <a:r>
              <a:rPr sz="1800" b="0">
                <a:solidFill>
                  <a:srgbClr val="161B26"/>
                </a:solidFill>
                <a:latin typeface="Arial"/>
              </a:rPr>
              <a:t>•  Functions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Introductory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We’re going to create a simple EC2 instance</a:t>
            </a:r>
          </a:p>
          <a:p>
            <a:pPr>
              <a:spcAft>
                <a:spcPts val="1000"/>
              </a:spcAft>
            </a:pPr>
            <a:r>
              <a:rPr sz="1800" b="0">
                <a:solidFill>
                  <a:srgbClr val="161B26"/>
                </a:solidFill>
                <a:latin typeface="Arial"/>
              </a:rPr>
              <a:t>•  And we’re going to add security group to it</a:t>
            </a:r>
          </a:p>
          <a:p>
            <a:pPr>
              <a:spcAft>
                <a:spcPts val="1000"/>
              </a:spcAft>
            </a:pPr>
            <a:r>
              <a:rPr sz="1800" b="0">
                <a:solidFill>
                  <a:srgbClr val="161B26"/>
                </a:solidFill>
                <a:latin typeface="Arial"/>
              </a:rPr>
              <a:t>•  For now, forget about the code syntax</a:t>
            </a:r>
          </a:p>
          <a:p>
            <a:pPr>
              <a:spcAft>
                <a:spcPts val="1000"/>
              </a:spcAft>
            </a:pPr>
            <a:r>
              <a:rPr sz="1800" b="0">
                <a:solidFill>
                  <a:srgbClr val="161B26"/>
                </a:solidFill>
                <a:latin typeface="Arial"/>
              </a:rPr>
              <a:t>•  We’ll look at the structure of the files later</a:t>
            </a:r>
          </a:p>
          <a:p>
            <a:pPr>
              <a:spcAft>
                <a:spcPts val="1000"/>
              </a:spcAft>
            </a:pPr>
            <a:r>
              <a:rPr sz="1800" b="0">
                <a:solidFill>
                  <a:srgbClr val="161B26"/>
                </a:solidFill>
                <a:latin typeface="Arial"/>
              </a:rPr>
              <a:t>•  We’ll see how in no-time, we are able to get started with CloudFormation!</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WebServerSecurityGroup</a:t>
            </a:r>
          </a:p>
          <a:p>
            <a:pPr>
              <a:spcAft>
                <a:spcPts val="1000"/>
              </a:spcAft>
            </a:pPr>
            <a:r>
              <a:rPr sz="1800" b="0">
                <a:solidFill>
                  <a:srgbClr val="161B26"/>
                </a:solidFill>
                <a:latin typeface="Arial"/>
              </a:rPr>
              <a:t>•  Port: 22</a:t>
            </a:r>
          </a:p>
          <a:p>
            <a:pPr>
              <a:spcAft>
                <a:spcPts val="1000"/>
              </a:spcAft>
            </a:pPr>
            <a:r>
              <a:rPr sz="1800" b="0">
                <a:solidFill>
                  <a:srgbClr val="161B26"/>
                </a:solidFill>
                <a:latin typeface="Arial"/>
              </a:rPr>
              <a:t>•  Port: 80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2368" y="1801368"/>
            <a:ext cx="1037678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28_0.png"/>
          <p:cNvPicPr>
            <a:picLocks noChangeAspect="1"/>
          </p:cNvPicPr>
          <p:nvPr/>
        </p:nvPicPr>
        <p:blipFill>
          <a:blip r:embed="rId2"/>
          <a:stretch>
            <a:fillRect/>
          </a:stretch>
        </p:blipFill>
        <p:spPr>
          <a:xfrm>
            <a:off x="919800" y="1828800"/>
            <a:ext cx="1032192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YAML Crash Course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87468" y="1801368"/>
            <a:ext cx="23865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29_0.png"/>
          <p:cNvPicPr>
            <a:picLocks noChangeAspect="1"/>
          </p:cNvPicPr>
          <p:nvPr/>
        </p:nvPicPr>
        <p:blipFill>
          <a:blip r:embed="rId2"/>
          <a:stretch>
            <a:fillRect/>
          </a:stretch>
        </p:blipFill>
        <p:spPr>
          <a:xfrm>
            <a:off x="4914900" y="1828800"/>
            <a:ext cx="233172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YAML and JSON are the languages you can use for CloudFormation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Resources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Resources are the core of your CloudFormation template (MANDATORY)</a:t>
            </a:r>
          </a:p>
          <a:p>
            <a:pPr>
              <a:spcAft>
                <a:spcPts val="1000"/>
              </a:spcAft>
            </a:pPr>
            <a:r>
              <a:rPr sz="1800" b="0">
                <a:solidFill>
                  <a:srgbClr val="161B26"/>
                </a:solidFill>
                <a:latin typeface="Arial"/>
              </a:rPr>
              <a:t>•  They represent the different AWS Components that will be created and configured</a:t>
            </a:r>
          </a:p>
          <a:p>
            <a:pPr>
              <a:spcAft>
                <a:spcPts val="1000"/>
              </a:spcAft>
            </a:pPr>
            <a:r>
              <a:rPr sz="1800" b="0">
                <a:solidFill>
                  <a:srgbClr val="161B26"/>
                </a:solidFill>
                <a:latin typeface="Arial"/>
              </a:rPr>
              <a:t>•  Resources are declared and can reference each other</a:t>
            </a:r>
          </a:p>
          <a:p>
            <a:pPr>
              <a:spcAft>
                <a:spcPts val="1000"/>
              </a:spcAft>
            </a:pPr>
            <a:r>
              <a:rPr sz="1800" b="0">
                <a:solidFill>
                  <a:srgbClr val="161B26"/>
                </a:solidFill>
                <a:latin typeface="Arial"/>
              </a:rPr>
              <a:t>•  AWS figures out creation, updates and deletes of resources for us</a:t>
            </a:r>
          </a:p>
          <a:p>
            <a:pPr>
              <a:spcAft>
                <a:spcPts val="1000"/>
              </a:spcAft>
            </a:pPr>
            <a:r>
              <a:rPr sz="1800" b="0">
                <a:solidFill>
                  <a:srgbClr val="161B26"/>
                </a:solidFill>
                <a:latin typeface="Arial"/>
              </a:rPr>
              <a:t>•  There are over 700 types of resources	(!)</a:t>
            </a:r>
          </a:p>
          <a:p>
            <a:pPr>
              <a:spcAft>
                <a:spcPts val="1000"/>
              </a:spcAft>
            </a:pPr>
            <a:r>
              <a:rPr sz="1800" b="0">
                <a:solidFill>
                  <a:srgbClr val="161B26"/>
                </a:solidFill>
                <a:latin typeface="Arial"/>
              </a:rPr>
              <a:t>•  Resource types identifiers are of the form:</a:t>
            </a:r>
          </a:p>
          <a:p>
            <a:pPr>
              <a:spcAft>
                <a:spcPts val="1000"/>
              </a:spcAft>
            </a:pPr>
            <a:r>
              <a:rPr sz="1800" b="0">
                <a:solidFill>
                  <a:srgbClr val="161B26"/>
                </a:solidFill>
                <a:latin typeface="Arial"/>
              </a:rPr>
              <a:t>•  service-provider::service-name::data-type-name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do I find Resources documentation?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 can’t teach you all the 700+ resources, but I can teach you how to learn how to use them</a:t>
            </a:r>
          </a:p>
          <a:p>
            <a:pPr>
              <a:spcAft>
                <a:spcPts val="1000"/>
              </a:spcAft>
            </a:pPr>
            <a:r>
              <a:rPr sz="2000" b="0">
                <a:solidFill>
                  <a:srgbClr val="161B26"/>
                </a:solidFill>
                <a:latin typeface="Arial"/>
              </a:rPr>
              <a:t>•  All the resources can be found here: https://docs.aws.amazon.com/AWSCloudFormation/latest/UserGuide/aws-template-resource-type-ref.html</a:t>
            </a:r>
          </a:p>
          <a:p>
            <a:pPr>
              <a:spcAft>
                <a:spcPts val="1000"/>
              </a:spcAft>
            </a:pPr>
            <a:r>
              <a:rPr sz="2000" b="0">
                <a:solidFill>
                  <a:srgbClr val="161B26"/>
                </a:solidFill>
                <a:latin typeface="Arial"/>
              </a:rPr>
              <a:t>•  Then, we just read the docs ©</a:t>
            </a:r>
          </a:p>
          <a:p>
            <a:pPr>
              <a:spcAft>
                <a:spcPts val="1000"/>
              </a:spcAft>
            </a:pPr>
            <a:r>
              <a:rPr sz="2000" b="0">
                <a:solidFill>
                  <a:srgbClr val="161B26"/>
                </a:solidFill>
                <a:latin typeface="Arial"/>
              </a:rPr>
              <a:t>•  Example here (for an EC2 instance): https://docs.aws.amazon.com/AWSCloudFormation/latest/UserGuide/aws-resource-ec2-instance.html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Analysis of CloudFormation Template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Going back to the example of the introductory lecture, let’s learn why it was written this way.</a:t>
            </a:r>
          </a:p>
          <a:p>
            <a:pPr>
              <a:spcAft>
                <a:spcPts val="1000"/>
              </a:spcAft>
            </a:pPr>
            <a:r>
              <a:rPr sz="2000" b="0">
                <a:solidFill>
                  <a:srgbClr val="161B26"/>
                </a:solidFill>
                <a:latin typeface="Arial"/>
              </a:rPr>
              <a:t>•  Relevant documentation can be found here:</a:t>
            </a:r>
          </a:p>
          <a:p>
            <a:pPr>
              <a:spcAft>
                <a:spcPts val="1000"/>
              </a:spcAft>
            </a:pPr>
            <a:r>
              <a:rPr sz="2000" b="0">
                <a:solidFill>
                  <a:srgbClr val="161B26"/>
                </a:solidFill>
                <a:latin typeface="Arial"/>
              </a:rPr>
              <a:t>•  https://docs.aws.amazon.com/AWSCloudFormation/latest/UserGuide/aws-resource-ec2-instance.html</a:t>
            </a:r>
          </a:p>
          <a:p>
            <a:pPr>
              <a:spcAft>
                <a:spcPts val="1000"/>
              </a:spcAft>
            </a:pPr>
            <a:r>
              <a:rPr sz="2000" b="0">
                <a:solidFill>
                  <a:srgbClr val="161B26"/>
                </a:solidFill>
                <a:latin typeface="Arial"/>
              </a:rPr>
              <a:t>•  https://docs.aws.amazon.com/AWSCloudFormation/latest/UserGuide/aws-resource-ec2-securitygroup.html</a:t>
            </a:r>
          </a:p>
          <a:p>
            <a:pPr>
              <a:spcAft>
                <a:spcPts val="1000"/>
              </a:spcAft>
            </a:pPr>
            <a:r>
              <a:rPr sz="2000" b="0">
                <a:solidFill>
                  <a:srgbClr val="161B26"/>
                </a:solidFill>
                <a:latin typeface="Arial"/>
              </a:rPr>
              <a:t>•  http://docs.aws.amazon.com/AWSCloudFormation/latest/UserGuide/aws-resource-ec2-eip.html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Resources FAQ</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Can I create a dynamic number of resources?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Yes, you can by using CloudFormation Macros and Transform</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 is not in the scope of this course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Is every AWS Service supported?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Almost. Only a select few niches are not there yet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You can work around that using CloudFormation Custom Resources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 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6270" y="1801368"/>
            <a:ext cx="1002898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34_0.png"/>
          <p:cNvPicPr>
            <a:picLocks noChangeAspect="1"/>
          </p:cNvPicPr>
          <p:nvPr/>
        </p:nvPicPr>
        <p:blipFill>
          <a:blip r:embed="rId2"/>
          <a:stretch>
            <a:fillRect/>
          </a:stretch>
        </p:blipFill>
        <p:spPr>
          <a:xfrm>
            <a:off x="1093702" y="1828800"/>
            <a:ext cx="997411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Parameters are a way to provide inputs to your AWS CloudFormation template</a:t>
            </a:r>
          </a:p>
          <a:p>
            <a:pPr>
              <a:spcAft>
                <a:spcPts val="1000"/>
              </a:spcAft>
            </a:pPr>
            <a:r>
              <a:rPr sz="1800" b="0">
                <a:solidFill>
                  <a:srgbClr val="161B26"/>
                </a:solidFill>
                <a:latin typeface="Arial"/>
              </a:rPr>
              <a:t>•  They’re important to know about if:</a:t>
            </a:r>
          </a:p>
          <a:p>
            <a:pPr>
              <a:spcAft>
                <a:spcPts val="1000"/>
              </a:spcAft>
            </a:pPr>
            <a:r>
              <a:rPr sz="1800" b="0">
                <a:solidFill>
                  <a:srgbClr val="161B26"/>
                </a:solidFill>
                <a:latin typeface="Arial"/>
              </a:rPr>
              <a:t>•  You want to reuse your templates across the company</a:t>
            </a:r>
          </a:p>
          <a:p>
            <a:pPr>
              <a:spcAft>
                <a:spcPts val="1000"/>
              </a:spcAft>
            </a:pPr>
            <a:r>
              <a:rPr sz="1800" b="0">
                <a:solidFill>
                  <a:srgbClr val="161B26"/>
                </a:solidFill>
                <a:latin typeface="Arial"/>
              </a:rPr>
              <a:t>•  Some inputs can not be determined ahead of time</a:t>
            </a:r>
          </a:p>
          <a:p>
            <a:pPr>
              <a:spcAft>
                <a:spcPts val="1000"/>
              </a:spcAft>
            </a:pPr>
            <a:r>
              <a:rPr sz="1800" b="0">
                <a:solidFill>
                  <a:srgbClr val="161B26"/>
                </a:solidFill>
                <a:latin typeface="Arial"/>
              </a:rPr>
              <a:t>•  Parameters are extremely powerful, controlled, and can prevent errors from happening in your templates, thanks to types</a:t>
            </a:r>
          </a:p>
          <a:p>
            <a:pPr>
              <a:spcAft>
                <a:spcPts val="1000"/>
              </a:spcAft>
            </a:pPr>
            <a:r>
              <a:rPr sz="1800" b="0">
                <a:solidFill>
                  <a:srgbClr val="161B26"/>
                </a:solidFill>
                <a:latin typeface="Arial"/>
              </a:rPr>
              <a:t>•  AWS CloudFormation</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 template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provide parameter values</a:t>
            </a:r>
          </a:p>
          <a:p>
            <a:pPr>
              <a:spcAft>
                <a:spcPts val="1000"/>
              </a:spcAft>
            </a:pPr>
            <a:r>
              <a:rPr sz="1800" b="0">
                <a:solidFill>
                  <a:srgbClr val="161B26"/>
                </a:solidFill>
                <a:latin typeface="Arial"/>
              </a:rPr>
              <a:t>•  Parameter1: value1</a:t>
            </a:r>
          </a:p>
          <a:p>
            <a:pPr>
              <a:spcAft>
                <a:spcPts val="1000"/>
              </a:spcAft>
            </a:pPr>
            <a:r>
              <a:rPr sz="1800" b="0">
                <a:solidFill>
                  <a:srgbClr val="161B26"/>
                </a:solidFill>
                <a:latin typeface="Arial"/>
              </a:rPr>
              <a:t>•  +	Parameter2: valu</a:t>
            </a:r>
          </a:p>
          <a:p>
            <a:pPr>
              <a:spcAft>
                <a:spcPts val="1000"/>
              </a:spcAft>
            </a:pPr>
            <a:r>
              <a:rPr sz="1800" b="0">
                <a:solidFill>
                  <a:srgbClr val="161B26"/>
                </a:solidFill>
                <a:latin typeface="Arial"/>
              </a:rPr>
              <a:t>•  CF template Parameters</a:t>
            </a:r>
          </a:p>
          <a:p>
            <a:pPr>
              <a:spcAft>
                <a:spcPts val="1000"/>
              </a:spcAft>
            </a:pPr>
            <a:r>
              <a:rPr sz="1800" b="0">
                <a:solidFill>
                  <a:srgbClr val="161B26"/>
                </a:solidFill>
                <a:latin typeface="Arial"/>
              </a:rPr>
              <a:t>•  create stack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When should you use a Parameter?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63128"/>
            <a:ext cx="10479024" cy="3046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36_0.png"/>
          <p:cNvPicPr>
            <a:picLocks noChangeAspect="1"/>
          </p:cNvPicPr>
          <p:nvPr/>
        </p:nvPicPr>
        <p:blipFill>
          <a:blip r:embed="rId2"/>
          <a:stretch>
            <a:fillRect/>
          </a:stretch>
        </p:blipFill>
        <p:spPr>
          <a:xfrm>
            <a:off x="868680" y="2390560"/>
            <a:ext cx="10424160" cy="299128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Ask yourself this: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Parameters Settings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Type:</a:t>
            </a:r>
          </a:p>
          <a:p>
            <a:pPr>
              <a:spcAft>
                <a:spcPts val="1000"/>
              </a:spcAft>
            </a:pPr>
            <a:r>
              <a:rPr sz="1800" b="0">
                <a:solidFill>
                  <a:srgbClr val="161B26"/>
                </a:solidFill>
                <a:latin typeface="Arial"/>
              </a:rPr>
              <a:t>•  String</a:t>
            </a:r>
          </a:p>
          <a:p>
            <a:pPr>
              <a:spcAft>
                <a:spcPts val="1000"/>
              </a:spcAft>
            </a:pPr>
            <a:r>
              <a:rPr sz="1800" b="0">
                <a:solidFill>
                  <a:srgbClr val="161B26"/>
                </a:solidFill>
                <a:latin typeface="Arial"/>
              </a:rPr>
              <a:t>•  Number</a:t>
            </a:r>
          </a:p>
          <a:p>
            <a:pPr>
              <a:spcAft>
                <a:spcPts val="1000"/>
              </a:spcAft>
            </a:pPr>
            <a:r>
              <a:rPr sz="1800" b="0">
                <a:solidFill>
                  <a:srgbClr val="161B26"/>
                </a:solidFill>
                <a:latin typeface="Arial"/>
              </a:rPr>
              <a:t>•  CommaDelimitedList</a:t>
            </a:r>
          </a:p>
          <a:p>
            <a:pPr>
              <a:spcAft>
                <a:spcPts val="1000"/>
              </a:spcAft>
            </a:pPr>
            <a:r>
              <a:rPr sz="1800" b="0">
                <a:solidFill>
                  <a:srgbClr val="161B26"/>
                </a:solidFill>
                <a:latin typeface="Arial"/>
              </a:rPr>
              <a:t>•  List&lt;Number&gt;</a:t>
            </a:r>
          </a:p>
          <a:p>
            <a:pPr>
              <a:spcAft>
                <a:spcPts val="1000"/>
              </a:spcAft>
            </a:pPr>
            <a:r>
              <a:rPr sz="1800" b="0">
                <a:solidFill>
                  <a:srgbClr val="161B26"/>
                </a:solidFill>
                <a:latin typeface="Arial"/>
              </a:rPr>
              <a:t>•  AWS-Specific Parameter</a:t>
            </a:r>
          </a:p>
          <a:p>
            <a:pPr>
              <a:spcAft>
                <a:spcPts val="1000"/>
              </a:spcAft>
            </a:pPr>
            <a:r>
              <a:rPr sz="1800" b="0">
                <a:solidFill>
                  <a:srgbClr val="161B26"/>
                </a:solidFill>
                <a:latin typeface="Arial"/>
              </a:rPr>
              <a:t>•  (to help catch invalid values - match against existing values in the AWS account)</a:t>
            </a:r>
          </a:p>
          <a:p>
            <a:pPr>
              <a:spcAft>
                <a:spcPts val="1000"/>
              </a:spcAft>
            </a:pPr>
            <a:r>
              <a:rPr sz="1800" b="0">
                <a:solidFill>
                  <a:srgbClr val="161B26"/>
                </a:solidFill>
                <a:latin typeface="Arial"/>
              </a:rPr>
              <a:t>•  List&lt;AWS-Specific Parameter&gt;</a:t>
            </a:r>
          </a:p>
          <a:p>
            <a:pPr>
              <a:spcAft>
                <a:spcPts val="1000"/>
              </a:spcAft>
            </a:pPr>
            <a:r>
              <a:rPr sz="1800" b="0">
                <a:solidFill>
                  <a:srgbClr val="161B26"/>
                </a:solidFill>
                <a:latin typeface="Arial"/>
              </a:rPr>
              <a:t>•  SSM Parameter (get parameter value from SSM Parameter store)</a:t>
            </a:r>
          </a:p>
          <a:p>
            <a:pPr>
              <a:spcAft>
                <a:spcPts val="1000"/>
              </a:spcAft>
            </a:pPr>
            <a:r>
              <a:rPr sz="1800" b="0">
                <a:solidFill>
                  <a:srgbClr val="161B26"/>
                </a:solidFill>
                <a:latin typeface="Arial"/>
              </a:rPr>
              <a:t>•  Description</a:t>
            </a:r>
          </a:p>
          <a:p>
            <a:pPr>
              <a:spcAft>
                <a:spcPts val="1000"/>
              </a:spcAft>
            </a:pPr>
            <a:r>
              <a:rPr sz="1800" b="0">
                <a:solidFill>
                  <a:srgbClr val="161B26"/>
                </a:solidFill>
                <a:latin typeface="Arial"/>
              </a:rPr>
              <a:t>•  Constraint Description (String)</a:t>
            </a:r>
          </a:p>
          <a:p>
            <a:pPr>
              <a:spcAft>
                <a:spcPts val="1000"/>
              </a:spcAft>
            </a:pPr>
            <a:r>
              <a:rPr sz="1800" b="0">
                <a:solidFill>
                  <a:srgbClr val="161B26"/>
                </a:solidFill>
                <a:latin typeface="Arial"/>
              </a:rPr>
              <a:t>•  Min/MaxLength</a:t>
            </a:r>
          </a:p>
          <a:p>
            <a:pPr>
              <a:spcAft>
                <a:spcPts val="1000"/>
              </a:spcAft>
            </a:pPr>
            <a:r>
              <a:rPr sz="1800" b="0">
                <a:solidFill>
                  <a:srgbClr val="161B26"/>
                </a:solidFill>
                <a:latin typeface="Arial"/>
              </a:rPr>
              <a:t>•  Min/MaxValue</a:t>
            </a:r>
          </a:p>
          <a:p>
            <a:pPr>
              <a:spcAft>
                <a:spcPts val="1000"/>
              </a:spcAft>
            </a:pPr>
            <a:r>
              <a:rPr sz="1800" b="0">
                <a:solidFill>
                  <a:srgbClr val="161B26"/>
                </a:solidFill>
                <a:latin typeface="Arial"/>
              </a:rPr>
              <a:t>•  Default</a:t>
            </a:r>
          </a:p>
          <a:p>
            <a:pPr>
              <a:spcAft>
                <a:spcPts val="1000"/>
              </a:spcAft>
            </a:pPr>
            <a:r>
              <a:rPr sz="1800" b="0">
                <a:solidFill>
                  <a:srgbClr val="161B26"/>
                </a:solidFill>
                <a:latin typeface="Arial"/>
              </a:rPr>
              <a:t>•  Allowed Values (array)</a:t>
            </a:r>
          </a:p>
          <a:p>
            <a:pPr>
              <a:spcAft>
                <a:spcPts val="1000"/>
              </a:spcAft>
            </a:pPr>
            <a:r>
              <a:rPr sz="1800" b="0">
                <a:solidFill>
                  <a:srgbClr val="161B26"/>
                </a:solidFill>
                <a:latin typeface="Arial"/>
              </a:rPr>
              <a:t>•  AllowedPattern (regex)</a:t>
            </a:r>
          </a:p>
          <a:p>
            <a:pPr>
              <a:spcAft>
                <a:spcPts val="1000"/>
              </a:spcAft>
            </a:pPr>
            <a:r>
              <a:rPr sz="1800" b="0">
                <a:solidFill>
                  <a:srgbClr val="161B26"/>
                </a:solidFill>
                <a:latin typeface="Arial"/>
              </a:rPr>
              <a:t>•  NoEcho (Boolean)</a:t>
            </a:r>
          </a:p>
          <a:p>
            <a:pPr>
              <a:spcAft>
                <a:spcPts val="1000"/>
              </a:spcAft>
            </a:pPr>
            <a:r>
              <a:rPr sz="1800" b="0">
                <a:solidFill>
                  <a:srgbClr val="161B26"/>
                </a:solidFill>
                <a:latin typeface="Arial"/>
              </a:rPr>
              <a:t>•  Parameters can be controlled by all these settings: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Parameters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AllowedValues                             	NoEcho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Reference a Parameter?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Fn::Ref function can be leveraged to reference parameters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Parameters can be used anywhere in a template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shorthand for this in YAML is !Ref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function can also reference other elements within the template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Pseudo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AWS offers us Pseudo Parameters in any CloudFormation template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These can be used at any time and are enabled by default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Important pseudo parameters: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Mappings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Mappings are fixed variables within your CloudFormation template</a:t>
            </a:r>
          </a:p>
          <a:p>
            <a:pPr>
              <a:spcAft>
                <a:spcPts val="1000"/>
              </a:spcAft>
            </a:pPr>
            <a:r>
              <a:rPr sz="2000" b="0">
                <a:solidFill>
                  <a:srgbClr val="161B26"/>
                </a:solidFill>
                <a:latin typeface="Arial"/>
              </a:rPr>
              <a:t>•  They’re very handy to differentiate between different environments (dev vs prod), regions (AWS regions), AMI types…</a:t>
            </a:r>
          </a:p>
          <a:p>
            <a:pPr>
              <a:spcAft>
                <a:spcPts val="1000"/>
              </a:spcAft>
            </a:pPr>
            <a:r>
              <a:rPr sz="2000" b="0">
                <a:solidFill>
                  <a:srgbClr val="161B26"/>
                </a:solidFill>
                <a:latin typeface="Arial"/>
              </a:rPr>
              <a:t>•  All the values are hardcoded within the template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Accessing Mapping Values (Fn::FindInMap)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 use Fn::FindInMap to return a named value from a specific key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!FindInMap [ MapName, TopLevelKey, SecondLevelKey ]</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Mappings work great for AMIs Because AMIs are region-specific!</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When would you use Mappings vs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Mappings are great when you know in advance all the values that can be taken and that they can be deduced from variables such as</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AWS Account</a:t>
            </a:r>
          </a:p>
          <a:p>
            <a:pPr>
              <a:spcAft>
                <a:spcPts val="1000"/>
              </a:spcAft>
            </a:pPr>
            <a:r>
              <a:rPr sz="1800" b="0">
                <a:solidFill>
                  <a:srgbClr val="161B26"/>
                </a:solidFill>
                <a:latin typeface="Arial"/>
              </a:rPr>
              <a:t>•  Environment (dev vs prod)</a:t>
            </a:r>
          </a:p>
          <a:p>
            <a:pPr>
              <a:spcAft>
                <a:spcPts val="1000"/>
              </a:spcAft>
            </a:pPr>
            <a:r>
              <a:rPr sz="1800" b="0">
                <a:solidFill>
                  <a:srgbClr val="161B26"/>
                </a:solidFill>
                <a:latin typeface="Arial"/>
              </a:rPr>
              <a:t>•  etc…</a:t>
            </a:r>
          </a:p>
          <a:p>
            <a:pPr>
              <a:spcAft>
                <a:spcPts val="1000"/>
              </a:spcAft>
            </a:pPr>
            <a:r>
              <a:rPr sz="1800" b="0">
                <a:solidFill>
                  <a:srgbClr val="161B26"/>
                </a:solidFill>
                <a:latin typeface="Arial"/>
              </a:rPr>
              <a:t>•  They allow safer control over the template</a:t>
            </a:r>
          </a:p>
          <a:p>
            <a:pPr>
              <a:spcAft>
                <a:spcPts val="1000"/>
              </a:spcAft>
            </a:pPr>
            <a:r>
              <a:rPr sz="1800" b="0">
                <a:solidFill>
                  <a:srgbClr val="161B26"/>
                </a:solidFill>
                <a:latin typeface="Arial"/>
              </a:rPr>
              <a:t>•  Use parameters when the values are really user specific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Outputs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Outputs section declares optional outputs values that we can import into other stacks (if you export them first)!</a:t>
            </a:r>
          </a:p>
          <a:p>
            <a:pPr>
              <a:spcAft>
                <a:spcPts val="1000"/>
              </a:spcAft>
            </a:pPr>
            <a:r>
              <a:rPr sz="1800" b="0">
                <a:solidFill>
                  <a:srgbClr val="161B26"/>
                </a:solidFill>
                <a:latin typeface="Arial"/>
              </a:rPr>
              <a:t>•  You can also view the outputs in the AWS Console or in using the AWS CLI</a:t>
            </a:r>
          </a:p>
          <a:p>
            <a:pPr>
              <a:spcAft>
                <a:spcPts val="1000"/>
              </a:spcAft>
            </a:pPr>
            <a:r>
              <a:rPr sz="1800" b="0">
                <a:solidFill>
                  <a:srgbClr val="161B26"/>
                </a:solidFill>
                <a:latin typeface="Arial"/>
              </a:rPr>
              <a:t>•  They’re very useful for example if you define a network CloudFormation, and output the variables such as VPC ID and your Subnet IDs</a:t>
            </a:r>
          </a:p>
          <a:p>
            <a:pPr>
              <a:spcAft>
                <a:spcPts val="1000"/>
              </a:spcAft>
            </a:pPr>
            <a:r>
              <a:rPr sz="1800" b="0">
                <a:solidFill>
                  <a:srgbClr val="161B26"/>
                </a:solidFill>
                <a:latin typeface="Arial"/>
              </a:rPr>
              <a:t>•  It’s the best way to perform some collaboration cross stack, as you let expert handle their own part of the stack</a:t>
            </a:r>
          </a:p>
          <a:p>
            <a:pPr>
              <a:spcAft>
                <a:spcPts val="1000"/>
              </a:spcAft>
            </a:pPr>
            <a:r>
              <a:rPr sz="1800" b="0">
                <a:solidFill>
                  <a:srgbClr val="161B26"/>
                </a:solidFill>
                <a:latin typeface="Arial"/>
              </a:rPr>
              <a:t>•  Application Stack</a:t>
            </a:r>
          </a:p>
          <a:p>
            <a:pPr>
              <a:spcAft>
                <a:spcPts val="1000"/>
              </a:spcAft>
            </a:pPr>
            <a:r>
              <a:rPr sz="1800" b="0">
                <a:solidFill>
                  <a:srgbClr val="161B26"/>
                </a:solidFill>
                <a:latin typeface="Arial"/>
              </a:rPr>
              <a:t>•  Network Stack</a:t>
            </a:r>
          </a:p>
          <a:p>
            <a:pPr>
              <a:spcAft>
                <a:spcPts val="1000"/>
              </a:spcAft>
            </a:pPr>
            <a:r>
              <a:rPr sz="1800" b="0">
                <a:solidFill>
                  <a:srgbClr val="161B26"/>
                </a:solidFill>
                <a:latin typeface="Arial"/>
              </a:rPr>
              <a:t>•  VPC ID: vpc-2f09a348</a:t>
            </a:r>
          </a:p>
          <a:p>
            <a:pPr>
              <a:spcAft>
                <a:spcPts val="1000"/>
              </a:spcAft>
            </a:pPr>
            <a:r>
              <a:rPr sz="1800" b="0">
                <a:solidFill>
                  <a:srgbClr val="161B26"/>
                </a:solidFill>
                <a:latin typeface="Arial"/>
              </a:rPr>
              <a:t>•  Exported Output</a:t>
            </a:r>
          </a:p>
          <a:p>
            <a:pPr>
              <a:spcAft>
                <a:spcPts val="1000"/>
              </a:spcAft>
            </a:pPr>
            <a:r>
              <a:rPr sz="1800" b="0">
                <a:solidFill>
                  <a:srgbClr val="161B26"/>
                </a:solidFill>
                <a:latin typeface="Arial"/>
              </a:rPr>
              <a:t>•  reference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Outputs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Creating a SSH Security Group as part of one template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We create an output that references that security group</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CloudFormation - Outputs Cross-Stack 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We then create a second template that leverages that security group</a:t>
            </a:r>
          </a:p>
          <a:p>
            <a:pPr>
              <a:spcAft>
                <a:spcPts val="1000"/>
              </a:spcAft>
            </a:pPr>
            <a:r>
              <a:rPr sz="2000" b="0">
                <a:solidFill>
                  <a:srgbClr val="161B26"/>
                </a:solidFill>
                <a:latin typeface="Arial"/>
              </a:rPr>
              <a:t>•  For this, we use the Fn::ImportValue function</a:t>
            </a:r>
          </a:p>
          <a:p>
            <a:pPr>
              <a:spcAft>
                <a:spcPts val="1000"/>
              </a:spcAft>
            </a:pPr>
            <a:r>
              <a:rPr sz="2000" b="0">
                <a:solidFill>
                  <a:srgbClr val="161B26"/>
                </a:solidFill>
                <a:latin typeface="Arial"/>
              </a:rPr>
              <a:t>•  You can’t delete the underlying stack until all the references are deleted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Conditions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Conditions are used to control the creation of resources or outputs based on a condition</a:t>
            </a:r>
          </a:p>
          <a:p>
            <a:pPr>
              <a:spcAft>
                <a:spcPts val="1000"/>
              </a:spcAft>
            </a:pPr>
            <a:r>
              <a:rPr sz="1800" b="0">
                <a:solidFill>
                  <a:srgbClr val="161B26"/>
                </a:solidFill>
                <a:latin typeface="Arial"/>
              </a:rPr>
              <a:t>•  Conditions can be whatever you want them to be, but common ones are:</a:t>
            </a:r>
          </a:p>
          <a:p>
            <a:pPr>
              <a:spcAft>
                <a:spcPts val="1000"/>
              </a:spcAft>
            </a:pPr>
            <a:r>
              <a:rPr sz="1800" b="0">
                <a:solidFill>
                  <a:srgbClr val="161B26"/>
                </a:solidFill>
                <a:latin typeface="Arial"/>
              </a:rPr>
              <a:t>•  Environment (dev / test / prod)</a:t>
            </a:r>
          </a:p>
          <a:p>
            <a:pPr>
              <a:spcAft>
                <a:spcPts val="1000"/>
              </a:spcAft>
            </a:pPr>
            <a:r>
              <a:rPr sz="1800" b="0">
                <a:solidFill>
                  <a:srgbClr val="161B26"/>
                </a:solidFill>
                <a:latin typeface="Arial"/>
              </a:rPr>
              <a:t>•  AWS Region</a:t>
            </a:r>
          </a:p>
          <a:p>
            <a:pPr>
              <a:spcAft>
                <a:spcPts val="1000"/>
              </a:spcAft>
            </a:pPr>
            <a:r>
              <a:rPr sz="1800" b="0">
                <a:solidFill>
                  <a:srgbClr val="161B26"/>
                </a:solidFill>
                <a:latin typeface="Arial"/>
              </a:rPr>
              <a:t>•  Any parameter value</a:t>
            </a:r>
          </a:p>
          <a:p>
            <a:pPr>
              <a:spcAft>
                <a:spcPts val="1000"/>
              </a:spcAft>
            </a:pPr>
            <a:r>
              <a:rPr sz="1800" b="0">
                <a:solidFill>
                  <a:srgbClr val="161B26"/>
                </a:solidFill>
                <a:latin typeface="Arial"/>
              </a:rPr>
              <a:t>•  Each condition can reference another condition, parameter value or mapping</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Dev Stack</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Prod Stack</a:t>
            </a:r>
          </a:p>
          <a:p>
            <a:pPr>
              <a:spcAft>
                <a:spcPts val="1000"/>
              </a:spcAft>
            </a:pPr>
            <a:r>
              <a:rPr sz="1800" b="0">
                <a:solidFill>
                  <a:srgbClr val="161B26"/>
                </a:solidFill>
                <a:latin typeface="Arial"/>
              </a:rPr>
              <a:t>•  Parameters</a:t>
            </a:r>
          </a:p>
          <a:p>
            <a:pPr>
              <a:spcAft>
                <a:spcPts val="1000"/>
              </a:spcAft>
            </a:pPr>
            <a:r>
              <a:rPr sz="1800" b="0">
                <a:solidFill>
                  <a:srgbClr val="161B26"/>
                </a:solidFill>
                <a:latin typeface="Arial"/>
              </a:rPr>
              <a:t>•  Parameters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define a Condition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071331"/>
            <a:ext cx="10479024" cy="16297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48_0.png"/>
          <p:cNvPicPr>
            <a:picLocks noChangeAspect="1"/>
          </p:cNvPicPr>
          <p:nvPr/>
        </p:nvPicPr>
        <p:blipFill>
          <a:blip r:embed="rId2"/>
          <a:stretch>
            <a:fillRect/>
          </a:stretch>
        </p:blipFill>
        <p:spPr>
          <a:xfrm>
            <a:off x="868680" y="3098763"/>
            <a:ext cx="10424160" cy="157487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 logical ID is for you to choose. It’s how you name condition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use a Condition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Conditions can be applied to resources / outputs / etc…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Intrinsic Functions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Ref</a:t>
            </a:r>
          </a:p>
          <a:p>
            <a:pPr>
              <a:spcAft>
                <a:spcPts val="1000"/>
              </a:spcAft>
            </a:pPr>
            <a:r>
              <a:rPr sz="1800" b="0">
                <a:solidFill>
                  <a:srgbClr val="161B26"/>
                </a:solidFill>
                <a:latin typeface="Arial"/>
              </a:rPr>
              <a:t>•  Fn::GetAtt</a:t>
            </a:r>
          </a:p>
          <a:p>
            <a:pPr>
              <a:spcAft>
                <a:spcPts val="1000"/>
              </a:spcAft>
            </a:pPr>
            <a:r>
              <a:rPr sz="1800" b="0">
                <a:solidFill>
                  <a:srgbClr val="161B26"/>
                </a:solidFill>
                <a:latin typeface="Arial"/>
              </a:rPr>
              <a:t>•  Fn::FindInMap</a:t>
            </a:r>
          </a:p>
          <a:p>
            <a:pPr>
              <a:spcAft>
                <a:spcPts val="1000"/>
              </a:spcAft>
            </a:pPr>
            <a:r>
              <a:rPr sz="1800" b="0">
                <a:solidFill>
                  <a:srgbClr val="161B26"/>
                </a:solidFill>
                <a:latin typeface="Arial"/>
              </a:rPr>
              <a:t>•  Fn::ImportValue</a:t>
            </a:r>
          </a:p>
          <a:p>
            <a:pPr>
              <a:spcAft>
                <a:spcPts val="1000"/>
              </a:spcAft>
            </a:pPr>
            <a:r>
              <a:rPr sz="1800" b="0">
                <a:solidFill>
                  <a:srgbClr val="161B26"/>
                </a:solidFill>
                <a:latin typeface="Arial"/>
              </a:rPr>
              <a:t>•  Fn::Join</a:t>
            </a:r>
          </a:p>
          <a:p>
            <a:pPr>
              <a:spcAft>
                <a:spcPts val="1000"/>
              </a:spcAft>
            </a:pPr>
            <a:r>
              <a:rPr sz="1800" b="0">
                <a:solidFill>
                  <a:srgbClr val="161B26"/>
                </a:solidFill>
                <a:latin typeface="Arial"/>
              </a:rPr>
              <a:t>•  Fn::Sub</a:t>
            </a:r>
          </a:p>
          <a:p>
            <a:pPr>
              <a:spcAft>
                <a:spcPts val="1000"/>
              </a:spcAft>
            </a:pPr>
            <a:r>
              <a:rPr sz="1800" b="0">
                <a:solidFill>
                  <a:srgbClr val="161B26"/>
                </a:solidFill>
                <a:latin typeface="Arial"/>
              </a:rPr>
              <a:t>•  Fn::ForEach</a:t>
            </a:r>
          </a:p>
          <a:p>
            <a:pPr>
              <a:spcAft>
                <a:spcPts val="1000"/>
              </a:spcAft>
            </a:pPr>
            <a:r>
              <a:rPr sz="1800" b="0">
                <a:solidFill>
                  <a:srgbClr val="161B26"/>
                </a:solidFill>
                <a:latin typeface="Arial"/>
              </a:rPr>
              <a:t>•  Fn::ToJsonString</a:t>
            </a:r>
          </a:p>
          <a:p>
            <a:pPr>
              <a:spcAft>
                <a:spcPts val="1000"/>
              </a:spcAft>
            </a:pPr>
            <a:r>
              <a:rPr sz="1800" b="0">
                <a:solidFill>
                  <a:srgbClr val="161B26"/>
                </a:solidFill>
                <a:latin typeface="Arial"/>
              </a:rPr>
              <a:t>•  Condition Functions (Fn::If, Fn::Not, Fn::Equals, etc…)</a:t>
            </a:r>
          </a:p>
          <a:p>
            <a:pPr>
              <a:spcAft>
                <a:spcPts val="1000"/>
              </a:spcAft>
            </a:pPr>
            <a:r>
              <a:rPr sz="1800" b="0">
                <a:solidFill>
                  <a:srgbClr val="161B26"/>
                </a:solidFill>
                <a:latin typeface="Arial"/>
              </a:rPr>
              <a:t>•  Fn::Base64</a:t>
            </a:r>
          </a:p>
          <a:p>
            <a:pPr>
              <a:spcAft>
                <a:spcPts val="1000"/>
              </a:spcAft>
            </a:pPr>
            <a:r>
              <a:rPr sz="1800" b="0">
                <a:solidFill>
                  <a:srgbClr val="161B26"/>
                </a:solidFill>
                <a:latin typeface="Arial"/>
              </a:rPr>
              <a:t>•  Fn::Cidr</a:t>
            </a:r>
          </a:p>
          <a:p>
            <a:pPr>
              <a:spcAft>
                <a:spcPts val="1000"/>
              </a:spcAft>
            </a:pPr>
            <a:r>
              <a:rPr sz="1800" b="0">
                <a:solidFill>
                  <a:srgbClr val="161B26"/>
                </a:solidFill>
                <a:latin typeface="Arial"/>
              </a:rPr>
              <a:t>•  Fn::GetAZs</a:t>
            </a:r>
          </a:p>
          <a:p>
            <a:pPr>
              <a:spcAft>
                <a:spcPts val="1000"/>
              </a:spcAft>
            </a:pPr>
            <a:r>
              <a:rPr sz="1800" b="0">
                <a:solidFill>
                  <a:srgbClr val="161B26"/>
                </a:solidFill>
                <a:latin typeface="Arial"/>
              </a:rPr>
              <a:t>•  Fn::Select</a:t>
            </a:r>
          </a:p>
          <a:p>
            <a:pPr>
              <a:spcAft>
                <a:spcPts val="1000"/>
              </a:spcAft>
            </a:pPr>
            <a:r>
              <a:rPr sz="1800" b="0">
                <a:solidFill>
                  <a:srgbClr val="161B26"/>
                </a:solidFill>
                <a:latin typeface="Arial"/>
              </a:rPr>
              <a:t>•  Fn::Split</a:t>
            </a:r>
          </a:p>
          <a:p>
            <a:pPr>
              <a:spcAft>
                <a:spcPts val="1000"/>
              </a:spcAft>
            </a:pPr>
            <a:r>
              <a:rPr sz="1800" b="0">
                <a:solidFill>
                  <a:srgbClr val="161B26"/>
                </a:solidFill>
                <a:latin typeface="Arial"/>
              </a:rPr>
              <a:t>•  Fn::Transform</a:t>
            </a:r>
          </a:p>
          <a:p>
            <a:pPr>
              <a:spcAft>
                <a:spcPts val="1000"/>
              </a:spcAft>
            </a:pPr>
            <a:r>
              <a:rPr sz="1800" b="0">
                <a:solidFill>
                  <a:srgbClr val="161B26"/>
                </a:solidFill>
                <a:latin typeface="Arial"/>
              </a:rPr>
              <a:t>•  Fn::Length</a:t>
            </a:r>
          </a:p>
          <a:p>
            <a:pPr>
              <a:spcAft>
                <a:spcPts val="1000"/>
              </a:spcAft>
            </a:pPr>
            <a:r>
              <a:rPr sz="1800" b="0">
                <a:solidFill>
                  <a:srgbClr val="161B26"/>
                </a:solidFill>
                <a:latin typeface="Arial"/>
              </a:rPr>
              <a:t>•  Blue = must know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Fn::Ref</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Fn::Ref function can be leveraged to reference</a:t>
            </a:r>
          </a:p>
          <a:p>
            <a:pPr>
              <a:spcAft>
                <a:spcPts val="1000"/>
              </a:spcAft>
            </a:pPr>
            <a:r>
              <a:rPr sz="2000" b="0">
                <a:solidFill>
                  <a:srgbClr val="161B26"/>
                </a:solidFill>
                <a:latin typeface="Arial"/>
              </a:rPr>
              <a:t>•  Parameters - returns the value of the parameter</a:t>
            </a:r>
          </a:p>
          <a:p>
            <a:pPr>
              <a:spcAft>
                <a:spcPts val="1000"/>
              </a:spcAft>
            </a:pPr>
            <a:r>
              <a:rPr sz="2000" b="0">
                <a:solidFill>
                  <a:srgbClr val="161B26"/>
                </a:solidFill>
                <a:latin typeface="Arial"/>
              </a:rPr>
              <a:t>•  Resources - returns the physical ID of the underlying resource (e.g., EC2 ID)</a:t>
            </a:r>
          </a:p>
          <a:p>
            <a:pPr>
              <a:spcAft>
                <a:spcPts val="1000"/>
              </a:spcAft>
            </a:pPr>
            <a:r>
              <a:rPr sz="2000" b="0">
                <a:solidFill>
                  <a:srgbClr val="161B26"/>
                </a:solidFill>
                <a:latin typeface="Arial"/>
              </a:rPr>
              <a:t>•  The shorthand for this in YAML is !Ref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Fn::GetAtt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Attributes are attached to any resources you create</a:t>
            </a:r>
          </a:p>
          <a:p>
            <a:pPr>
              <a:spcAft>
                <a:spcPts val="1000"/>
              </a:spcAft>
            </a:pPr>
            <a:r>
              <a:rPr sz="2000" b="0">
                <a:solidFill>
                  <a:srgbClr val="161B26"/>
                </a:solidFill>
                <a:latin typeface="Arial"/>
              </a:rPr>
              <a:t>•  To know the attributes of your resources, the best place to look at is the documentation</a:t>
            </a:r>
          </a:p>
          <a:p>
            <a:pPr>
              <a:spcAft>
                <a:spcPts val="1000"/>
              </a:spcAft>
            </a:pPr>
            <a:r>
              <a:rPr sz="2000" b="0">
                <a:solidFill>
                  <a:srgbClr val="161B26"/>
                </a:solidFill>
                <a:latin typeface="Arial"/>
              </a:rPr>
              <a:t>•  Example: the AZ of an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Fn::FindInMap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We use Fn::FindInMap to return a named value from a specific key</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!FindInMap [ MapName, TopLevelKey, SecondLevelKey ]</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Fn::ImportValue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Import values that are exported in other stacks</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For this, we use the Fn::ImportValue function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Fn::Base64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Convert String to it’s Base64 representation</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Example: pass encoded data to EC2 Instance’s UserData property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-Condition Functions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071331"/>
            <a:ext cx="10479024" cy="16297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48_0.png"/>
          <p:cNvPicPr>
            <a:picLocks noChangeAspect="1"/>
          </p:cNvPicPr>
          <p:nvPr/>
        </p:nvPicPr>
        <p:blipFill>
          <a:blip r:embed="rId2"/>
          <a:stretch>
            <a:fillRect/>
          </a:stretch>
        </p:blipFill>
        <p:spPr>
          <a:xfrm>
            <a:off x="868680" y="3098763"/>
            <a:ext cx="10424160" cy="157487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 logical ID is for you to choose. It’s how you name condition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Rollbacks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Stack Creation Fails:</a:t>
            </a:r>
          </a:p>
          <a:p>
            <a:pPr>
              <a:spcAft>
                <a:spcPts val="1000"/>
              </a:spcAft>
            </a:pPr>
            <a:r>
              <a:rPr sz="1800" b="0">
                <a:solidFill>
                  <a:srgbClr val="161B26"/>
                </a:solidFill>
                <a:latin typeface="Arial"/>
              </a:rPr>
              <a:t>•  Default: everything rolls back (gets deleted). We can look at the log</a:t>
            </a:r>
          </a:p>
          <a:p>
            <a:pPr>
              <a:spcAft>
                <a:spcPts val="1000"/>
              </a:spcAft>
            </a:pPr>
            <a:r>
              <a:rPr sz="1800" b="0">
                <a:solidFill>
                  <a:srgbClr val="161B26"/>
                </a:solidFill>
                <a:latin typeface="Arial"/>
              </a:rPr>
              <a:t>•  Option to disable rollback and troubleshoot what happened</a:t>
            </a:r>
          </a:p>
          <a:p>
            <a:pPr>
              <a:spcAft>
                <a:spcPts val="1000"/>
              </a:spcAft>
            </a:pPr>
            <a:r>
              <a:rPr sz="1800" b="0">
                <a:solidFill>
                  <a:srgbClr val="161B26"/>
                </a:solidFill>
                <a:latin typeface="Arial"/>
              </a:rPr>
              <a:t>•  Stack Update Fails:</a:t>
            </a:r>
          </a:p>
          <a:p>
            <a:pPr>
              <a:spcAft>
                <a:spcPts val="1000"/>
              </a:spcAft>
            </a:pPr>
            <a:r>
              <a:rPr sz="1800" b="0">
                <a:solidFill>
                  <a:srgbClr val="161B26"/>
                </a:solidFill>
                <a:latin typeface="Arial"/>
              </a:rPr>
              <a:t>•  The stack automatically rolls back to the previous known working state</a:t>
            </a:r>
          </a:p>
          <a:p>
            <a:pPr>
              <a:spcAft>
                <a:spcPts val="1000"/>
              </a:spcAft>
            </a:pPr>
            <a:r>
              <a:rPr sz="1800" b="0">
                <a:solidFill>
                  <a:srgbClr val="161B26"/>
                </a:solidFill>
                <a:latin typeface="Arial"/>
              </a:rPr>
              <a:t>•  Ability to see in the log what happened and error messages</a:t>
            </a:r>
          </a:p>
          <a:p>
            <a:pPr>
              <a:spcAft>
                <a:spcPts val="1000"/>
              </a:spcAft>
            </a:pPr>
            <a:r>
              <a:rPr sz="1800" b="0">
                <a:solidFill>
                  <a:srgbClr val="161B26"/>
                </a:solidFill>
                <a:latin typeface="Arial"/>
              </a:rPr>
              <a:t>•  Rollback Failure? Fix resources manually then issue</a:t>
            </a:r>
          </a:p>
          <a:p>
            <a:pPr>
              <a:spcAft>
                <a:spcPts val="1000"/>
              </a:spcAft>
            </a:pPr>
            <a:r>
              <a:rPr sz="1800" b="0">
                <a:solidFill>
                  <a:srgbClr val="161B26"/>
                </a:solidFill>
                <a:latin typeface="Arial"/>
              </a:rPr>
              <a:t>•  ContinueUpdateRollback API from Console</a:t>
            </a:r>
          </a:p>
          <a:p>
            <a:pPr>
              <a:spcAft>
                <a:spcPts val="1000"/>
              </a:spcAft>
            </a:pPr>
            <a:r>
              <a:rPr sz="1800" b="0">
                <a:solidFill>
                  <a:srgbClr val="161B26"/>
                </a:solidFill>
                <a:latin typeface="Arial"/>
              </a:rPr>
              <a:t>•  Or from the CLI using continue-update-rollback API call20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Service Role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IAM role that allows CloudFormation to create/update/delete stack resources on your behalf</a:t>
            </a:r>
          </a:p>
          <a:p>
            <a:pPr>
              <a:spcAft>
                <a:spcPts val="1000"/>
              </a:spcAft>
            </a:pPr>
            <a:r>
              <a:rPr sz="1800" b="0">
                <a:solidFill>
                  <a:srgbClr val="161B26"/>
                </a:solidFill>
                <a:latin typeface="Arial"/>
              </a:rPr>
              <a:t>•  Give ability to users to create/update/delete the</a:t>
            </a:r>
          </a:p>
          <a:p>
            <a:pPr>
              <a:spcAft>
                <a:spcPts val="1000"/>
              </a:spcAft>
            </a:pPr>
            <a:r>
              <a:rPr sz="1800" b="0">
                <a:solidFill>
                  <a:srgbClr val="161B26"/>
                </a:solidFill>
                <a:latin typeface="Arial"/>
              </a:rPr>
              <a:t>•  stack resources even if they don’t have permissions to work with the resources in the stack</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You want to achieve the least privilege principle</a:t>
            </a:r>
          </a:p>
          <a:p>
            <a:pPr>
              <a:spcAft>
                <a:spcPts val="1000"/>
              </a:spcAft>
            </a:pPr>
            <a:r>
              <a:rPr sz="1800" b="0">
                <a:solidFill>
                  <a:srgbClr val="161B26"/>
                </a:solidFill>
                <a:latin typeface="Arial"/>
              </a:rPr>
              <a:t>•  But you don’t want to give the user all the required 	permissions to create the stack resources</a:t>
            </a:r>
          </a:p>
          <a:p>
            <a:pPr>
              <a:spcAft>
                <a:spcPts val="1000"/>
              </a:spcAft>
            </a:pPr>
            <a:r>
              <a:rPr sz="1800" b="0">
                <a:solidFill>
                  <a:srgbClr val="161B26"/>
                </a:solidFill>
                <a:latin typeface="Arial"/>
              </a:rPr>
              <a:t>•  User must have iam:PassRole permissions</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iam:PassRole</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s3:*Bucket</a:t>
            </a:r>
          </a:p>
          <a:p>
            <a:pPr>
              <a:spcAft>
                <a:spcPts val="1000"/>
              </a:spcAft>
            </a:pPr>
            <a:r>
              <a:rPr sz="1800" b="0">
                <a:solidFill>
                  <a:srgbClr val="161B26"/>
                </a:solidFill>
                <a:latin typeface="Arial"/>
              </a:rPr>
              <a:t>•  Service Role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S3 bucket Stack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CAPABILITY_NAMED_IAM and CAPABILITY_IAM Necessary to enable when you CloudFormation template is creating or updating IAM resources (IAM User, Role, Group, Policy, Access Keys, Instance Profile…)</a:t>
            </a:r>
          </a:p>
          <a:p>
            <a:pPr>
              <a:spcAft>
                <a:spcPts val="1000"/>
              </a:spcAft>
            </a:pPr>
            <a:r>
              <a:rPr sz="1800" b="0">
                <a:solidFill>
                  <a:srgbClr val="161B26"/>
                </a:solidFill>
                <a:latin typeface="Arial"/>
              </a:rPr>
              <a:t>•  Specify CAPABILITY_NAMED_IAM if the resources are named</a:t>
            </a:r>
          </a:p>
          <a:p>
            <a:pPr>
              <a:spcAft>
                <a:spcPts val="1000"/>
              </a:spcAft>
            </a:pPr>
            <a:r>
              <a:rPr sz="1800" b="0">
                <a:solidFill>
                  <a:srgbClr val="161B26"/>
                </a:solidFill>
                <a:latin typeface="Arial"/>
              </a:rPr>
              <a:t>•  CAPABILITY_AUTO_EXPAND</a:t>
            </a:r>
          </a:p>
          <a:p>
            <a:pPr>
              <a:spcAft>
                <a:spcPts val="1000"/>
              </a:spcAft>
            </a:pPr>
            <a:r>
              <a:rPr sz="1800" b="0">
                <a:solidFill>
                  <a:srgbClr val="161B26"/>
                </a:solidFill>
                <a:latin typeface="Arial"/>
              </a:rPr>
              <a:t>•  Necessary when your CloudFormation template includes Macros or Nested Stacks (stacks within stacks) to perform dynamic transformations</a:t>
            </a:r>
          </a:p>
          <a:p>
            <a:pPr>
              <a:spcAft>
                <a:spcPts val="1000"/>
              </a:spcAft>
            </a:pPr>
            <a:r>
              <a:rPr sz="1800" b="0">
                <a:solidFill>
                  <a:srgbClr val="161B26"/>
                </a:solidFill>
                <a:latin typeface="Arial"/>
              </a:rPr>
              <a:t>•  You’re acknowledging that your template may change before deploying</a:t>
            </a:r>
          </a:p>
          <a:p>
            <a:pPr>
              <a:spcAft>
                <a:spcPts val="1000"/>
              </a:spcAft>
            </a:pPr>
            <a:r>
              <a:rPr sz="1800" b="0">
                <a:solidFill>
                  <a:srgbClr val="161B26"/>
                </a:solidFill>
                <a:latin typeface="Arial"/>
              </a:rPr>
              <a:t>•  InsufficientCapabilitiesException</a:t>
            </a:r>
          </a:p>
          <a:p>
            <a:pPr>
              <a:spcAft>
                <a:spcPts val="1000"/>
              </a:spcAft>
            </a:pPr>
            <a:r>
              <a:rPr sz="1800" b="0">
                <a:solidFill>
                  <a:srgbClr val="161B26"/>
                </a:solidFill>
                <a:latin typeface="Arial"/>
              </a:rPr>
              <a:t>•  Exception that will be thrown by CloudFormation if the capabilities haven’t been acknowledged when deploying a template (security measure)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DeletionPolicy Delete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DeletionPolicy:</a:t>
            </a:r>
          </a:p>
          <a:p>
            <a:pPr>
              <a:spcAft>
                <a:spcPts val="1000"/>
              </a:spcAft>
            </a:pPr>
            <a:r>
              <a:rPr sz="2000" b="0">
                <a:solidFill>
                  <a:srgbClr val="161B26"/>
                </a:solidFill>
                <a:latin typeface="Arial"/>
              </a:rPr>
              <a:t>•  Control what happens when the CloudFormation template is deleted or when a resource is removed from a CloudFormation template</a:t>
            </a:r>
          </a:p>
          <a:p>
            <a:pPr>
              <a:spcAft>
                <a:spcPts val="1000"/>
              </a:spcAft>
            </a:pPr>
            <a:r>
              <a:rPr sz="2000" b="0">
                <a:solidFill>
                  <a:srgbClr val="161B26"/>
                </a:solidFill>
                <a:latin typeface="Arial"/>
              </a:rPr>
              <a:t>•  Extra safety measure to preserve and backup resources</a:t>
            </a:r>
          </a:p>
          <a:p>
            <a:pPr>
              <a:spcAft>
                <a:spcPts val="1000"/>
              </a:spcAft>
            </a:pPr>
            <a:r>
              <a:rPr sz="2000" b="0">
                <a:solidFill>
                  <a:srgbClr val="161B26"/>
                </a:solidFill>
                <a:latin typeface="Arial"/>
              </a:rPr>
              <a:t>•  Default DeletionPolicy=Delete</a:t>
            </a:r>
          </a:p>
          <a:p>
            <a:pPr>
              <a:spcAft>
                <a:spcPts val="1000"/>
              </a:spcAft>
            </a:pPr>
            <a:r>
              <a:rPr sz="2000" b="0">
                <a:solidFill>
                  <a:srgbClr val="161B26"/>
                </a:solidFill>
                <a:latin typeface="Arial"/>
              </a:rPr>
              <a:t>•  Delete won’t work on an S3 bucket if the bucket is not empty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DeletionPolicy Retain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DeletionPolicy=Retain: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Specify on resources to preserve in case of CloudFormation deletes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Works with any resources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DeletionPolicy Snapshot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DeletionPolicy=Snapshot</a:t>
            </a:r>
          </a:p>
          <a:p>
            <a:pPr>
              <a:spcAft>
                <a:spcPts val="1000"/>
              </a:spcAft>
            </a:pPr>
            <a:r>
              <a:rPr sz="2000" b="0">
                <a:solidFill>
                  <a:srgbClr val="161B26"/>
                </a:solidFill>
                <a:latin typeface="Arial"/>
              </a:rPr>
              <a:t>•  Create one final snapshot before deleting the resource</a:t>
            </a:r>
          </a:p>
          <a:p>
            <a:pPr>
              <a:spcAft>
                <a:spcPts val="1000"/>
              </a:spcAft>
            </a:pPr>
            <a:r>
              <a:rPr sz="2000" b="0">
                <a:solidFill>
                  <a:srgbClr val="161B26"/>
                </a:solidFill>
                <a:latin typeface="Arial"/>
              </a:rPr>
              <a:t>•  Examples of supported resources:</a:t>
            </a:r>
          </a:p>
          <a:p>
            <a:pPr>
              <a:spcAft>
                <a:spcPts val="1000"/>
              </a:spcAft>
            </a:pPr>
            <a:r>
              <a:rPr sz="2000" b="0">
                <a:solidFill>
                  <a:srgbClr val="161B26"/>
                </a:solidFill>
                <a:latin typeface="Arial"/>
              </a:rPr>
              <a:t>•  EBS Volume, ElastiCache Cluster, ElastiCache ReplicationGroup</a:t>
            </a:r>
          </a:p>
          <a:p>
            <a:pPr>
              <a:spcAft>
                <a:spcPts val="1000"/>
              </a:spcAft>
            </a:pPr>
            <a:r>
              <a:rPr sz="2000" b="0">
                <a:solidFill>
                  <a:srgbClr val="161B26"/>
                </a:solidFill>
                <a:latin typeface="Arial"/>
              </a:rPr>
              <a:t>•  RDS DBInstance, RDS DBCluster, Redshift Cluster, Neptune DBCluster, 	DocumentDB DBCluster0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Stack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03547" y="1801368"/>
            <a:ext cx="635442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3_0.png"/>
          <p:cNvPicPr>
            <a:picLocks noChangeAspect="1"/>
          </p:cNvPicPr>
          <p:nvPr/>
        </p:nvPicPr>
        <p:blipFill>
          <a:blip r:embed="rId2"/>
          <a:stretch>
            <a:fillRect/>
          </a:stretch>
        </p:blipFill>
        <p:spPr>
          <a:xfrm>
            <a:off x="2930979" y="1828800"/>
            <a:ext cx="629956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During a CloudFormation Stack update, all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Termination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To prevent accidental deletes of CloudFormation Stacks, use TerminationProtection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Custom Resources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to</a:t>
            </a:r>
          </a:p>
          <a:p>
            <a:pPr>
              <a:spcAft>
                <a:spcPts val="1000"/>
              </a:spcAft>
            </a:pPr>
            <a:r>
              <a:rPr sz="1800" b="0">
                <a:solidFill>
                  <a:srgbClr val="161B26"/>
                </a:solidFill>
                <a:latin typeface="Arial"/>
              </a:rPr>
              <a:t>•  define resources not yet supported by CloudFormation</a:t>
            </a:r>
          </a:p>
          <a:p>
            <a:pPr>
              <a:spcAft>
                <a:spcPts val="1000"/>
              </a:spcAft>
            </a:pPr>
            <a:r>
              <a:rPr sz="1800" b="0">
                <a:solidFill>
                  <a:srgbClr val="161B26"/>
                </a:solidFill>
                <a:latin typeface="Arial"/>
              </a:rPr>
              <a:t>•  define custom provisioning logic for resources can that be outside of CloudFormation (on-premises resources, 3rd party resources…)</a:t>
            </a:r>
          </a:p>
          <a:p>
            <a:pPr>
              <a:spcAft>
                <a:spcPts val="1000"/>
              </a:spcAft>
            </a:pPr>
            <a:r>
              <a:rPr sz="1800" b="0">
                <a:solidFill>
                  <a:srgbClr val="161B26"/>
                </a:solidFill>
                <a:latin typeface="Arial"/>
              </a:rPr>
              <a:t>•  have custom scripts run during create / update / delete through Lambda functions (running a Lambda function to empty an S3 bucket before being deleted)</a:t>
            </a:r>
          </a:p>
          <a:p>
            <a:pPr>
              <a:spcAft>
                <a:spcPts val="1000"/>
              </a:spcAft>
            </a:pPr>
            <a:r>
              <a:rPr sz="1800" b="0">
                <a:solidFill>
                  <a:srgbClr val="161B26"/>
                </a:solidFill>
                <a:latin typeface="Arial"/>
              </a:rPr>
              <a:t>•  Defined in the template using</a:t>
            </a:r>
          </a:p>
          <a:p>
            <a:pPr>
              <a:spcAft>
                <a:spcPts val="1000"/>
              </a:spcAft>
            </a:pPr>
            <a:r>
              <a:rPr sz="1800" b="0">
                <a:solidFill>
                  <a:srgbClr val="161B26"/>
                </a:solidFill>
                <a:latin typeface="Arial"/>
              </a:rPr>
              <a:t>•  AWS::CloudFormation::CustomResource or Custom::MyCustomResourceTypeName (recommended)</a:t>
            </a:r>
          </a:p>
          <a:p>
            <a:pPr>
              <a:spcAft>
                <a:spcPts val="1000"/>
              </a:spcAft>
            </a:pPr>
            <a:r>
              <a:rPr sz="1800" b="0">
                <a:solidFill>
                  <a:srgbClr val="161B26"/>
                </a:solidFill>
                <a:latin typeface="Arial"/>
              </a:rPr>
              <a:t>•  Backed by a Lambda function (most common) or an SNS topic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define a Custom Resource?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Service token specifies where CloudFormation sends requests to, such as Lambda ARN or SNS ARN (required &amp; must be in the same region)</a:t>
            </a:r>
          </a:p>
          <a:p>
            <a:pPr>
              <a:spcAft>
                <a:spcPts val="1000"/>
              </a:spcAft>
            </a:pPr>
            <a:r>
              <a:rPr sz="2000" b="0">
                <a:solidFill>
                  <a:srgbClr val="161B26"/>
                </a:solidFill>
                <a:latin typeface="Arial"/>
              </a:rPr>
              <a:t>•  Input data parameters (optional)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Use Case - Delete content from an S3 bucket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can't delete a non-empty S3 bucket</a:t>
            </a:r>
          </a:p>
          <a:p>
            <a:pPr>
              <a:spcAft>
                <a:spcPts val="1000"/>
              </a:spcAft>
            </a:pPr>
            <a:r>
              <a:rPr sz="1800" b="0">
                <a:solidFill>
                  <a:srgbClr val="161B26"/>
                </a:solidFill>
                <a:latin typeface="Arial"/>
              </a:rPr>
              <a:t>•  To delete a non-empty S3 bucket, you must first delete all the objects inside it</a:t>
            </a:r>
          </a:p>
          <a:p>
            <a:pPr>
              <a:spcAft>
                <a:spcPts val="1000"/>
              </a:spcAft>
            </a:pPr>
            <a:r>
              <a:rPr sz="1800" b="0">
                <a:solidFill>
                  <a:srgbClr val="161B26"/>
                </a:solidFill>
                <a:latin typeface="Arial"/>
              </a:rPr>
              <a:t>•  We can use a custom resource to empty an S3 bucket before it gets deleted by CloudFormation</a:t>
            </a:r>
          </a:p>
          <a:p>
            <a:pPr>
              <a:spcAft>
                <a:spcPts val="1000"/>
              </a:spcAft>
            </a:pPr>
            <a:r>
              <a:rPr sz="1800" b="0">
                <a:solidFill>
                  <a:srgbClr val="161B26"/>
                </a:solidFill>
                <a:latin typeface="Arial"/>
              </a:rPr>
              <a:t>•  Custom resource	Lambda function</a:t>
            </a:r>
          </a:p>
          <a:p>
            <a:pPr>
              <a:spcAft>
                <a:spcPts val="1000"/>
              </a:spcAft>
            </a:pPr>
            <a:r>
              <a:rPr sz="1800" b="0">
                <a:solidFill>
                  <a:srgbClr val="161B26"/>
                </a:solidFill>
                <a:latin typeface="Arial"/>
              </a:rPr>
              <a:t>•  delete stack</a:t>
            </a:r>
          </a:p>
          <a:p>
            <a:pPr>
              <a:spcAft>
                <a:spcPts val="1000"/>
              </a:spcAft>
            </a:pPr>
            <a:r>
              <a:rPr sz="1800" b="0">
                <a:solidFill>
                  <a:srgbClr val="161B26"/>
                </a:solidFill>
                <a:latin typeface="Arial"/>
              </a:rPr>
              <a:t>•  Stack</a:t>
            </a:r>
          </a:p>
          <a:p>
            <a:pPr>
              <a:spcAft>
                <a:spcPts val="1000"/>
              </a:spcAft>
            </a:pPr>
            <a:r>
              <a:rPr sz="1800" b="0">
                <a:solidFill>
                  <a:srgbClr val="161B26"/>
                </a:solidFill>
                <a:latin typeface="Arial"/>
              </a:rPr>
              <a:t>•  empty bucket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Dynamic References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Reference external values stored in Systems Manager Parameter Store and Secrets Manager within CloudFormation templates</a:t>
            </a:r>
          </a:p>
          <a:p>
            <a:pPr>
              <a:spcAft>
                <a:spcPts val="1000"/>
              </a:spcAft>
            </a:pPr>
            <a:r>
              <a:rPr sz="1800" b="0">
                <a:solidFill>
                  <a:srgbClr val="161B26"/>
                </a:solidFill>
                <a:latin typeface="Arial"/>
              </a:rPr>
              <a:t>•  CloudFormation retrieves the value of the specified reference during create/update/delete operations</a:t>
            </a:r>
          </a:p>
          <a:p>
            <a:pPr>
              <a:spcAft>
                <a:spcPts val="1000"/>
              </a:spcAft>
            </a:pPr>
            <a:r>
              <a:rPr sz="1800" b="0">
                <a:solidFill>
                  <a:srgbClr val="161B26"/>
                </a:solidFill>
                <a:latin typeface="Arial"/>
              </a:rPr>
              <a:t>•  For example: retrieve RDS DB Instance master password from Secrets Manager</a:t>
            </a:r>
          </a:p>
          <a:p>
            <a:pPr>
              <a:spcAft>
                <a:spcPts val="1000"/>
              </a:spcAft>
            </a:pPr>
            <a:r>
              <a:rPr sz="1800" b="0">
                <a:solidFill>
                  <a:srgbClr val="161B26"/>
                </a:solidFill>
                <a:latin typeface="Arial"/>
              </a:rPr>
              <a:t>•  Supports</a:t>
            </a:r>
          </a:p>
          <a:p>
            <a:pPr>
              <a:spcAft>
                <a:spcPts val="1000"/>
              </a:spcAft>
            </a:pPr>
            <a:r>
              <a:rPr sz="1800" b="0">
                <a:solidFill>
                  <a:srgbClr val="161B26"/>
                </a:solidFill>
                <a:latin typeface="Arial"/>
              </a:rPr>
              <a:t>•  ssm - for plaintext values stored in SSM Parameter Store</a:t>
            </a:r>
          </a:p>
          <a:p>
            <a:pPr>
              <a:spcAft>
                <a:spcPts val="1000"/>
              </a:spcAft>
            </a:pPr>
            <a:r>
              <a:rPr sz="1800" b="0">
                <a:solidFill>
                  <a:srgbClr val="161B26"/>
                </a:solidFill>
                <a:latin typeface="Arial"/>
              </a:rPr>
              <a:t>•  ssm-secure - for secure strings stored in SSM Parameter Store</a:t>
            </a:r>
          </a:p>
          <a:p>
            <a:pPr>
              <a:spcAft>
                <a:spcPts val="1000"/>
              </a:spcAft>
            </a:pPr>
            <a:r>
              <a:rPr sz="1800" b="0">
                <a:solidFill>
                  <a:srgbClr val="161B26"/>
                </a:solidFill>
                <a:latin typeface="Arial"/>
              </a:rPr>
              <a:t>•  secretsmanager - for secret values stored in Secrets Manager</a:t>
            </a:r>
          </a:p>
          <a:p>
            <a:pPr>
              <a:spcAft>
                <a:spcPts val="1000"/>
              </a:spcAft>
            </a:pPr>
            <a:r>
              <a:rPr sz="1800" b="0">
                <a:solidFill>
                  <a:srgbClr val="161B26"/>
                </a:solidFill>
                <a:latin typeface="Arial"/>
              </a:rPr>
              <a:t>•  ‘{{resolve:service-name:reference-key}}’</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create/update</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SSM Parameter Store</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get value</a:t>
            </a:r>
          </a:p>
          <a:p>
            <a:pPr>
              <a:spcAft>
                <a:spcPts val="1000"/>
              </a:spcAft>
            </a:pPr>
            <a:r>
              <a:rPr sz="1800" b="0">
                <a:solidFill>
                  <a:srgbClr val="161B26"/>
                </a:solidFill>
                <a:latin typeface="Arial"/>
              </a:rPr>
              <a:t>•  (reference-key)</a:t>
            </a:r>
          </a:p>
          <a:p>
            <a:pPr>
              <a:spcAft>
                <a:spcPts val="1000"/>
              </a:spcAft>
            </a:pPr>
            <a:r>
              <a:rPr sz="1800" b="0">
                <a:solidFill>
                  <a:srgbClr val="161B26"/>
                </a:solidFill>
                <a:latin typeface="Arial"/>
              </a:rPr>
              <a:t>•  result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Dynamic References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68880"/>
            <a:ext cx="10479024" cy="28346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9_0.png"/>
          <p:cNvPicPr>
            <a:picLocks noChangeAspect="1"/>
          </p:cNvPicPr>
          <p:nvPr/>
        </p:nvPicPr>
        <p:blipFill>
          <a:blip r:embed="rId2"/>
          <a:stretch>
            <a:fillRect/>
          </a:stretch>
        </p:blipFill>
        <p:spPr>
          <a:xfrm>
            <a:off x="868680" y="2496312"/>
            <a:ext cx="10424160" cy="277977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SSM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CloudFormation, Secrets Manager &amp; RDS Option 1 - ManageMasterUserPassword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ManageMasterUserPassword - creates admin secret implicitly</a:t>
            </a:r>
          </a:p>
          <a:p>
            <a:pPr>
              <a:spcAft>
                <a:spcPts val="1000"/>
              </a:spcAft>
            </a:pPr>
            <a:r>
              <a:rPr sz="1800" b="0">
                <a:solidFill>
                  <a:srgbClr val="161B26"/>
                </a:solidFill>
                <a:latin typeface="Arial"/>
              </a:rPr>
              <a:t>•  RDS, Aurora will manage the secret in Secrets Manager and its rotation</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create Stack</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create Secret</a:t>
            </a:r>
          </a:p>
          <a:p>
            <a:pPr>
              <a:spcAft>
                <a:spcPts val="1000"/>
              </a:spcAft>
            </a:pPr>
            <a:r>
              <a:rPr sz="1800" b="0">
                <a:solidFill>
                  <a:srgbClr val="161B26"/>
                </a:solidFill>
                <a:latin typeface="Arial"/>
              </a:rPr>
              <a:t>•  RDS</a:t>
            </a:r>
          </a:p>
          <a:p>
            <a:pPr>
              <a:spcAft>
                <a:spcPts val="1000"/>
              </a:spcAft>
            </a:pPr>
            <a:r>
              <a:rPr sz="1800" b="0">
                <a:solidFill>
                  <a:srgbClr val="161B26"/>
                </a:solidFill>
                <a:latin typeface="Arial"/>
              </a:rPr>
              <a:t>•  create DB and</a:t>
            </a:r>
          </a:p>
          <a:p>
            <a:pPr>
              <a:spcAft>
                <a:spcPts val="1000"/>
              </a:spcAft>
            </a:pPr>
            <a:r>
              <a:rPr sz="1800" b="0">
                <a:solidFill>
                  <a:srgbClr val="161B26"/>
                </a:solidFill>
                <a:latin typeface="Arial"/>
              </a:rPr>
              <a:t>•  configure Username/Password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2. Reference secret in RDS DB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3. link the secret to RDS DB instance (for rotation)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1. secret is generated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CloudFormation, Secrets Manager &amp; RDS Option 2 - Dynamic Reference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User Data in EC2 for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We can have user data at EC2 instance launch through the console</a:t>
            </a:r>
          </a:p>
          <a:p>
            <a:pPr>
              <a:spcAft>
                <a:spcPts val="1000"/>
              </a:spcAft>
            </a:pPr>
            <a:r>
              <a:rPr sz="2000" b="0">
                <a:solidFill>
                  <a:srgbClr val="161B26"/>
                </a:solidFill>
                <a:latin typeface="Arial"/>
              </a:rPr>
              <a:t>•  Let’s learn how to write the same EC2 user-data script in our CloudFormation template</a:t>
            </a:r>
          </a:p>
          <a:p>
            <a:pPr>
              <a:spcAft>
                <a:spcPts val="1000"/>
              </a:spcAft>
            </a:pPr>
            <a:r>
              <a:rPr sz="2000" b="0">
                <a:solidFill>
                  <a:srgbClr val="161B26"/>
                </a:solidFill>
                <a:latin typeface="Arial"/>
              </a:rPr>
              <a:t>•  The important thing to pass is the entire script through the function Fn::Base64</a:t>
            </a:r>
          </a:p>
          <a:p>
            <a:pPr>
              <a:spcAft>
                <a:spcPts val="1000"/>
              </a:spcAft>
            </a:pPr>
            <a:r>
              <a:rPr sz="2000" b="0">
                <a:solidFill>
                  <a:srgbClr val="161B26"/>
                </a:solidFill>
                <a:latin typeface="Arial"/>
              </a:rPr>
              <a:t>•  Good to know, user data script log is in /var/log/cloud-init-output.log</a:t>
            </a:r>
          </a:p>
          <a:p>
            <a:pPr>
              <a:spcAft>
                <a:spcPts val="1000"/>
              </a:spcAft>
            </a:pPr>
            <a:r>
              <a:rPr sz="2000" b="0">
                <a:solidFill>
                  <a:srgbClr val="161B26"/>
                </a:solidFill>
                <a:latin typeface="Arial"/>
              </a:rPr>
              <a:t>•  Let’s see how to do this in CloudFormation!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Problems with EC2 User Data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What if we want to have a very large instance configuration?</a:t>
            </a:r>
          </a:p>
          <a:p>
            <a:pPr>
              <a:spcAft>
                <a:spcPts val="1000"/>
              </a:spcAft>
            </a:pPr>
            <a:r>
              <a:rPr sz="1800" b="0">
                <a:solidFill>
                  <a:srgbClr val="161B26"/>
                </a:solidFill>
                <a:latin typeface="Arial"/>
              </a:rPr>
              <a:t>•  What if we want to evolve the state of the EC2 instance without terminating it and creating a new one?</a:t>
            </a:r>
          </a:p>
          <a:p>
            <a:pPr>
              <a:spcAft>
                <a:spcPts val="1000"/>
              </a:spcAft>
            </a:pPr>
            <a:r>
              <a:rPr sz="1800" b="0">
                <a:solidFill>
                  <a:srgbClr val="161B26"/>
                </a:solidFill>
                <a:latin typeface="Arial"/>
              </a:rPr>
              <a:t>•  How do we make EC2 user-data more readable?</a:t>
            </a:r>
          </a:p>
          <a:p>
            <a:pPr>
              <a:spcAft>
                <a:spcPts val="1000"/>
              </a:spcAft>
            </a:pPr>
            <a:r>
              <a:rPr sz="1800" b="0">
                <a:solidFill>
                  <a:srgbClr val="161B26"/>
                </a:solidFill>
                <a:latin typeface="Arial"/>
              </a:rPr>
              <a:t>•  How do we know or signal that our EC2 user-data script completed successfully?</a:t>
            </a:r>
          </a:p>
          <a:p>
            <a:pPr>
              <a:spcAft>
                <a:spcPts val="1000"/>
              </a:spcAft>
            </a:pPr>
            <a:r>
              <a:rPr sz="1800" b="0">
                <a:solidFill>
                  <a:srgbClr val="161B26"/>
                </a:solidFill>
                <a:latin typeface="Arial"/>
              </a:rPr>
              <a:t>•  Enter CloudFormation Helper Scripts!</a:t>
            </a:r>
          </a:p>
          <a:p>
            <a:pPr>
              <a:spcAft>
                <a:spcPts val="1000"/>
              </a:spcAft>
            </a:pPr>
            <a:r>
              <a:rPr sz="1800" b="0">
                <a:solidFill>
                  <a:srgbClr val="161B26"/>
                </a:solidFill>
                <a:latin typeface="Arial"/>
              </a:rPr>
              <a:t>•  Python scripts, that come directly on Amazon Linux AMIs, or can be installed using yum</a:t>
            </a:r>
          </a:p>
          <a:p>
            <a:pPr>
              <a:spcAft>
                <a:spcPts val="1000"/>
              </a:spcAft>
            </a:pPr>
            <a:r>
              <a:rPr sz="1800" b="0">
                <a:solidFill>
                  <a:srgbClr val="161B26"/>
                </a:solidFill>
                <a:latin typeface="Arial"/>
              </a:rPr>
              <a:t>•  or dnf on non-Amazon Linux AMIs</a:t>
            </a:r>
          </a:p>
          <a:p>
            <a:pPr>
              <a:spcAft>
                <a:spcPts val="1000"/>
              </a:spcAft>
            </a:pPr>
            <a:r>
              <a:rPr sz="1800" b="0">
                <a:solidFill>
                  <a:srgbClr val="161B26"/>
                </a:solidFill>
                <a:latin typeface="Arial"/>
              </a:rPr>
              <a:t>•  cfn-init, cfn-signal, cfn-get-metadata, cfn-hup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AWS::CloudFormation::Init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61981" y="1801368"/>
            <a:ext cx="26375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4_0.png"/>
          <p:cNvPicPr>
            <a:picLocks noChangeAspect="1"/>
          </p:cNvPicPr>
          <p:nvPr/>
        </p:nvPicPr>
        <p:blipFill>
          <a:blip r:embed="rId2"/>
          <a:stretch>
            <a:fillRect/>
          </a:stretch>
        </p:blipFill>
        <p:spPr>
          <a:xfrm>
            <a:off x="4789413" y="1828800"/>
            <a:ext cx="258269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config contains the following and is executed in that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cfn-init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to retrieve and interpret the resource metadata, installing packages, creating files and starting services</a:t>
            </a:r>
          </a:p>
          <a:p>
            <a:pPr>
              <a:spcAft>
                <a:spcPts val="1000"/>
              </a:spcAft>
            </a:pPr>
            <a:r>
              <a:rPr sz="1800" b="0">
                <a:solidFill>
                  <a:srgbClr val="161B26"/>
                </a:solidFill>
                <a:latin typeface="Arial"/>
              </a:rPr>
              <a:t>•  With the cfn-init script, it helps make complex EC2 configurations readable</a:t>
            </a:r>
          </a:p>
          <a:p>
            <a:pPr>
              <a:spcAft>
                <a:spcPts val="1000"/>
              </a:spcAft>
            </a:pPr>
            <a:r>
              <a:rPr sz="1800" b="0">
                <a:solidFill>
                  <a:srgbClr val="161B26"/>
                </a:solidFill>
                <a:latin typeface="Arial"/>
              </a:rPr>
              <a:t>•  The EC2 instance will query the CloudFormation service to get init data</a:t>
            </a:r>
          </a:p>
          <a:p>
            <a:pPr>
              <a:spcAft>
                <a:spcPts val="1000"/>
              </a:spcAft>
            </a:pPr>
            <a:r>
              <a:rPr sz="1800" b="0">
                <a:solidFill>
                  <a:srgbClr val="161B26"/>
                </a:solidFill>
                <a:latin typeface="Arial"/>
              </a:rPr>
              <a:t>•  AWS::CloudFormation::Init must be in the Metadata of a resource</a:t>
            </a:r>
          </a:p>
          <a:p>
            <a:pPr>
              <a:spcAft>
                <a:spcPts val="1000"/>
              </a:spcAft>
            </a:pPr>
            <a:r>
              <a:rPr sz="1800" b="0">
                <a:solidFill>
                  <a:srgbClr val="161B26"/>
                </a:solidFill>
                <a:latin typeface="Arial"/>
              </a:rPr>
              <a:t>•  Logs go to /var/log/cfn-init.log</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retrieve init data</a:t>
            </a:r>
          </a:p>
          <a:p>
            <a:pPr>
              <a:spcAft>
                <a:spcPts val="1000"/>
              </a:spcAft>
            </a:pPr>
            <a:r>
              <a:rPr sz="1800" b="0">
                <a:solidFill>
                  <a:srgbClr val="161B26"/>
                </a:solidFill>
                <a:latin typeface="Arial"/>
              </a:rPr>
              <a:t>•  run cfn-init</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CloudFormation - cfn-signal &amp; Wait Conditions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still don’t know how to tell CloudFormation that the EC2 instance got properly configured after a cfn-init</a:t>
            </a:r>
          </a:p>
          <a:p>
            <a:pPr>
              <a:spcAft>
                <a:spcPts val="1000"/>
              </a:spcAft>
            </a:pPr>
            <a:r>
              <a:rPr sz="1800" b="0">
                <a:solidFill>
                  <a:srgbClr val="161B26"/>
                </a:solidFill>
                <a:latin typeface="Arial"/>
              </a:rPr>
              <a:t>•  For this, we can use the cfn-signal script!</a:t>
            </a:r>
          </a:p>
          <a:p>
            <a:pPr>
              <a:spcAft>
                <a:spcPts val="1000"/>
              </a:spcAft>
            </a:pPr>
            <a:r>
              <a:rPr sz="1800" b="0">
                <a:solidFill>
                  <a:srgbClr val="161B26"/>
                </a:solidFill>
                <a:latin typeface="Arial"/>
              </a:rPr>
              <a:t>•  We run cfn-signal right after cfn-init</a:t>
            </a:r>
          </a:p>
          <a:p>
            <a:pPr>
              <a:spcAft>
                <a:spcPts val="1000"/>
              </a:spcAft>
            </a:pPr>
            <a:r>
              <a:rPr sz="1800" b="0">
                <a:solidFill>
                  <a:srgbClr val="161B26"/>
                </a:solidFill>
                <a:latin typeface="Arial"/>
              </a:rPr>
              <a:t>•  Tell CloudFormation service that the resource creation success/fail to keep on going or fail</a:t>
            </a:r>
          </a:p>
          <a:p>
            <a:pPr>
              <a:spcAft>
                <a:spcPts val="1000"/>
              </a:spcAft>
            </a:pPr>
            <a:r>
              <a:rPr sz="1800" b="0">
                <a:solidFill>
                  <a:srgbClr val="161B26"/>
                </a:solidFill>
                <a:latin typeface="Arial"/>
              </a:rPr>
              <a:t>•  We need to define WaitCondition:</a:t>
            </a:r>
          </a:p>
          <a:p>
            <a:pPr>
              <a:spcAft>
                <a:spcPts val="1000"/>
              </a:spcAft>
            </a:pPr>
            <a:r>
              <a:rPr sz="1800" b="0">
                <a:solidFill>
                  <a:srgbClr val="161B26"/>
                </a:solidFill>
                <a:latin typeface="Arial"/>
              </a:rPr>
              <a:t>•  Block the template until it receives a signal from cfn-signal</a:t>
            </a:r>
          </a:p>
          <a:p>
            <a:pPr>
              <a:spcAft>
                <a:spcPts val="1000"/>
              </a:spcAft>
            </a:pPr>
            <a:r>
              <a:rPr sz="1800" b="0">
                <a:solidFill>
                  <a:srgbClr val="161B26"/>
                </a:solidFill>
                <a:latin typeface="Arial"/>
              </a:rPr>
              <a:t>•  We attach a CreationPolicy (also works on EC2, ASG)</a:t>
            </a:r>
          </a:p>
          <a:p>
            <a:pPr>
              <a:spcAft>
                <a:spcPts val="1000"/>
              </a:spcAft>
            </a:pPr>
            <a:r>
              <a:rPr sz="1800" b="0">
                <a:solidFill>
                  <a:srgbClr val="161B26"/>
                </a:solidFill>
                <a:latin typeface="Arial"/>
              </a:rPr>
              <a:t>•  We can define a Count &gt; 1 (in case you need more than 1 signal)</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run cfn-init</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retrieve init data</a:t>
            </a:r>
          </a:p>
          <a:p>
            <a:pPr>
              <a:spcAft>
                <a:spcPts val="1000"/>
              </a:spcAft>
            </a:pPr>
            <a:r>
              <a:rPr sz="1800" b="0">
                <a:solidFill>
                  <a:srgbClr val="161B26"/>
                </a:solidFill>
                <a:latin typeface="Arial"/>
              </a:rPr>
              <a:t>•  signal from</a:t>
            </a:r>
          </a:p>
          <a:p>
            <a:pPr>
              <a:spcAft>
                <a:spcPts val="1000"/>
              </a:spcAft>
            </a:pPr>
            <a:r>
              <a:rPr sz="1800" b="0">
                <a:solidFill>
                  <a:srgbClr val="161B26"/>
                </a:solidFill>
                <a:latin typeface="Arial"/>
              </a:rPr>
              <a:t>•  cfn-signal</a:t>
            </a:r>
          </a:p>
          <a:p>
            <a:pPr>
              <a:spcAft>
                <a:spcPts val="1000"/>
              </a:spcAft>
            </a:pPr>
            <a:r>
              <a:rPr sz="1800" b="0">
                <a:solidFill>
                  <a:srgbClr val="161B26"/>
                </a:solidFill>
                <a:latin typeface="Arial"/>
              </a:rPr>
              <a:t>•  Wait Condition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Wait Condition Didn't Receive the Required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Number of Signals from an Amazon EC2 Instance</a:t>
            </a:r>
          </a:p>
          <a:p>
            <a:pPr>
              <a:spcAft>
                <a:spcPts val="1000"/>
              </a:spcAft>
            </a:pPr>
            <a:r>
              <a:rPr sz="1800" b="0">
                <a:solidFill>
                  <a:srgbClr val="161B26"/>
                </a:solidFill>
                <a:latin typeface="Arial"/>
              </a:rPr>
              <a:t>•  Ensure that the AMI you're using has the AWS CloudFormation helper scripts</a:t>
            </a:r>
          </a:p>
          <a:p>
            <a:pPr>
              <a:spcAft>
                <a:spcPts val="1000"/>
              </a:spcAft>
            </a:pPr>
            <a:r>
              <a:rPr sz="1800" b="0">
                <a:solidFill>
                  <a:srgbClr val="161B26"/>
                </a:solidFill>
                <a:latin typeface="Arial"/>
              </a:rPr>
              <a:t>•  installed. If the AMI doesn't include the helper scripts, you can also download them to your instance</a:t>
            </a:r>
          </a:p>
          <a:p>
            <a:pPr>
              <a:spcAft>
                <a:spcPts val="1000"/>
              </a:spcAft>
            </a:pPr>
            <a:r>
              <a:rPr sz="1800" b="0">
                <a:solidFill>
                  <a:srgbClr val="161B26"/>
                </a:solidFill>
                <a:latin typeface="Arial"/>
              </a:rPr>
              <a:t>•  Verify that the cfn-init &amp; cfn-signal command was successfully run on the instance.</a:t>
            </a:r>
          </a:p>
          <a:p>
            <a:pPr>
              <a:spcAft>
                <a:spcPts val="1000"/>
              </a:spcAft>
            </a:pPr>
            <a:r>
              <a:rPr sz="1800" b="0">
                <a:solidFill>
                  <a:srgbClr val="161B26"/>
                </a:solidFill>
                <a:latin typeface="Arial"/>
              </a:rPr>
              <a:t>•  You can view logs, such as /var/log/cloud-init.log or /var/log/cfn-init.log, to help you debug the instance launch</a:t>
            </a:r>
          </a:p>
          <a:p>
            <a:pPr>
              <a:spcAft>
                <a:spcPts val="1000"/>
              </a:spcAft>
            </a:pPr>
            <a:r>
              <a:rPr sz="1800" b="0">
                <a:solidFill>
                  <a:srgbClr val="161B26"/>
                </a:solidFill>
                <a:latin typeface="Arial"/>
              </a:rPr>
              <a:t>•  You can retrieve the logs by logging in to your instance, but you must disable</a:t>
            </a:r>
          </a:p>
          <a:p>
            <a:pPr>
              <a:spcAft>
                <a:spcPts val="1000"/>
              </a:spcAft>
            </a:pPr>
            <a:r>
              <a:rPr sz="1800" b="0">
                <a:solidFill>
                  <a:srgbClr val="161B26"/>
                </a:solidFill>
                <a:latin typeface="Arial"/>
              </a:rPr>
              <a:t>•  rollback on failure or else AWS CloudFormation deletes the instance after your stack fails to create</a:t>
            </a:r>
          </a:p>
          <a:p>
            <a:pPr>
              <a:spcAft>
                <a:spcPts val="1000"/>
              </a:spcAft>
            </a:pPr>
            <a:r>
              <a:rPr sz="1800" b="0">
                <a:solidFill>
                  <a:srgbClr val="161B26"/>
                </a:solidFill>
                <a:latin typeface="Arial"/>
              </a:rPr>
              <a:t>•  Verify that the instance has a connection to the Internet. If the instance is in a VPC,</a:t>
            </a:r>
          </a:p>
          <a:p>
            <a:pPr>
              <a:spcAft>
                <a:spcPts val="1000"/>
              </a:spcAft>
            </a:pPr>
            <a:r>
              <a:rPr sz="1800" b="0">
                <a:solidFill>
                  <a:srgbClr val="161B26"/>
                </a:solidFill>
                <a:latin typeface="Arial"/>
              </a:rPr>
              <a:t>•  the instance should be able to connect to the Internet through a NAT device if it's is in a private subnet or through an Internet gateway if it's in a public subnet</a:t>
            </a:r>
          </a:p>
          <a:p>
            <a:pPr>
              <a:spcAft>
                <a:spcPts val="1000"/>
              </a:spcAft>
            </a:pPr>
            <a:r>
              <a:rPr sz="1800" b="0">
                <a:solidFill>
                  <a:srgbClr val="161B26"/>
                </a:solidFill>
                <a:latin typeface="Arial"/>
              </a:rPr>
              <a:t>•  For example, run: curl -I https://aws.amazon.com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Nested Stacks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Nested stacks are stacks as part of other stacks</a:t>
            </a:r>
          </a:p>
          <a:p>
            <a:pPr>
              <a:spcAft>
                <a:spcPts val="1000"/>
              </a:spcAft>
            </a:pPr>
            <a:r>
              <a:rPr sz="1800" b="0">
                <a:solidFill>
                  <a:srgbClr val="161B26"/>
                </a:solidFill>
                <a:latin typeface="Arial"/>
              </a:rPr>
              <a:t>•  They allow you to isolate repeated patterns / common components in separate stacks and call them from other stacks</a:t>
            </a:r>
          </a:p>
          <a:p>
            <a:pPr>
              <a:spcAft>
                <a:spcPts val="1000"/>
              </a:spcAft>
            </a:pPr>
            <a:r>
              <a:rPr sz="1800" b="0">
                <a:solidFill>
                  <a:srgbClr val="161B26"/>
                </a:solidFill>
                <a:latin typeface="Arial"/>
              </a:rPr>
              <a:t>•  Example:</a:t>
            </a:r>
          </a:p>
          <a:p>
            <a:pPr>
              <a:spcAft>
                <a:spcPts val="1000"/>
              </a:spcAft>
            </a:pPr>
            <a:r>
              <a:rPr sz="1800" b="0">
                <a:solidFill>
                  <a:srgbClr val="161B26"/>
                </a:solidFill>
                <a:latin typeface="Arial"/>
              </a:rPr>
              <a:t>•  Load Balancer configuration that is re-used</a:t>
            </a:r>
          </a:p>
          <a:p>
            <a:pPr>
              <a:spcAft>
                <a:spcPts val="1000"/>
              </a:spcAft>
            </a:pPr>
            <a:r>
              <a:rPr sz="1800" b="0">
                <a:solidFill>
                  <a:srgbClr val="161B26"/>
                </a:solidFill>
                <a:latin typeface="Arial"/>
              </a:rPr>
              <a:t>•  Security Group that is re-used</a:t>
            </a:r>
          </a:p>
          <a:p>
            <a:pPr>
              <a:spcAft>
                <a:spcPts val="1000"/>
              </a:spcAft>
            </a:pPr>
            <a:r>
              <a:rPr sz="1800" b="0">
                <a:solidFill>
                  <a:srgbClr val="161B26"/>
                </a:solidFill>
                <a:latin typeface="Arial"/>
              </a:rPr>
              <a:t>•  Nested stacks are considered best practice</a:t>
            </a:r>
          </a:p>
          <a:p>
            <a:pPr>
              <a:spcAft>
                <a:spcPts val="1000"/>
              </a:spcAft>
            </a:pPr>
            <a:r>
              <a:rPr sz="1800" b="0">
                <a:solidFill>
                  <a:srgbClr val="161B26"/>
                </a:solidFill>
                <a:latin typeface="Arial"/>
              </a:rPr>
              <a:t>•  To update a nested stack, always update the parent (root stack)</a:t>
            </a:r>
          </a:p>
          <a:p>
            <a:pPr>
              <a:spcAft>
                <a:spcPts val="1000"/>
              </a:spcAft>
            </a:pPr>
            <a:r>
              <a:rPr sz="1800" b="0">
                <a:solidFill>
                  <a:srgbClr val="161B26"/>
                </a:solidFill>
                <a:latin typeface="Arial"/>
              </a:rPr>
              <a:t>•  Nested stacks can have nested stacks themselves!</a:t>
            </a:r>
          </a:p>
          <a:p>
            <a:pPr>
              <a:spcAft>
                <a:spcPts val="1000"/>
              </a:spcAft>
            </a:pPr>
            <a:r>
              <a:rPr sz="1800" b="0">
                <a:solidFill>
                  <a:srgbClr val="161B26"/>
                </a:solidFill>
                <a:latin typeface="Arial"/>
              </a:rPr>
              <a:t>•  Stack B</a:t>
            </a:r>
          </a:p>
          <a:p>
            <a:pPr>
              <a:spcAft>
                <a:spcPts val="1000"/>
              </a:spcAft>
            </a:pPr>
            <a:r>
              <a:rPr sz="1800" b="0">
                <a:solidFill>
                  <a:srgbClr val="161B26"/>
                </a:solidFill>
                <a:latin typeface="Arial"/>
              </a:rPr>
              <a:t>•  Stack A (root)</a:t>
            </a:r>
          </a:p>
          <a:p>
            <a:pPr>
              <a:spcAft>
                <a:spcPts val="1000"/>
              </a:spcAft>
            </a:pPr>
            <a:r>
              <a:rPr sz="1800" b="0">
                <a:solidFill>
                  <a:srgbClr val="161B26"/>
                </a:solidFill>
                <a:latin typeface="Arial"/>
              </a:rPr>
              <a:t>•  Stack C</a:t>
            </a:r>
          </a:p>
          <a:p>
            <a:pPr>
              <a:spcAft>
                <a:spcPts val="1000"/>
              </a:spcAft>
            </a:pPr>
            <a:r>
              <a:rPr sz="1800" b="0">
                <a:solidFill>
                  <a:srgbClr val="161B26"/>
                </a:solidFill>
                <a:latin typeface="Arial"/>
              </a:rPr>
              <a:t>•  Stack D</a:t>
            </a:r>
          </a:p>
          <a:p>
            <a:pPr>
              <a:spcAft>
                <a:spcPts val="1000"/>
              </a:spcAft>
            </a:pPr>
            <a:r>
              <a:rPr sz="1800" b="0">
                <a:solidFill>
                  <a:srgbClr val="161B26"/>
                </a:solidFill>
                <a:latin typeface="Arial"/>
              </a:rPr>
              <a:t>•  Stack E</a:t>
            </a:r>
          </a:p>
          <a:p>
            <a:pPr>
              <a:spcAft>
                <a:spcPts val="1000"/>
              </a:spcAft>
            </a:pPr>
            <a:r>
              <a:rPr sz="1800" b="0">
                <a:solidFill>
                  <a:srgbClr val="161B26"/>
                </a:solidFill>
                <a:latin typeface="Arial"/>
              </a:rPr>
              <a:t>•  Stack 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 Stacks vs Nested Stacks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Cross Stacks</a:t>
            </a:r>
          </a:p>
          <a:p>
            <a:pPr>
              <a:spcAft>
                <a:spcPts val="1000"/>
              </a:spcAft>
            </a:pPr>
            <a:r>
              <a:rPr sz="1800" b="0">
                <a:solidFill>
                  <a:srgbClr val="161B26"/>
                </a:solidFill>
                <a:latin typeface="Arial"/>
              </a:rPr>
              <a:t>•  Helpful when stacks have different lifecycles</a:t>
            </a:r>
          </a:p>
          <a:p>
            <a:pPr>
              <a:spcAft>
                <a:spcPts val="1000"/>
              </a:spcAft>
            </a:pPr>
            <a:r>
              <a:rPr sz="1800" b="0">
                <a:solidFill>
                  <a:srgbClr val="161B26"/>
                </a:solidFill>
                <a:latin typeface="Arial"/>
              </a:rPr>
              <a:t>•  Use Outputs Export and Fn::ImportValue</a:t>
            </a:r>
          </a:p>
          <a:p>
            <a:pPr>
              <a:spcAft>
                <a:spcPts val="1000"/>
              </a:spcAft>
            </a:pPr>
            <a:r>
              <a:rPr sz="1800" b="0">
                <a:solidFill>
                  <a:srgbClr val="161B26"/>
                </a:solidFill>
                <a:latin typeface="Arial"/>
              </a:rPr>
              <a:t>•  When you need to pass export values to many stacks (VPC Id…)</a:t>
            </a:r>
          </a:p>
          <a:p>
            <a:pPr>
              <a:spcAft>
                <a:spcPts val="1000"/>
              </a:spcAft>
            </a:pPr>
            <a:r>
              <a:rPr sz="1800" b="0">
                <a:solidFill>
                  <a:srgbClr val="161B26"/>
                </a:solidFill>
                <a:latin typeface="Arial"/>
              </a:rPr>
              <a:t>•  Nested Snacks</a:t>
            </a:r>
          </a:p>
          <a:p>
            <a:pPr>
              <a:spcAft>
                <a:spcPts val="1000"/>
              </a:spcAft>
            </a:pPr>
            <a:r>
              <a:rPr sz="1800" b="0">
                <a:solidFill>
                  <a:srgbClr val="161B26"/>
                </a:solidFill>
                <a:latin typeface="Arial"/>
              </a:rPr>
              <a:t>•  Helpful when components must be re-used</a:t>
            </a:r>
          </a:p>
          <a:p>
            <a:pPr>
              <a:spcAft>
                <a:spcPts val="1000"/>
              </a:spcAft>
            </a:pPr>
            <a:r>
              <a:rPr sz="1800" b="0">
                <a:solidFill>
                  <a:srgbClr val="161B26"/>
                </a:solidFill>
                <a:latin typeface="Arial"/>
              </a:rPr>
              <a:t>•  Example: re-use how to properly configure an Application Load Balancer</a:t>
            </a:r>
          </a:p>
          <a:p>
            <a:pPr>
              <a:spcAft>
                <a:spcPts val="1000"/>
              </a:spcAft>
            </a:pPr>
            <a:r>
              <a:rPr sz="1800" b="0">
                <a:solidFill>
                  <a:srgbClr val="161B26"/>
                </a:solidFill>
                <a:latin typeface="Arial"/>
              </a:rPr>
              <a:t>•  The nested stack only is important to the higher-level stack (it’s not shared)</a:t>
            </a:r>
          </a:p>
          <a:p>
            <a:pPr>
              <a:spcAft>
                <a:spcPts val="1000"/>
              </a:spcAft>
            </a:pPr>
            <a:r>
              <a:rPr sz="1800" b="0">
                <a:solidFill>
                  <a:srgbClr val="161B26"/>
                </a:solidFill>
                <a:latin typeface="Arial"/>
              </a:rPr>
              <a:t>•  VPC Stack</a:t>
            </a:r>
          </a:p>
          <a:p>
            <a:pPr>
              <a:spcAft>
                <a:spcPts val="1000"/>
              </a:spcAft>
            </a:pPr>
            <a:r>
              <a:rPr sz="1800" b="0">
                <a:solidFill>
                  <a:srgbClr val="161B26"/>
                </a:solidFill>
                <a:latin typeface="Arial"/>
              </a:rPr>
              <a:t>•  App 1 Stack</a:t>
            </a:r>
          </a:p>
          <a:p>
            <a:pPr>
              <a:spcAft>
                <a:spcPts val="1000"/>
              </a:spcAft>
            </a:pPr>
            <a:r>
              <a:rPr sz="1800" b="0">
                <a:solidFill>
                  <a:srgbClr val="161B26"/>
                </a:solidFill>
                <a:latin typeface="Arial"/>
              </a:rPr>
              <a:t>•  App 2 Stack</a:t>
            </a:r>
          </a:p>
          <a:p>
            <a:pPr>
              <a:spcAft>
                <a:spcPts val="1000"/>
              </a:spcAft>
            </a:pPr>
            <a:r>
              <a:rPr sz="1800" b="0">
                <a:solidFill>
                  <a:srgbClr val="161B26"/>
                </a:solidFill>
                <a:latin typeface="Arial"/>
              </a:rPr>
              <a:t>•  App 3 Stack</a:t>
            </a:r>
          </a:p>
          <a:p>
            <a:pPr>
              <a:spcAft>
                <a:spcPts val="1000"/>
              </a:spcAft>
            </a:pPr>
            <a:r>
              <a:rPr sz="1800" b="0">
                <a:solidFill>
                  <a:srgbClr val="161B26"/>
                </a:solidFill>
                <a:latin typeface="Arial"/>
              </a:rPr>
              <a:t>•  RDS Stack</a:t>
            </a:r>
          </a:p>
          <a:p>
            <a:pPr>
              <a:spcAft>
                <a:spcPts val="1000"/>
              </a:spcAft>
            </a:pPr>
            <a:r>
              <a:rPr sz="1800" b="0">
                <a:solidFill>
                  <a:srgbClr val="161B26"/>
                </a:solidFill>
                <a:latin typeface="Arial"/>
              </a:rPr>
              <a:t>•  ASG Stack</a:t>
            </a:r>
          </a:p>
          <a:p>
            <a:pPr>
              <a:spcAft>
                <a:spcPts val="1000"/>
              </a:spcAft>
            </a:pPr>
            <a:r>
              <a:rPr sz="1800" b="0">
                <a:solidFill>
                  <a:srgbClr val="161B26"/>
                </a:solidFill>
                <a:latin typeface="Arial"/>
              </a:rPr>
              <a:t>•  ELB Stack</a:t>
            </a:r>
          </a:p>
          <a:p>
            <a:pPr>
              <a:spcAft>
                <a:spcPts val="1000"/>
              </a:spcAft>
            </a:pPr>
            <a:r>
              <a:rPr sz="1800" b="0">
                <a:solidFill>
                  <a:srgbClr val="161B26"/>
                </a:solidFill>
                <a:latin typeface="Arial"/>
              </a:rPr>
              <a:t>•  App 2 Stack</a:t>
            </a:r>
          </a:p>
          <a:p>
            <a:pPr>
              <a:spcAft>
                <a:spcPts val="1000"/>
              </a:spcAft>
            </a:pPr>
            <a:r>
              <a:rPr sz="1800" b="0">
                <a:solidFill>
                  <a:srgbClr val="161B26"/>
                </a:solidFill>
                <a:latin typeface="Arial"/>
              </a:rPr>
              <a:t>•  RDS Stack</a:t>
            </a:r>
          </a:p>
          <a:p>
            <a:pPr>
              <a:spcAft>
                <a:spcPts val="1000"/>
              </a:spcAft>
            </a:pPr>
            <a:r>
              <a:rPr sz="1800" b="0">
                <a:solidFill>
                  <a:srgbClr val="161B26"/>
                </a:solidFill>
                <a:latin typeface="Arial"/>
              </a:rPr>
              <a:t>•  ASG Stack</a:t>
            </a:r>
          </a:p>
          <a:p>
            <a:pPr>
              <a:spcAft>
                <a:spcPts val="1000"/>
              </a:spcAft>
            </a:pPr>
            <a:r>
              <a:rPr sz="1800" b="0">
                <a:solidFill>
                  <a:srgbClr val="161B26"/>
                </a:solidFill>
                <a:latin typeface="Arial"/>
              </a:rPr>
              <a:t>•  ELB Stack</a:t>
            </a:r>
          </a:p>
          <a:p>
            <a:pPr>
              <a:spcAft>
                <a:spcPts val="1000"/>
              </a:spcAft>
            </a:pPr>
            <a:r>
              <a:rPr sz="1800" b="0">
                <a:solidFill>
                  <a:srgbClr val="161B26"/>
                </a:solidFill>
                <a:latin typeface="Arial"/>
              </a:rPr>
              <a:t>•  App 1 Stack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DependsOn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Specify that the creation of a specific resource follows another</a:t>
            </a:r>
          </a:p>
          <a:p>
            <a:pPr>
              <a:spcAft>
                <a:spcPts val="1000"/>
              </a:spcAft>
            </a:pPr>
            <a:r>
              <a:rPr sz="2000" b="0">
                <a:solidFill>
                  <a:srgbClr val="161B26"/>
                </a:solidFill>
                <a:latin typeface="Arial"/>
              </a:rPr>
              <a:t>•  When added to a resource, that resource is created only after the creation of the resource specified in the DependsOn attribute</a:t>
            </a:r>
          </a:p>
          <a:p>
            <a:pPr>
              <a:spcAft>
                <a:spcPts val="1000"/>
              </a:spcAft>
            </a:pPr>
            <a:r>
              <a:rPr sz="2000" b="0">
                <a:solidFill>
                  <a:srgbClr val="161B26"/>
                </a:solidFill>
                <a:latin typeface="Arial"/>
              </a:rPr>
              <a:t>•  Applied automatically when using !Ref and</a:t>
            </a:r>
          </a:p>
          <a:p>
            <a:pPr>
              <a:spcAft>
                <a:spcPts val="1000"/>
              </a:spcAft>
            </a:pPr>
            <a:r>
              <a:rPr sz="2000" b="0">
                <a:solidFill>
                  <a:srgbClr val="161B26"/>
                </a:solidFill>
                <a:latin typeface="Arial"/>
              </a:rPr>
              <a:t>•  !GetAtt</a:t>
            </a:r>
          </a:p>
          <a:p>
            <a:pPr>
              <a:spcAft>
                <a:spcPts val="1000"/>
              </a:spcAft>
            </a:pPr>
            <a:r>
              <a:rPr sz="2000" b="0">
                <a:solidFill>
                  <a:srgbClr val="161B26"/>
                </a:solidFill>
                <a:latin typeface="Arial"/>
              </a:rPr>
              <a:t>•  Use with any resource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update, or delete stacks across</a:t>
            </a:r>
          </a:p>
          <a:p>
            <a:pPr>
              <a:spcAft>
                <a:spcPts val="1000"/>
              </a:spcAft>
            </a:pPr>
            <a:r>
              <a:rPr sz="1800" b="0">
                <a:solidFill>
                  <a:srgbClr val="161B26"/>
                </a:solidFill>
                <a:latin typeface="Arial"/>
              </a:rPr>
              <a:t>•  multiple accounts and regions with a single operation/template</a:t>
            </a:r>
          </a:p>
          <a:p>
            <a:pPr>
              <a:spcAft>
                <a:spcPts val="1000"/>
              </a:spcAft>
            </a:pPr>
            <a:r>
              <a:rPr sz="1800" b="0">
                <a:solidFill>
                  <a:srgbClr val="161B26"/>
                </a:solidFill>
                <a:latin typeface="Arial"/>
              </a:rPr>
              <a:t>•  Administrator account to create StackSets</a:t>
            </a:r>
          </a:p>
          <a:p>
            <a:pPr>
              <a:spcAft>
                <a:spcPts val="1000"/>
              </a:spcAft>
            </a:pPr>
            <a:r>
              <a:rPr sz="1800" b="0">
                <a:solidFill>
                  <a:srgbClr val="161B26"/>
                </a:solidFill>
                <a:latin typeface="Arial"/>
              </a:rPr>
              <a:t>•  Target accounts to create, update, delete stack instances from StackSets</a:t>
            </a:r>
          </a:p>
          <a:p>
            <a:pPr>
              <a:spcAft>
                <a:spcPts val="1000"/>
              </a:spcAft>
            </a:pPr>
            <a:r>
              <a:rPr sz="1800" b="0">
                <a:solidFill>
                  <a:srgbClr val="161B26"/>
                </a:solidFill>
                <a:latin typeface="Arial"/>
              </a:rPr>
              <a:t>•  When you update a stack</a:t>
            </a:r>
          </a:p>
          <a:p>
            <a:pPr>
              <a:spcAft>
                <a:spcPts val="1000"/>
              </a:spcAft>
            </a:pPr>
            <a:r>
              <a:rPr sz="1800" b="0">
                <a:solidFill>
                  <a:srgbClr val="161B26"/>
                </a:solidFill>
                <a:latin typeface="Arial"/>
              </a:rPr>
              <a:t>•  set, all associated stack instances are updated throughout all accounts and regions</a:t>
            </a:r>
          </a:p>
          <a:p>
            <a:pPr>
              <a:spcAft>
                <a:spcPts val="1000"/>
              </a:spcAft>
            </a:pPr>
            <a:r>
              <a:rPr sz="1800" b="0">
                <a:solidFill>
                  <a:srgbClr val="161B26"/>
                </a:solidFill>
                <a:latin typeface="Arial"/>
              </a:rPr>
              <a:t>•  Can be applied into all accounts of an AWS organizations</a:t>
            </a:r>
          </a:p>
          <a:p>
            <a:pPr>
              <a:spcAft>
                <a:spcPts val="1000"/>
              </a:spcAft>
            </a:pPr>
            <a:r>
              <a:rPr sz="1800" b="0">
                <a:solidFill>
                  <a:srgbClr val="161B26"/>
                </a:solidFill>
                <a:latin typeface="Arial"/>
              </a:rPr>
              <a:t>•  Administrator account</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Create StackSet</a:t>
            </a:r>
          </a:p>
          <a:p>
            <a:pPr>
              <a:spcAft>
                <a:spcPts val="1000"/>
              </a:spcAft>
            </a:pPr>
            <a:r>
              <a:rPr sz="1800" b="0">
                <a:solidFill>
                  <a:srgbClr val="161B26"/>
                </a:solidFill>
                <a:latin typeface="Arial"/>
              </a:rPr>
              <a:t>•  StackSet</a:t>
            </a:r>
          </a:p>
          <a:p>
            <a:pPr>
              <a:spcAft>
                <a:spcPts val="1000"/>
              </a:spcAft>
            </a:pPr>
            <a:r>
              <a:rPr sz="1800" b="0">
                <a:solidFill>
                  <a:srgbClr val="161B26"/>
                </a:solidFill>
                <a:latin typeface="Arial"/>
              </a:rPr>
              <a:t>•  Region 1</a:t>
            </a:r>
          </a:p>
          <a:p>
            <a:pPr>
              <a:spcAft>
                <a:spcPts val="1000"/>
              </a:spcAft>
            </a:pPr>
            <a:r>
              <a:rPr sz="1800" b="0">
                <a:solidFill>
                  <a:srgbClr val="161B26"/>
                </a:solidFill>
                <a:latin typeface="Arial"/>
              </a:rPr>
              <a:t>•  Target account A</a:t>
            </a:r>
          </a:p>
          <a:p>
            <a:pPr>
              <a:spcAft>
                <a:spcPts val="1000"/>
              </a:spcAft>
            </a:pPr>
            <a:r>
              <a:rPr sz="1800" b="0">
                <a:solidFill>
                  <a:srgbClr val="161B26"/>
                </a:solidFill>
                <a:latin typeface="Arial"/>
              </a:rPr>
              <a:t>•  Target account B</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Region 2</a:t>
            </a:r>
          </a:p>
          <a:p>
            <a:pPr>
              <a:spcAft>
                <a:spcPts val="1000"/>
              </a:spcAft>
            </a:pPr>
            <a:r>
              <a:rPr sz="1800" b="0">
                <a:solidFill>
                  <a:srgbClr val="161B26"/>
                </a:solidFill>
                <a:latin typeface="Arial"/>
              </a:rPr>
              <a:t>•  Target account A</a:t>
            </a:r>
          </a:p>
          <a:p>
            <a:pPr>
              <a:spcAft>
                <a:spcPts val="1000"/>
              </a:spcAft>
            </a:pPr>
            <a:r>
              <a:rPr sz="1800" b="0">
                <a:solidFill>
                  <a:srgbClr val="161B26"/>
                </a:solidFill>
                <a:latin typeface="Arial"/>
              </a:rPr>
              <a:t>•  Target account C</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CloudFormation - StackSets Permission Models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Self-managed Permissions</a:t>
            </a:r>
          </a:p>
          <a:p>
            <a:pPr>
              <a:spcAft>
                <a:spcPts val="1000"/>
              </a:spcAft>
            </a:pPr>
            <a:r>
              <a:rPr sz="1800" b="0">
                <a:solidFill>
                  <a:srgbClr val="161B26"/>
                </a:solidFill>
                <a:latin typeface="Arial"/>
              </a:rPr>
              <a:t>•  Create the IAM roles (with established trusted relationship) in both administrator and target accounts</a:t>
            </a:r>
          </a:p>
          <a:p>
            <a:pPr>
              <a:spcAft>
                <a:spcPts val="1000"/>
              </a:spcAft>
            </a:pPr>
            <a:r>
              <a:rPr sz="1800" b="0">
                <a:solidFill>
                  <a:srgbClr val="161B26"/>
                </a:solidFill>
                <a:latin typeface="Arial"/>
              </a:rPr>
              <a:t>•  Deploy to any target account in which you have permissions to create IAM role</a:t>
            </a:r>
          </a:p>
          <a:p>
            <a:pPr>
              <a:spcAft>
                <a:spcPts val="1000"/>
              </a:spcAft>
            </a:pPr>
            <a:r>
              <a:rPr sz="1800" b="0">
                <a:solidFill>
                  <a:srgbClr val="161B26"/>
                </a:solidFill>
                <a:latin typeface="Arial"/>
              </a:rPr>
              <a:t>•  Service-managed Permissions</a:t>
            </a:r>
          </a:p>
          <a:p>
            <a:pPr>
              <a:spcAft>
                <a:spcPts val="1000"/>
              </a:spcAft>
            </a:pPr>
            <a:r>
              <a:rPr sz="1800" b="0">
                <a:solidFill>
                  <a:srgbClr val="161B26"/>
                </a:solidFill>
                <a:latin typeface="Arial"/>
              </a:rPr>
              <a:t>•  Deploy to accounts managed by AWS Organizations</a:t>
            </a:r>
          </a:p>
          <a:p>
            <a:pPr>
              <a:spcAft>
                <a:spcPts val="1000"/>
              </a:spcAft>
            </a:pPr>
            <a:r>
              <a:rPr sz="1800" b="0">
                <a:solidFill>
                  <a:srgbClr val="161B26"/>
                </a:solidFill>
                <a:latin typeface="Arial"/>
              </a:rPr>
              <a:t>•  StackSets create the IAM roles on your behalf (Enable trusted access with AWS Organizations)</a:t>
            </a:r>
          </a:p>
          <a:p>
            <a:pPr>
              <a:spcAft>
                <a:spcPts val="1000"/>
              </a:spcAft>
            </a:pPr>
            <a:r>
              <a:rPr sz="1800" b="0">
                <a:solidFill>
                  <a:srgbClr val="161B26"/>
                </a:solidFill>
                <a:latin typeface="Arial"/>
              </a:rPr>
              <a:t>•  Must enable all features in AWS Organizations</a:t>
            </a:r>
          </a:p>
          <a:p>
            <a:pPr>
              <a:spcAft>
                <a:spcPts val="1000"/>
              </a:spcAft>
            </a:pPr>
            <a:r>
              <a:rPr sz="1800" b="0">
                <a:solidFill>
                  <a:srgbClr val="161B26"/>
                </a:solidFill>
                <a:latin typeface="Arial"/>
              </a:rPr>
              <a:t>•  Ability to deploy to accounts added to your organization in the future (Automatic Deployments)</a:t>
            </a:r>
          </a:p>
          <a:p>
            <a:pPr>
              <a:spcAft>
                <a:spcPts val="1000"/>
              </a:spcAft>
            </a:pPr>
            <a:r>
              <a:rPr sz="1800" b="0">
                <a:solidFill>
                  <a:srgbClr val="161B26"/>
                </a:solidFill>
                <a:latin typeface="Arial"/>
              </a:rPr>
              <a:t>•  Administrator account</a:t>
            </a:r>
          </a:p>
          <a:p>
            <a:pPr>
              <a:spcAft>
                <a:spcPts val="1000"/>
              </a:spcAft>
            </a:pPr>
            <a:r>
              <a:rPr sz="1800" b="0">
                <a:solidFill>
                  <a:srgbClr val="161B26"/>
                </a:solidFill>
                <a:latin typeface="Arial"/>
              </a:rPr>
              <a:t>•  Target accounts</a:t>
            </a:r>
          </a:p>
          <a:p>
            <a:pPr>
              <a:spcAft>
                <a:spcPts val="1000"/>
              </a:spcAft>
            </a:pPr>
            <a:r>
              <a:rPr sz="1800" b="0">
                <a:solidFill>
                  <a:srgbClr val="161B26"/>
                </a:solidFill>
                <a:latin typeface="Arial"/>
              </a:rPr>
              <a:t>•  AWSCloudFormagonStackSetAdministrationRole</a:t>
            </a:r>
          </a:p>
          <a:p>
            <a:pPr>
              <a:spcAft>
                <a:spcPts val="1000"/>
              </a:spcAft>
            </a:pPr>
            <a:r>
              <a:rPr sz="1800" b="0">
                <a:solidFill>
                  <a:srgbClr val="161B26"/>
                </a:solidFill>
                <a:latin typeface="Arial"/>
              </a:rPr>
              <a:t>•  AWSCloudFormationStackSetExecutionRole</a:t>
            </a:r>
          </a:p>
          <a:p>
            <a:pPr>
              <a:spcAft>
                <a:spcPts val="1000"/>
              </a:spcAft>
            </a:pPr>
            <a:r>
              <a:rPr sz="1800" b="0">
                <a:solidFill>
                  <a:srgbClr val="161B26"/>
                </a:solidFill>
                <a:latin typeface="Arial"/>
              </a:rPr>
              <a:t>•  Trust relationship</a:t>
            </a:r>
          </a:p>
          <a:p>
            <a:pPr>
              <a:spcAft>
                <a:spcPts val="1000"/>
              </a:spcAft>
            </a:pPr>
            <a:r>
              <a:rPr sz="1800" b="0">
                <a:solidFill>
                  <a:srgbClr val="161B26"/>
                </a:solidFill>
                <a:latin typeface="Arial"/>
              </a:rPr>
              <a:t>•  AWS Organizations</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Target accounts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StackSets with 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Ability to automatically deploy Stack instances to new Accounts in an Organization</a:t>
            </a:r>
          </a:p>
          <a:p>
            <a:pPr>
              <a:spcAft>
                <a:spcPts val="1000"/>
              </a:spcAft>
            </a:pPr>
            <a:r>
              <a:rPr sz="2000" b="0">
                <a:solidFill>
                  <a:srgbClr val="161B26"/>
                </a:solidFill>
                <a:latin typeface="Arial"/>
              </a:rPr>
              <a:t>•  Can delegate StackSets administration to member accounts in AWS Organization</a:t>
            </a:r>
          </a:p>
          <a:p>
            <a:pPr>
              <a:spcAft>
                <a:spcPts val="1000"/>
              </a:spcAft>
            </a:pPr>
            <a:r>
              <a:rPr sz="2000" b="0">
                <a:solidFill>
                  <a:srgbClr val="161B26"/>
                </a:solidFill>
                <a:latin typeface="Arial"/>
              </a:rPr>
              <a:t>•  Trusted access with AWS Organizations must be enabled before delegated administrators can deploy to accounts managed by Organizations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StackSets with 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OU (Prod)</a:t>
            </a:r>
          </a:p>
          <a:p>
            <a:pPr>
              <a:spcAft>
                <a:spcPts val="1000"/>
              </a:spcAft>
            </a:pPr>
            <a:r>
              <a:rPr sz="1800" b="0">
                <a:solidFill>
                  <a:srgbClr val="161B26"/>
                </a:solidFill>
                <a:latin typeface="Arial"/>
              </a:rPr>
              <a:t>•  Member Account - A</a:t>
            </a:r>
          </a:p>
          <a:p>
            <a:pPr>
              <a:spcAft>
                <a:spcPts val="1000"/>
              </a:spcAft>
            </a:pPr>
            <a:r>
              <a:rPr sz="1800" b="0">
                <a:solidFill>
                  <a:srgbClr val="161B26"/>
                </a:solidFill>
                <a:latin typeface="Arial"/>
              </a:rPr>
              <a:t>•  Member Account - B</a:t>
            </a:r>
          </a:p>
          <a:p>
            <a:pPr>
              <a:spcAft>
                <a:spcPts val="1000"/>
              </a:spcAft>
            </a:pPr>
            <a:r>
              <a:rPr sz="1800" b="0">
                <a:solidFill>
                  <a:srgbClr val="161B26"/>
                </a:solidFill>
                <a:latin typeface="Arial"/>
              </a:rPr>
              <a:t>•  OU (Dev)</a:t>
            </a:r>
          </a:p>
          <a:p>
            <a:pPr>
              <a:spcAft>
                <a:spcPts val="1000"/>
              </a:spcAft>
            </a:pPr>
            <a:r>
              <a:rPr sz="1800" b="0">
                <a:solidFill>
                  <a:srgbClr val="161B26"/>
                </a:solidFill>
                <a:latin typeface="Arial"/>
              </a:rPr>
              <a:t>•  Member Account - C</a:t>
            </a:r>
          </a:p>
          <a:p>
            <a:pPr>
              <a:spcAft>
                <a:spcPts val="1000"/>
              </a:spcAft>
            </a:pPr>
            <a:r>
              <a:rPr sz="1800" b="0">
                <a:solidFill>
                  <a:srgbClr val="161B26"/>
                </a:solidFill>
                <a:latin typeface="Arial"/>
              </a:rPr>
              <a:t>•  New Account</a:t>
            </a:r>
          </a:p>
          <a:p>
            <a:pPr>
              <a:spcAft>
                <a:spcPts val="1000"/>
              </a:spcAft>
            </a:pPr>
            <a:r>
              <a:rPr sz="1800" b="0">
                <a:solidFill>
                  <a:srgbClr val="161B26"/>
                </a:solidFill>
                <a:latin typeface="Arial"/>
              </a:rPr>
              <a:t>•  AWS Organization</a:t>
            </a:r>
          </a:p>
          <a:p>
            <a:pPr>
              <a:spcAft>
                <a:spcPts val="1000"/>
              </a:spcAft>
            </a:pPr>
            <a:r>
              <a:rPr sz="1800" b="0">
                <a:solidFill>
                  <a:srgbClr val="161B26"/>
                </a:solidFill>
                <a:latin typeface="Arial"/>
              </a:rPr>
              <a:t>•  (Delegated) Administrator Account</a:t>
            </a:r>
          </a:p>
          <a:p>
            <a:pPr>
              <a:spcAft>
                <a:spcPts val="1000"/>
              </a:spcAft>
            </a:pPr>
            <a:r>
              <a:rPr sz="1800" b="0">
                <a:solidFill>
                  <a:srgbClr val="161B26"/>
                </a:solidFill>
                <a:latin typeface="Arial"/>
              </a:rPr>
              <a:t>•  StackSet</a:t>
            </a:r>
          </a:p>
          <a:p>
            <a:pPr>
              <a:spcAft>
                <a:spcPts val="1000"/>
              </a:spcAft>
            </a:pPr>
            <a:r>
              <a:rPr sz="1800" b="0">
                <a:solidFill>
                  <a:srgbClr val="161B26"/>
                </a:solidFill>
                <a:latin typeface="Arial"/>
              </a:rPr>
              <a:t>•  manage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Hands-On: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We’ll use StackSets to enable AWS Config across AWS regions with a single click</a:t>
            </a:r>
          </a:p>
          <a:p>
            <a:pPr>
              <a:spcAft>
                <a:spcPts val="1000"/>
              </a:spcAft>
            </a:pPr>
            <a:r>
              <a:rPr sz="1800" b="0">
                <a:solidFill>
                  <a:srgbClr val="161B26"/>
                </a:solidFill>
                <a:latin typeface="Arial"/>
              </a:rPr>
              <a:t>•  Let’s see how this works!</a:t>
            </a:r>
          </a:p>
          <a:p>
            <a:pPr>
              <a:spcAft>
                <a:spcPts val="1000"/>
              </a:spcAft>
            </a:pPr>
            <a:r>
              <a:rPr sz="1800" b="0">
                <a:solidFill>
                  <a:srgbClr val="161B26"/>
                </a:solidFill>
                <a:latin typeface="Arial"/>
              </a:rPr>
              <a:t>•  Region 1</a:t>
            </a:r>
          </a:p>
          <a:p>
            <a:pPr>
              <a:spcAft>
                <a:spcPts val="1000"/>
              </a:spcAft>
            </a:pPr>
            <a:r>
              <a:rPr sz="1800" b="0">
                <a:solidFill>
                  <a:srgbClr val="161B26"/>
                </a:solidFill>
                <a:latin typeface="Arial"/>
              </a:rPr>
              <a:t>•  Administrator/Target account</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Create StackSet</a:t>
            </a:r>
          </a:p>
          <a:p>
            <a:pPr>
              <a:spcAft>
                <a:spcPts val="1000"/>
              </a:spcAft>
            </a:pPr>
            <a:r>
              <a:rPr sz="1800" b="0">
                <a:solidFill>
                  <a:srgbClr val="161B26"/>
                </a:solidFill>
                <a:latin typeface="Arial"/>
              </a:rPr>
              <a:t>•  StackSet</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Region 2</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Region 3</a:t>
            </a:r>
          </a:p>
          <a:p>
            <a:pPr>
              <a:spcAft>
                <a:spcPts val="1000"/>
              </a:spcAft>
            </a:pPr>
            <a:r>
              <a:rPr sz="1800" b="0">
                <a:solidFill>
                  <a:srgbClr val="161B26"/>
                </a:solidFill>
                <a:latin typeface="Arial"/>
              </a:rPr>
              <a:t>•  AWS Conﬁg</a:t>
            </a:r>
          </a:p>
          <a:p>
            <a:pPr>
              <a:spcAft>
                <a:spcPts val="1000"/>
              </a:spcAft>
            </a:pPr>
            <a:r>
              <a:rPr sz="1800" b="0">
                <a:solidFill>
                  <a:srgbClr val="161B26"/>
                </a:solidFill>
                <a:latin typeface="Arial"/>
              </a:rPr>
              <a:t>•  enable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DELETE_FAILED</a:t>
            </a:r>
          </a:p>
          <a:p>
            <a:pPr>
              <a:spcAft>
                <a:spcPts val="1000"/>
              </a:spcAft>
            </a:pPr>
            <a:r>
              <a:rPr sz="1800" b="0">
                <a:solidFill>
                  <a:srgbClr val="161B26"/>
                </a:solidFill>
                <a:latin typeface="Arial"/>
              </a:rPr>
              <a:t>•  Some resources must be emptied before deleting, such as S3 buckets</a:t>
            </a:r>
          </a:p>
          <a:p>
            <a:pPr>
              <a:spcAft>
                <a:spcPts val="1000"/>
              </a:spcAft>
            </a:pPr>
            <a:r>
              <a:rPr sz="1800" b="0">
                <a:solidFill>
                  <a:srgbClr val="161B26"/>
                </a:solidFill>
                <a:latin typeface="Arial"/>
              </a:rPr>
              <a:t>•  Use Custom Resources with Lambda functions to automate some actions</a:t>
            </a:r>
          </a:p>
          <a:p>
            <a:pPr>
              <a:spcAft>
                <a:spcPts val="1000"/>
              </a:spcAft>
            </a:pPr>
            <a:r>
              <a:rPr sz="1800" b="0">
                <a:solidFill>
                  <a:srgbClr val="161B26"/>
                </a:solidFill>
                <a:latin typeface="Arial"/>
              </a:rPr>
              <a:t>•  Security Groups cannot be deleted until all EC2 instances in the group are gone</a:t>
            </a:r>
          </a:p>
          <a:p>
            <a:pPr>
              <a:spcAft>
                <a:spcPts val="1000"/>
              </a:spcAft>
            </a:pPr>
            <a:r>
              <a:rPr sz="1800" b="0">
                <a:solidFill>
                  <a:srgbClr val="161B26"/>
                </a:solidFill>
                <a:latin typeface="Arial"/>
              </a:rPr>
              <a:t>•  Think about using DeletionPolicy=Retain to skip deletions</a:t>
            </a:r>
          </a:p>
          <a:p>
            <a:pPr>
              <a:spcAft>
                <a:spcPts val="1000"/>
              </a:spcAft>
            </a:pPr>
            <a:r>
              <a:rPr sz="1800" b="0">
                <a:solidFill>
                  <a:srgbClr val="161B26"/>
                </a:solidFill>
                <a:latin typeface="Arial"/>
              </a:rPr>
              <a:t>•  UPDATE_ROLLBACK_FAILED</a:t>
            </a:r>
          </a:p>
          <a:p>
            <a:pPr>
              <a:spcAft>
                <a:spcPts val="1000"/>
              </a:spcAft>
            </a:pPr>
            <a:r>
              <a:rPr sz="1800" b="0">
                <a:solidFill>
                  <a:srgbClr val="161B26"/>
                </a:solidFill>
                <a:latin typeface="Arial"/>
              </a:rPr>
              <a:t>•  Can be caused by resources changed outside of CloudFormation, insufficient permissions, Auto Scaling Group that doesn’t receive enough signals…</a:t>
            </a:r>
          </a:p>
          <a:p>
            <a:pPr>
              <a:spcAft>
                <a:spcPts val="1000"/>
              </a:spcAft>
            </a:pPr>
            <a:r>
              <a:rPr sz="1800" b="0">
                <a:solidFill>
                  <a:srgbClr val="161B26"/>
                </a:solidFill>
                <a:latin typeface="Arial"/>
              </a:rPr>
              <a:t>•  Manually fix the error and then ContinueUpdateRollback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Stack Set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stack operation failed, and the stack instance status is OUTDATED.</a:t>
            </a:r>
          </a:p>
          <a:p>
            <a:pPr>
              <a:spcAft>
                <a:spcPts val="1000"/>
              </a:spcAft>
            </a:pPr>
            <a:r>
              <a:rPr sz="2000" b="0">
                <a:solidFill>
                  <a:srgbClr val="161B26"/>
                </a:solidFill>
                <a:latin typeface="Arial"/>
              </a:rPr>
              <a:t>•  Insufficient permissions in a target account for creating resources that are specified in your template.</a:t>
            </a:r>
          </a:p>
          <a:p>
            <a:pPr>
              <a:spcAft>
                <a:spcPts val="1000"/>
              </a:spcAft>
            </a:pPr>
            <a:r>
              <a:rPr sz="2000" b="0">
                <a:solidFill>
                  <a:srgbClr val="161B26"/>
                </a:solidFill>
                <a:latin typeface="Arial"/>
              </a:rPr>
              <a:t>•  The template could be trying to create global resources that must be unique but aren't, such as S3 buckets</a:t>
            </a:r>
          </a:p>
          <a:p>
            <a:pPr>
              <a:spcAft>
                <a:spcPts val="1000"/>
              </a:spcAft>
            </a:pPr>
            <a:r>
              <a:rPr sz="2000" b="0">
                <a:solidFill>
                  <a:srgbClr val="161B26"/>
                </a:solidFill>
                <a:latin typeface="Arial"/>
              </a:rPr>
              <a:t>•  The administrator account does not have a trust relationship with the target account</a:t>
            </a:r>
          </a:p>
          <a:p>
            <a:pPr>
              <a:spcAft>
                <a:spcPts val="1000"/>
              </a:spcAft>
            </a:pPr>
            <a:r>
              <a:rPr sz="2000" b="0">
                <a:solidFill>
                  <a:srgbClr val="161B26"/>
                </a:solidFill>
                <a:latin typeface="Arial"/>
              </a:rPr>
              <a:t>•  Reached a limit or a quota in the target account (too many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AWS LAMBDA</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It’s a Serverless world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0769" y="1801368"/>
            <a:ext cx="85199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89_0.png"/>
          <p:cNvPicPr>
            <a:picLocks noChangeAspect="1"/>
          </p:cNvPicPr>
          <p:nvPr/>
        </p:nvPicPr>
        <p:blipFill>
          <a:blip r:embed="rId2"/>
          <a:stretch>
            <a:fillRect/>
          </a:stretch>
        </p:blipFill>
        <p:spPr>
          <a:xfrm>
            <a:off x="1848201" y="1828800"/>
            <a:ext cx="846511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90_0.jpg"/>
          <p:cNvPicPr>
            <a:picLocks noChangeAspect="1"/>
          </p:cNvPicPr>
          <p:nvPr/>
        </p:nvPicPr>
        <p:blipFill>
          <a:blip r:embed="rId2"/>
          <a:stretch>
            <a:fillRect/>
          </a:stretch>
        </p:blipFill>
        <p:spPr>
          <a:xfrm>
            <a:off x="2098040" y="1828800"/>
            <a:ext cx="796544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91_0.jpg"/>
          <p:cNvPicPr>
            <a:picLocks noChangeAspect="1"/>
          </p:cNvPicPr>
          <p:nvPr/>
        </p:nvPicPr>
        <p:blipFill>
          <a:blip r:embed="rId2"/>
          <a:stretch>
            <a:fillRect/>
          </a:stretch>
        </p:blipFill>
        <p:spPr>
          <a:xfrm>
            <a:off x="2098040" y="1828800"/>
            <a:ext cx="796544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Servers in the Cloud</a:t>
            </a:r>
          </a:p>
          <a:p>
            <a:pPr>
              <a:spcAft>
                <a:spcPts val="1000"/>
              </a:spcAft>
            </a:pPr>
            <a:r>
              <a:rPr sz="1800" b="0">
                <a:solidFill>
                  <a:srgbClr val="161B26"/>
                </a:solidFill>
                <a:latin typeface="Arial"/>
              </a:rPr>
              <a:t>•  Limited by RAM and CPU</a:t>
            </a:r>
          </a:p>
          <a:p>
            <a:pPr>
              <a:spcAft>
                <a:spcPts val="1000"/>
              </a:spcAft>
            </a:pPr>
            <a:r>
              <a:rPr sz="1800" b="0">
                <a:solidFill>
                  <a:srgbClr val="161B26"/>
                </a:solidFill>
                <a:latin typeface="Arial"/>
              </a:rPr>
              <a:t>•  Continuously running</a:t>
            </a:r>
          </a:p>
          <a:p>
            <a:pPr>
              <a:spcAft>
                <a:spcPts val="1000"/>
              </a:spcAft>
            </a:pPr>
            <a:r>
              <a:rPr sz="1800" b="0">
                <a:solidFill>
                  <a:srgbClr val="161B26"/>
                </a:solidFill>
                <a:latin typeface="Arial"/>
              </a:rPr>
              <a:t>•  Scaling means intervention to add / remove servers</a:t>
            </a:r>
          </a:p>
          <a:p>
            <a:pPr>
              <a:spcAft>
                <a:spcPts val="1000"/>
              </a:spcAft>
            </a:pPr>
            <a:r>
              <a:rPr sz="1800" b="0">
                <a:solidFill>
                  <a:srgbClr val="161B26"/>
                </a:solidFill>
                <a:latin typeface="Arial"/>
              </a:rPr>
              <a:t>•  Amazon Lambda</a:t>
            </a:r>
          </a:p>
          <a:p>
            <a:pPr>
              <a:spcAft>
                <a:spcPts val="1000"/>
              </a:spcAft>
            </a:pPr>
            <a:r>
              <a:rPr sz="1800" b="0">
                <a:solidFill>
                  <a:srgbClr val="161B26"/>
                </a:solidFill>
                <a:latin typeface="Arial"/>
              </a:rPr>
              <a:t>•  Amazon EC2</a:t>
            </a:r>
          </a:p>
          <a:p>
            <a:pPr>
              <a:spcAft>
                <a:spcPts val="1000"/>
              </a:spcAft>
            </a:pPr>
            <a:r>
              <a:rPr sz="1800" b="0">
                <a:solidFill>
                  <a:srgbClr val="161B26"/>
                </a:solidFill>
                <a:latin typeface="Arial"/>
              </a:rPr>
              <a:t>•  Virtual functions – no servers to manage!</a:t>
            </a:r>
          </a:p>
          <a:p>
            <a:pPr>
              <a:spcAft>
                <a:spcPts val="1000"/>
              </a:spcAft>
            </a:pPr>
            <a:r>
              <a:rPr sz="1800" b="0">
                <a:solidFill>
                  <a:srgbClr val="161B26"/>
                </a:solidFill>
                <a:latin typeface="Arial"/>
              </a:rPr>
              <a:t>•  Limited by time - short executions</a:t>
            </a:r>
          </a:p>
          <a:p>
            <a:pPr>
              <a:spcAft>
                <a:spcPts val="1000"/>
              </a:spcAft>
            </a:pPr>
            <a:r>
              <a:rPr sz="1800" b="0">
                <a:solidFill>
                  <a:srgbClr val="161B26"/>
                </a:solidFill>
                <a:latin typeface="Arial"/>
              </a:rPr>
              <a:t>•  Run on-demand</a:t>
            </a:r>
          </a:p>
          <a:p>
            <a:pPr>
              <a:spcAft>
                <a:spcPts val="1000"/>
              </a:spcAft>
            </a:pPr>
            <a:r>
              <a:rPr sz="1800" b="0">
                <a:solidFill>
                  <a:srgbClr val="161B26"/>
                </a:solidFill>
                <a:latin typeface="Arial"/>
              </a:rPr>
              <a:t>•  Scaling is automated!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Pricing:</a:t>
            </a:r>
          </a:p>
          <a:p>
            <a:pPr>
              <a:spcAft>
                <a:spcPts val="1000"/>
              </a:spcAft>
            </a:pPr>
            <a:r>
              <a:rPr sz="1800" b="0">
                <a:solidFill>
                  <a:srgbClr val="161B26"/>
                </a:solidFill>
                <a:latin typeface="Arial"/>
              </a:rPr>
              <a:t>•  Pay per request and compute time</a:t>
            </a:r>
          </a:p>
          <a:p>
            <a:pPr>
              <a:spcAft>
                <a:spcPts val="1000"/>
              </a:spcAft>
            </a:pPr>
            <a:r>
              <a:rPr sz="1800" b="0">
                <a:solidFill>
                  <a:srgbClr val="161B26"/>
                </a:solidFill>
                <a:latin typeface="Arial"/>
              </a:rPr>
              <a:t>•  Free tier of 1,000,000 AWS Lambda requests and 400,000 GBs of compute time</a:t>
            </a:r>
          </a:p>
          <a:p>
            <a:pPr>
              <a:spcAft>
                <a:spcPts val="1000"/>
              </a:spcAft>
            </a:pPr>
            <a:r>
              <a:rPr sz="1800" b="0">
                <a:solidFill>
                  <a:srgbClr val="161B26"/>
                </a:solidFill>
                <a:latin typeface="Arial"/>
              </a:rPr>
              <a:t>•  Integrated with the whole AWS suite of services</a:t>
            </a:r>
          </a:p>
          <a:p>
            <a:pPr>
              <a:spcAft>
                <a:spcPts val="1000"/>
              </a:spcAft>
            </a:pPr>
            <a:r>
              <a:rPr sz="1800" b="0">
                <a:solidFill>
                  <a:srgbClr val="161B26"/>
                </a:solidFill>
                <a:latin typeface="Arial"/>
              </a:rPr>
              <a:t>•  Integrated with many programming languages</a:t>
            </a:r>
          </a:p>
          <a:p>
            <a:pPr>
              <a:spcAft>
                <a:spcPts val="1000"/>
              </a:spcAft>
            </a:pPr>
            <a:r>
              <a:rPr sz="1800" b="0">
                <a:solidFill>
                  <a:srgbClr val="161B26"/>
                </a:solidFill>
                <a:latin typeface="Arial"/>
              </a:rPr>
              <a:t>•  Easy monitoring through AWS CloudWatch</a:t>
            </a:r>
          </a:p>
          <a:p>
            <a:pPr>
              <a:spcAft>
                <a:spcPts val="1000"/>
              </a:spcAft>
            </a:pPr>
            <a:r>
              <a:rPr sz="1800" b="0">
                <a:solidFill>
                  <a:srgbClr val="161B26"/>
                </a:solidFill>
                <a:latin typeface="Arial"/>
              </a:rPr>
              <a:t>•  Easy to get more resources per functions (up to 10GB of RAM!)</a:t>
            </a:r>
          </a:p>
          <a:p>
            <a:pPr>
              <a:spcAft>
                <a:spcPts val="1000"/>
              </a:spcAft>
            </a:pPr>
            <a:r>
              <a:rPr sz="1800" b="0">
                <a:solidFill>
                  <a:srgbClr val="161B26"/>
                </a:solidFill>
                <a:latin typeface="Arial"/>
              </a:rPr>
              <a:t>•  Increasing RAM will also improve CPU and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language 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Node.js (JavaScript)</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Java</a:t>
            </a:r>
          </a:p>
          <a:p>
            <a:pPr>
              <a:spcAft>
                <a:spcPts val="1000"/>
              </a:spcAft>
            </a:pPr>
            <a:r>
              <a:rPr sz="1800" b="0">
                <a:solidFill>
                  <a:srgbClr val="161B26"/>
                </a:solidFill>
                <a:latin typeface="Arial"/>
              </a:rPr>
              <a:t>•  C# (.NET Core) / Powershell</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Custom Runtime API (community supported, example Rust or Golang)</a:t>
            </a:r>
          </a:p>
          <a:p>
            <a:pPr>
              <a:spcAft>
                <a:spcPts val="1000"/>
              </a:spcAft>
            </a:pPr>
            <a:r>
              <a:rPr sz="1800" b="0">
                <a:solidFill>
                  <a:srgbClr val="161B26"/>
                </a:solidFill>
                <a:latin typeface="Arial"/>
              </a:rPr>
              <a:t>•  Lambda Container Image</a:t>
            </a:r>
          </a:p>
          <a:p>
            <a:pPr>
              <a:spcAft>
                <a:spcPts val="1000"/>
              </a:spcAft>
            </a:pPr>
            <a:r>
              <a:rPr sz="1800" b="0">
                <a:solidFill>
                  <a:srgbClr val="161B26"/>
                </a:solidFill>
                <a:latin typeface="Arial"/>
              </a:rPr>
              <a:t>•  The container image must implement the Lambda Runtime API</a:t>
            </a:r>
          </a:p>
          <a:p>
            <a:pPr>
              <a:spcAft>
                <a:spcPts val="1000"/>
              </a:spcAft>
            </a:pPr>
            <a:r>
              <a:rPr sz="1800" b="0">
                <a:solidFill>
                  <a:srgbClr val="161B26"/>
                </a:solidFill>
                <a:latin typeface="Arial"/>
              </a:rPr>
              <a:t>•  ECS / Fargate is preferred for running arbitrary Docker images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Integrations Main ones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Cognito</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Kinesis</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EventBridge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Thumbnail creation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New image in S3</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Creates a</a:t>
            </a:r>
          </a:p>
          <a:p>
            <a:pPr>
              <a:spcAft>
                <a:spcPts val="1000"/>
              </a:spcAft>
            </a:pPr>
            <a:r>
              <a:rPr sz="1800" b="0">
                <a:solidFill>
                  <a:srgbClr val="161B26"/>
                </a:solidFill>
                <a:latin typeface="Arial"/>
              </a:rPr>
              <a:t>•  Thumbnail</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push</a:t>
            </a:r>
          </a:p>
          <a:p>
            <a:pPr>
              <a:spcAft>
                <a:spcPts val="1000"/>
              </a:spcAft>
            </a:pPr>
            <a:r>
              <a:rPr sz="1800" b="0">
                <a:solidFill>
                  <a:srgbClr val="161B26"/>
                </a:solidFill>
                <a:latin typeface="Arial"/>
              </a:rPr>
              <a:t>•  New thumbnail in S3</a:t>
            </a:r>
          </a:p>
          <a:p>
            <a:pPr>
              <a:spcAft>
                <a:spcPts val="1000"/>
              </a:spcAft>
            </a:pPr>
            <a:r>
              <a:rPr sz="1800" b="0">
                <a:solidFill>
                  <a:srgbClr val="161B26"/>
                </a:solidFill>
                <a:latin typeface="Arial"/>
              </a:rPr>
              <a:t>•  Metadata in DynamoDB</a:t>
            </a:r>
          </a:p>
          <a:p>
            <a:pPr>
              <a:spcAft>
                <a:spcPts val="1000"/>
              </a:spcAft>
            </a:pPr>
            <a:r>
              <a:rPr sz="1800" b="0">
                <a:solidFill>
                  <a:srgbClr val="161B26"/>
                </a:solidFill>
                <a:latin typeface="Arial"/>
              </a:rPr>
              <a:t>•  push</a:t>
            </a:r>
          </a:p>
          <a:p>
            <a:pPr>
              <a:spcAft>
                <a:spcPts val="1000"/>
              </a:spcAft>
            </a:pPr>
            <a:r>
              <a:rPr sz="1800" b="0">
                <a:solidFill>
                  <a:srgbClr val="161B26"/>
                </a:solidFill>
                <a:latin typeface="Arial"/>
              </a:rPr>
              <a:t>•  Image name Image size Creation date etc…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CRON Job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Perform</a:t>
            </a:r>
          </a:p>
          <a:p>
            <a:pPr>
              <a:spcAft>
                <a:spcPts val="1000"/>
              </a:spcAft>
            </a:pPr>
            <a:r>
              <a:rPr sz="1800" b="0">
                <a:solidFill>
                  <a:srgbClr val="161B26"/>
                </a:solidFill>
                <a:latin typeface="Arial"/>
              </a:rPr>
              <a:t>•  a task</a:t>
            </a:r>
          </a:p>
          <a:p>
            <a:pPr>
              <a:spcAft>
                <a:spcPts val="1000"/>
              </a:spcAft>
            </a:pPr>
            <a:r>
              <a:rPr sz="1800" b="0">
                <a:solidFill>
                  <a:srgbClr val="161B26"/>
                </a:solidFill>
                <a:latin typeface="Arial"/>
              </a:rPr>
              <a:t>•  Trigger Every 1 hour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Pricing: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find overall pricing information here: 	https://aws.amazon.com/lambda/pricing/</a:t>
            </a:r>
          </a:p>
          <a:p>
            <a:pPr>
              <a:spcAft>
                <a:spcPts val="1000"/>
              </a:spcAft>
            </a:pPr>
            <a:r>
              <a:rPr sz="1800" b="0">
                <a:solidFill>
                  <a:srgbClr val="161B26"/>
                </a:solidFill>
                <a:latin typeface="Arial"/>
              </a:rPr>
              <a:t>•  Pay per calls:</a:t>
            </a:r>
          </a:p>
          <a:p>
            <a:pPr>
              <a:spcAft>
                <a:spcPts val="1000"/>
              </a:spcAft>
            </a:pPr>
            <a:r>
              <a:rPr sz="1800" b="0">
                <a:solidFill>
                  <a:srgbClr val="161B26"/>
                </a:solidFill>
                <a:latin typeface="Arial"/>
              </a:rPr>
              <a:t>•  First 1,000,000 requests are free</a:t>
            </a:r>
          </a:p>
          <a:p>
            <a:pPr>
              <a:spcAft>
                <a:spcPts val="1000"/>
              </a:spcAft>
            </a:pPr>
            <a:r>
              <a:rPr sz="1800" b="0">
                <a:solidFill>
                  <a:srgbClr val="161B26"/>
                </a:solidFill>
                <a:latin typeface="Arial"/>
              </a:rPr>
              <a:t>•  $0.20 per 1 million requests thereafter ($0.0000002 per request)</a:t>
            </a:r>
          </a:p>
          <a:p>
            <a:pPr>
              <a:spcAft>
                <a:spcPts val="1000"/>
              </a:spcAft>
            </a:pPr>
            <a:r>
              <a:rPr sz="1800" b="0">
                <a:solidFill>
                  <a:srgbClr val="161B26"/>
                </a:solidFill>
                <a:latin typeface="Arial"/>
              </a:rPr>
              <a:t>•  Pay per duration: (in increment of 1 ms)</a:t>
            </a:r>
          </a:p>
          <a:p>
            <a:pPr>
              <a:spcAft>
                <a:spcPts val="1000"/>
              </a:spcAft>
            </a:pPr>
            <a:r>
              <a:rPr sz="1800" b="0">
                <a:solidFill>
                  <a:srgbClr val="161B26"/>
                </a:solidFill>
                <a:latin typeface="Arial"/>
              </a:rPr>
              <a:t>•  400,000 GB-seconds of compute time per month for FREE</a:t>
            </a:r>
          </a:p>
          <a:p>
            <a:pPr>
              <a:spcAft>
                <a:spcPts val="1000"/>
              </a:spcAft>
            </a:pPr>
            <a:r>
              <a:rPr sz="1800" b="0">
                <a:solidFill>
                  <a:srgbClr val="161B26"/>
                </a:solidFill>
                <a:latin typeface="Arial"/>
              </a:rPr>
              <a:t>•  == 400,000 seconds if function is 1GB RAM</a:t>
            </a:r>
          </a:p>
          <a:p>
            <a:pPr>
              <a:spcAft>
                <a:spcPts val="1000"/>
              </a:spcAft>
            </a:pPr>
            <a:r>
              <a:rPr sz="1800" b="0">
                <a:solidFill>
                  <a:srgbClr val="161B26"/>
                </a:solidFill>
                <a:latin typeface="Arial"/>
              </a:rPr>
              <a:t>•  == 3,200,000 seconds if function is 128 MB RAM</a:t>
            </a:r>
          </a:p>
          <a:p>
            <a:pPr>
              <a:spcAft>
                <a:spcPts val="1000"/>
              </a:spcAft>
            </a:pPr>
            <a:r>
              <a:rPr sz="1800" b="0">
                <a:solidFill>
                  <a:srgbClr val="161B26"/>
                </a:solidFill>
                <a:latin typeface="Arial"/>
              </a:rPr>
              <a:t>•  After that $1.00 for 600,000 GB-seconds</a:t>
            </a:r>
          </a:p>
          <a:p>
            <a:pPr>
              <a:spcAft>
                <a:spcPts val="1000"/>
              </a:spcAft>
            </a:pPr>
            <a:r>
              <a:rPr sz="1800" b="0">
                <a:solidFill>
                  <a:srgbClr val="161B26"/>
                </a:solidFill>
                <a:latin typeface="Arial"/>
              </a:rPr>
              <a:t>•  It is usually very cheap to run AWS Lambda so it’s very popular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a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0769" y="1801368"/>
            <a:ext cx="85199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99_0.png"/>
          <p:cNvPicPr>
            <a:picLocks noChangeAspect="1"/>
          </p:cNvPicPr>
          <p:nvPr/>
        </p:nvPicPr>
        <p:blipFill>
          <a:blip r:embed="rId2"/>
          <a:stretch>
            <a:fillRect/>
          </a:stretch>
        </p:blipFill>
        <p:spPr>
          <a:xfrm>
            <a:off x="1848201" y="1828800"/>
            <a:ext cx="846511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Events /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CRON or Rate EventBridge Rule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Perform</a:t>
            </a:r>
          </a:p>
          <a:p>
            <a:pPr>
              <a:spcAft>
                <a:spcPts val="1000"/>
              </a:spcAft>
            </a:pPr>
            <a:r>
              <a:rPr sz="1800" b="0">
                <a:solidFill>
                  <a:srgbClr val="161B26"/>
                </a:solidFill>
                <a:latin typeface="Arial"/>
              </a:rPr>
              <a:t>•  a task</a:t>
            </a:r>
          </a:p>
          <a:p>
            <a:pPr>
              <a:spcAft>
                <a:spcPts val="1000"/>
              </a:spcAft>
            </a:pPr>
            <a:r>
              <a:rPr sz="1800" b="0">
                <a:solidFill>
                  <a:srgbClr val="161B26"/>
                </a:solidFill>
                <a:latin typeface="Arial"/>
              </a:rPr>
              <a:t>•  Trigger Every 1 hour</a:t>
            </a:r>
          </a:p>
          <a:p>
            <a:pPr>
              <a:spcAft>
                <a:spcPts val="1000"/>
              </a:spcAft>
            </a:pPr>
            <a:r>
              <a:rPr sz="1800" b="0">
                <a:solidFill>
                  <a:srgbClr val="161B26"/>
                </a:solidFill>
                <a:latin typeface="Arial"/>
              </a:rPr>
              <a:t>•  CodePipeline EventBridge Rule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Perform</a:t>
            </a:r>
          </a:p>
          <a:p>
            <a:pPr>
              <a:spcAft>
                <a:spcPts val="1000"/>
              </a:spcAft>
            </a:pPr>
            <a:r>
              <a:rPr sz="1800" b="0">
                <a:solidFill>
                  <a:srgbClr val="161B26"/>
                </a:solidFill>
                <a:latin typeface="Arial"/>
              </a:rPr>
              <a:t>•  a task</a:t>
            </a:r>
          </a:p>
          <a:p>
            <a:pPr>
              <a:spcAft>
                <a:spcPts val="1000"/>
              </a:spcAft>
            </a:pPr>
            <a:r>
              <a:rPr sz="1800" b="0">
                <a:solidFill>
                  <a:srgbClr val="161B26"/>
                </a:solidFill>
                <a:latin typeface="Arial"/>
              </a:rPr>
              <a:t>•  Trigger on</a:t>
            </a:r>
          </a:p>
          <a:p>
            <a:pPr>
              <a:spcAft>
                <a:spcPts val="1000"/>
              </a:spcAft>
            </a:pPr>
            <a:r>
              <a:rPr sz="1800" b="0">
                <a:solidFill>
                  <a:srgbClr val="161B26"/>
                </a:solidFill>
                <a:latin typeface="Arial"/>
              </a:rPr>
              <a:t>•  State Changes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Lambda Triggered by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3532" y="1801368"/>
            <a:ext cx="1009445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01_0.png"/>
          <p:cNvPicPr>
            <a:picLocks noChangeAspect="1"/>
          </p:cNvPicPr>
          <p:nvPr/>
        </p:nvPicPr>
        <p:blipFill>
          <a:blip r:embed="rId2"/>
          <a:stretch>
            <a:fillRect/>
          </a:stretch>
        </p:blipFill>
        <p:spPr>
          <a:xfrm>
            <a:off x="1060964" y="1828800"/>
            <a:ext cx="1003959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Events Notifications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S3:ObjectCreated, S3:ObjectRemoved,</a:t>
            </a:r>
          </a:p>
          <a:p>
            <a:pPr>
              <a:spcAft>
                <a:spcPts val="1000"/>
              </a:spcAft>
            </a:pPr>
            <a:r>
              <a:rPr sz="1800" b="0">
                <a:solidFill>
                  <a:srgbClr val="161B26"/>
                </a:solidFill>
                <a:latin typeface="Arial"/>
              </a:rPr>
              <a:t>•  S3:ObjectRestore, S3:Replication…</a:t>
            </a:r>
          </a:p>
          <a:p>
            <a:pPr>
              <a:spcAft>
                <a:spcPts val="1000"/>
              </a:spcAft>
            </a:pPr>
            <a:r>
              <a:rPr sz="1800" b="0">
                <a:solidFill>
                  <a:srgbClr val="161B26"/>
                </a:solidFill>
                <a:latin typeface="Arial"/>
              </a:rPr>
              <a:t>•  Object name filtering possible (*.jpg)</a:t>
            </a:r>
          </a:p>
          <a:p>
            <a:pPr>
              <a:spcAft>
                <a:spcPts val="1000"/>
              </a:spcAft>
            </a:pPr>
            <a:r>
              <a:rPr sz="1800" b="0">
                <a:solidFill>
                  <a:srgbClr val="161B26"/>
                </a:solidFill>
                <a:latin typeface="Arial"/>
              </a:rPr>
              <a:t>•  Use case: generate thumbnails of images uploaded to S3</a:t>
            </a:r>
          </a:p>
          <a:p>
            <a:pPr>
              <a:spcAft>
                <a:spcPts val="1000"/>
              </a:spcAft>
            </a:pPr>
            <a:r>
              <a:rPr sz="1800" b="0">
                <a:solidFill>
                  <a:srgbClr val="161B26"/>
                </a:solidFill>
                <a:latin typeface="Arial"/>
              </a:rPr>
              <a:t>•  S3 event notifications typically deliver events in seconds but can sometimes take a minute or longer</a:t>
            </a:r>
          </a:p>
          <a:p>
            <a:pPr>
              <a:spcAft>
                <a:spcPts val="1000"/>
              </a:spcAft>
            </a:pPr>
            <a:r>
              <a:rPr sz="1800" b="0">
                <a:solidFill>
                  <a:srgbClr val="161B26"/>
                </a:solidFill>
                <a:latin typeface="Arial"/>
              </a:rPr>
              <a:t>•  If two writes are made to a single non- versioned object at the same time, it is possible that only a single event notification will be sent</a:t>
            </a:r>
          </a:p>
          <a:p>
            <a:pPr>
              <a:spcAft>
                <a:spcPts val="1000"/>
              </a:spcAft>
            </a:pPr>
            <a:r>
              <a:rPr sz="1800" b="0">
                <a:solidFill>
                  <a:srgbClr val="161B26"/>
                </a:solidFill>
                <a:latin typeface="Arial"/>
              </a:rPr>
              <a:t>•  If you want to ensure that an event notification is sent for every successful write, you can enable versioning on your bucket.</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DLQ</a:t>
            </a:r>
          </a:p>
          <a:p>
            <a:pPr>
              <a:spcAft>
                <a:spcPts val="1000"/>
              </a:spcAft>
            </a:pPr>
            <a:r>
              <a:rPr sz="1800" b="0">
                <a:solidFill>
                  <a:srgbClr val="161B26"/>
                </a:solidFill>
                <a:latin typeface="Arial"/>
              </a:rPr>
              <a:t>•  async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Event Notification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74064" y="1801368"/>
            <a:ext cx="96133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03_0.png"/>
          <p:cNvPicPr>
            <a:picLocks noChangeAspect="1"/>
          </p:cNvPicPr>
          <p:nvPr/>
        </p:nvPicPr>
        <p:blipFill>
          <a:blip r:embed="rId2"/>
          <a:stretch>
            <a:fillRect/>
          </a:stretch>
        </p:blipFill>
        <p:spPr>
          <a:xfrm>
            <a:off x="1301496" y="1828800"/>
            <a:ext cx="955852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Simple S3 Event Pattern - Metadata Sync</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Table in RDS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New file event</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Update metadata table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DynamoDB Table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Lambda Triggered by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38262" y="1801368"/>
            <a:ext cx="92849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05_0.png"/>
          <p:cNvPicPr>
            <a:picLocks noChangeAspect="1"/>
          </p:cNvPicPr>
          <p:nvPr/>
        </p:nvPicPr>
        <p:blipFill>
          <a:blip r:embed="rId2"/>
          <a:stretch>
            <a:fillRect/>
          </a:stretch>
        </p:blipFill>
        <p:spPr>
          <a:xfrm>
            <a:off x="1465694" y="1828800"/>
            <a:ext cx="923013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Upload coffee.jpg to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Execution Role (IAM Role)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Grants the Lambda function permissions to AWS services / resources</a:t>
            </a:r>
          </a:p>
          <a:p>
            <a:pPr>
              <a:spcAft>
                <a:spcPts val="1000"/>
              </a:spcAft>
            </a:pPr>
            <a:r>
              <a:rPr sz="1800" b="0">
                <a:solidFill>
                  <a:srgbClr val="161B26"/>
                </a:solidFill>
                <a:latin typeface="Arial"/>
              </a:rPr>
              <a:t>•  Sample managed policies for Lambda:</a:t>
            </a:r>
          </a:p>
          <a:p>
            <a:pPr>
              <a:spcAft>
                <a:spcPts val="1000"/>
              </a:spcAft>
            </a:pPr>
            <a:r>
              <a:rPr sz="1800" b="0">
                <a:solidFill>
                  <a:srgbClr val="161B26"/>
                </a:solidFill>
                <a:latin typeface="Arial"/>
              </a:rPr>
              <a:t>•  AWSLambdaBasicExecutionRole - Upload logs to CloudWatch.</a:t>
            </a:r>
          </a:p>
          <a:p>
            <a:pPr>
              <a:spcAft>
                <a:spcPts val="1000"/>
              </a:spcAft>
            </a:pPr>
            <a:r>
              <a:rPr sz="1800" b="0">
                <a:solidFill>
                  <a:srgbClr val="161B26"/>
                </a:solidFill>
                <a:latin typeface="Arial"/>
              </a:rPr>
              <a:t>•  AWSLambdaKinesisExecutionRole - Read from Kinesis</a:t>
            </a:r>
          </a:p>
          <a:p>
            <a:pPr>
              <a:spcAft>
                <a:spcPts val="1000"/>
              </a:spcAft>
            </a:pPr>
            <a:r>
              <a:rPr sz="1800" b="0">
                <a:solidFill>
                  <a:srgbClr val="161B26"/>
                </a:solidFill>
                <a:latin typeface="Arial"/>
              </a:rPr>
              <a:t>•  AWSLambdaDynamoDBExecutionRole - Read from DynamoDB Streams</a:t>
            </a:r>
          </a:p>
          <a:p>
            <a:pPr>
              <a:spcAft>
                <a:spcPts val="1000"/>
              </a:spcAft>
            </a:pPr>
            <a:r>
              <a:rPr sz="1800" b="0">
                <a:solidFill>
                  <a:srgbClr val="161B26"/>
                </a:solidFill>
                <a:latin typeface="Arial"/>
              </a:rPr>
              <a:t>•  AWSLambdaSQSQueueExecutionRole - Read from SQS</a:t>
            </a:r>
          </a:p>
          <a:p>
            <a:pPr>
              <a:spcAft>
                <a:spcPts val="1000"/>
              </a:spcAft>
            </a:pPr>
            <a:r>
              <a:rPr sz="1800" b="0">
                <a:solidFill>
                  <a:srgbClr val="161B26"/>
                </a:solidFill>
                <a:latin typeface="Arial"/>
              </a:rPr>
              <a:t>•  AWSLambdaVPCAccessExecutionRole - Deploy Lambda function in VPC</a:t>
            </a:r>
          </a:p>
          <a:p>
            <a:pPr>
              <a:spcAft>
                <a:spcPts val="1000"/>
              </a:spcAft>
            </a:pPr>
            <a:r>
              <a:rPr sz="1800" b="0">
                <a:solidFill>
                  <a:srgbClr val="161B26"/>
                </a:solidFill>
                <a:latin typeface="Arial"/>
              </a:rPr>
              <a:t>•  AWSXRayDaemonWriteAccess - Upload trace data to X-Ray.</a:t>
            </a:r>
          </a:p>
          <a:p>
            <a:pPr>
              <a:spcAft>
                <a:spcPts val="1000"/>
              </a:spcAft>
            </a:pPr>
            <a:r>
              <a:rPr sz="1800" b="0">
                <a:solidFill>
                  <a:srgbClr val="161B26"/>
                </a:solidFill>
                <a:latin typeface="Arial"/>
              </a:rPr>
              <a:t>•  When you use an event source mapping to invoke your function, Lambda uses the execution role to read event data.</a:t>
            </a:r>
          </a:p>
          <a:p>
            <a:pPr>
              <a:spcAft>
                <a:spcPts val="1000"/>
              </a:spcAft>
            </a:pPr>
            <a:r>
              <a:rPr sz="1800" b="0">
                <a:solidFill>
                  <a:srgbClr val="161B26"/>
                </a:solidFill>
                <a:latin typeface="Arial"/>
              </a:rPr>
              <a:t>•  Best practice: create one Lambda Execution Role per function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Resource Based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 resource-based policies to give other accounts and AWS services permission to use your Lambda resources</a:t>
            </a:r>
          </a:p>
          <a:p>
            <a:pPr>
              <a:spcAft>
                <a:spcPts val="1000"/>
              </a:spcAft>
            </a:pPr>
            <a:r>
              <a:rPr sz="2000" b="0">
                <a:solidFill>
                  <a:srgbClr val="161B26"/>
                </a:solidFill>
                <a:latin typeface="Arial"/>
              </a:rPr>
              <a:t>•  Similar to S3 bucket policies for S3 bucket</a:t>
            </a:r>
          </a:p>
          <a:p>
            <a:pPr>
              <a:spcAft>
                <a:spcPts val="1000"/>
              </a:spcAft>
            </a:pPr>
            <a:r>
              <a:rPr sz="2000" b="0">
                <a:solidFill>
                  <a:srgbClr val="161B26"/>
                </a:solidFill>
                <a:latin typeface="Arial"/>
              </a:rPr>
              <a:t>•  An IAM principal can access Lambda:</a:t>
            </a:r>
          </a:p>
          <a:p>
            <a:pPr>
              <a:spcAft>
                <a:spcPts val="1000"/>
              </a:spcAft>
            </a:pPr>
            <a:r>
              <a:rPr sz="2000" b="0">
                <a:solidFill>
                  <a:srgbClr val="161B26"/>
                </a:solidFill>
                <a:latin typeface="Arial"/>
              </a:rPr>
              <a:t>•  if the IAM policy attached to the principal authorizes it (e.g. user access)</a:t>
            </a:r>
          </a:p>
          <a:p>
            <a:pPr>
              <a:spcAft>
                <a:spcPts val="1000"/>
              </a:spcAft>
            </a:pPr>
            <a:r>
              <a:rPr sz="2000" b="0">
                <a:solidFill>
                  <a:srgbClr val="161B26"/>
                </a:solidFill>
                <a:latin typeface="Arial"/>
              </a:rPr>
              <a:t>•  OR if the resource-based policy authorizes (e.g. service access)</a:t>
            </a:r>
          </a:p>
          <a:p>
            <a:pPr>
              <a:spcAft>
                <a:spcPts val="1000"/>
              </a:spcAft>
            </a:pPr>
            <a:r>
              <a:rPr sz="2000" b="0">
                <a:solidFill>
                  <a:srgbClr val="161B26"/>
                </a:solidFill>
                <a:latin typeface="Arial"/>
              </a:rPr>
              <a:t>•  When an AWS service like Amazon S3 calls your Lambda function, the resource-based policy gives it access.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Logging	&amp; Monitoring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AWS Lambda execution logs are stored in AWS CloudWatch Logs</a:t>
            </a:r>
          </a:p>
          <a:p>
            <a:pPr>
              <a:spcAft>
                <a:spcPts val="1000"/>
              </a:spcAft>
            </a:pPr>
            <a:r>
              <a:rPr sz="1800" b="0">
                <a:solidFill>
                  <a:srgbClr val="161B26"/>
                </a:solidFill>
                <a:latin typeface="Arial"/>
              </a:rPr>
              <a:t>•  Make sure your AWS Lambda function has an execution role with an IAM policy that authorizes writes to CloudWatch Logs</a:t>
            </a:r>
          </a:p>
          <a:p>
            <a:pPr>
              <a:spcAft>
                <a:spcPts val="1000"/>
              </a:spcAft>
            </a:pPr>
            <a:r>
              <a:rPr sz="1800" b="0">
                <a:solidFill>
                  <a:srgbClr val="161B26"/>
                </a:solidFill>
                <a:latin typeface="Arial"/>
              </a:rPr>
              <a:t>•  CloudWatch Metrics:</a:t>
            </a:r>
          </a:p>
          <a:p>
            <a:pPr>
              <a:spcAft>
                <a:spcPts val="1000"/>
              </a:spcAft>
            </a:pPr>
            <a:r>
              <a:rPr sz="1800" b="0">
                <a:solidFill>
                  <a:srgbClr val="161B26"/>
                </a:solidFill>
                <a:latin typeface="Arial"/>
              </a:rPr>
              <a:t>•  AWS Lambda metrics are displayed in AWS CloudWatch Metrics</a:t>
            </a:r>
          </a:p>
          <a:p>
            <a:pPr>
              <a:spcAft>
                <a:spcPts val="1000"/>
              </a:spcAft>
            </a:pPr>
            <a:r>
              <a:rPr sz="1800" b="0">
                <a:solidFill>
                  <a:srgbClr val="161B26"/>
                </a:solidFill>
                <a:latin typeface="Arial"/>
              </a:rPr>
              <a:t>•  Invocations, Durations, Concurrent Executions</a:t>
            </a:r>
          </a:p>
          <a:p>
            <a:pPr>
              <a:spcAft>
                <a:spcPts val="1000"/>
              </a:spcAft>
            </a:pPr>
            <a:r>
              <a:rPr sz="1800" b="0">
                <a:solidFill>
                  <a:srgbClr val="161B26"/>
                </a:solidFill>
                <a:latin typeface="Arial"/>
              </a:rPr>
              <a:t>•  Error count, Success Rates,Throttles</a:t>
            </a:r>
          </a:p>
          <a:p>
            <a:pPr>
              <a:spcAft>
                <a:spcPts val="1000"/>
              </a:spcAft>
            </a:pPr>
            <a:r>
              <a:rPr sz="1800" b="0">
                <a:solidFill>
                  <a:srgbClr val="161B26"/>
                </a:solidFill>
                <a:latin typeface="Arial"/>
              </a:rPr>
              <a:t>•  Async Delivery Failures</a:t>
            </a:r>
          </a:p>
          <a:p>
            <a:pPr>
              <a:spcAft>
                <a:spcPts val="1000"/>
              </a:spcAft>
            </a:pPr>
            <a:r>
              <a:rPr sz="1800" b="0">
                <a:solidFill>
                  <a:srgbClr val="161B26"/>
                </a:solidFill>
                <a:latin typeface="Arial"/>
              </a:rPr>
              <a:t>•  Iterator Age (Kinesis &amp; DynamoDB Streams)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Tracing	with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Enable in Lambda configuration (Active Tracing)</a:t>
            </a:r>
          </a:p>
          <a:p>
            <a:pPr>
              <a:spcAft>
                <a:spcPts val="1000"/>
              </a:spcAft>
            </a:pPr>
            <a:r>
              <a:rPr sz="1800" b="0">
                <a:solidFill>
                  <a:srgbClr val="161B26"/>
                </a:solidFill>
                <a:latin typeface="Arial"/>
              </a:rPr>
              <a:t>•  Runs the X-Ray daemon for you</a:t>
            </a:r>
          </a:p>
          <a:p>
            <a:pPr>
              <a:spcAft>
                <a:spcPts val="1000"/>
              </a:spcAft>
            </a:pPr>
            <a:r>
              <a:rPr sz="1800" b="0">
                <a:solidFill>
                  <a:srgbClr val="161B26"/>
                </a:solidFill>
                <a:latin typeface="Arial"/>
              </a:rPr>
              <a:t>•  Use AWS X-Ray SDK in Code</a:t>
            </a:r>
          </a:p>
          <a:p>
            <a:pPr>
              <a:spcAft>
                <a:spcPts val="1000"/>
              </a:spcAft>
            </a:pPr>
            <a:r>
              <a:rPr sz="1800" b="0">
                <a:solidFill>
                  <a:srgbClr val="161B26"/>
                </a:solidFill>
                <a:latin typeface="Arial"/>
              </a:rPr>
              <a:t>•  Ensure Lambda Function has a correct IAM Execution Role</a:t>
            </a:r>
          </a:p>
          <a:p>
            <a:pPr>
              <a:spcAft>
                <a:spcPts val="1000"/>
              </a:spcAft>
            </a:pPr>
            <a:r>
              <a:rPr sz="1800" b="0">
                <a:solidFill>
                  <a:srgbClr val="161B26"/>
                </a:solidFill>
                <a:latin typeface="Arial"/>
              </a:rPr>
              <a:t>•  The managed policy is called AWSXRayDaemonWriteAccess</a:t>
            </a:r>
          </a:p>
          <a:p>
            <a:pPr>
              <a:spcAft>
                <a:spcPts val="1000"/>
              </a:spcAft>
            </a:pPr>
            <a:r>
              <a:rPr sz="1800" b="0">
                <a:solidFill>
                  <a:srgbClr val="161B26"/>
                </a:solidFill>
                <a:latin typeface="Arial"/>
              </a:rPr>
              <a:t>•  Environment variables to communicate with X-Ray</a:t>
            </a:r>
          </a:p>
          <a:p>
            <a:pPr>
              <a:spcAft>
                <a:spcPts val="1000"/>
              </a:spcAft>
            </a:pPr>
            <a:r>
              <a:rPr sz="1800" b="0">
                <a:solidFill>
                  <a:srgbClr val="161B26"/>
                </a:solidFill>
                <a:latin typeface="Arial"/>
              </a:rPr>
              <a:t>•  _X_AMZN_TRACE_ID: contains the tracing header</a:t>
            </a:r>
          </a:p>
          <a:p>
            <a:pPr>
              <a:spcAft>
                <a:spcPts val="1000"/>
              </a:spcAft>
            </a:pPr>
            <a:r>
              <a:rPr sz="1800" b="0">
                <a:solidFill>
                  <a:srgbClr val="161B26"/>
                </a:solidFill>
                <a:latin typeface="Arial"/>
              </a:rPr>
              <a:t>•  AWS_XRAY_CONTEXT_MISSING: by default, LOG_ERROR</a:t>
            </a:r>
          </a:p>
          <a:p>
            <a:pPr>
              <a:spcAft>
                <a:spcPts val="1000"/>
              </a:spcAft>
            </a:pPr>
            <a:r>
              <a:rPr sz="1800" b="0">
                <a:solidFill>
                  <a:srgbClr val="161B26"/>
                </a:solidFill>
                <a:latin typeface="Arial"/>
              </a:rPr>
              <a:t>•  AWS_XRAY_DAEMON_ADDRESS: the X-Ray Daemon IP_ADDRESS:PORT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Function Configuration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RAM:</a:t>
            </a:r>
          </a:p>
          <a:p>
            <a:pPr>
              <a:spcAft>
                <a:spcPts val="1000"/>
              </a:spcAft>
            </a:pPr>
            <a:r>
              <a:rPr sz="1800" b="0">
                <a:solidFill>
                  <a:srgbClr val="161B26"/>
                </a:solidFill>
                <a:latin typeface="Arial"/>
              </a:rPr>
              <a:t>•  From 128MB to 10GB in 1MB increments</a:t>
            </a:r>
          </a:p>
          <a:p>
            <a:pPr>
              <a:spcAft>
                <a:spcPts val="1000"/>
              </a:spcAft>
            </a:pPr>
            <a:r>
              <a:rPr sz="1800" b="0">
                <a:solidFill>
                  <a:srgbClr val="161B26"/>
                </a:solidFill>
                <a:latin typeface="Arial"/>
              </a:rPr>
              <a:t>•  The more RAM you add, the more vCPU credits you get</a:t>
            </a:r>
          </a:p>
          <a:p>
            <a:pPr>
              <a:spcAft>
                <a:spcPts val="1000"/>
              </a:spcAft>
            </a:pPr>
            <a:r>
              <a:rPr sz="1800" b="0">
                <a:solidFill>
                  <a:srgbClr val="161B26"/>
                </a:solidFill>
                <a:latin typeface="Arial"/>
              </a:rPr>
              <a:t>•  At 1,792 MB, a function has the equivalent of one full vCPU</a:t>
            </a:r>
          </a:p>
          <a:p>
            <a:pPr>
              <a:spcAft>
                <a:spcPts val="1000"/>
              </a:spcAft>
            </a:pPr>
            <a:r>
              <a:rPr sz="1800" b="0">
                <a:solidFill>
                  <a:srgbClr val="161B26"/>
                </a:solidFill>
                <a:latin typeface="Arial"/>
              </a:rPr>
              <a:t>•  After 1,792 MB, you get more than one CPU, and need to use multi-threading in your code to benefit from it (up to 6 vCPU)</a:t>
            </a:r>
          </a:p>
          <a:p>
            <a:pPr>
              <a:spcAft>
                <a:spcPts val="1000"/>
              </a:spcAft>
            </a:pPr>
            <a:r>
              <a:rPr sz="1800" b="0">
                <a:solidFill>
                  <a:srgbClr val="161B26"/>
                </a:solidFill>
                <a:latin typeface="Arial"/>
              </a:rPr>
              <a:t>•  If your application is CPU-bound (computation heavy), increase RAM</a:t>
            </a:r>
          </a:p>
          <a:p>
            <a:pPr>
              <a:spcAft>
                <a:spcPts val="1000"/>
              </a:spcAft>
            </a:pPr>
            <a:r>
              <a:rPr sz="1800" b="0">
                <a:solidFill>
                  <a:srgbClr val="161B26"/>
                </a:solidFill>
                <a:latin typeface="Arial"/>
              </a:rPr>
              <a:t>•  Timeout: default 3 seconds, maximum is 900 seconds (15 minutes)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Execution Context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execution context is a temporary runtime environment that initializes any external dependencies of your lambda code</a:t>
            </a:r>
          </a:p>
          <a:p>
            <a:pPr>
              <a:spcAft>
                <a:spcPts val="1000"/>
              </a:spcAft>
            </a:pPr>
            <a:r>
              <a:rPr sz="2000" b="0">
                <a:solidFill>
                  <a:srgbClr val="161B26"/>
                </a:solidFill>
                <a:latin typeface="Arial"/>
              </a:rPr>
              <a:t>•  Great for database connections, HTTP clients, SDK clients</a:t>
            </a:r>
          </a:p>
          <a:p>
            <a:pPr>
              <a:spcAft>
                <a:spcPts val="1000"/>
              </a:spcAft>
            </a:pPr>
            <a:r>
              <a:rPr sz="2000" b="0">
                <a:solidFill>
                  <a:srgbClr val="161B26"/>
                </a:solidFill>
                <a:latin typeface="Arial"/>
              </a:rPr>
              <a:t>•  The execution context is maintained for some time in anticipation of another Lambda function invocation</a:t>
            </a:r>
          </a:p>
          <a:p>
            <a:pPr>
              <a:spcAft>
                <a:spcPts val="1000"/>
              </a:spcAft>
            </a:pPr>
            <a:r>
              <a:rPr sz="2000" b="0">
                <a:solidFill>
                  <a:srgbClr val="161B26"/>
                </a:solidFill>
                <a:latin typeface="Arial"/>
              </a:rPr>
              <a:t>•  The next function invocation can “re-use” the context to execution time and save time in initializing connections objects</a:t>
            </a:r>
          </a:p>
          <a:p>
            <a:pPr>
              <a:spcAft>
                <a:spcPts val="1000"/>
              </a:spcAft>
            </a:pPr>
            <a:r>
              <a:rPr sz="2000" b="0">
                <a:solidFill>
                  <a:srgbClr val="161B26"/>
                </a:solidFill>
                <a:latin typeface="Arial"/>
              </a:rPr>
              <a:t>•  The execution context includes the /tmp directory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Initialize outside the handler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GOOD!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BAD!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DB connection is established At every function invocation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DB connection is established once And re-used across invocations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Functions /tmp space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your Lambda function needs to download a big file to work…</a:t>
            </a:r>
          </a:p>
          <a:p>
            <a:pPr>
              <a:spcAft>
                <a:spcPts val="1000"/>
              </a:spcAft>
            </a:pPr>
            <a:r>
              <a:rPr sz="1800" b="0">
                <a:solidFill>
                  <a:srgbClr val="161B26"/>
                </a:solidFill>
                <a:latin typeface="Arial"/>
              </a:rPr>
              <a:t>•  If your Lambda function needs disk space to perform operations…</a:t>
            </a:r>
          </a:p>
          <a:p>
            <a:pPr>
              <a:spcAft>
                <a:spcPts val="1000"/>
              </a:spcAft>
            </a:pPr>
            <a:r>
              <a:rPr sz="1800" b="0">
                <a:solidFill>
                  <a:srgbClr val="161B26"/>
                </a:solidFill>
                <a:latin typeface="Arial"/>
              </a:rPr>
              <a:t>•  You can use the /tmp directory</a:t>
            </a:r>
          </a:p>
          <a:p>
            <a:pPr>
              <a:spcAft>
                <a:spcPts val="1000"/>
              </a:spcAft>
            </a:pPr>
            <a:r>
              <a:rPr sz="1800" b="0">
                <a:solidFill>
                  <a:srgbClr val="161B26"/>
                </a:solidFill>
                <a:latin typeface="Arial"/>
              </a:rPr>
              <a:t>•  Max size is 10GB</a:t>
            </a:r>
          </a:p>
          <a:p>
            <a:pPr>
              <a:spcAft>
                <a:spcPts val="1000"/>
              </a:spcAft>
            </a:pPr>
            <a:r>
              <a:rPr sz="1800" b="0">
                <a:solidFill>
                  <a:srgbClr val="161B26"/>
                </a:solidFill>
                <a:latin typeface="Arial"/>
              </a:rPr>
              <a:t>•  The directory content remains when the execution context is frozen, providing transient cache that can be used for multiple invocations (helpful to checkpoint your work)</a:t>
            </a:r>
          </a:p>
          <a:p>
            <a:pPr>
              <a:spcAft>
                <a:spcPts val="1000"/>
              </a:spcAft>
            </a:pPr>
            <a:r>
              <a:rPr sz="1800" b="0">
                <a:solidFill>
                  <a:srgbClr val="161B26"/>
                </a:solidFill>
                <a:latin typeface="Arial"/>
              </a:rPr>
              <a:t>•  For permanent persistence of object (non temporary), use S3</a:t>
            </a:r>
          </a:p>
          <a:p>
            <a:pPr>
              <a:spcAft>
                <a:spcPts val="1000"/>
              </a:spcAft>
            </a:pPr>
            <a:r>
              <a:rPr sz="1800" b="0">
                <a:solidFill>
                  <a:srgbClr val="161B26"/>
                </a:solidFill>
                <a:latin typeface="Arial"/>
              </a:rPr>
              <a:t>•  To encrypt content on /tmp, you must generate KMS Data Keys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Concurrency and Throttling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Concurrency limit: up to 1000 concurrent executions</a:t>
            </a:r>
          </a:p>
          <a:p>
            <a:pPr>
              <a:spcAft>
                <a:spcPts val="1000"/>
              </a:spcAft>
            </a:pPr>
            <a:r>
              <a:rPr sz="1800" b="0">
                <a:solidFill>
                  <a:srgbClr val="161B26"/>
                </a:solidFill>
                <a:latin typeface="Arial"/>
              </a:rPr>
              <a:t>•  Can set a "reserved concurrency" at the function level (=limit)</a:t>
            </a:r>
          </a:p>
          <a:p>
            <a:pPr>
              <a:spcAft>
                <a:spcPts val="1000"/>
              </a:spcAft>
            </a:pPr>
            <a:r>
              <a:rPr sz="1800" b="0">
                <a:solidFill>
                  <a:srgbClr val="161B26"/>
                </a:solidFill>
                <a:latin typeface="Arial"/>
              </a:rPr>
              <a:t>•  Each invocation over the concurrency limit will trigger a “Throttle”</a:t>
            </a:r>
          </a:p>
          <a:p>
            <a:pPr>
              <a:spcAft>
                <a:spcPts val="1000"/>
              </a:spcAft>
            </a:pPr>
            <a:r>
              <a:rPr sz="1800" b="0">
                <a:solidFill>
                  <a:srgbClr val="161B26"/>
                </a:solidFill>
                <a:latin typeface="Arial"/>
              </a:rPr>
              <a:t>•  Throttle behavior:</a:t>
            </a:r>
          </a:p>
          <a:p>
            <a:pPr>
              <a:spcAft>
                <a:spcPts val="1000"/>
              </a:spcAft>
            </a:pPr>
            <a:r>
              <a:rPr sz="1800" b="0">
                <a:solidFill>
                  <a:srgbClr val="161B26"/>
                </a:solidFill>
                <a:latin typeface="Arial"/>
              </a:rPr>
              <a:t>•  If synchronous invocation =&gt; return ThrottleError - 429</a:t>
            </a:r>
          </a:p>
          <a:p>
            <a:pPr>
              <a:spcAft>
                <a:spcPts val="1000"/>
              </a:spcAft>
            </a:pPr>
            <a:r>
              <a:rPr sz="1800" b="0">
                <a:solidFill>
                  <a:srgbClr val="161B26"/>
                </a:solidFill>
                <a:latin typeface="Arial"/>
              </a:rPr>
              <a:t>•  If asynchronous invocation =&gt; retry automatically and then go to DLQ</a:t>
            </a:r>
          </a:p>
          <a:p>
            <a:pPr>
              <a:spcAft>
                <a:spcPts val="1000"/>
              </a:spcAft>
            </a:pPr>
            <a:r>
              <a:rPr sz="1800" b="0">
                <a:solidFill>
                  <a:srgbClr val="161B26"/>
                </a:solidFill>
                <a:latin typeface="Arial"/>
              </a:rPr>
              <a:t>•  If you need a higher limit, open a support ticket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Concurrency Issue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don’t reserve (=limit) concurrency, the following can happen:</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SDK / CLI</a:t>
            </a:r>
          </a:p>
          <a:p>
            <a:pPr>
              <a:spcAft>
                <a:spcPts val="1000"/>
              </a:spcAft>
            </a:pPr>
            <a:r>
              <a:rPr sz="1800" b="0">
                <a:solidFill>
                  <a:srgbClr val="161B26"/>
                </a:solidFill>
                <a:latin typeface="Arial"/>
              </a:rPr>
              <a:t>•  1000 concurrent executions</a:t>
            </a:r>
          </a:p>
          <a:p>
            <a:pPr>
              <a:spcAft>
                <a:spcPts val="1000"/>
              </a:spcAft>
            </a:pPr>
            <a:r>
              <a:rPr sz="1800" b="0">
                <a:solidFill>
                  <a:srgbClr val="161B26"/>
                </a:solidFill>
                <a:latin typeface="Arial"/>
              </a:rPr>
              <a:t>•  THROTTLE!</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THROTTLE!</a:t>
            </a:r>
          </a:p>
          <a:p>
            <a:pPr>
              <a:spcAft>
                <a:spcPts val="1000"/>
              </a:spcAft>
            </a:pPr>
            <a:r>
              <a:rPr sz="1800" b="0">
                <a:solidFill>
                  <a:srgbClr val="161B26"/>
                </a:solidFill>
                <a:latin typeface="Arial"/>
              </a:rPr>
              <a:t>•  Many users</a:t>
            </a:r>
          </a:p>
          <a:p>
            <a:pPr>
              <a:spcAft>
                <a:spcPts val="1000"/>
              </a:spcAft>
            </a:pPr>
            <a:r>
              <a:rPr sz="1800" b="0">
                <a:solidFill>
                  <a:srgbClr val="161B26"/>
                </a:solidFill>
                <a:latin typeface="Arial"/>
              </a:rPr>
              <a:t>•  Few users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Concurrency and Asynchronous Invocations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New file event</a:t>
            </a:r>
          </a:p>
          <a:p>
            <a:pPr>
              <a:spcAft>
                <a:spcPts val="1000"/>
              </a:spcAft>
            </a:pPr>
            <a:r>
              <a:rPr sz="1800" b="0">
                <a:solidFill>
                  <a:srgbClr val="161B26"/>
                </a:solidFill>
                <a:latin typeface="Arial"/>
              </a:rPr>
              <a:t>•  New file event</a:t>
            </a:r>
          </a:p>
          <a:p>
            <a:pPr>
              <a:spcAft>
                <a:spcPts val="1000"/>
              </a:spcAft>
            </a:pPr>
            <a:r>
              <a:rPr sz="1800" b="0">
                <a:solidFill>
                  <a:srgbClr val="161B26"/>
                </a:solidFill>
                <a:latin typeface="Arial"/>
              </a:rPr>
              <a:t>•  New file event</a:t>
            </a:r>
          </a:p>
          <a:p>
            <a:pPr>
              <a:spcAft>
                <a:spcPts val="1000"/>
              </a:spcAft>
            </a:pPr>
            <a:r>
              <a:rPr sz="1800" b="0">
                <a:solidFill>
                  <a:srgbClr val="161B26"/>
                </a:solidFill>
                <a:latin typeface="Arial"/>
              </a:rPr>
              <a:t>•  If the function doesn't have enough concurrency available to process all events, additional requests are throttled.</a:t>
            </a:r>
          </a:p>
          <a:p>
            <a:pPr>
              <a:spcAft>
                <a:spcPts val="1000"/>
              </a:spcAft>
            </a:pPr>
            <a:r>
              <a:rPr sz="1800" b="0">
                <a:solidFill>
                  <a:srgbClr val="161B26"/>
                </a:solidFill>
                <a:latin typeface="Arial"/>
              </a:rPr>
              <a:t>•  For throttling errors (429) and system errors (500-series), Lambda returns the event to the queue and attempts to run the function again for up to 6 hours.</a:t>
            </a:r>
          </a:p>
          <a:p>
            <a:pPr>
              <a:spcAft>
                <a:spcPts val="1000"/>
              </a:spcAft>
            </a:pPr>
            <a:r>
              <a:rPr sz="1800" b="0">
                <a:solidFill>
                  <a:srgbClr val="161B26"/>
                </a:solidFill>
                <a:latin typeface="Arial"/>
              </a:rPr>
              <a:t>•  The retry interval increases exponentially from 1 second after the first attempt to a maximum of 5 minutes.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Cold Starts &amp; Provisioned Concurrency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Cold Start:</a:t>
            </a:r>
          </a:p>
          <a:p>
            <a:pPr>
              <a:spcAft>
                <a:spcPts val="1000"/>
              </a:spcAft>
            </a:pPr>
            <a:r>
              <a:rPr sz="1800" b="0">
                <a:solidFill>
                  <a:srgbClr val="161B26"/>
                </a:solidFill>
                <a:latin typeface="Arial"/>
              </a:rPr>
              <a:t>•  New instance =&gt; code is loaded and code outside the handler run (init)</a:t>
            </a:r>
          </a:p>
          <a:p>
            <a:pPr>
              <a:spcAft>
                <a:spcPts val="1000"/>
              </a:spcAft>
            </a:pPr>
            <a:r>
              <a:rPr sz="1800" b="0">
                <a:solidFill>
                  <a:srgbClr val="161B26"/>
                </a:solidFill>
                <a:latin typeface="Arial"/>
              </a:rPr>
              <a:t>•  If the init is large (code, dependencies, SDK…) this process can take some time.</a:t>
            </a:r>
          </a:p>
          <a:p>
            <a:pPr>
              <a:spcAft>
                <a:spcPts val="1000"/>
              </a:spcAft>
            </a:pPr>
            <a:r>
              <a:rPr sz="1800" b="0">
                <a:solidFill>
                  <a:srgbClr val="161B26"/>
                </a:solidFill>
                <a:latin typeface="Arial"/>
              </a:rPr>
              <a:t>•  First request served by new instances has higher latency than the rest</a:t>
            </a:r>
          </a:p>
          <a:p>
            <a:pPr>
              <a:spcAft>
                <a:spcPts val="1000"/>
              </a:spcAft>
            </a:pPr>
            <a:r>
              <a:rPr sz="1800" b="0">
                <a:solidFill>
                  <a:srgbClr val="161B26"/>
                </a:solidFill>
                <a:latin typeface="Arial"/>
              </a:rPr>
              <a:t>•  Provisioned Concurrency:</a:t>
            </a:r>
          </a:p>
          <a:p>
            <a:pPr>
              <a:spcAft>
                <a:spcPts val="1000"/>
              </a:spcAft>
            </a:pPr>
            <a:r>
              <a:rPr sz="1800" b="0">
                <a:solidFill>
                  <a:srgbClr val="161B26"/>
                </a:solidFill>
                <a:latin typeface="Arial"/>
              </a:rPr>
              <a:t>•  Concurrency is allocated before the function is invoked (in advance)</a:t>
            </a:r>
          </a:p>
          <a:p>
            <a:pPr>
              <a:spcAft>
                <a:spcPts val="1000"/>
              </a:spcAft>
            </a:pPr>
            <a:r>
              <a:rPr sz="1800" b="0">
                <a:solidFill>
                  <a:srgbClr val="161B26"/>
                </a:solidFill>
                <a:latin typeface="Arial"/>
              </a:rPr>
              <a:t>•  So the cold start never happens and all invocations have low latency</a:t>
            </a:r>
          </a:p>
          <a:p>
            <a:pPr>
              <a:spcAft>
                <a:spcPts val="1000"/>
              </a:spcAft>
            </a:pPr>
            <a:r>
              <a:rPr sz="1800" b="0">
                <a:solidFill>
                  <a:srgbClr val="161B26"/>
                </a:solidFill>
                <a:latin typeface="Arial"/>
              </a:rPr>
              <a:t>•  Application Auto Scaling can manage concurrency (schedule or target utilization)</a:t>
            </a:r>
          </a:p>
          <a:p>
            <a:pPr>
              <a:spcAft>
                <a:spcPts val="1000"/>
              </a:spcAft>
            </a:pPr>
            <a:r>
              <a:rPr sz="1800" b="0">
                <a:solidFill>
                  <a:srgbClr val="161B26"/>
                </a:solidFill>
                <a:latin typeface="Arial"/>
              </a:rPr>
              <a:t>•  Note:</a:t>
            </a:r>
          </a:p>
          <a:p>
            <a:pPr>
              <a:spcAft>
                <a:spcPts val="1000"/>
              </a:spcAft>
            </a:pPr>
            <a:r>
              <a:rPr sz="1800" b="0">
                <a:solidFill>
                  <a:srgbClr val="161B26"/>
                </a:solidFill>
                <a:latin typeface="Arial"/>
              </a:rPr>
              <a:t>•  Note: cold starts in VPC have been dramatically reduced in Oct &amp; Nov 2019</a:t>
            </a:r>
          </a:p>
          <a:p>
            <a:pPr>
              <a:spcAft>
                <a:spcPts val="1000"/>
              </a:spcAft>
            </a:pPr>
            <a:r>
              <a:rPr sz="1800" b="0">
                <a:solidFill>
                  <a:srgbClr val="161B26"/>
                </a:solidFill>
                <a:latin typeface="Arial"/>
              </a:rPr>
              <a:t>•  https://aws.amazon.com/blogs/compute/announcing-improved-vpc-networking-for-aws-lambda-functions/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Reserved and Provisioned Concurrency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71665" y="1801368"/>
            <a:ext cx="741819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8_0.png"/>
          <p:cNvPicPr>
            <a:picLocks noChangeAspect="1"/>
          </p:cNvPicPr>
          <p:nvPr/>
        </p:nvPicPr>
        <p:blipFill>
          <a:blip r:embed="rId2"/>
          <a:stretch>
            <a:fillRect/>
          </a:stretch>
        </p:blipFill>
        <p:spPr>
          <a:xfrm>
            <a:off x="2399097" y="1828800"/>
            <a:ext cx="736332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https://docs.aws.amazon.com/lambda/latest/dg/configuration-concurrency.html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Lambda Concurrency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25151" y="1801368"/>
            <a:ext cx="811121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9_0.png"/>
          <p:cNvPicPr>
            <a:picLocks noChangeAspect="1"/>
          </p:cNvPicPr>
          <p:nvPr/>
        </p:nvPicPr>
        <p:blipFill>
          <a:blip r:embed="rId2"/>
          <a:stretch>
            <a:fillRect/>
          </a:stretch>
        </p:blipFill>
        <p:spPr>
          <a:xfrm>
            <a:off x="2052583" y="1828800"/>
            <a:ext cx="805635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CloudWatch Metrics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Invocations - number of times your function is invoked (success/failure)</a:t>
            </a:r>
          </a:p>
          <a:p>
            <a:pPr>
              <a:spcAft>
                <a:spcPts val="1000"/>
              </a:spcAft>
            </a:pPr>
            <a:r>
              <a:rPr sz="1800" b="0">
                <a:solidFill>
                  <a:srgbClr val="161B26"/>
                </a:solidFill>
                <a:latin typeface="Arial"/>
              </a:rPr>
              <a:t>•  Duration - amount of time your function spends processing an event</a:t>
            </a:r>
          </a:p>
          <a:p>
            <a:pPr>
              <a:spcAft>
                <a:spcPts val="1000"/>
              </a:spcAft>
            </a:pPr>
            <a:r>
              <a:rPr sz="1800" b="0">
                <a:solidFill>
                  <a:srgbClr val="161B26"/>
                </a:solidFill>
                <a:latin typeface="Arial"/>
              </a:rPr>
              <a:t>•  Errors - number of invocations that result in a function error</a:t>
            </a:r>
          </a:p>
          <a:p>
            <a:pPr>
              <a:spcAft>
                <a:spcPts val="1000"/>
              </a:spcAft>
            </a:pPr>
            <a:r>
              <a:rPr sz="1800" b="0">
                <a:solidFill>
                  <a:srgbClr val="161B26"/>
                </a:solidFill>
                <a:latin typeface="Arial"/>
              </a:rPr>
              <a:t>•  Throttles - number of invocation requests that are throttled (no concurrency available)</a:t>
            </a:r>
          </a:p>
          <a:p>
            <a:pPr>
              <a:spcAft>
                <a:spcPts val="1000"/>
              </a:spcAft>
            </a:pPr>
            <a:r>
              <a:rPr sz="1800" b="0">
                <a:solidFill>
                  <a:srgbClr val="161B26"/>
                </a:solidFill>
                <a:latin typeface="Arial"/>
              </a:rPr>
              <a:t>•  DeadLetterErrors - number of times Lambda failed to send an event to a DLQ (async invocations)</a:t>
            </a:r>
          </a:p>
          <a:p>
            <a:pPr>
              <a:spcAft>
                <a:spcPts val="1000"/>
              </a:spcAft>
            </a:pPr>
            <a:r>
              <a:rPr sz="1800" b="0">
                <a:solidFill>
                  <a:srgbClr val="161B26"/>
                </a:solidFill>
                <a:latin typeface="Arial"/>
              </a:rPr>
              <a:t>•  LteratorAge - time between when a Stream receives a record and when the Event</a:t>
            </a:r>
          </a:p>
          <a:p>
            <a:pPr>
              <a:spcAft>
                <a:spcPts val="1000"/>
              </a:spcAft>
            </a:pPr>
            <a:r>
              <a:rPr sz="1800" b="0">
                <a:solidFill>
                  <a:srgbClr val="161B26"/>
                </a:solidFill>
                <a:latin typeface="Arial"/>
              </a:rPr>
              <a:t>•  Source Mapping sends the event to the function (for Event Source Mapping that reads from Stream)</a:t>
            </a:r>
          </a:p>
          <a:p>
            <a:pPr>
              <a:spcAft>
                <a:spcPts val="1000"/>
              </a:spcAft>
            </a:pPr>
            <a:r>
              <a:rPr sz="1800" b="0">
                <a:solidFill>
                  <a:srgbClr val="161B26"/>
                </a:solidFill>
                <a:latin typeface="Arial"/>
              </a:rPr>
              <a:t>•  ConcurrentExecutions - number of function instances that are processing events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Lambda Metrics Dashboard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71070" y="1801368"/>
            <a:ext cx="74193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1_0.jpg"/>
          <p:cNvPicPr>
            <a:picLocks noChangeAspect="1"/>
          </p:cNvPicPr>
          <p:nvPr/>
        </p:nvPicPr>
        <p:blipFill>
          <a:blip r:embed="rId2"/>
          <a:stretch>
            <a:fillRect/>
          </a:stretch>
        </p:blipFill>
        <p:spPr>
          <a:xfrm>
            <a:off x="2398502" y="1828800"/>
            <a:ext cx="7364515"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CloudWatch Alarms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1 - No Lambda Invocations in the last hour using Invocations CloudWatch Metric</a:t>
            </a:r>
          </a:p>
          <a:p>
            <a:pPr>
              <a:spcAft>
                <a:spcPts val="1000"/>
              </a:spcAft>
            </a:pPr>
            <a:r>
              <a:rPr sz="2000" b="0">
                <a:solidFill>
                  <a:srgbClr val="161B26"/>
                </a:solidFill>
                <a:latin typeface="Arial"/>
              </a:rPr>
              <a:t>•  Example 2 - When error &gt; 0 using Errors CloudWatch Metric</a:t>
            </a:r>
          </a:p>
          <a:p>
            <a:pPr>
              <a:spcAft>
                <a:spcPts val="1000"/>
              </a:spcAft>
            </a:pPr>
            <a:r>
              <a:rPr sz="2000" b="0">
                <a:solidFill>
                  <a:srgbClr val="161B26"/>
                </a:solidFill>
                <a:latin typeface="Arial"/>
              </a:rPr>
              <a:t>•  Example 3 - When throttles &gt; 0 using Throttles CloudWatch Metric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CloudWatch Logs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09829" y="1801368"/>
            <a:ext cx="414186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3_0.png"/>
          <p:cNvPicPr>
            <a:picLocks noChangeAspect="1"/>
          </p:cNvPicPr>
          <p:nvPr/>
        </p:nvPicPr>
        <p:blipFill>
          <a:blip r:embed="rId2"/>
          <a:stretch>
            <a:fillRect/>
          </a:stretch>
        </p:blipFill>
        <p:spPr>
          <a:xfrm>
            <a:off x="4037261" y="1828800"/>
            <a:ext cx="408699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Lambda Function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Lambda	Monitoring - CloudWatch Logs Insights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063464"/>
            <a:ext cx="10479024" cy="164547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4_0.jpg"/>
          <p:cNvPicPr>
            <a:picLocks noChangeAspect="1"/>
          </p:cNvPicPr>
          <p:nvPr/>
        </p:nvPicPr>
        <p:blipFill>
          <a:blip r:embed="rId2"/>
          <a:stretch>
            <a:fillRect/>
          </a:stretch>
        </p:blipFill>
        <p:spPr>
          <a:xfrm>
            <a:off x="868680" y="3090896"/>
            <a:ext cx="10424160" cy="159060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Allows you to search through all your Lambda functions logs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Lambda Monitoring - CloudWatch Logs Insights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CloudWatch Logs Insights Queries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Lambda Insights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Collects, aggregates, and summarizes:</a:t>
            </a:r>
          </a:p>
          <a:p>
            <a:pPr>
              <a:spcAft>
                <a:spcPts val="1000"/>
              </a:spcAft>
            </a:pPr>
            <a:r>
              <a:rPr sz="1800" b="0">
                <a:solidFill>
                  <a:srgbClr val="161B26"/>
                </a:solidFill>
                <a:latin typeface="Arial"/>
              </a:rPr>
              <a:t>•  System-level Metrics - CPU time, memory, 	disk, network</a:t>
            </a:r>
          </a:p>
          <a:p>
            <a:pPr>
              <a:spcAft>
                <a:spcPts val="1000"/>
              </a:spcAft>
            </a:pPr>
            <a:r>
              <a:rPr sz="1800" b="0">
                <a:solidFill>
                  <a:srgbClr val="161B26"/>
                </a:solidFill>
                <a:latin typeface="Arial"/>
              </a:rPr>
              <a:t>•  Diagnostic Information - old starts, Lambda worker shutdowns</a:t>
            </a:r>
          </a:p>
          <a:p>
            <a:pPr>
              <a:spcAft>
                <a:spcPts val="1000"/>
              </a:spcAft>
            </a:pPr>
            <a:r>
              <a:rPr sz="1800" b="0">
                <a:solidFill>
                  <a:srgbClr val="161B26"/>
                </a:solidFill>
                <a:latin typeface="Arial"/>
              </a:rPr>
              <a:t>•  Helps you isolate issues with your Lambda functions and resolve them quickly</a:t>
            </a:r>
          </a:p>
          <a:p>
            <a:pPr>
              <a:spcAft>
                <a:spcPts val="1000"/>
              </a:spcAft>
            </a:pPr>
            <a:r>
              <a:rPr sz="1800" b="0">
                <a:solidFill>
                  <a:srgbClr val="161B26"/>
                </a:solidFill>
                <a:latin typeface="Arial"/>
              </a:rPr>
              <a:t>•  Uses a CloudWatch Lambda Extension (provided as a Lambda layer)</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/aws/lambda-insights/..</a:t>
            </a:r>
          </a:p>
          <a:p>
            <a:pPr>
              <a:spcAft>
                <a:spcPts val="1000"/>
              </a:spcAft>
            </a:pPr>
            <a:r>
              <a:rPr sz="1800" b="0">
                <a:solidFill>
                  <a:srgbClr val="161B26"/>
                </a:solidFill>
                <a:latin typeface="Arial"/>
              </a:rPr>
              <a:t>•  Lambda function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EC2 Storage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An EBS (Elastic Block Store) Volume is a network drive you can attach to your instances while they run</a:t>
            </a:r>
          </a:p>
          <a:p>
            <a:pPr>
              <a:spcAft>
                <a:spcPts val="1000"/>
              </a:spcAft>
            </a:pPr>
            <a:r>
              <a:rPr sz="2000" b="0">
                <a:solidFill>
                  <a:srgbClr val="161B26"/>
                </a:solidFill>
                <a:latin typeface="Arial"/>
              </a:rPr>
              <a:t>•  It allows your instances to persist data, even after their termination</a:t>
            </a:r>
          </a:p>
          <a:p>
            <a:pPr>
              <a:spcAft>
                <a:spcPts val="1000"/>
              </a:spcAft>
            </a:pPr>
            <a:r>
              <a:rPr sz="2000" b="0">
                <a:solidFill>
                  <a:srgbClr val="161B26"/>
                </a:solidFill>
                <a:latin typeface="Arial"/>
              </a:rPr>
              <a:t>•  They can only be mounted to one instance at a time (at the CCP level)</a:t>
            </a:r>
          </a:p>
          <a:p>
            <a:pPr>
              <a:spcAft>
                <a:spcPts val="1000"/>
              </a:spcAft>
            </a:pPr>
            <a:r>
              <a:rPr sz="2000" b="0">
                <a:solidFill>
                  <a:srgbClr val="161B26"/>
                </a:solidFill>
                <a:latin typeface="Arial"/>
              </a:rPr>
              <a:t>•  They are bound to a specific availability zone</a:t>
            </a:r>
          </a:p>
          <a:p>
            <a:pPr>
              <a:spcAft>
                <a:spcPts val="1000"/>
              </a:spcAft>
            </a:pPr>
            <a:r>
              <a:rPr sz="2000" b="0">
                <a:solidFill>
                  <a:srgbClr val="161B26"/>
                </a:solidFill>
                <a:latin typeface="Arial"/>
              </a:rPr>
              <a:t>•  Analogy:Think of them as a “network USB stick”</a:t>
            </a:r>
          </a:p>
          <a:p>
            <a:pPr>
              <a:spcAft>
                <a:spcPts val="1000"/>
              </a:spcAft>
            </a:pPr>
            <a:r>
              <a:rPr sz="2000" b="0">
                <a:solidFill>
                  <a:srgbClr val="161B26"/>
                </a:solidFill>
                <a:latin typeface="Arial"/>
              </a:rPr>
              <a:t>•  Free tier: 30 GB of free EBS storage of type General Purpose (SSD) or Magnetic per month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29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It’s a network drive (i.e. not a physical drive)</a:t>
            </a:r>
          </a:p>
          <a:p>
            <a:pPr>
              <a:spcAft>
                <a:spcPts val="1000"/>
              </a:spcAft>
            </a:pPr>
            <a:r>
              <a:rPr sz="1800" b="0">
                <a:solidFill>
                  <a:srgbClr val="161B26"/>
                </a:solidFill>
                <a:latin typeface="Arial"/>
              </a:rPr>
              <a:t>•  It uses the network to communicate the instance, which means there might be a bit of latency</a:t>
            </a:r>
          </a:p>
          <a:p>
            <a:pPr>
              <a:spcAft>
                <a:spcPts val="1000"/>
              </a:spcAft>
            </a:pPr>
            <a:r>
              <a:rPr sz="1800" b="0">
                <a:solidFill>
                  <a:srgbClr val="161B26"/>
                </a:solidFill>
                <a:latin typeface="Arial"/>
              </a:rPr>
              <a:t>•  It can be detached from an EC2 instance and attached to another one quickly</a:t>
            </a:r>
          </a:p>
          <a:p>
            <a:pPr>
              <a:spcAft>
                <a:spcPts val="1000"/>
              </a:spcAft>
            </a:pPr>
            <a:r>
              <a:rPr sz="1800" b="0">
                <a:solidFill>
                  <a:srgbClr val="161B26"/>
                </a:solidFill>
                <a:latin typeface="Arial"/>
              </a:rPr>
              <a:t>•  It’s locked to an Availability Zone (AZ)</a:t>
            </a:r>
          </a:p>
          <a:p>
            <a:pPr>
              <a:spcAft>
                <a:spcPts val="1000"/>
              </a:spcAft>
            </a:pPr>
            <a:r>
              <a:rPr sz="1800" b="0">
                <a:solidFill>
                  <a:srgbClr val="161B26"/>
                </a:solidFill>
                <a:latin typeface="Arial"/>
              </a:rPr>
              <a:t>•  An EBS Volume in us-east-1a cannot be attached to us-east-1b</a:t>
            </a:r>
          </a:p>
          <a:p>
            <a:pPr>
              <a:spcAft>
                <a:spcPts val="1000"/>
              </a:spcAft>
            </a:pPr>
            <a:r>
              <a:rPr sz="1800" b="0">
                <a:solidFill>
                  <a:srgbClr val="161B26"/>
                </a:solidFill>
                <a:latin typeface="Arial"/>
              </a:rPr>
              <a:t>•  To move a volume across, you first need to snapshot it</a:t>
            </a:r>
          </a:p>
          <a:p>
            <a:pPr>
              <a:spcAft>
                <a:spcPts val="1000"/>
              </a:spcAft>
            </a:pPr>
            <a:r>
              <a:rPr sz="1800" b="0">
                <a:solidFill>
                  <a:srgbClr val="161B26"/>
                </a:solidFill>
                <a:latin typeface="Arial"/>
              </a:rPr>
              <a:t>•  Have a provisioned capacity (size in GBs, and IOPS)</a:t>
            </a:r>
          </a:p>
          <a:p>
            <a:pPr>
              <a:spcAft>
                <a:spcPts val="1000"/>
              </a:spcAft>
            </a:pPr>
            <a:r>
              <a:rPr sz="1800" b="0">
                <a:solidFill>
                  <a:srgbClr val="161B26"/>
                </a:solidFill>
                <a:latin typeface="Arial"/>
              </a:rPr>
              <a:t>•  You get billed for all the provisioned capacity</a:t>
            </a:r>
          </a:p>
          <a:p>
            <a:pPr>
              <a:spcAft>
                <a:spcPts val="1000"/>
              </a:spcAft>
            </a:pPr>
            <a:r>
              <a:rPr sz="1800" b="0">
                <a:solidFill>
                  <a:srgbClr val="161B26"/>
                </a:solidFill>
                <a:latin typeface="Arial"/>
              </a:rPr>
              <a:t>•  You can increase the capacity of the drive over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US-EAST-1B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EBS Volume - Example</a:t>
            </a:r>
          </a:p>
          <a:p>
            <a:pPr>
              <a:spcAft>
                <a:spcPts val="1000"/>
              </a:spcAft>
            </a:pPr>
            <a:r>
              <a:rPr sz="1800" b="0">
                <a:solidFill>
                  <a:srgbClr val="161B26"/>
                </a:solidFill>
                <a:latin typeface="Arial"/>
              </a:rPr>
              <a:t>•  EBS (10 GB)</a:t>
            </a:r>
          </a:p>
          <a:p>
            <a:pPr>
              <a:spcAft>
                <a:spcPts val="1000"/>
              </a:spcAft>
            </a:pPr>
            <a:r>
              <a:rPr sz="1800" b="0">
                <a:solidFill>
                  <a:srgbClr val="161B26"/>
                </a:solidFill>
                <a:latin typeface="Arial"/>
              </a:rPr>
              <a:t>•  EBS (100 GB)</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EBS (10 GB)</a:t>
            </a:r>
          </a:p>
          <a:p>
            <a:pPr>
              <a:spcAft>
                <a:spcPts val="1000"/>
              </a:spcAft>
            </a:pPr>
            <a:r>
              <a:rPr sz="1800" b="0">
                <a:solidFill>
                  <a:srgbClr val="161B26"/>
                </a:solidFill>
                <a:latin typeface="Arial"/>
              </a:rPr>
              <a:t>•  unattached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 are network drives with good but “limited” performance</a:t>
            </a:r>
          </a:p>
          <a:p>
            <a:pPr>
              <a:spcAft>
                <a:spcPts val="1000"/>
              </a:spcAft>
            </a:pPr>
            <a:r>
              <a:rPr sz="1800" b="0">
                <a:solidFill>
                  <a:srgbClr val="161B26"/>
                </a:solidFill>
                <a:latin typeface="Arial"/>
              </a:rPr>
              <a:t>•  If you need a high-performance hardware disk, use EC2 Instance store</a:t>
            </a:r>
          </a:p>
          <a:p>
            <a:pPr>
              <a:spcAft>
                <a:spcPts val="1000"/>
              </a:spcAft>
            </a:pPr>
            <a:r>
              <a:rPr sz="1800" b="0">
                <a:solidFill>
                  <a:srgbClr val="161B26"/>
                </a:solidFill>
                <a:latin typeface="Arial"/>
              </a:rPr>
              <a:t>•  Better I/O performance</a:t>
            </a:r>
          </a:p>
          <a:p>
            <a:pPr>
              <a:spcAft>
                <a:spcPts val="1000"/>
              </a:spcAft>
            </a:pPr>
            <a:r>
              <a:rPr sz="1800" b="0">
                <a:solidFill>
                  <a:srgbClr val="161B26"/>
                </a:solidFill>
                <a:latin typeface="Arial"/>
              </a:rPr>
              <a:t>•  EC2 Instance Store lose their storage if they’re stopped (ephemeral)</a:t>
            </a:r>
          </a:p>
          <a:p>
            <a:pPr>
              <a:spcAft>
                <a:spcPts val="1000"/>
              </a:spcAft>
            </a:pPr>
            <a:r>
              <a:rPr sz="1800" b="0">
                <a:solidFill>
                  <a:srgbClr val="161B26"/>
                </a:solidFill>
                <a:latin typeface="Arial"/>
              </a:rPr>
              <a:t>•  Good for buffer / cache / scratch data / temporary content</a:t>
            </a:r>
          </a:p>
          <a:p>
            <a:pPr>
              <a:spcAft>
                <a:spcPts val="1000"/>
              </a:spcAft>
            </a:pPr>
            <a:r>
              <a:rPr sz="1800" b="0">
                <a:solidFill>
                  <a:srgbClr val="161B26"/>
                </a:solidFill>
                <a:latin typeface="Arial"/>
              </a:rPr>
              <a:t>•  Risk of data loss if hardware fails</a:t>
            </a:r>
          </a:p>
          <a:p>
            <a:pPr>
              <a:spcAft>
                <a:spcPts val="1000"/>
              </a:spcAft>
            </a:pPr>
            <a:r>
              <a:rPr sz="1800" b="0">
                <a:solidFill>
                  <a:srgbClr val="161B26"/>
                </a:solidFill>
                <a:latin typeface="Arial"/>
              </a:rPr>
              <a:t>•  Backups and Replication are your responsibility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Local EC2 Instance Store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Very high IOPS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63519"/>
            <a:ext cx="10479024" cy="40453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34_0.png"/>
          <p:cNvPicPr>
            <a:picLocks noChangeAspect="1"/>
          </p:cNvPicPr>
          <p:nvPr/>
        </p:nvPicPr>
        <p:blipFill>
          <a:blip r:embed="rId2"/>
          <a:stretch>
            <a:fillRect/>
          </a:stretch>
        </p:blipFill>
        <p:spPr>
          <a:xfrm>
            <a:off x="868680" y="1890951"/>
            <a:ext cx="10424160" cy="399049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EBS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 come in 6 types</a:t>
            </a:r>
          </a:p>
          <a:p>
            <a:pPr>
              <a:spcAft>
                <a:spcPts val="1000"/>
              </a:spcAft>
            </a:pPr>
            <a:r>
              <a:rPr sz="1800" b="0">
                <a:solidFill>
                  <a:srgbClr val="161B26"/>
                </a:solidFill>
                <a:latin typeface="Arial"/>
              </a:rPr>
              <a:t>•  gp2 / gp3 (SSD): General purpose SSD volume that balances price and performance for a wide variety of workloads</a:t>
            </a:r>
          </a:p>
          <a:p>
            <a:pPr>
              <a:spcAft>
                <a:spcPts val="1000"/>
              </a:spcAft>
            </a:pPr>
            <a:r>
              <a:rPr sz="1800" b="0">
                <a:solidFill>
                  <a:srgbClr val="161B26"/>
                </a:solidFill>
                <a:latin typeface="Arial"/>
              </a:rPr>
              <a:t>•  io1 / io2 Block Express (SSD): Highest-performance SSD volume for mission-critical low-latency or high-throughput workloads</a:t>
            </a:r>
          </a:p>
          <a:p>
            <a:pPr>
              <a:spcAft>
                <a:spcPts val="1000"/>
              </a:spcAft>
            </a:pPr>
            <a:r>
              <a:rPr sz="1800" b="0">
                <a:solidFill>
                  <a:srgbClr val="161B26"/>
                </a:solidFill>
                <a:latin typeface="Arial"/>
              </a:rPr>
              <a:t>•  st1 (HDD): Low cost HDD volume designed for frequently accessed, throughput- intensive workloads</a:t>
            </a:r>
          </a:p>
          <a:p>
            <a:pPr>
              <a:spcAft>
                <a:spcPts val="1000"/>
              </a:spcAft>
            </a:pPr>
            <a:r>
              <a:rPr sz="1800" b="0">
                <a:solidFill>
                  <a:srgbClr val="161B26"/>
                </a:solidFill>
                <a:latin typeface="Arial"/>
              </a:rPr>
              <a:t>•  sc1 (HDD): Lowest cost HDD volume designed for less frequently accessed workloads</a:t>
            </a:r>
          </a:p>
          <a:p>
            <a:pPr>
              <a:spcAft>
                <a:spcPts val="1000"/>
              </a:spcAft>
            </a:pPr>
            <a:r>
              <a:rPr sz="1800" b="0">
                <a:solidFill>
                  <a:srgbClr val="161B26"/>
                </a:solidFill>
                <a:latin typeface="Arial"/>
              </a:rPr>
              <a:t>•  EBS Volumes are characterized in Size | Throughput | IOPS (I/O Ops Per Sec)</a:t>
            </a:r>
          </a:p>
          <a:p>
            <a:pPr>
              <a:spcAft>
                <a:spcPts val="1000"/>
              </a:spcAft>
            </a:pPr>
            <a:r>
              <a:rPr sz="1800" b="0">
                <a:solidFill>
                  <a:srgbClr val="161B26"/>
                </a:solidFill>
                <a:latin typeface="Arial"/>
              </a:rPr>
              <a:t>•  When in doubt always consult the AWS documentation – it’s good!</a:t>
            </a:r>
          </a:p>
          <a:p>
            <a:pPr>
              <a:spcAft>
                <a:spcPts val="1000"/>
              </a:spcAft>
            </a:pPr>
            <a:r>
              <a:rPr sz="1800" b="0">
                <a:solidFill>
                  <a:srgbClr val="161B26"/>
                </a:solidFill>
                <a:latin typeface="Arial"/>
              </a:rPr>
              <a:t>•  Only gp2/gp3 and io1/io2 Block Express can be used as boot volumes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 Types Use cases General Purpose SSD</a:t>
            </a:r>
          </a:p>
          <a:p>
            <a:pPr>
              <a:spcAft>
                <a:spcPts val="1000"/>
              </a:spcAft>
            </a:pPr>
            <a:r>
              <a:rPr sz="1800" b="0">
                <a:solidFill>
                  <a:srgbClr val="161B26"/>
                </a:solidFill>
                <a:latin typeface="Arial"/>
              </a:rPr>
              <a:t>•  Cost effective storage, low-latency</a:t>
            </a:r>
          </a:p>
          <a:p>
            <a:pPr>
              <a:spcAft>
                <a:spcPts val="1000"/>
              </a:spcAft>
            </a:pPr>
            <a:r>
              <a:rPr sz="1800" b="0">
                <a:solidFill>
                  <a:srgbClr val="161B26"/>
                </a:solidFill>
                <a:latin typeface="Arial"/>
              </a:rPr>
              <a:t>•  System boot volumes,Virtual desktops, Development and test environments</a:t>
            </a:r>
          </a:p>
          <a:p>
            <a:pPr>
              <a:spcAft>
                <a:spcPts val="1000"/>
              </a:spcAft>
            </a:pPr>
            <a:r>
              <a:rPr sz="1800" b="0">
                <a:solidFill>
                  <a:srgbClr val="161B26"/>
                </a:solidFill>
                <a:latin typeface="Arial"/>
              </a:rPr>
              <a:t>•  1 GiB - 16 TiB</a:t>
            </a:r>
          </a:p>
          <a:p>
            <a:pPr>
              <a:spcAft>
                <a:spcPts val="1000"/>
              </a:spcAft>
            </a:pPr>
            <a:r>
              <a:rPr sz="1800" b="0">
                <a:solidFill>
                  <a:srgbClr val="161B26"/>
                </a:solidFill>
                <a:latin typeface="Arial"/>
              </a:rPr>
              <a:t>•  gp3:</a:t>
            </a:r>
          </a:p>
          <a:p>
            <a:pPr>
              <a:spcAft>
                <a:spcPts val="1000"/>
              </a:spcAft>
            </a:pPr>
            <a:r>
              <a:rPr sz="1800" b="0">
                <a:solidFill>
                  <a:srgbClr val="161B26"/>
                </a:solidFill>
                <a:latin typeface="Arial"/>
              </a:rPr>
              <a:t>•  Baseline of 3,000 IOPS and throughput of 125 MiB/s</a:t>
            </a:r>
          </a:p>
          <a:p>
            <a:pPr>
              <a:spcAft>
                <a:spcPts val="1000"/>
              </a:spcAft>
            </a:pPr>
            <a:r>
              <a:rPr sz="1800" b="0">
                <a:solidFill>
                  <a:srgbClr val="161B26"/>
                </a:solidFill>
                <a:latin typeface="Arial"/>
              </a:rPr>
              <a:t>•  Can increase IOPS up to 16,000 and throughput up to 1000 MiB/s independently</a:t>
            </a:r>
          </a:p>
          <a:p>
            <a:pPr>
              <a:spcAft>
                <a:spcPts val="1000"/>
              </a:spcAft>
            </a:pPr>
            <a:r>
              <a:rPr sz="1800" b="0">
                <a:solidFill>
                  <a:srgbClr val="161B26"/>
                </a:solidFill>
                <a:latin typeface="Arial"/>
              </a:rPr>
              <a:t>•  gp2:</a:t>
            </a:r>
          </a:p>
          <a:p>
            <a:pPr>
              <a:spcAft>
                <a:spcPts val="1000"/>
              </a:spcAft>
            </a:pPr>
            <a:r>
              <a:rPr sz="1800" b="0">
                <a:solidFill>
                  <a:srgbClr val="161B26"/>
                </a:solidFill>
                <a:latin typeface="Arial"/>
              </a:rPr>
              <a:t>•  Small gp2 volumes can burst IOPS to 3,000</a:t>
            </a:r>
          </a:p>
          <a:p>
            <a:pPr>
              <a:spcAft>
                <a:spcPts val="1000"/>
              </a:spcAft>
            </a:pPr>
            <a:r>
              <a:rPr sz="1800" b="0">
                <a:solidFill>
                  <a:srgbClr val="161B26"/>
                </a:solidFill>
                <a:latin typeface="Arial"/>
              </a:rPr>
              <a:t>•  Size of the volume and IOPS are linked, max IOPS is 16,000</a:t>
            </a:r>
          </a:p>
          <a:p>
            <a:pPr>
              <a:spcAft>
                <a:spcPts val="1000"/>
              </a:spcAft>
            </a:pPr>
            <a:r>
              <a:rPr sz="1800" b="0">
                <a:solidFill>
                  <a:srgbClr val="161B26"/>
                </a:solidFill>
                <a:latin typeface="Arial"/>
              </a:rPr>
              <a:t>•  3 IOPS per GB, means at 5,334 GB we are at the max IOPS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EBS Volume Types Use cases Provisioned IOPS (PIOPS) SSD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Critical business applications with sustained IOPS performance</a:t>
            </a:r>
          </a:p>
          <a:p>
            <a:pPr>
              <a:spcAft>
                <a:spcPts val="1000"/>
              </a:spcAft>
            </a:pPr>
            <a:r>
              <a:rPr sz="1800" b="0">
                <a:solidFill>
                  <a:srgbClr val="161B26"/>
                </a:solidFill>
                <a:latin typeface="Arial"/>
              </a:rPr>
              <a:t>•  Or applications that need more than 16,000 IOPS</a:t>
            </a:r>
          </a:p>
          <a:p>
            <a:pPr>
              <a:spcAft>
                <a:spcPts val="1000"/>
              </a:spcAft>
            </a:pPr>
            <a:r>
              <a:rPr sz="1800" b="0">
                <a:solidFill>
                  <a:srgbClr val="161B26"/>
                </a:solidFill>
                <a:latin typeface="Arial"/>
              </a:rPr>
              <a:t>•  Great for databases workloads (sensitive to storage perf and consistency)</a:t>
            </a:r>
          </a:p>
          <a:p>
            <a:pPr>
              <a:spcAft>
                <a:spcPts val="1000"/>
              </a:spcAft>
            </a:pPr>
            <a:r>
              <a:rPr sz="1800" b="0">
                <a:solidFill>
                  <a:srgbClr val="161B26"/>
                </a:solidFill>
                <a:latin typeface="Arial"/>
              </a:rPr>
              <a:t>•  io1 (4 GiB - 16 TiB):</a:t>
            </a:r>
          </a:p>
          <a:p>
            <a:pPr>
              <a:spcAft>
                <a:spcPts val="1000"/>
              </a:spcAft>
            </a:pPr>
            <a:r>
              <a:rPr sz="1800" b="0">
                <a:solidFill>
                  <a:srgbClr val="161B26"/>
                </a:solidFill>
                <a:latin typeface="Arial"/>
              </a:rPr>
              <a:t>•  Max PIOPS: 64,000 for Nitro EC2 instances &amp; 32,000 for other</a:t>
            </a:r>
          </a:p>
          <a:p>
            <a:pPr>
              <a:spcAft>
                <a:spcPts val="1000"/>
              </a:spcAft>
            </a:pPr>
            <a:r>
              <a:rPr sz="1800" b="0">
                <a:solidFill>
                  <a:srgbClr val="161B26"/>
                </a:solidFill>
                <a:latin typeface="Arial"/>
              </a:rPr>
              <a:t>•  Can increase PIOPS independently from storage size</a:t>
            </a:r>
          </a:p>
          <a:p>
            <a:pPr>
              <a:spcAft>
                <a:spcPts val="1000"/>
              </a:spcAft>
            </a:pPr>
            <a:r>
              <a:rPr sz="1800" b="0">
                <a:solidFill>
                  <a:srgbClr val="161B26"/>
                </a:solidFill>
                <a:latin typeface="Arial"/>
              </a:rPr>
              <a:t>•  io2 Block Express (4 GiB – 64 TiB):</a:t>
            </a:r>
          </a:p>
          <a:p>
            <a:pPr>
              <a:spcAft>
                <a:spcPts val="1000"/>
              </a:spcAft>
            </a:pPr>
            <a:r>
              <a:rPr sz="1800" b="0">
                <a:solidFill>
                  <a:srgbClr val="161B26"/>
                </a:solidFill>
                <a:latin typeface="Arial"/>
              </a:rPr>
              <a:t>•  Sub-millisecond latency</a:t>
            </a:r>
          </a:p>
          <a:p>
            <a:pPr>
              <a:spcAft>
                <a:spcPts val="1000"/>
              </a:spcAft>
            </a:pPr>
            <a:r>
              <a:rPr sz="1800" b="0">
                <a:solidFill>
                  <a:srgbClr val="161B26"/>
                </a:solidFill>
                <a:latin typeface="Arial"/>
              </a:rPr>
              <a:t>•  Max PIOPS: 256,000 with an IOPS:GiB ratio of 1,000:1</a:t>
            </a:r>
          </a:p>
          <a:p>
            <a:pPr>
              <a:spcAft>
                <a:spcPts val="1000"/>
              </a:spcAft>
            </a:pPr>
            <a:r>
              <a:rPr sz="1800" b="0">
                <a:solidFill>
                  <a:srgbClr val="161B26"/>
                </a:solidFill>
                <a:latin typeface="Arial"/>
              </a:rPr>
              <a:t>•  Supports EBS Multi-attach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Types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Hard Disk Drives (HDD)</a:t>
            </a:r>
          </a:p>
          <a:p>
            <a:pPr>
              <a:spcAft>
                <a:spcPts val="1000"/>
              </a:spcAft>
            </a:pPr>
            <a:r>
              <a:rPr sz="1800" b="0">
                <a:solidFill>
                  <a:srgbClr val="161B26"/>
                </a:solidFill>
                <a:latin typeface="Arial"/>
              </a:rPr>
              <a:t>•  Cannot be a boot volume</a:t>
            </a:r>
          </a:p>
          <a:p>
            <a:pPr>
              <a:spcAft>
                <a:spcPts val="1000"/>
              </a:spcAft>
            </a:pPr>
            <a:r>
              <a:rPr sz="1800" b="0">
                <a:solidFill>
                  <a:srgbClr val="161B26"/>
                </a:solidFill>
                <a:latin typeface="Arial"/>
              </a:rPr>
              <a:t>•  125 GiB to 16 TiB</a:t>
            </a:r>
          </a:p>
          <a:p>
            <a:pPr>
              <a:spcAft>
                <a:spcPts val="1000"/>
              </a:spcAft>
            </a:pPr>
            <a:r>
              <a:rPr sz="1800" b="0">
                <a:solidFill>
                  <a:srgbClr val="161B26"/>
                </a:solidFill>
                <a:latin typeface="Arial"/>
              </a:rPr>
              <a:t>•  Throughput Optimized HDD (st1)</a:t>
            </a:r>
          </a:p>
          <a:p>
            <a:pPr>
              <a:spcAft>
                <a:spcPts val="1000"/>
              </a:spcAft>
            </a:pPr>
            <a:r>
              <a:rPr sz="1800" b="0">
                <a:solidFill>
                  <a:srgbClr val="161B26"/>
                </a:solidFill>
                <a:latin typeface="Arial"/>
              </a:rPr>
              <a:t>•  Big Data, Data Warehouses, Log Processing</a:t>
            </a:r>
          </a:p>
          <a:p>
            <a:pPr>
              <a:spcAft>
                <a:spcPts val="1000"/>
              </a:spcAft>
            </a:pPr>
            <a:r>
              <a:rPr sz="1800" b="0">
                <a:solidFill>
                  <a:srgbClr val="161B26"/>
                </a:solidFill>
                <a:latin typeface="Arial"/>
              </a:rPr>
              <a:t>•  Max through put500 MiB/s – max IOPS 500</a:t>
            </a:r>
          </a:p>
          <a:p>
            <a:pPr>
              <a:spcAft>
                <a:spcPts val="1000"/>
              </a:spcAft>
            </a:pPr>
            <a:r>
              <a:rPr sz="1800" b="0">
                <a:solidFill>
                  <a:srgbClr val="161B26"/>
                </a:solidFill>
                <a:latin typeface="Arial"/>
              </a:rPr>
              <a:t>•  Cold HDD (sc1):</a:t>
            </a:r>
          </a:p>
          <a:p>
            <a:pPr>
              <a:spcAft>
                <a:spcPts val="1000"/>
              </a:spcAft>
            </a:pPr>
            <a:r>
              <a:rPr sz="1800" b="0">
                <a:solidFill>
                  <a:srgbClr val="161B26"/>
                </a:solidFill>
                <a:latin typeface="Arial"/>
              </a:rPr>
              <a:t>•  For data that is infrequently accessed</a:t>
            </a:r>
          </a:p>
          <a:p>
            <a:pPr>
              <a:spcAft>
                <a:spcPts val="1000"/>
              </a:spcAft>
            </a:pPr>
            <a:r>
              <a:rPr sz="1800" b="0">
                <a:solidFill>
                  <a:srgbClr val="161B26"/>
                </a:solidFill>
                <a:latin typeface="Arial"/>
              </a:rPr>
              <a:t>•  Scenarios where lowest cost is important</a:t>
            </a:r>
          </a:p>
          <a:p>
            <a:pPr>
              <a:spcAft>
                <a:spcPts val="1000"/>
              </a:spcAft>
            </a:pPr>
            <a:r>
              <a:rPr sz="1800" b="0">
                <a:solidFill>
                  <a:srgbClr val="161B26"/>
                </a:solidFill>
                <a:latin typeface="Arial"/>
              </a:rPr>
              <a:t>•  Max throughput 250 MiB/s – max IOPS 250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 Volume Types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90663" y="1801368"/>
            <a:ext cx="318019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39_0.jpg"/>
          <p:cNvPicPr>
            <a:picLocks noChangeAspect="1"/>
          </p:cNvPicPr>
          <p:nvPr/>
        </p:nvPicPr>
        <p:blipFill>
          <a:blip r:embed="rId2"/>
          <a:stretch>
            <a:fillRect/>
          </a:stretch>
        </p:blipFill>
        <p:spPr>
          <a:xfrm>
            <a:off x="4518095" y="1828800"/>
            <a:ext cx="312533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https://docs.aws.amazon.com/AWSEC2/latest/UserGuide/ebs-volume-types.html#solid-state-drives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Multi-Attach - io1/io2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Attach the same EBS volume to multiple EC2 instances in the same AZ</a:t>
            </a:r>
          </a:p>
          <a:p>
            <a:pPr>
              <a:spcAft>
                <a:spcPts val="1000"/>
              </a:spcAft>
            </a:pPr>
            <a:r>
              <a:rPr sz="1800" b="0">
                <a:solidFill>
                  <a:srgbClr val="161B26"/>
                </a:solidFill>
                <a:latin typeface="Arial"/>
              </a:rPr>
              <a:t>•  Each instance has full read &amp; write permissions to the high-performance volume</a:t>
            </a:r>
          </a:p>
          <a:p>
            <a:pPr>
              <a:spcAft>
                <a:spcPts val="1000"/>
              </a:spcAft>
            </a:pPr>
            <a:r>
              <a:rPr sz="1800" b="0">
                <a:solidFill>
                  <a:srgbClr val="161B26"/>
                </a:solidFill>
                <a:latin typeface="Arial"/>
              </a:rPr>
              <a:t>•  Use case:</a:t>
            </a:r>
          </a:p>
          <a:p>
            <a:pPr>
              <a:spcAft>
                <a:spcPts val="1000"/>
              </a:spcAft>
            </a:pPr>
            <a:r>
              <a:rPr sz="1800" b="0">
                <a:solidFill>
                  <a:srgbClr val="161B26"/>
                </a:solidFill>
                <a:latin typeface="Arial"/>
              </a:rPr>
              <a:t>•  Achieve higher application availability in clustered Linux applications (ex:Teradata)</a:t>
            </a:r>
          </a:p>
          <a:p>
            <a:pPr>
              <a:spcAft>
                <a:spcPts val="1000"/>
              </a:spcAft>
            </a:pPr>
            <a:r>
              <a:rPr sz="1800" b="0">
                <a:solidFill>
                  <a:srgbClr val="161B26"/>
                </a:solidFill>
                <a:latin typeface="Arial"/>
              </a:rPr>
              <a:t>•  Applications must manage concurrent write operations</a:t>
            </a:r>
          </a:p>
          <a:p>
            <a:pPr>
              <a:spcAft>
                <a:spcPts val="1000"/>
              </a:spcAft>
            </a:pPr>
            <a:r>
              <a:rPr sz="1800" b="0">
                <a:solidFill>
                  <a:srgbClr val="161B26"/>
                </a:solidFill>
                <a:latin typeface="Arial"/>
              </a:rPr>
              <a:t>•  Up to 16 EC2 Instances at a time</a:t>
            </a:r>
          </a:p>
          <a:p>
            <a:pPr>
              <a:spcAft>
                <a:spcPts val="1000"/>
              </a:spcAft>
            </a:pPr>
            <a:r>
              <a:rPr sz="1800" b="0">
                <a:solidFill>
                  <a:srgbClr val="161B26"/>
                </a:solidFill>
                <a:latin typeface="Arial"/>
              </a:rPr>
              <a:t>•  Must use a file system that’s cluster-aware (not XFS, EXT4, etc…)</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io2 volume with Multi-Attach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Resizing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only increase the EBS volumes:</a:t>
            </a:r>
          </a:p>
          <a:p>
            <a:pPr>
              <a:spcAft>
                <a:spcPts val="1000"/>
              </a:spcAft>
            </a:pPr>
            <a:r>
              <a:rPr sz="1800" b="0">
                <a:solidFill>
                  <a:srgbClr val="161B26"/>
                </a:solidFill>
                <a:latin typeface="Arial"/>
              </a:rPr>
              <a:t>•  Size (any volume type)</a:t>
            </a:r>
          </a:p>
          <a:p>
            <a:pPr>
              <a:spcAft>
                <a:spcPts val="1000"/>
              </a:spcAft>
            </a:pPr>
            <a:r>
              <a:rPr sz="1800" b="0">
                <a:solidFill>
                  <a:srgbClr val="161B26"/>
                </a:solidFill>
                <a:latin typeface="Arial"/>
              </a:rPr>
              <a:t>•  IOPS (only in IO1)</a:t>
            </a:r>
          </a:p>
          <a:p>
            <a:pPr>
              <a:spcAft>
                <a:spcPts val="1000"/>
              </a:spcAft>
            </a:pPr>
            <a:r>
              <a:rPr sz="1800" b="0">
                <a:solidFill>
                  <a:srgbClr val="161B26"/>
                </a:solidFill>
                <a:latin typeface="Arial"/>
              </a:rPr>
              <a:t>•  After resizing an EBS volume, you need to repartition your drive</a:t>
            </a:r>
          </a:p>
          <a:p>
            <a:pPr>
              <a:spcAft>
                <a:spcPts val="1000"/>
              </a:spcAft>
            </a:pPr>
            <a:r>
              <a:rPr sz="1800" b="0">
                <a:solidFill>
                  <a:srgbClr val="161B26"/>
                </a:solidFill>
                <a:latin typeface="Arial"/>
              </a:rPr>
              <a:t>•  After increasing the size, it’s possible for the volume to be in a long time in the “optimisation” phase.The volume is still usable</a:t>
            </a:r>
          </a:p>
          <a:p>
            <a:pPr>
              <a:spcAft>
                <a:spcPts val="1000"/>
              </a:spcAft>
            </a:pPr>
            <a:r>
              <a:rPr sz="1800" b="0">
                <a:solidFill>
                  <a:srgbClr val="161B26"/>
                </a:solidFill>
                <a:latin typeface="Arial"/>
              </a:rPr>
              <a:t>•  You can’t decrease the size of your EBS volume (create another smaller volume then migrate data)</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(250 GiB)</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(1 TiB)</a:t>
            </a:r>
          </a:p>
          <a:p>
            <a:pPr>
              <a:spcAft>
                <a:spcPts val="1000"/>
              </a:spcAft>
            </a:pPr>
            <a:r>
              <a:rPr sz="1800" b="0">
                <a:solidFill>
                  <a:srgbClr val="161B26"/>
                </a:solidFill>
                <a:latin typeface="Arial"/>
              </a:rPr>
              <a:t>•  Modifying</a:t>
            </a:r>
          </a:p>
          <a:p>
            <a:pPr>
              <a:spcAft>
                <a:spcPts val="1000"/>
              </a:spcAft>
            </a:pPr>
            <a:r>
              <a:rPr sz="1800" b="0">
                <a:solidFill>
                  <a:srgbClr val="161B26"/>
                </a:solidFill>
                <a:latin typeface="Arial"/>
              </a:rPr>
              <a:t>•  Optimizing</a:t>
            </a:r>
          </a:p>
          <a:p>
            <a:pPr>
              <a:spcAft>
                <a:spcPts val="1000"/>
              </a:spcAft>
            </a:pPr>
            <a:r>
              <a:rPr sz="1800" b="0">
                <a:solidFill>
                  <a:srgbClr val="161B26"/>
                </a:solidFill>
                <a:latin typeface="Arial"/>
              </a:rPr>
              <a:t>•  Completed</a:t>
            </a:r>
          </a:p>
          <a:p>
            <a:pPr>
              <a:spcAft>
                <a:spcPts val="1000"/>
              </a:spcAft>
            </a:pPr>
            <a:r>
              <a:rPr sz="1800" b="0">
                <a:solidFill>
                  <a:srgbClr val="161B26"/>
                </a:solidFill>
                <a:latin typeface="Arial"/>
              </a:rPr>
              <a:t>•  250</a:t>
            </a:r>
          </a:p>
          <a:p>
            <a:pPr>
              <a:spcAft>
                <a:spcPts val="1000"/>
              </a:spcAft>
            </a:pPr>
            <a:r>
              <a:rPr sz="1800" b="0">
                <a:solidFill>
                  <a:srgbClr val="161B26"/>
                </a:solidFill>
                <a:latin typeface="Arial"/>
              </a:rPr>
              <a:t>•  750GB</a:t>
            </a:r>
          </a:p>
          <a:p>
            <a:pPr>
              <a:spcAft>
                <a:spcPts val="1000"/>
              </a:spcAft>
            </a:pPr>
            <a:r>
              <a:rPr sz="1800" b="0">
                <a:solidFill>
                  <a:srgbClr val="161B26"/>
                </a:solidFill>
                <a:latin typeface="Arial"/>
              </a:rPr>
              <a:t>•  repartition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5083" y="1801368"/>
            <a:ext cx="899135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42_0.png"/>
          <p:cNvPicPr>
            <a:picLocks noChangeAspect="1"/>
          </p:cNvPicPr>
          <p:nvPr/>
        </p:nvPicPr>
        <p:blipFill>
          <a:blip r:embed="rId2"/>
          <a:stretch>
            <a:fillRect/>
          </a:stretch>
        </p:blipFill>
        <p:spPr>
          <a:xfrm>
            <a:off x="1612515" y="1828800"/>
            <a:ext cx="893649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Modify EBS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Make a backup (snapshot) of your EBS volume at a point in time</a:t>
            </a:r>
          </a:p>
          <a:p>
            <a:pPr>
              <a:spcAft>
                <a:spcPts val="1000"/>
              </a:spcAft>
            </a:pPr>
            <a:r>
              <a:rPr sz="1800" b="0">
                <a:solidFill>
                  <a:srgbClr val="161B26"/>
                </a:solidFill>
                <a:latin typeface="Arial"/>
              </a:rPr>
              <a:t>•  Not necessary to detach volume to do snapshot, but recommended</a:t>
            </a:r>
          </a:p>
          <a:p>
            <a:pPr>
              <a:spcAft>
                <a:spcPts val="1000"/>
              </a:spcAft>
            </a:pPr>
            <a:r>
              <a:rPr sz="1800" b="0">
                <a:solidFill>
                  <a:srgbClr val="161B26"/>
                </a:solidFill>
                <a:latin typeface="Arial"/>
              </a:rPr>
              <a:t>•  Can copy snapshots across AZ or Region</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restore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Data Lifecycle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the creation, retention, and deletion of EBS snapshots and EBS-backed AMIs</a:t>
            </a:r>
          </a:p>
          <a:p>
            <a:pPr>
              <a:spcAft>
                <a:spcPts val="1000"/>
              </a:spcAft>
            </a:pPr>
            <a:r>
              <a:rPr sz="1800" b="0">
                <a:solidFill>
                  <a:srgbClr val="161B26"/>
                </a:solidFill>
                <a:latin typeface="Arial"/>
              </a:rPr>
              <a:t>•  Schedule backups, cross-account snapshot copies, delete outdated backups, …</a:t>
            </a:r>
          </a:p>
          <a:p>
            <a:pPr>
              <a:spcAft>
                <a:spcPts val="1000"/>
              </a:spcAft>
            </a:pPr>
            <a:r>
              <a:rPr sz="1800" b="0">
                <a:solidFill>
                  <a:srgbClr val="161B26"/>
                </a:solidFill>
                <a:latin typeface="Arial"/>
              </a:rPr>
              <a:t>•  Uses resource tags to identify the resources (EC2 instances, EBS volumes)</a:t>
            </a:r>
          </a:p>
          <a:p>
            <a:pPr>
              <a:spcAft>
                <a:spcPts val="1000"/>
              </a:spcAft>
            </a:pPr>
            <a:r>
              <a:rPr sz="1800" b="0">
                <a:solidFill>
                  <a:srgbClr val="161B26"/>
                </a:solidFill>
                <a:latin typeface="Arial"/>
              </a:rPr>
              <a:t>•  Can’t be used to manage snapshots/AMIs created outside DLM</a:t>
            </a:r>
          </a:p>
          <a:p>
            <a:pPr>
              <a:spcAft>
                <a:spcPts val="1000"/>
              </a:spcAft>
            </a:pPr>
            <a:r>
              <a:rPr sz="1800" b="0">
                <a:solidFill>
                  <a:srgbClr val="161B26"/>
                </a:solidFill>
                <a:latin typeface="Arial"/>
              </a:rPr>
              <a:t>•  Can’t be used to manage instance-store backed AMIs</a:t>
            </a:r>
          </a:p>
          <a:p>
            <a:pPr>
              <a:spcAft>
                <a:spcPts val="1000"/>
              </a:spcAft>
            </a:pPr>
            <a:r>
              <a:rPr sz="1800" b="0">
                <a:solidFill>
                  <a:srgbClr val="161B26"/>
                </a:solidFill>
                <a:latin typeface="Arial"/>
              </a:rPr>
              <a:t>•  Amazon Data Lifecycle Manager</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Snapshots</a:t>
            </a:r>
          </a:p>
          <a:p>
            <a:pPr>
              <a:spcAft>
                <a:spcPts val="1000"/>
              </a:spcAft>
            </a:pPr>
            <a:r>
              <a:rPr sz="1800" b="0">
                <a:solidFill>
                  <a:srgbClr val="161B26"/>
                </a:solidFill>
                <a:latin typeface="Arial"/>
              </a:rPr>
              <a:t>•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Data Lifecycle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90631" y="1801368"/>
            <a:ext cx="938025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45_0.png"/>
          <p:cNvPicPr>
            <a:picLocks noChangeAspect="1"/>
          </p:cNvPicPr>
          <p:nvPr/>
        </p:nvPicPr>
        <p:blipFill>
          <a:blip r:embed="rId2"/>
          <a:stretch>
            <a:fillRect/>
          </a:stretch>
        </p:blipFill>
        <p:spPr>
          <a:xfrm>
            <a:off x="1418063" y="1828800"/>
            <a:ext cx="932539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EBS Snapshots - Fast Snapshot Restore (FSR)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Snapshots stored in S3</a:t>
            </a:r>
          </a:p>
          <a:p>
            <a:pPr>
              <a:spcAft>
                <a:spcPts val="1000"/>
              </a:spcAft>
            </a:pPr>
            <a:r>
              <a:rPr sz="1800" b="0">
                <a:solidFill>
                  <a:srgbClr val="161B26"/>
                </a:solidFill>
                <a:latin typeface="Arial"/>
              </a:rPr>
              <a:t>•  By default, there’s a latency of I/O operations the first time each block is accessed (block must be pulled from S3)</a:t>
            </a:r>
          </a:p>
          <a:p>
            <a:pPr>
              <a:spcAft>
                <a:spcPts val="1000"/>
              </a:spcAft>
            </a:pPr>
            <a:r>
              <a:rPr sz="1800" b="0">
                <a:solidFill>
                  <a:srgbClr val="161B26"/>
                </a:solidFill>
                <a:latin typeface="Arial"/>
              </a:rPr>
              <a:t>•  Solution: force the initialization of the entire</a:t>
            </a:r>
          </a:p>
          <a:p>
            <a:pPr>
              <a:spcAft>
                <a:spcPts val="1000"/>
              </a:spcAft>
            </a:pPr>
            <a:r>
              <a:rPr sz="1800" b="0">
                <a:solidFill>
                  <a:srgbClr val="161B26"/>
                </a:solidFill>
                <a:latin typeface="Arial"/>
              </a:rPr>
              <a:t>•  volume (using the dd or fio command), or you can enable FSR</a:t>
            </a:r>
          </a:p>
          <a:p>
            <a:pPr>
              <a:spcAft>
                <a:spcPts val="1000"/>
              </a:spcAft>
            </a:pPr>
            <a:r>
              <a:rPr sz="1800" b="0">
                <a:solidFill>
                  <a:srgbClr val="161B26"/>
                </a:solidFill>
                <a:latin typeface="Arial"/>
              </a:rPr>
              <a:t>•  FSR helps you to create a volume from a snapshot that is fully initialized at creation (no I/O latency)</a:t>
            </a:r>
          </a:p>
          <a:p>
            <a:pPr>
              <a:spcAft>
                <a:spcPts val="1000"/>
              </a:spcAft>
            </a:pPr>
            <a:r>
              <a:rPr sz="1800" b="0">
                <a:solidFill>
                  <a:srgbClr val="161B26"/>
                </a:solidFill>
                <a:latin typeface="Arial"/>
              </a:rPr>
              <a:t>•  Enabled for a snapshot in a particular AZ (billed per minute – very expensive $$$)</a:t>
            </a:r>
          </a:p>
          <a:p>
            <a:pPr>
              <a:spcAft>
                <a:spcPts val="1000"/>
              </a:spcAft>
            </a:pPr>
            <a:r>
              <a:rPr sz="1800" b="0">
                <a:solidFill>
                  <a:srgbClr val="161B26"/>
                </a:solidFill>
                <a:latin typeface="Arial"/>
              </a:rPr>
              <a:t>•  Can be enabled on snapshots created by Data Lifecycle Manager</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(FSR enabled)</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restore</a:t>
            </a:r>
          </a:p>
          <a:p>
            <a:pPr>
              <a:spcAft>
                <a:spcPts val="1000"/>
              </a:spcAft>
            </a:pPr>
            <a:r>
              <a:rPr sz="1800" b="0">
                <a:solidFill>
                  <a:srgbClr val="161B26"/>
                </a:solidFill>
                <a:latin typeface="Arial"/>
              </a:rPr>
              <a:t>•  storage blocks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 Features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Snapshot Archive</a:t>
            </a:r>
          </a:p>
          <a:p>
            <a:pPr>
              <a:spcAft>
                <a:spcPts val="1000"/>
              </a:spcAft>
            </a:pPr>
            <a:r>
              <a:rPr sz="1800" b="0">
                <a:solidFill>
                  <a:srgbClr val="161B26"/>
                </a:solidFill>
                <a:latin typeface="Arial"/>
              </a:rPr>
              <a:t>•  Move a Snapshot to an ”archive tier” that is 75% cheaper</a:t>
            </a:r>
          </a:p>
          <a:p>
            <a:pPr>
              <a:spcAft>
                <a:spcPts val="1000"/>
              </a:spcAft>
            </a:pPr>
            <a:r>
              <a:rPr sz="1800" b="0">
                <a:solidFill>
                  <a:srgbClr val="161B26"/>
                </a:solidFill>
                <a:latin typeface="Arial"/>
              </a:rPr>
              <a:t>•  Takes within 24 to 72 hours for restoring the archive</a:t>
            </a:r>
          </a:p>
          <a:p>
            <a:pPr>
              <a:spcAft>
                <a:spcPts val="1000"/>
              </a:spcAft>
            </a:pPr>
            <a:r>
              <a:rPr sz="1800" b="0">
                <a:solidFill>
                  <a:srgbClr val="161B26"/>
                </a:solidFill>
                <a:latin typeface="Arial"/>
              </a:rPr>
              <a:t>•  Recycle Bin for EBS Snapshots</a:t>
            </a:r>
          </a:p>
          <a:p>
            <a:pPr>
              <a:spcAft>
                <a:spcPts val="1000"/>
              </a:spcAft>
            </a:pPr>
            <a:r>
              <a:rPr sz="1800" b="0">
                <a:solidFill>
                  <a:srgbClr val="161B26"/>
                </a:solidFill>
                <a:latin typeface="Arial"/>
              </a:rPr>
              <a:t>•  Setup rules to retain deleted snapshots so you can recover them after an accidental deletion</a:t>
            </a:r>
          </a:p>
          <a:p>
            <a:pPr>
              <a:spcAft>
                <a:spcPts val="1000"/>
              </a:spcAft>
            </a:pPr>
            <a:r>
              <a:rPr sz="1800" b="0">
                <a:solidFill>
                  <a:srgbClr val="161B26"/>
                </a:solidFill>
                <a:latin typeface="Arial"/>
              </a:rPr>
              <a:t>•  Specify retention (from 1 day to 1 year)</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Archive</a:t>
            </a:r>
          </a:p>
          <a:p>
            <a:pPr>
              <a:spcAft>
                <a:spcPts val="1000"/>
              </a:spcAft>
            </a:pPr>
            <a:r>
              <a:rPr sz="1800" b="0">
                <a:solidFill>
                  <a:srgbClr val="161B26"/>
                </a:solidFill>
                <a:latin typeface="Arial"/>
              </a:rPr>
              <a:t>•  archive</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Recycle Bin</a:t>
            </a:r>
          </a:p>
          <a:p>
            <a:pPr>
              <a:spcAft>
                <a:spcPts val="1000"/>
              </a:spcAft>
            </a:pPr>
            <a:r>
              <a:rPr sz="1800" b="0">
                <a:solidFill>
                  <a:srgbClr val="161B26"/>
                </a:solidFill>
                <a:latin typeface="Arial"/>
              </a:rPr>
              <a:t>•  delete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3782" y="1801368"/>
            <a:ext cx="865395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48_0.png"/>
          <p:cNvPicPr>
            <a:picLocks noChangeAspect="1"/>
          </p:cNvPicPr>
          <p:nvPr/>
        </p:nvPicPr>
        <p:blipFill>
          <a:blip r:embed="rId2"/>
          <a:stretch>
            <a:fillRect/>
          </a:stretch>
        </p:blipFill>
        <p:spPr>
          <a:xfrm>
            <a:off x="1781214" y="1828800"/>
            <a:ext cx="859909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EBS Snapshot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Migration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EBS Volumes are only locked to a specific AZ</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To migrate it to a different AZ (or region):</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Snapshot the volume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(optional) Copy the volume to a different region</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Create a volume from the snapshot in the AZ of your choice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Let’s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When you create an encrypted EBS volume, you get the following:</a:t>
            </a:r>
          </a:p>
          <a:p>
            <a:pPr>
              <a:spcAft>
                <a:spcPts val="1000"/>
              </a:spcAft>
            </a:pPr>
            <a:r>
              <a:rPr sz="1800" b="0">
                <a:solidFill>
                  <a:srgbClr val="161B26"/>
                </a:solidFill>
                <a:latin typeface="Arial"/>
              </a:rPr>
              <a:t>•  Data at rest is encrypted inside the volume</a:t>
            </a:r>
          </a:p>
          <a:p>
            <a:pPr>
              <a:spcAft>
                <a:spcPts val="1000"/>
              </a:spcAft>
            </a:pPr>
            <a:r>
              <a:rPr sz="1800" b="0">
                <a:solidFill>
                  <a:srgbClr val="161B26"/>
                </a:solidFill>
                <a:latin typeface="Arial"/>
              </a:rPr>
              <a:t>•  All the data in flight moving between the instance and the volume is encrypted</a:t>
            </a:r>
          </a:p>
          <a:p>
            <a:pPr>
              <a:spcAft>
                <a:spcPts val="1000"/>
              </a:spcAft>
            </a:pPr>
            <a:r>
              <a:rPr sz="1800" b="0">
                <a:solidFill>
                  <a:srgbClr val="161B26"/>
                </a:solidFill>
                <a:latin typeface="Arial"/>
              </a:rPr>
              <a:t>•  All snapshots are encrypted</a:t>
            </a:r>
          </a:p>
          <a:p>
            <a:pPr>
              <a:spcAft>
                <a:spcPts val="1000"/>
              </a:spcAft>
            </a:pPr>
            <a:r>
              <a:rPr sz="1800" b="0">
                <a:solidFill>
                  <a:srgbClr val="161B26"/>
                </a:solidFill>
                <a:latin typeface="Arial"/>
              </a:rPr>
              <a:t>•  All volumes created from the snapshot</a:t>
            </a:r>
          </a:p>
          <a:p>
            <a:pPr>
              <a:spcAft>
                <a:spcPts val="1000"/>
              </a:spcAft>
            </a:pPr>
            <a:r>
              <a:rPr sz="1800" b="0">
                <a:solidFill>
                  <a:srgbClr val="161B26"/>
                </a:solidFill>
                <a:latin typeface="Arial"/>
              </a:rPr>
              <a:t>•  Encryption and decryption are handled transparently (you have nothing to do)</a:t>
            </a:r>
          </a:p>
          <a:p>
            <a:pPr>
              <a:spcAft>
                <a:spcPts val="1000"/>
              </a:spcAft>
            </a:pPr>
            <a:r>
              <a:rPr sz="1800" b="0">
                <a:solidFill>
                  <a:srgbClr val="161B26"/>
                </a:solidFill>
                <a:latin typeface="Arial"/>
              </a:rPr>
              <a:t>•  Encryption has a minimal impact on latency</a:t>
            </a:r>
          </a:p>
          <a:p>
            <a:pPr>
              <a:spcAft>
                <a:spcPts val="1000"/>
              </a:spcAft>
            </a:pPr>
            <a:r>
              <a:rPr sz="1800" b="0">
                <a:solidFill>
                  <a:srgbClr val="161B26"/>
                </a:solidFill>
                <a:latin typeface="Arial"/>
              </a:rPr>
              <a:t>•  EBS Encryption leverages keys from KMS (AES-256)</a:t>
            </a:r>
          </a:p>
          <a:p>
            <a:pPr>
              <a:spcAft>
                <a:spcPts val="1000"/>
              </a:spcAft>
            </a:pPr>
            <a:r>
              <a:rPr sz="1800" b="0">
                <a:solidFill>
                  <a:srgbClr val="161B26"/>
                </a:solidFill>
                <a:latin typeface="Arial"/>
              </a:rPr>
              <a:t>•  Copying an unencrypted snapshot allows encryption</a:t>
            </a:r>
          </a:p>
          <a:p>
            <a:pPr>
              <a:spcAft>
                <a:spcPts val="1000"/>
              </a:spcAft>
            </a:pPr>
            <a:r>
              <a:rPr sz="1800" b="0">
                <a:solidFill>
                  <a:srgbClr val="161B26"/>
                </a:solidFill>
                <a:latin typeface="Arial"/>
              </a:rPr>
              <a:t>•  Snapshots of encrypted volumes are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Encryption: encrypt an unencrypted 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Create an EBS snapshot of the volume</a:t>
            </a:r>
          </a:p>
          <a:p>
            <a:pPr>
              <a:spcAft>
                <a:spcPts val="1000"/>
              </a:spcAft>
            </a:pPr>
            <a:r>
              <a:rPr sz="2000" b="0">
                <a:solidFill>
                  <a:srgbClr val="161B26"/>
                </a:solidFill>
                <a:latin typeface="Arial"/>
              </a:rPr>
              <a:t>•  Encrypt the EBS snapshot (using copy)</a:t>
            </a:r>
          </a:p>
          <a:p>
            <a:pPr>
              <a:spcAft>
                <a:spcPts val="1000"/>
              </a:spcAft>
            </a:pPr>
            <a:r>
              <a:rPr sz="2000" b="0">
                <a:solidFill>
                  <a:srgbClr val="161B26"/>
                </a:solidFill>
                <a:latin typeface="Arial"/>
              </a:rPr>
              <a:t>•  Create new ebs volume from the snapshot (the volume will also be encrypted)</a:t>
            </a:r>
          </a:p>
          <a:p>
            <a:pPr>
              <a:spcAft>
                <a:spcPts val="1000"/>
              </a:spcAft>
            </a:pPr>
            <a:r>
              <a:rPr sz="2000" b="0">
                <a:solidFill>
                  <a:srgbClr val="161B26"/>
                </a:solidFill>
                <a:latin typeface="Arial"/>
              </a:rPr>
              <a:t>•  Now you can attach the encrypted volume to the original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36170" y="1801368"/>
            <a:ext cx="708917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52_0.png"/>
          <p:cNvPicPr>
            <a:picLocks noChangeAspect="1"/>
          </p:cNvPicPr>
          <p:nvPr/>
        </p:nvPicPr>
        <p:blipFill>
          <a:blip r:embed="rId2"/>
          <a:stretch>
            <a:fillRect/>
          </a:stretch>
        </p:blipFill>
        <p:spPr>
          <a:xfrm>
            <a:off x="2563602" y="1828800"/>
            <a:ext cx="703431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Encrypt EBS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Managed NFS (network file system) that can be mounted on many EC2</a:t>
            </a:r>
          </a:p>
          <a:p>
            <a:pPr>
              <a:spcAft>
                <a:spcPts val="1000"/>
              </a:spcAft>
            </a:pPr>
            <a:r>
              <a:rPr sz="1800" b="0">
                <a:solidFill>
                  <a:srgbClr val="161B26"/>
                </a:solidFill>
                <a:latin typeface="Arial"/>
              </a:rPr>
              <a:t>•  EFS works with EC2 instances in multi-AZ</a:t>
            </a:r>
          </a:p>
          <a:p>
            <a:pPr>
              <a:spcAft>
                <a:spcPts val="1000"/>
              </a:spcAft>
            </a:pPr>
            <a:r>
              <a:rPr sz="1800" b="0">
                <a:solidFill>
                  <a:srgbClr val="161B26"/>
                </a:solidFill>
                <a:latin typeface="Arial"/>
              </a:rPr>
              <a:t>•  Highly available, scalable, expensive (3x gp2), pay per use</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us-east-1c</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EFS FileSystem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4961" y="1801368"/>
            <a:ext cx="835159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54_0.png"/>
          <p:cNvPicPr>
            <a:picLocks noChangeAspect="1"/>
          </p:cNvPicPr>
          <p:nvPr/>
        </p:nvPicPr>
        <p:blipFill>
          <a:blip r:embed="rId2"/>
          <a:stretch>
            <a:fillRect/>
          </a:stretch>
        </p:blipFill>
        <p:spPr>
          <a:xfrm>
            <a:off x="1932393" y="1828800"/>
            <a:ext cx="829673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cases: content management, web serving, data sharing, Wordpress</a:t>
            </a:r>
          </a:p>
          <a:p>
            <a:pPr>
              <a:spcAft>
                <a:spcPts val="1000"/>
              </a:spcAft>
            </a:pPr>
            <a:r>
              <a:rPr sz="1800" b="0">
                <a:solidFill>
                  <a:srgbClr val="161B26"/>
                </a:solidFill>
                <a:latin typeface="Arial"/>
              </a:rPr>
              <a:t>•  Uses NFSv4.1 protocol</a:t>
            </a:r>
          </a:p>
          <a:p>
            <a:pPr>
              <a:spcAft>
                <a:spcPts val="1000"/>
              </a:spcAft>
            </a:pPr>
            <a:r>
              <a:rPr sz="1800" b="0">
                <a:solidFill>
                  <a:srgbClr val="161B26"/>
                </a:solidFill>
                <a:latin typeface="Arial"/>
              </a:rPr>
              <a:t>•  Uses security group to control access to EFS</a:t>
            </a:r>
          </a:p>
          <a:p>
            <a:pPr>
              <a:spcAft>
                <a:spcPts val="1000"/>
              </a:spcAft>
            </a:pPr>
            <a:r>
              <a:rPr sz="1800" b="0">
                <a:solidFill>
                  <a:srgbClr val="161B26"/>
                </a:solidFill>
                <a:latin typeface="Arial"/>
              </a:rPr>
              <a:t>•  Compatible with Linux based AMI (not windows)</a:t>
            </a:r>
          </a:p>
          <a:p>
            <a:pPr>
              <a:spcAft>
                <a:spcPts val="1000"/>
              </a:spcAft>
            </a:pPr>
            <a:r>
              <a:rPr sz="1800" b="0">
                <a:solidFill>
                  <a:srgbClr val="161B26"/>
                </a:solidFill>
                <a:latin typeface="Arial"/>
              </a:rPr>
              <a:t>•  Encryption at rest using KMS</a:t>
            </a:r>
          </a:p>
          <a:p>
            <a:pPr>
              <a:spcAft>
                <a:spcPts val="1000"/>
              </a:spcAft>
            </a:pPr>
            <a:r>
              <a:rPr sz="1800" b="0">
                <a:solidFill>
                  <a:srgbClr val="161B26"/>
                </a:solidFill>
                <a:latin typeface="Arial"/>
              </a:rPr>
              <a:t>•  POSIX file system (~Linux) that has a standard file API</a:t>
            </a:r>
          </a:p>
          <a:p>
            <a:pPr>
              <a:spcAft>
                <a:spcPts val="1000"/>
              </a:spcAft>
            </a:pPr>
            <a:r>
              <a:rPr sz="1800" b="0">
                <a:solidFill>
                  <a:srgbClr val="161B26"/>
                </a:solidFill>
                <a:latin typeface="Arial"/>
              </a:rPr>
              <a:t>•  File system scales automatically, pay-per-use, no capacity planning!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56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Performance &amp;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EFS Scale</a:t>
            </a:r>
          </a:p>
          <a:p>
            <a:pPr>
              <a:spcAft>
                <a:spcPts val="1000"/>
              </a:spcAft>
            </a:pPr>
            <a:r>
              <a:rPr sz="1800" b="0">
                <a:solidFill>
                  <a:srgbClr val="161B26"/>
                </a:solidFill>
                <a:latin typeface="Arial"/>
              </a:rPr>
              <a:t>•  1000s of concurrent NFS clients, 10 GB+ /s throughput</a:t>
            </a:r>
          </a:p>
          <a:p>
            <a:pPr>
              <a:spcAft>
                <a:spcPts val="1000"/>
              </a:spcAft>
            </a:pPr>
            <a:r>
              <a:rPr sz="1800" b="0">
                <a:solidFill>
                  <a:srgbClr val="161B26"/>
                </a:solidFill>
                <a:latin typeface="Arial"/>
              </a:rPr>
              <a:t>•  Grow to Petabyte-scale network file system, automatically</a:t>
            </a:r>
          </a:p>
          <a:p>
            <a:pPr>
              <a:spcAft>
                <a:spcPts val="1000"/>
              </a:spcAft>
            </a:pPr>
            <a:r>
              <a:rPr sz="1800" b="0">
                <a:solidFill>
                  <a:srgbClr val="161B26"/>
                </a:solidFill>
                <a:latin typeface="Arial"/>
              </a:rPr>
              <a:t>•  Performance Mode (set at EFS creation time)</a:t>
            </a:r>
          </a:p>
          <a:p>
            <a:pPr>
              <a:spcAft>
                <a:spcPts val="1000"/>
              </a:spcAft>
            </a:pPr>
            <a:r>
              <a:rPr sz="1800" b="0">
                <a:solidFill>
                  <a:srgbClr val="161B26"/>
                </a:solidFill>
                <a:latin typeface="Arial"/>
              </a:rPr>
              <a:t>•  General Purpose (default) -  latency-sensitive use cases (web server, CMS, etc…)</a:t>
            </a:r>
          </a:p>
          <a:p>
            <a:pPr>
              <a:spcAft>
                <a:spcPts val="1000"/>
              </a:spcAft>
            </a:pPr>
            <a:r>
              <a:rPr sz="1800" b="0">
                <a:solidFill>
                  <a:srgbClr val="161B26"/>
                </a:solidFill>
                <a:latin typeface="Arial"/>
              </a:rPr>
              <a:t>•  Max I/O  - higher latecy, throughput, highly parallel (big data, media processing)</a:t>
            </a:r>
          </a:p>
          <a:p>
            <a:pPr>
              <a:spcAft>
                <a:spcPts val="1000"/>
              </a:spcAft>
            </a:pPr>
            <a:r>
              <a:rPr sz="1800" b="0">
                <a:solidFill>
                  <a:srgbClr val="161B26"/>
                </a:solidFill>
                <a:latin typeface="Arial"/>
              </a:rPr>
              <a:t>•  Throughput Mode</a:t>
            </a:r>
          </a:p>
          <a:p>
            <a:pPr>
              <a:spcAft>
                <a:spcPts val="1000"/>
              </a:spcAft>
            </a:pPr>
            <a:r>
              <a:rPr sz="1800" b="0">
                <a:solidFill>
                  <a:srgbClr val="161B26"/>
                </a:solidFill>
                <a:latin typeface="Arial"/>
              </a:rPr>
              <a:t>•  Bursting - 1TB = 50MiB/s + burst of up to 100MiB/s</a:t>
            </a:r>
          </a:p>
          <a:p>
            <a:pPr>
              <a:spcAft>
                <a:spcPts val="1000"/>
              </a:spcAft>
            </a:pPr>
            <a:r>
              <a:rPr sz="1800" b="0">
                <a:solidFill>
                  <a:srgbClr val="161B26"/>
                </a:solidFill>
                <a:latin typeface="Arial"/>
              </a:rPr>
              <a:t>•  Provisioned - set your throughput regardless of storage size, ex: 1 GiB/s for 1 TB storage</a:t>
            </a:r>
          </a:p>
          <a:p>
            <a:pPr>
              <a:spcAft>
                <a:spcPts val="1000"/>
              </a:spcAft>
            </a:pPr>
            <a:r>
              <a:rPr sz="1800" b="0">
                <a:solidFill>
                  <a:srgbClr val="161B26"/>
                </a:solidFill>
                <a:latin typeface="Arial"/>
              </a:rPr>
              <a:t>•  Elastic - automatically scales throughput up or down based on your workloads</a:t>
            </a:r>
          </a:p>
          <a:p>
            <a:pPr>
              <a:spcAft>
                <a:spcPts val="1000"/>
              </a:spcAft>
            </a:pPr>
            <a:r>
              <a:rPr sz="1800" b="0">
                <a:solidFill>
                  <a:srgbClr val="161B26"/>
                </a:solidFill>
                <a:latin typeface="Arial"/>
              </a:rPr>
              <a:t>•  Up to 3GiB/s for reads and 1GiB/s for writes</a:t>
            </a:r>
          </a:p>
          <a:p>
            <a:pPr>
              <a:spcAft>
                <a:spcPts val="1000"/>
              </a:spcAft>
            </a:pPr>
            <a:r>
              <a:rPr sz="1800" b="0">
                <a:solidFill>
                  <a:srgbClr val="161B26"/>
                </a:solidFill>
                <a:latin typeface="Arial"/>
              </a:rPr>
              <a:t>•  Used for unpredictable workloads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Storage Tiers (lifecycle management feature move file after N days)</a:t>
            </a:r>
          </a:p>
          <a:p>
            <a:pPr>
              <a:spcAft>
                <a:spcPts val="1000"/>
              </a:spcAft>
            </a:pPr>
            <a:r>
              <a:rPr sz="1800" b="0">
                <a:solidFill>
                  <a:srgbClr val="161B26"/>
                </a:solidFill>
                <a:latin typeface="Arial"/>
              </a:rPr>
              <a:t>•  Standard: for frequently accessed files</a:t>
            </a:r>
          </a:p>
          <a:p>
            <a:pPr>
              <a:spcAft>
                <a:spcPts val="1000"/>
              </a:spcAft>
            </a:pPr>
            <a:r>
              <a:rPr sz="1800" b="0">
                <a:solidFill>
                  <a:srgbClr val="161B26"/>
                </a:solidFill>
                <a:latin typeface="Arial"/>
              </a:rPr>
              <a:t>•  Infrequent access (EFS-IA): cost to retrieve files, lower price to store.</a:t>
            </a:r>
          </a:p>
          <a:p>
            <a:pPr>
              <a:spcAft>
                <a:spcPts val="1000"/>
              </a:spcAft>
            </a:pPr>
            <a:r>
              <a:rPr sz="1800" b="0">
                <a:solidFill>
                  <a:srgbClr val="161B26"/>
                </a:solidFill>
                <a:latin typeface="Arial"/>
              </a:rPr>
              <a:t>•  Archive: rarely accessed data (few times each year), 50% cheaper</a:t>
            </a:r>
          </a:p>
          <a:p>
            <a:pPr>
              <a:spcAft>
                <a:spcPts val="1000"/>
              </a:spcAft>
            </a:pPr>
            <a:r>
              <a:rPr sz="1800" b="0">
                <a:solidFill>
                  <a:srgbClr val="161B26"/>
                </a:solidFill>
                <a:latin typeface="Arial"/>
              </a:rPr>
              <a:t>•  Implement Lifecycle policies to move files between storage tiers</a:t>
            </a:r>
          </a:p>
          <a:p>
            <a:pPr>
              <a:spcAft>
                <a:spcPts val="1000"/>
              </a:spcAft>
            </a:pPr>
            <a:r>
              <a:rPr sz="1800" b="0">
                <a:solidFill>
                  <a:srgbClr val="161B26"/>
                </a:solidFill>
                <a:latin typeface="Arial"/>
              </a:rPr>
              <a:t>•  Availability and durability</a:t>
            </a:r>
          </a:p>
          <a:p>
            <a:pPr>
              <a:spcAft>
                <a:spcPts val="1000"/>
              </a:spcAft>
            </a:pPr>
            <a:r>
              <a:rPr sz="1800" b="0">
                <a:solidFill>
                  <a:srgbClr val="161B26"/>
                </a:solidFill>
                <a:latin typeface="Arial"/>
              </a:rPr>
              <a:t>•  Standard: Multi-AZ, great for prod</a:t>
            </a:r>
          </a:p>
          <a:p>
            <a:pPr>
              <a:spcAft>
                <a:spcPts val="1000"/>
              </a:spcAft>
            </a:pPr>
            <a:r>
              <a:rPr sz="1800" b="0">
                <a:solidFill>
                  <a:srgbClr val="161B26"/>
                </a:solidFill>
                <a:latin typeface="Arial"/>
              </a:rPr>
              <a:t>•  One Zone: One AZ, great for dev, backup enabled by default, compatible with IA (EFS One Zone-IA)</a:t>
            </a:r>
          </a:p>
          <a:p>
            <a:pPr>
              <a:spcAft>
                <a:spcPts val="1000"/>
              </a:spcAft>
            </a:pPr>
            <a:r>
              <a:rPr sz="1800" b="0">
                <a:solidFill>
                  <a:srgbClr val="161B26"/>
                </a:solidFill>
                <a:latin typeface="Arial"/>
              </a:rPr>
              <a:t>•  Over 90% in cost savings</a:t>
            </a:r>
          </a:p>
          <a:p>
            <a:pPr>
              <a:spcAft>
                <a:spcPts val="1000"/>
              </a:spcAft>
            </a:pPr>
            <a:r>
              <a:rPr sz="1800" b="0">
                <a:solidFill>
                  <a:srgbClr val="161B26"/>
                </a:solidFill>
                <a:latin typeface="Arial"/>
              </a:rPr>
              <a:t>•  Amazon EFS File System</a:t>
            </a:r>
          </a:p>
          <a:p>
            <a:pPr>
              <a:spcAft>
                <a:spcPts val="1000"/>
              </a:spcAft>
            </a:pPr>
            <a:r>
              <a:rPr sz="1800" b="0">
                <a:solidFill>
                  <a:srgbClr val="161B26"/>
                </a:solidFill>
                <a:latin typeface="Arial"/>
              </a:rPr>
              <a:t>•  EFS IA</a:t>
            </a:r>
          </a:p>
          <a:p>
            <a:pPr>
              <a:spcAft>
                <a:spcPts val="1000"/>
              </a:spcAft>
            </a:pPr>
            <a:r>
              <a:rPr sz="1800" b="0">
                <a:solidFill>
                  <a:srgbClr val="161B26"/>
                </a:solidFill>
                <a:latin typeface="Arial"/>
              </a:rPr>
              <a:t>•  Lifecycle Policy</a:t>
            </a:r>
          </a:p>
          <a:p>
            <a:pPr>
              <a:spcAft>
                <a:spcPts val="1000"/>
              </a:spcAft>
            </a:pPr>
            <a:r>
              <a:rPr sz="1800" b="0">
                <a:solidFill>
                  <a:srgbClr val="161B26"/>
                </a:solidFill>
                <a:latin typeface="Arial"/>
              </a:rPr>
              <a:t>•  no access for 60 days</a:t>
            </a:r>
          </a:p>
          <a:p>
            <a:pPr>
              <a:spcAft>
                <a:spcPts val="1000"/>
              </a:spcAft>
            </a:pPr>
            <a:r>
              <a:rPr sz="1800" b="0">
                <a:solidFill>
                  <a:srgbClr val="161B26"/>
                </a:solidFill>
                <a:latin typeface="Arial"/>
              </a:rPr>
              <a:t>•  EFS Standard</a:t>
            </a:r>
          </a:p>
          <a:p>
            <a:pPr>
              <a:spcAft>
                <a:spcPts val="1000"/>
              </a:spcAft>
            </a:pPr>
            <a:r>
              <a:rPr sz="1800" b="0">
                <a:solidFill>
                  <a:srgbClr val="161B26"/>
                </a:solidFill>
                <a:latin typeface="Arial"/>
              </a:rPr>
              <a:t>•  move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59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53982" y="1801368"/>
            <a:ext cx="745355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60_0.png"/>
          <p:cNvPicPr>
            <a:picLocks noChangeAspect="1"/>
          </p:cNvPicPr>
          <p:nvPr/>
        </p:nvPicPr>
        <p:blipFill>
          <a:blip r:embed="rId2"/>
          <a:stretch>
            <a:fillRect/>
          </a:stretch>
        </p:blipFill>
        <p:spPr>
          <a:xfrm>
            <a:off x="2381414" y="1828800"/>
            <a:ext cx="739869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EFS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vs EFS - Elastic Block Storage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one instance (except multi-attach io1/io2)</a:t>
            </a:r>
          </a:p>
          <a:p>
            <a:pPr>
              <a:spcAft>
                <a:spcPts val="1000"/>
              </a:spcAft>
            </a:pPr>
            <a:r>
              <a:rPr sz="1800" b="0">
                <a:solidFill>
                  <a:srgbClr val="161B26"/>
                </a:solidFill>
                <a:latin typeface="Arial"/>
              </a:rPr>
              <a:t>•  are locked at the Availability Zone (AZ) level</a:t>
            </a:r>
          </a:p>
          <a:p>
            <a:pPr>
              <a:spcAft>
                <a:spcPts val="1000"/>
              </a:spcAft>
            </a:pPr>
            <a:r>
              <a:rPr sz="1800" b="0">
                <a:solidFill>
                  <a:srgbClr val="161B26"/>
                </a:solidFill>
                <a:latin typeface="Arial"/>
              </a:rPr>
              <a:t>•  gp2: IO increases if the disk size increases</a:t>
            </a:r>
          </a:p>
          <a:p>
            <a:pPr>
              <a:spcAft>
                <a:spcPts val="1000"/>
              </a:spcAft>
            </a:pPr>
            <a:r>
              <a:rPr sz="1800" b="0">
                <a:solidFill>
                  <a:srgbClr val="161B26"/>
                </a:solidFill>
                <a:latin typeface="Arial"/>
              </a:rPr>
              <a:t>•  gp3 &amp; io1: can increase IO independently</a:t>
            </a:r>
          </a:p>
          <a:p>
            <a:pPr>
              <a:spcAft>
                <a:spcPts val="1000"/>
              </a:spcAft>
            </a:pPr>
            <a:r>
              <a:rPr sz="1800" b="0">
                <a:solidFill>
                  <a:srgbClr val="161B26"/>
                </a:solidFill>
                <a:latin typeface="Arial"/>
              </a:rPr>
              <a:t>•  To migrate an EBS volume across AZ</a:t>
            </a:r>
          </a:p>
          <a:p>
            <a:pPr>
              <a:spcAft>
                <a:spcPts val="1000"/>
              </a:spcAft>
            </a:pPr>
            <a:r>
              <a:rPr sz="1800" b="0">
                <a:solidFill>
                  <a:srgbClr val="161B26"/>
                </a:solidFill>
                <a:latin typeface="Arial"/>
              </a:rPr>
              <a:t>•  Take a snapshot</a:t>
            </a:r>
          </a:p>
          <a:p>
            <a:pPr>
              <a:spcAft>
                <a:spcPts val="1000"/>
              </a:spcAft>
            </a:pPr>
            <a:r>
              <a:rPr sz="1800" b="0">
                <a:solidFill>
                  <a:srgbClr val="161B26"/>
                </a:solidFill>
                <a:latin typeface="Arial"/>
              </a:rPr>
              <a:t>•  Restore the snapshot to another AZ</a:t>
            </a:r>
          </a:p>
          <a:p>
            <a:pPr>
              <a:spcAft>
                <a:spcPts val="1000"/>
              </a:spcAft>
            </a:pPr>
            <a:r>
              <a:rPr sz="1800" b="0">
                <a:solidFill>
                  <a:srgbClr val="161B26"/>
                </a:solidFill>
                <a:latin typeface="Arial"/>
              </a:rPr>
              <a:t>•  EBS backups use IO and you shouldn’t run</a:t>
            </a:r>
          </a:p>
          <a:p>
            <a:pPr>
              <a:spcAft>
                <a:spcPts val="1000"/>
              </a:spcAft>
            </a:pPr>
            <a:r>
              <a:rPr sz="1800" b="0">
                <a:solidFill>
                  <a:srgbClr val="161B26"/>
                </a:solidFill>
                <a:latin typeface="Arial"/>
              </a:rPr>
              <a:t>•  them while your application is handling a lot of traffic</a:t>
            </a:r>
          </a:p>
          <a:p>
            <a:pPr>
              <a:spcAft>
                <a:spcPts val="1000"/>
              </a:spcAft>
            </a:pPr>
            <a:r>
              <a:rPr sz="1800" b="0">
                <a:solidFill>
                  <a:srgbClr val="161B26"/>
                </a:solidFill>
                <a:latin typeface="Arial"/>
              </a:rPr>
              <a:t>•  Root EBS Volumes of instances get terminated by default if the EC2 instance gets terminated. (you can disable that)</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restore</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EBS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vs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Mounting 100s of instances across AZ</a:t>
            </a:r>
          </a:p>
          <a:p>
            <a:pPr>
              <a:spcAft>
                <a:spcPts val="1000"/>
              </a:spcAft>
            </a:pPr>
            <a:r>
              <a:rPr sz="1800" b="0">
                <a:solidFill>
                  <a:srgbClr val="161B26"/>
                </a:solidFill>
                <a:latin typeface="Arial"/>
              </a:rPr>
              <a:t>•  EFS share website files (WordPress)</a:t>
            </a:r>
          </a:p>
          <a:p>
            <a:pPr>
              <a:spcAft>
                <a:spcPts val="1000"/>
              </a:spcAft>
            </a:pPr>
            <a:r>
              <a:rPr sz="1800" b="0">
                <a:solidFill>
                  <a:srgbClr val="161B26"/>
                </a:solidFill>
                <a:latin typeface="Arial"/>
              </a:rPr>
              <a:t>•  Only for Linux Instances (POSIX)</a:t>
            </a:r>
          </a:p>
          <a:p>
            <a:pPr>
              <a:spcAft>
                <a:spcPts val="1000"/>
              </a:spcAft>
            </a:pPr>
            <a:r>
              <a:rPr sz="1800" b="0">
                <a:solidFill>
                  <a:srgbClr val="161B26"/>
                </a:solidFill>
                <a:latin typeface="Arial"/>
              </a:rPr>
              <a:t>•  EFS has a higher price point than EBS</a:t>
            </a:r>
          </a:p>
          <a:p>
            <a:pPr>
              <a:spcAft>
                <a:spcPts val="1000"/>
              </a:spcAft>
            </a:pPr>
            <a:r>
              <a:rPr sz="1800" b="0">
                <a:solidFill>
                  <a:srgbClr val="161B26"/>
                </a:solidFill>
                <a:latin typeface="Arial"/>
              </a:rPr>
              <a:t>•  Can leverage Storage Tiers for cost savings</a:t>
            </a:r>
          </a:p>
          <a:p>
            <a:pPr>
              <a:spcAft>
                <a:spcPts val="1000"/>
              </a:spcAft>
            </a:pPr>
            <a:r>
              <a:rPr sz="1800" b="0">
                <a:solidFill>
                  <a:srgbClr val="161B26"/>
                </a:solidFill>
                <a:latin typeface="Arial"/>
              </a:rPr>
              <a:t>•  Remember: EFS vs EBS vs Instance Store</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Mount</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Mount</a:t>
            </a:r>
          </a:p>
          <a:p>
            <a:pPr>
              <a:spcAft>
                <a:spcPts val="1000"/>
              </a:spcAft>
            </a:pPr>
            <a:r>
              <a:rPr sz="1800" b="0">
                <a:solidFill>
                  <a:srgbClr val="161B26"/>
                </a:solidFill>
                <a:latin typeface="Arial"/>
              </a:rPr>
              <a:t>•  Target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Access 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Easily manage applications access to NFS environments</a:t>
            </a:r>
          </a:p>
          <a:p>
            <a:pPr>
              <a:spcAft>
                <a:spcPts val="1000"/>
              </a:spcAft>
            </a:pPr>
            <a:r>
              <a:rPr sz="1800" b="0">
                <a:solidFill>
                  <a:srgbClr val="161B26"/>
                </a:solidFill>
                <a:latin typeface="Arial"/>
              </a:rPr>
              <a:t>•  Enforce a POSIX user and group to use when accessing the file system</a:t>
            </a:r>
          </a:p>
          <a:p>
            <a:pPr>
              <a:spcAft>
                <a:spcPts val="1000"/>
              </a:spcAft>
            </a:pPr>
            <a:r>
              <a:rPr sz="1800" b="0">
                <a:solidFill>
                  <a:srgbClr val="161B26"/>
                </a:solidFill>
                <a:latin typeface="Arial"/>
              </a:rPr>
              <a:t>•  Restrict access to a directory within the file system and optionally specify a different root directory</a:t>
            </a:r>
          </a:p>
          <a:p>
            <a:pPr>
              <a:spcAft>
                <a:spcPts val="1000"/>
              </a:spcAft>
            </a:pPr>
            <a:r>
              <a:rPr sz="1800" b="0">
                <a:solidFill>
                  <a:srgbClr val="161B26"/>
                </a:solidFill>
                <a:latin typeface="Arial"/>
              </a:rPr>
              <a:t>•  Can restrict access from NFS clients using IAM policies</a:t>
            </a:r>
          </a:p>
          <a:p>
            <a:pPr>
              <a:spcAft>
                <a:spcPts val="1000"/>
              </a:spcAft>
            </a:pPr>
            <a:r>
              <a:rPr sz="1800" b="0">
                <a:solidFill>
                  <a:srgbClr val="161B26"/>
                </a:solidFill>
                <a:latin typeface="Arial"/>
              </a:rPr>
              <a:t>•  EFS File System</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a:t>
            </a:r>
          </a:p>
          <a:p>
            <a:pPr>
              <a:spcAft>
                <a:spcPts val="1000"/>
              </a:spcAft>
            </a:pPr>
            <a:r>
              <a:rPr sz="1800" b="0">
                <a:solidFill>
                  <a:srgbClr val="161B26"/>
                </a:solidFill>
                <a:latin typeface="Arial"/>
              </a:rPr>
              <a:t>•  /secret</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Access Point 1</a:t>
            </a:r>
          </a:p>
          <a:p>
            <a:pPr>
              <a:spcAft>
                <a:spcPts val="1000"/>
              </a:spcAft>
            </a:pPr>
            <a:r>
              <a:rPr sz="1800" b="0">
                <a:solidFill>
                  <a:srgbClr val="161B26"/>
                </a:solidFill>
                <a:latin typeface="Arial"/>
              </a:rPr>
              <a:t>•  UID: 1001</a:t>
            </a:r>
          </a:p>
          <a:p>
            <a:pPr>
              <a:spcAft>
                <a:spcPts val="1000"/>
              </a:spcAft>
            </a:pPr>
            <a:r>
              <a:rPr sz="1800" b="0">
                <a:solidFill>
                  <a:srgbClr val="161B26"/>
                </a:solidFill>
                <a:latin typeface="Arial"/>
              </a:rPr>
              <a:t>•  GID: 1001</a:t>
            </a:r>
          </a:p>
          <a:p>
            <a:pPr>
              <a:spcAft>
                <a:spcPts val="1000"/>
              </a:spcAft>
            </a:pPr>
            <a:r>
              <a:rPr sz="1800" b="0">
                <a:solidFill>
                  <a:srgbClr val="161B26"/>
                </a:solidFill>
                <a:latin typeface="Arial"/>
              </a:rPr>
              <a:t>•  Path: /config</a:t>
            </a:r>
          </a:p>
          <a:p>
            <a:pPr>
              <a:spcAft>
                <a:spcPts val="1000"/>
              </a:spcAft>
            </a:pPr>
            <a:r>
              <a:rPr sz="1800" b="0">
                <a:solidFill>
                  <a:srgbClr val="161B26"/>
                </a:solidFill>
                <a:latin typeface="Arial"/>
              </a:rPr>
              <a:t>•  Access Point 2</a:t>
            </a:r>
          </a:p>
          <a:p>
            <a:pPr>
              <a:spcAft>
                <a:spcPts val="1000"/>
              </a:spcAft>
            </a:pPr>
            <a:r>
              <a:rPr sz="1800" b="0">
                <a:solidFill>
                  <a:srgbClr val="161B26"/>
                </a:solidFill>
                <a:latin typeface="Arial"/>
              </a:rPr>
              <a:t>•  UID: 1002</a:t>
            </a:r>
          </a:p>
          <a:p>
            <a:pPr>
              <a:spcAft>
                <a:spcPts val="1000"/>
              </a:spcAft>
            </a:pPr>
            <a:r>
              <a:rPr sz="1800" b="0">
                <a:solidFill>
                  <a:srgbClr val="161B26"/>
                </a:solidFill>
                <a:latin typeface="Arial"/>
              </a:rPr>
              <a:t>•  GID: 1002</a:t>
            </a:r>
          </a:p>
          <a:p>
            <a:pPr>
              <a:spcAft>
                <a:spcPts val="1000"/>
              </a:spcAft>
            </a:pPr>
            <a:r>
              <a:rPr sz="1800" b="0">
                <a:solidFill>
                  <a:srgbClr val="161B26"/>
                </a:solidFill>
                <a:latin typeface="Arial"/>
              </a:rPr>
              <a:t>•  Path: /data</a:t>
            </a:r>
          </a:p>
          <a:p>
            <a:pPr>
              <a:spcAft>
                <a:spcPts val="1000"/>
              </a:spcAft>
            </a:pPr>
            <a:r>
              <a:rPr sz="1800" b="0">
                <a:solidFill>
                  <a:srgbClr val="161B26"/>
                </a:solidFill>
                <a:latin typeface="Arial"/>
              </a:rPr>
              <a:t>•  Analytics Users/Groups</a:t>
            </a:r>
          </a:p>
          <a:p>
            <a:pPr>
              <a:spcAft>
                <a:spcPts val="1000"/>
              </a:spcAft>
            </a:pPr>
            <a:r>
              <a:rPr sz="1800" b="0">
                <a:solidFill>
                  <a:srgbClr val="161B26"/>
                </a:solidFill>
                <a:latin typeface="Arial"/>
              </a:rPr>
              <a:t>•  Developers Users/Groups</a:t>
            </a:r>
          </a:p>
          <a:p>
            <a:pPr>
              <a:spcAft>
                <a:spcPts val="1000"/>
              </a:spcAft>
            </a:pPr>
            <a:r>
              <a:rPr sz="1800" b="0">
                <a:solidFill>
                  <a:srgbClr val="161B26"/>
                </a:solidFill>
                <a:latin typeface="Arial"/>
              </a:rPr>
              <a:t>•  / = /data</a:t>
            </a:r>
          </a:p>
          <a:p>
            <a:pPr>
              <a:spcAft>
                <a:spcPts val="1000"/>
              </a:spcAft>
            </a:pPr>
            <a:r>
              <a:rPr sz="1800" b="0">
                <a:solidFill>
                  <a:srgbClr val="161B26"/>
                </a:solidFill>
                <a:latin typeface="Arial"/>
              </a:rPr>
              <a:t>•  / = /config</a:t>
            </a:r>
          </a:p>
          <a:p>
            <a:pPr>
              <a:spcAft>
                <a:spcPts val="1000"/>
              </a:spcAft>
            </a:pPr>
            <a:r>
              <a:rPr sz="1800" b="0">
                <a:solidFill>
                  <a:srgbClr val="161B26"/>
                </a:solidFill>
                <a:latin typeface="Arial"/>
              </a:rPr>
              <a:t>•  Permissions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50081" y="1801368"/>
            <a:ext cx="60613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64_0.png"/>
          <p:cNvPicPr>
            <a:picLocks noChangeAspect="1"/>
          </p:cNvPicPr>
          <p:nvPr/>
        </p:nvPicPr>
        <p:blipFill>
          <a:blip r:embed="rId2"/>
          <a:stretch>
            <a:fillRect/>
          </a:stretch>
        </p:blipFill>
        <p:spPr>
          <a:xfrm>
            <a:off x="3077513" y="1828800"/>
            <a:ext cx="600649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EFS Access Point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Operations that can be done in place:</a:t>
            </a:r>
          </a:p>
          <a:p>
            <a:pPr>
              <a:spcAft>
                <a:spcPts val="1000"/>
              </a:spcAft>
            </a:pPr>
            <a:r>
              <a:rPr sz="1800" b="0">
                <a:solidFill>
                  <a:srgbClr val="161B26"/>
                </a:solidFill>
                <a:latin typeface="Arial"/>
              </a:rPr>
              <a:t>•  Lifecycle Policy (enable IA or change IA settings)</a:t>
            </a:r>
          </a:p>
          <a:p>
            <a:pPr>
              <a:spcAft>
                <a:spcPts val="1000"/>
              </a:spcAft>
            </a:pPr>
            <a:r>
              <a:rPr sz="1800" b="0">
                <a:solidFill>
                  <a:srgbClr val="161B26"/>
                </a:solidFill>
                <a:latin typeface="Arial"/>
              </a:rPr>
              <a:t>•  Throughput Mode and Provisioned Throughput 	Numbers</a:t>
            </a:r>
          </a:p>
          <a:p>
            <a:pPr>
              <a:spcAft>
                <a:spcPts val="1000"/>
              </a:spcAft>
            </a:pPr>
            <a:r>
              <a:rPr sz="1800" b="0">
                <a:solidFill>
                  <a:srgbClr val="161B26"/>
                </a:solidFill>
                <a:latin typeface="Arial"/>
              </a:rPr>
              <a:t>•  EFS Access Points</a:t>
            </a:r>
          </a:p>
          <a:p>
            <a:pPr>
              <a:spcAft>
                <a:spcPts val="1000"/>
              </a:spcAft>
            </a:pPr>
            <a:r>
              <a:rPr sz="1800" b="0">
                <a:solidFill>
                  <a:srgbClr val="161B26"/>
                </a:solidFill>
                <a:latin typeface="Arial"/>
              </a:rPr>
              <a:t>•  Operations that require a migration using DataSync (replicates all file attributes and metadata)</a:t>
            </a:r>
          </a:p>
          <a:p>
            <a:pPr>
              <a:spcAft>
                <a:spcPts val="1000"/>
              </a:spcAft>
            </a:pPr>
            <a:r>
              <a:rPr sz="1800" b="0">
                <a:solidFill>
                  <a:srgbClr val="161B26"/>
                </a:solidFill>
                <a:latin typeface="Arial"/>
              </a:rPr>
              <a:t>•  Migration to encrypted EFS</a:t>
            </a:r>
          </a:p>
          <a:p>
            <a:pPr>
              <a:spcAft>
                <a:spcPts val="1000"/>
              </a:spcAft>
            </a:pPr>
            <a:r>
              <a:rPr sz="1800" b="0">
                <a:solidFill>
                  <a:srgbClr val="161B26"/>
                </a:solidFill>
                <a:latin typeface="Arial"/>
              </a:rPr>
              <a:t>•  Performance Mode (e.g. Max IO)</a:t>
            </a:r>
          </a:p>
          <a:p>
            <a:pPr>
              <a:spcAft>
                <a:spcPts val="1000"/>
              </a:spcAft>
            </a:pPr>
            <a:r>
              <a:rPr sz="1800" b="0">
                <a:solidFill>
                  <a:srgbClr val="161B26"/>
                </a:solidFill>
                <a:latin typeface="Arial"/>
              </a:rPr>
              <a:t>•  AWS DataSync</a:t>
            </a:r>
          </a:p>
          <a:p>
            <a:pPr>
              <a:spcAft>
                <a:spcPts val="1000"/>
              </a:spcAft>
            </a:pPr>
            <a:r>
              <a:rPr sz="1800" b="0">
                <a:solidFill>
                  <a:srgbClr val="161B26"/>
                </a:solidFill>
                <a:latin typeface="Arial"/>
              </a:rPr>
              <a:t>•  EFS File System</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EFS File System</a:t>
            </a:r>
          </a:p>
          <a:p>
            <a:pPr>
              <a:spcAft>
                <a:spcPts val="1000"/>
              </a:spcAft>
            </a:pPr>
            <a:r>
              <a:rPr sz="1800" b="0">
                <a:solidFill>
                  <a:srgbClr val="161B26"/>
                </a:solidFill>
                <a:latin typeface="Arial"/>
              </a:rPr>
              <a:t>•  (destination -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45814" y="1801368"/>
            <a:ext cx="82698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66_0.png"/>
          <p:cNvPicPr>
            <a:picLocks noChangeAspect="1"/>
          </p:cNvPicPr>
          <p:nvPr/>
        </p:nvPicPr>
        <p:blipFill>
          <a:blip r:embed="rId2"/>
          <a:stretch>
            <a:fillRect/>
          </a:stretch>
        </p:blipFill>
        <p:spPr>
          <a:xfrm>
            <a:off x="1973246" y="1828800"/>
            <a:ext cx="82150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97622" y="1801368"/>
            <a:ext cx="956627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67_0.png"/>
          <p:cNvPicPr>
            <a:picLocks noChangeAspect="1"/>
          </p:cNvPicPr>
          <p:nvPr/>
        </p:nvPicPr>
        <p:blipFill>
          <a:blip r:embed="rId2"/>
          <a:stretch>
            <a:fillRect/>
          </a:stretch>
        </p:blipFill>
        <p:spPr>
          <a:xfrm>
            <a:off x="1325054" y="1828800"/>
            <a:ext cx="951141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AWS DataSync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CloudWatch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01914" y="1801368"/>
            <a:ext cx="635769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68_0.jpg"/>
          <p:cNvPicPr>
            <a:picLocks noChangeAspect="1"/>
          </p:cNvPicPr>
          <p:nvPr/>
        </p:nvPicPr>
        <p:blipFill>
          <a:blip r:embed="rId2"/>
          <a:stretch>
            <a:fillRect/>
          </a:stretch>
        </p:blipFill>
        <p:spPr>
          <a:xfrm>
            <a:off x="2929346" y="1828800"/>
            <a:ext cx="630282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PercentIOLimit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S3</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Amazon S3 is one of the main building blocks of AWS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It’s advertised as ”infinitely scaling” storage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Many websites use Amazon S3 as a backbone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Many AWS services use Amazon S3 as an integration as well</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We’ll have a step-by-step approach to S3</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71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47783" y="1801368"/>
            <a:ext cx="566595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72_0.png"/>
          <p:cNvPicPr>
            <a:picLocks noChangeAspect="1"/>
          </p:cNvPicPr>
          <p:nvPr/>
        </p:nvPicPr>
        <p:blipFill>
          <a:blip r:embed="rId2"/>
          <a:stretch>
            <a:fillRect/>
          </a:stretch>
        </p:blipFill>
        <p:spPr>
          <a:xfrm>
            <a:off x="3275215" y="1828800"/>
            <a:ext cx="561109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Backup and storage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 Buckets</a:t>
            </a:r>
          </a:p>
          <a:p>
            <a:pPr>
              <a:spcAft>
                <a:spcPts val="1000"/>
              </a:spcAft>
            </a:pPr>
            <a:r>
              <a:rPr sz="1800" b="0">
                <a:solidFill>
                  <a:srgbClr val="161B26"/>
                </a:solidFill>
                <a:latin typeface="Arial"/>
              </a:rPr>
              <a:t>•  Amazon S3 allows people to store objects (files) in “buckets” (directories)</a:t>
            </a:r>
          </a:p>
          <a:p>
            <a:pPr>
              <a:spcAft>
                <a:spcPts val="1000"/>
              </a:spcAft>
            </a:pPr>
            <a:r>
              <a:rPr sz="1800" b="0">
                <a:solidFill>
                  <a:srgbClr val="161B26"/>
                </a:solidFill>
                <a:latin typeface="Arial"/>
              </a:rPr>
              <a:t>•  Buckets must have a globally unique name (across all regions all accounts)</a:t>
            </a:r>
          </a:p>
          <a:p>
            <a:pPr>
              <a:spcAft>
                <a:spcPts val="1000"/>
              </a:spcAft>
            </a:pPr>
            <a:r>
              <a:rPr sz="1800" b="0">
                <a:solidFill>
                  <a:srgbClr val="161B26"/>
                </a:solidFill>
                <a:latin typeface="Arial"/>
              </a:rPr>
              <a:t>•  Buckets are defined at the region level</a:t>
            </a:r>
          </a:p>
          <a:p>
            <a:pPr>
              <a:spcAft>
                <a:spcPts val="1000"/>
              </a:spcAft>
            </a:pPr>
            <a:r>
              <a:rPr sz="1800" b="0">
                <a:solidFill>
                  <a:srgbClr val="161B26"/>
                </a:solidFill>
                <a:latin typeface="Arial"/>
              </a:rPr>
              <a:t>•  S3 looks like a global service but buckets are created in a region</a:t>
            </a:r>
          </a:p>
          <a:p>
            <a:pPr>
              <a:spcAft>
                <a:spcPts val="1000"/>
              </a:spcAft>
            </a:pPr>
            <a:r>
              <a:rPr sz="1800" b="0">
                <a:solidFill>
                  <a:srgbClr val="161B26"/>
                </a:solidFill>
                <a:latin typeface="Arial"/>
              </a:rPr>
              <a:t>•  Naming convention</a:t>
            </a:r>
          </a:p>
          <a:p>
            <a:pPr>
              <a:spcAft>
                <a:spcPts val="1000"/>
              </a:spcAft>
            </a:pPr>
            <a:r>
              <a:rPr sz="1800" b="0">
                <a:solidFill>
                  <a:srgbClr val="161B26"/>
                </a:solidFill>
                <a:latin typeface="Arial"/>
              </a:rPr>
              <a:t>•  No uppercase, No underscore</a:t>
            </a:r>
          </a:p>
          <a:p>
            <a:pPr>
              <a:spcAft>
                <a:spcPts val="1000"/>
              </a:spcAft>
            </a:pPr>
            <a:r>
              <a:rPr sz="1800" b="0">
                <a:solidFill>
                  <a:srgbClr val="161B26"/>
                </a:solidFill>
                <a:latin typeface="Arial"/>
              </a:rPr>
              <a:t>•  3-63 characters long</a:t>
            </a:r>
          </a:p>
          <a:p>
            <a:pPr>
              <a:spcAft>
                <a:spcPts val="1000"/>
              </a:spcAft>
            </a:pPr>
            <a:r>
              <a:rPr sz="1800" b="0">
                <a:solidFill>
                  <a:srgbClr val="161B26"/>
                </a:solidFill>
                <a:latin typeface="Arial"/>
              </a:rPr>
              <a:t>•  Not an IP</a:t>
            </a:r>
          </a:p>
          <a:p>
            <a:pPr>
              <a:spcAft>
                <a:spcPts val="1000"/>
              </a:spcAft>
            </a:pPr>
            <a:r>
              <a:rPr sz="1800" b="0">
                <a:solidFill>
                  <a:srgbClr val="161B26"/>
                </a:solidFill>
                <a:latin typeface="Arial"/>
              </a:rPr>
              <a:t>•  Must start with lowercase letter or number</a:t>
            </a:r>
          </a:p>
          <a:p>
            <a:pPr>
              <a:spcAft>
                <a:spcPts val="1000"/>
              </a:spcAft>
            </a:pPr>
            <a:r>
              <a:rPr sz="1800" b="0">
                <a:solidFill>
                  <a:srgbClr val="161B26"/>
                </a:solidFill>
                <a:latin typeface="Arial"/>
              </a:rPr>
              <a:t>•  Must NOT start with the prefix xn--</a:t>
            </a:r>
          </a:p>
          <a:p>
            <a:pPr>
              <a:spcAft>
                <a:spcPts val="1000"/>
              </a:spcAft>
            </a:pPr>
            <a:r>
              <a:rPr sz="1800" b="0">
                <a:solidFill>
                  <a:srgbClr val="161B26"/>
                </a:solidFill>
                <a:latin typeface="Arial"/>
              </a:rPr>
              <a:t>•  Must NOT end with the suffix -s3alias</a:t>
            </a:r>
          </a:p>
          <a:p>
            <a:pPr>
              <a:spcAft>
                <a:spcPts val="1000"/>
              </a:spcAft>
            </a:pPr>
            <a:r>
              <a:rPr sz="1800" b="0">
                <a:solidFill>
                  <a:srgbClr val="161B26"/>
                </a:solidFill>
                <a:latin typeface="Arial"/>
              </a:rPr>
              <a:t>•  S3 Bucket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Object (files) have a Key</a:t>
            </a:r>
          </a:p>
          <a:p>
            <a:pPr>
              <a:spcAft>
                <a:spcPts val="1000"/>
              </a:spcAft>
            </a:pPr>
            <a:r>
              <a:rPr sz="1800" b="0">
                <a:solidFill>
                  <a:srgbClr val="161B26"/>
                </a:solidFill>
                <a:latin typeface="Arial"/>
              </a:rPr>
              <a:t>•  The key is the FULL path:</a:t>
            </a:r>
          </a:p>
          <a:p>
            <a:pPr>
              <a:spcAft>
                <a:spcPts val="1000"/>
              </a:spcAft>
            </a:pPr>
            <a:r>
              <a:rPr sz="1800" b="0">
                <a:solidFill>
                  <a:srgbClr val="161B26"/>
                </a:solidFill>
                <a:latin typeface="Arial"/>
              </a:rPr>
              <a:t>•  s3://my-bucket/my_file.txt</a:t>
            </a:r>
          </a:p>
          <a:p>
            <a:pPr>
              <a:spcAft>
                <a:spcPts val="1000"/>
              </a:spcAft>
            </a:pPr>
            <a:r>
              <a:rPr sz="1800" b="0">
                <a:solidFill>
                  <a:srgbClr val="161B26"/>
                </a:solidFill>
                <a:latin typeface="Arial"/>
              </a:rPr>
              <a:t>•  s3://my-bucket/my_folder1/another_folder/my_file.txt</a:t>
            </a:r>
          </a:p>
          <a:p>
            <a:pPr>
              <a:spcAft>
                <a:spcPts val="1000"/>
              </a:spcAft>
            </a:pPr>
            <a:r>
              <a:rPr sz="1800" b="0">
                <a:solidFill>
                  <a:srgbClr val="161B26"/>
                </a:solidFill>
                <a:latin typeface="Arial"/>
              </a:rPr>
              <a:t>•  They key is composed of prefix + object name</a:t>
            </a:r>
          </a:p>
          <a:p>
            <a:pPr>
              <a:spcAft>
                <a:spcPts val="1000"/>
              </a:spcAft>
            </a:pPr>
            <a:r>
              <a:rPr sz="1800" b="0">
                <a:solidFill>
                  <a:srgbClr val="161B26"/>
                </a:solidFill>
                <a:latin typeface="Arial"/>
              </a:rPr>
              <a:t>•  s3://my-bucket/my_folder1/another_folder/my_file.txt</a:t>
            </a:r>
          </a:p>
          <a:p>
            <a:pPr>
              <a:spcAft>
                <a:spcPts val="1000"/>
              </a:spcAft>
            </a:pPr>
            <a:r>
              <a:rPr sz="1800" b="0">
                <a:solidFill>
                  <a:srgbClr val="161B26"/>
                </a:solidFill>
                <a:latin typeface="Arial"/>
              </a:rPr>
              <a:t>•  There’s no concept of “directories” within buckets (although the UI will trick you to think otherwise)</a:t>
            </a:r>
          </a:p>
          <a:p>
            <a:pPr>
              <a:spcAft>
                <a:spcPts val="1000"/>
              </a:spcAft>
            </a:pPr>
            <a:r>
              <a:rPr sz="1800" b="0">
                <a:solidFill>
                  <a:srgbClr val="161B26"/>
                </a:solidFill>
                <a:latin typeface="Arial"/>
              </a:rPr>
              <a:t>•  Just keys with very long names that contain slashes (“/”)</a:t>
            </a:r>
          </a:p>
          <a:p>
            <a:pPr>
              <a:spcAft>
                <a:spcPts val="1000"/>
              </a:spcAft>
            </a:pPr>
            <a:r>
              <a:rPr sz="1800" b="0">
                <a:solidFill>
                  <a:srgbClr val="161B26"/>
                </a:solidFill>
                <a:latin typeface="Arial"/>
              </a:rPr>
              <a:t>•  S3 Bucket with Objects</a:t>
            </a:r>
          </a:p>
          <a:p>
            <a:pPr>
              <a:spcAft>
                <a:spcPts val="1000"/>
              </a:spcAft>
            </a:pPr>
            <a:r>
              <a:rPr sz="1800" b="0">
                <a:solidFill>
                  <a:srgbClr val="161B26"/>
                </a:solidFill>
                <a:latin typeface="Arial"/>
              </a:rPr>
              <a:t>•  Object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 (cont.)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Object values are the content of the body:</a:t>
            </a:r>
          </a:p>
          <a:p>
            <a:pPr>
              <a:spcAft>
                <a:spcPts val="1000"/>
              </a:spcAft>
            </a:pPr>
            <a:r>
              <a:rPr sz="2000" b="0">
                <a:solidFill>
                  <a:srgbClr val="161B26"/>
                </a:solidFill>
                <a:latin typeface="Arial"/>
              </a:rPr>
              <a:t>•  Max. Object Size is 5TB (5000GB)</a:t>
            </a:r>
          </a:p>
          <a:p>
            <a:pPr>
              <a:spcAft>
                <a:spcPts val="1000"/>
              </a:spcAft>
            </a:pPr>
            <a:r>
              <a:rPr sz="2000" b="0">
                <a:solidFill>
                  <a:srgbClr val="161B26"/>
                </a:solidFill>
                <a:latin typeface="Arial"/>
              </a:rPr>
              <a:t>•  If uploading more than 5GB, must use “multi-part upload”</a:t>
            </a:r>
          </a:p>
          <a:p>
            <a:pPr>
              <a:spcAft>
                <a:spcPts val="1000"/>
              </a:spcAft>
            </a:pPr>
            <a:r>
              <a:rPr sz="2000" b="0">
                <a:solidFill>
                  <a:srgbClr val="161B26"/>
                </a:solidFill>
                <a:latin typeface="Arial"/>
              </a:rPr>
              <a:t>•  Metadata (list of text key / value pairs – system or user metadata)</a:t>
            </a:r>
          </a:p>
          <a:p>
            <a:pPr>
              <a:spcAft>
                <a:spcPts val="1000"/>
              </a:spcAft>
            </a:pPr>
            <a:r>
              <a:rPr sz="2000" b="0">
                <a:solidFill>
                  <a:srgbClr val="161B26"/>
                </a:solidFill>
                <a:latin typeface="Arial"/>
              </a:rPr>
              <a:t>•  Tags (Unicode key / value pair – up to 10) – useful for security / lifecycle</a:t>
            </a:r>
          </a:p>
          <a:p>
            <a:pPr>
              <a:spcAft>
                <a:spcPts val="1000"/>
              </a:spcAft>
            </a:pPr>
            <a:r>
              <a:rPr sz="2000" b="0">
                <a:solidFill>
                  <a:srgbClr val="161B26"/>
                </a:solidFill>
                <a:latin typeface="Arial"/>
              </a:rPr>
              <a:t>•  Version ID (if versioning is enabled)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Security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User-Based</a:t>
            </a:r>
          </a:p>
          <a:p>
            <a:pPr>
              <a:spcAft>
                <a:spcPts val="1000"/>
              </a:spcAft>
            </a:pPr>
            <a:r>
              <a:rPr sz="1800" b="0">
                <a:solidFill>
                  <a:srgbClr val="161B26"/>
                </a:solidFill>
                <a:latin typeface="Arial"/>
              </a:rPr>
              <a:t>•  IAM Policies - which API calls should be allowed for a specific user from IAM</a:t>
            </a:r>
          </a:p>
          <a:p>
            <a:pPr>
              <a:spcAft>
                <a:spcPts val="1000"/>
              </a:spcAft>
            </a:pPr>
            <a:r>
              <a:rPr sz="1800" b="0">
                <a:solidFill>
                  <a:srgbClr val="161B26"/>
                </a:solidFill>
                <a:latin typeface="Arial"/>
              </a:rPr>
              <a:t>•  Resource-Based</a:t>
            </a:r>
          </a:p>
          <a:p>
            <a:pPr>
              <a:spcAft>
                <a:spcPts val="1000"/>
              </a:spcAft>
            </a:pPr>
            <a:r>
              <a:rPr sz="1800" b="0">
                <a:solidFill>
                  <a:srgbClr val="161B26"/>
                </a:solidFill>
                <a:latin typeface="Arial"/>
              </a:rPr>
              <a:t>•  Bucket policies - bucket wide rules from the S3 console - allows cross account</a:t>
            </a:r>
          </a:p>
          <a:p>
            <a:pPr>
              <a:spcAft>
                <a:spcPts val="1000"/>
              </a:spcAft>
            </a:pPr>
            <a:r>
              <a:rPr sz="1800" b="0">
                <a:solidFill>
                  <a:srgbClr val="161B26"/>
                </a:solidFill>
                <a:latin typeface="Arial"/>
              </a:rPr>
              <a:t>•  Object Access Control List (ACL) - finer grain (can be disabled)</a:t>
            </a:r>
          </a:p>
          <a:p>
            <a:pPr>
              <a:spcAft>
                <a:spcPts val="1000"/>
              </a:spcAft>
            </a:pPr>
            <a:r>
              <a:rPr sz="1800" b="0">
                <a:solidFill>
                  <a:srgbClr val="161B26"/>
                </a:solidFill>
                <a:latin typeface="Arial"/>
              </a:rPr>
              <a:t>•  Bucket Access Control List (ACL) - less common (can be disabled)</a:t>
            </a:r>
          </a:p>
          <a:p>
            <a:pPr>
              <a:spcAft>
                <a:spcPts val="1000"/>
              </a:spcAft>
            </a:pPr>
            <a:r>
              <a:rPr sz="1800" b="0">
                <a:solidFill>
                  <a:srgbClr val="161B26"/>
                </a:solidFill>
                <a:latin typeface="Arial"/>
              </a:rPr>
              <a:t>•  Note: an IAM principal can access an S3 object if</a:t>
            </a:r>
          </a:p>
          <a:p>
            <a:pPr>
              <a:spcAft>
                <a:spcPts val="1000"/>
              </a:spcAft>
            </a:pPr>
            <a:r>
              <a:rPr sz="1800" b="0">
                <a:solidFill>
                  <a:srgbClr val="161B26"/>
                </a:solidFill>
                <a:latin typeface="Arial"/>
              </a:rPr>
              <a:t>•  The user IAM permissions ALLOW it OR the resource policy ALLOWS it</a:t>
            </a:r>
          </a:p>
          <a:p>
            <a:pPr>
              <a:spcAft>
                <a:spcPts val="1000"/>
              </a:spcAft>
            </a:pPr>
            <a:r>
              <a:rPr sz="1800" b="0">
                <a:solidFill>
                  <a:srgbClr val="161B26"/>
                </a:solidFill>
                <a:latin typeface="Arial"/>
              </a:rPr>
              <a:t>•  AND there’s no explicit DENY</a:t>
            </a:r>
          </a:p>
          <a:p>
            <a:pPr>
              <a:spcAft>
                <a:spcPts val="1000"/>
              </a:spcAft>
            </a:pPr>
            <a:r>
              <a:rPr sz="1800" b="0">
                <a:solidFill>
                  <a:srgbClr val="161B26"/>
                </a:solidFill>
                <a:latin typeface="Arial"/>
              </a:rPr>
              <a:t>•  Encryption: encrypt objects in Amazon S3 using encryption keys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Amazon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62772"/>
            <a:ext cx="10479024" cy="384685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77_0.png"/>
          <p:cNvPicPr>
            <a:picLocks noChangeAspect="1"/>
          </p:cNvPicPr>
          <p:nvPr/>
        </p:nvPicPr>
        <p:blipFill>
          <a:blip r:embed="rId2"/>
          <a:stretch>
            <a:fillRect/>
          </a:stretch>
        </p:blipFill>
        <p:spPr>
          <a:xfrm>
            <a:off x="868680" y="1990204"/>
            <a:ext cx="10424160" cy="379199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bucket and upload images to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Bucket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JSON based policies</a:t>
            </a:r>
          </a:p>
          <a:p>
            <a:pPr>
              <a:spcAft>
                <a:spcPts val="1000"/>
              </a:spcAft>
            </a:pPr>
            <a:r>
              <a:rPr sz="1800" b="0">
                <a:solidFill>
                  <a:srgbClr val="161B26"/>
                </a:solidFill>
                <a:latin typeface="Arial"/>
              </a:rPr>
              <a:t>•  Resources: buckets and objects</a:t>
            </a:r>
          </a:p>
          <a:p>
            <a:pPr>
              <a:spcAft>
                <a:spcPts val="1000"/>
              </a:spcAft>
            </a:pPr>
            <a:r>
              <a:rPr sz="1800" b="0">
                <a:solidFill>
                  <a:srgbClr val="161B26"/>
                </a:solidFill>
                <a:latin typeface="Arial"/>
              </a:rPr>
              <a:t>•  Effect: Allow / Deny</a:t>
            </a:r>
          </a:p>
          <a:p>
            <a:pPr>
              <a:spcAft>
                <a:spcPts val="1000"/>
              </a:spcAft>
            </a:pPr>
            <a:r>
              <a:rPr sz="1800" b="0">
                <a:solidFill>
                  <a:srgbClr val="161B26"/>
                </a:solidFill>
                <a:latin typeface="Arial"/>
              </a:rPr>
              <a:t>•  Actions: Set of API to Allow or Deny</a:t>
            </a:r>
          </a:p>
          <a:p>
            <a:pPr>
              <a:spcAft>
                <a:spcPts val="1000"/>
              </a:spcAft>
            </a:pPr>
            <a:r>
              <a:rPr sz="1800" b="0">
                <a:solidFill>
                  <a:srgbClr val="161B26"/>
                </a:solidFill>
                <a:latin typeface="Arial"/>
              </a:rPr>
              <a:t>•  Principal: The account or user to apply the policy to</a:t>
            </a:r>
          </a:p>
          <a:p>
            <a:pPr>
              <a:spcAft>
                <a:spcPts val="1000"/>
              </a:spcAft>
            </a:pPr>
            <a:r>
              <a:rPr sz="1800" b="0">
                <a:solidFill>
                  <a:srgbClr val="161B26"/>
                </a:solidFill>
                <a:latin typeface="Arial"/>
              </a:rPr>
              <a:t>•  Use S3 bucket for policy to:</a:t>
            </a:r>
          </a:p>
          <a:p>
            <a:pPr>
              <a:spcAft>
                <a:spcPts val="1000"/>
              </a:spcAft>
            </a:pPr>
            <a:r>
              <a:rPr sz="1800" b="0">
                <a:solidFill>
                  <a:srgbClr val="161B26"/>
                </a:solidFill>
                <a:latin typeface="Arial"/>
              </a:rPr>
              <a:t>•  Grant public access to the bucket</a:t>
            </a:r>
          </a:p>
          <a:p>
            <a:pPr>
              <a:spcAft>
                <a:spcPts val="1000"/>
              </a:spcAft>
            </a:pPr>
            <a:r>
              <a:rPr sz="1800" b="0">
                <a:solidFill>
                  <a:srgbClr val="161B26"/>
                </a:solidFill>
                <a:latin typeface="Arial"/>
              </a:rPr>
              <a:t>•  Force objects to be encrypted at upload</a:t>
            </a:r>
          </a:p>
          <a:p>
            <a:pPr>
              <a:spcAft>
                <a:spcPts val="1000"/>
              </a:spcAft>
            </a:pPr>
            <a:r>
              <a:rPr sz="1800" b="0">
                <a:solidFill>
                  <a:srgbClr val="161B26"/>
                </a:solidFill>
                <a:latin typeface="Arial"/>
              </a:rPr>
              <a:t>•  Grant access to another account (Cross Account)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Public Access - Use Bucket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Anonymous www website visitor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 Policy Allows Public Access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Example: User Access to S3 - IAM permissions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IAM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IAM User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Example: EC2 instance access - Use IAM Roles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Instance Role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IAM permissions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Instance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Advanced: Cross-Account Access - Use Bucket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IAM User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Other AWS account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 Policy Allows Cross-Account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Bucket settings for Block Public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74538"/>
            <a:ext cx="10479024" cy="342332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83_0.jpg"/>
          <p:cNvPicPr>
            <a:picLocks noChangeAspect="1"/>
          </p:cNvPicPr>
          <p:nvPr/>
        </p:nvPicPr>
        <p:blipFill>
          <a:blip r:embed="rId2"/>
          <a:stretch>
            <a:fillRect/>
          </a:stretch>
        </p:blipFill>
        <p:spPr>
          <a:xfrm>
            <a:off x="868680" y="2201970"/>
            <a:ext cx="10424160" cy="336845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These settings were created to prevent company data leaks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Bucket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S3 bucket for policy to:</a:t>
            </a:r>
          </a:p>
          <a:p>
            <a:pPr>
              <a:spcAft>
                <a:spcPts val="1000"/>
              </a:spcAft>
            </a:pPr>
            <a:r>
              <a:rPr sz="1800" b="0">
                <a:solidFill>
                  <a:srgbClr val="161B26"/>
                </a:solidFill>
                <a:latin typeface="Arial"/>
              </a:rPr>
              <a:t>•  Grant public access to the bucket</a:t>
            </a:r>
          </a:p>
          <a:p>
            <a:pPr>
              <a:spcAft>
                <a:spcPts val="1000"/>
              </a:spcAft>
            </a:pPr>
            <a:r>
              <a:rPr sz="1800" b="0">
                <a:solidFill>
                  <a:srgbClr val="161B26"/>
                </a:solidFill>
                <a:latin typeface="Arial"/>
              </a:rPr>
              <a:t>•  Force objects to be encrypted at upload</a:t>
            </a:r>
          </a:p>
          <a:p>
            <a:pPr>
              <a:spcAft>
                <a:spcPts val="1000"/>
              </a:spcAft>
            </a:pPr>
            <a:r>
              <a:rPr sz="1800" b="0">
                <a:solidFill>
                  <a:srgbClr val="161B26"/>
                </a:solidFill>
                <a:latin typeface="Arial"/>
              </a:rPr>
              <a:t>•  Grant access to another account (Cross account)</a:t>
            </a:r>
          </a:p>
          <a:p>
            <a:pPr>
              <a:spcAft>
                <a:spcPts val="1000"/>
              </a:spcAft>
            </a:pPr>
            <a:r>
              <a:rPr sz="1800" b="0">
                <a:solidFill>
                  <a:srgbClr val="161B26"/>
                </a:solidFill>
                <a:latin typeface="Arial"/>
              </a:rPr>
              <a:t>•  Optional Conditions on:</a:t>
            </a:r>
          </a:p>
          <a:p>
            <a:pPr>
              <a:spcAft>
                <a:spcPts val="1000"/>
              </a:spcAft>
            </a:pPr>
            <a:r>
              <a:rPr sz="1800" b="0">
                <a:solidFill>
                  <a:srgbClr val="161B26"/>
                </a:solidFill>
                <a:latin typeface="Arial"/>
              </a:rPr>
              <a:t>•  Public IP or Elastic IP (not on Private IP)</a:t>
            </a:r>
          </a:p>
          <a:p>
            <a:pPr>
              <a:spcAft>
                <a:spcPts val="1000"/>
              </a:spcAft>
            </a:pPr>
            <a:r>
              <a:rPr sz="1800" b="0">
                <a:solidFill>
                  <a:srgbClr val="161B26"/>
                </a:solidFill>
                <a:latin typeface="Arial"/>
              </a:rPr>
              <a:t>•  Source VPC or Source VPC Endpoint – only works with VPC Endpoints</a:t>
            </a:r>
          </a:p>
          <a:p>
            <a:pPr>
              <a:spcAft>
                <a:spcPts val="1000"/>
              </a:spcAft>
            </a:pPr>
            <a:r>
              <a:rPr sz="1800" b="0">
                <a:solidFill>
                  <a:srgbClr val="161B26"/>
                </a:solidFill>
                <a:latin typeface="Arial"/>
              </a:rPr>
              <a:t>•  CloudFront Origin Identity</a:t>
            </a:r>
          </a:p>
          <a:p>
            <a:pPr>
              <a:spcAft>
                <a:spcPts val="1000"/>
              </a:spcAft>
            </a:pPr>
            <a:r>
              <a:rPr sz="1800" b="0">
                <a:solidFill>
                  <a:srgbClr val="161B26"/>
                </a:solidFill>
                <a:latin typeface="Arial"/>
              </a:rPr>
              <a:t>•  MFA</a:t>
            </a:r>
          </a:p>
          <a:p>
            <a:pPr>
              <a:spcAft>
                <a:spcPts val="1000"/>
              </a:spcAft>
            </a:pPr>
            <a:r>
              <a:rPr sz="1800" b="0">
                <a:solidFill>
                  <a:srgbClr val="161B26"/>
                </a:solidFill>
                <a:latin typeface="Arial"/>
              </a:rPr>
              <a:t>•  Examples here: https://docs.aws.amazon.com/AmazonS3/latest/dev/example- bucket-policies.html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Bucket Policies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t>
            </a:r>
          </a:p>
          <a:p>
            <a:pPr>
              <a:spcAft>
                <a:spcPts val="1000"/>
              </a:spcAft>
            </a:pPr>
            <a:r>
              <a:rPr sz="1800" b="0">
                <a:solidFill>
                  <a:srgbClr val="161B26"/>
                </a:solidFill>
                <a:latin typeface="Arial"/>
              </a:rPr>
              <a:t>•  "Version": "2012-10-17",</a:t>
            </a:r>
          </a:p>
          <a:p>
            <a:pPr>
              <a:spcAft>
                <a:spcPts val="1000"/>
              </a:spcAft>
            </a:pPr>
            <a:r>
              <a:rPr sz="1800" b="0">
                <a:solidFill>
                  <a:srgbClr val="161B26"/>
                </a:solidFill>
                <a:latin typeface="Arial"/>
              </a:rPr>
              <a:t>•  "Id": "Policy1734311494060",</a:t>
            </a:r>
          </a:p>
          <a:p>
            <a:pPr>
              <a:spcAft>
                <a:spcPts val="1000"/>
              </a:spcAft>
            </a:pPr>
            <a:r>
              <a:rPr sz="1800" b="0">
                <a:solidFill>
                  <a:srgbClr val="161B26"/>
                </a:solidFill>
                <a:latin typeface="Arial"/>
              </a:rPr>
              <a:t>•  "Statement":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"Sid": "Stmt1734311424063",</a:t>
            </a:r>
          </a:p>
          <a:p>
            <a:pPr>
              <a:spcAft>
                <a:spcPts val="1000"/>
              </a:spcAft>
            </a:pPr>
            <a:r>
              <a:rPr sz="1800" b="0">
                <a:solidFill>
                  <a:srgbClr val="161B26"/>
                </a:solidFill>
                <a:latin typeface="Arial"/>
              </a:rPr>
              <a:t>•  "Effect": "Allow",</a:t>
            </a:r>
          </a:p>
          <a:p>
            <a:pPr>
              <a:spcAft>
                <a:spcPts val="1000"/>
              </a:spcAft>
            </a:pPr>
            <a:r>
              <a:rPr sz="1800" b="0">
                <a:solidFill>
                  <a:srgbClr val="161B26"/>
                </a:solidFill>
                <a:latin typeface="Arial"/>
              </a:rPr>
              <a:t>•  "Principal": "*",</a:t>
            </a:r>
          </a:p>
          <a:p>
            <a:pPr>
              <a:spcAft>
                <a:spcPts val="1000"/>
              </a:spcAft>
            </a:pPr>
            <a:r>
              <a:rPr sz="1800" b="0">
                <a:solidFill>
                  <a:srgbClr val="161B26"/>
                </a:solidFill>
                <a:latin typeface="Arial"/>
              </a:rPr>
              <a:t>•  "Action": "s3:GetObject",</a:t>
            </a:r>
          </a:p>
          <a:p>
            <a:pPr>
              <a:spcAft>
                <a:spcPts val="1000"/>
              </a:spcAft>
            </a:pPr>
            <a:r>
              <a:rPr sz="1800" b="0">
                <a:solidFill>
                  <a:srgbClr val="161B26"/>
                </a:solidFill>
                <a:latin typeface="Arial"/>
              </a:rPr>
              <a:t>•  "Resource": "arn:aws:s3:::alfred-ang-s3-buckets/*"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Amazon S3 Bucket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0964" y="1801368"/>
            <a:ext cx="1003959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86_0.png"/>
          <p:cNvPicPr>
            <a:picLocks noChangeAspect="1"/>
          </p:cNvPicPr>
          <p:nvPr/>
        </p:nvPicPr>
        <p:blipFill>
          <a:blip r:embed="rId2"/>
          <a:stretch>
            <a:fillRect/>
          </a:stretch>
        </p:blipFill>
        <p:spPr>
          <a:xfrm>
            <a:off x="1088396" y="1828800"/>
            <a:ext cx="998472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 public to access the images on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Static Website Hosting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can host static websites and have them accessible on the Internet</a:t>
            </a:r>
          </a:p>
          <a:p>
            <a:pPr>
              <a:spcAft>
                <a:spcPts val="1000"/>
              </a:spcAft>
            </a:pPr>
            <a:r>
              <a:rPr sz="1800" b="0">
                <a:solidFill>
                  <a:srgbClr val="161B26"/>
                </a:solidFill>
                <a:latin typeface="Arial"/>
              </a:rPr>
              <a:t>•  http://bucket-name.s3-website-aws-region.amazonaws.com/</a:t>
            </a:r>
          </a:p>
          <a:p>
            <a:pPr>
              <a:spcAft>
                <a:spcPts val="1000"/>
              </a:spcAft>
            </a:pPr>
            <a:r>
              <a:rPr sz="1800" b="0">
                <a:solidFill>
                  <a:srgbClr val="161B26"/>
                </a:solidFill>
                <a:latin typeface="Arial"/>
              </a:rPr>
              <a:t>•  OR</a:t>
            </a:r>
          </a:p>
          <a:p>
            <a:pPr>
              <a:spcAft>
                <a:spcPts val="1000"/>
              </a:spcAft>
            </a:pPr>
            <a:r>
              <a:rPr sz="1800" b="0">
                <a:solidFill>
                  <a:srgbClr val="161B26"/>
                </a:solidFill>
                <a:latin typeface="Arial"/>
              </a:rPr>
              <a:t>•  http://bucket-name.s3-website/</a:t>
            </a:r>
          </a:p>
          <a:p>
            <a:pPr>
              <a:spcAft>
                <a:spcPts val="1000"/>
              </a:spcAft>
            </a:pPr>
            <a:r>
              <a:rPr sz="1800" b="0">
                <a:solidFill>
                  <a:srgbClr val="161B26"/>
                </a:solidFill>
                <a:latin typeface="Arial"/>
              </a:rPr>
              <a:t>•  If you get a 403 Forbidden error, make sure the bucket policy allows public reads!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(demo-bucket)</a:t>
            </a:r>
          </a:p>
          <a:p>
            <a:pPr>
              <a:spcAft>
                <a:spcPts val="1000"/>
              </a:spcAft>
            </a:pPr>
            <a:r>
              <a:rPr sz="1800" b="0">
                <a:solidFill>
                  <a:srgbClr val="161B26"/>
                </a:solidFill>
                <a:latin typeface="Arial"/>
              </a:rPr>
              <a:t>•  us-west-2</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http://demo-bucket.s3-website-us-west-2.amazonaws.com http://demo-bucket.s3-website.us-west-2.amazonaws.com</a:t>
            </a:r>
          </a:p>
          <a:p>
            <a:pPr>
              <a:spcAft>
                <a:spcPts val="1000"/>
              </a:spcAft>
            </a:pPr>
            <a:r>
              <a:rPr sz="1800" b="0">
                <a:solidFill>
                  <a:srgbClr val="161B26"/>
                </a:solidFill>
                <a:latin typeface="Arial"/>
              </a:rPr>
              <a:t>•  The website URL will be (depending on the region)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Website Hosting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38374"/>
            <a:ext cx="10479024" cy="349565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88_0.png"/>
          <p:cNvPicPr>
            <a:picLocks noChangeAspect="1"/>
          </p:cNvPicPr>
          <p:nvPr/>
        </p:nvPicPr>
        <p:blipFill>
          <a:blip r:embed="rId2"/>
          <a:stretch>
            <a:fillRect/>
          </a:stretch>
        </p:blipFill>
        <p:spPr>
          <a:xfrm>
            <a:off x="868680" y="2165806"/>
            <a:ext cx="10424160" cy="3440787"/>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Enable Website hosting on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Versioning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version your files in Amazon S3</a:t>
            </a:r>
          </a:p>
          <a:p>
            <a:pPr>
              <a:spcAft>
                <a:spcPts val="1000"/>
              </a:spcAft>
            </a:pPr>
            <a:r>
              <a:rPr sz="1800" b="0">
                <a:solidFill>
                  <a:srgbClr val="161B26"/>
                </a:solidFill>
                <a:latin typeface="Arial"/>
              </a:rPr>
              <a:t>•  It is enabled at the bucket level</a:t>
            </a:r>
          </a:p>
          <a:p>
            <a:pPr>
              <a:spcAft>
                <a:spcPts val="1000"/>
              </a:spcAft>
            </a:pPr>
            <a:r>
              <a:rPr sz="1800" b="0">
                <a:solidFill>
                  <a:srgbClr val="161B26"/>
                </a:solidFill>
                <a:latin typeface="Arial"/>
              </a:rPr>
              <a:t>•  Same key overwrite will change the “version”: 1, 2, 3….</a:t>
            </a:r>
          </a:p>
          <a:p>
            <a:pPr>
              <a:spcAft>
                <a:spcPts val="1000"/>
              </a:spcAft>
            </a:pPr>
            <a:r>
              <a:rPr sz="1800" b="0">
                <a:solidFill>
                  <a:srgbClr val="161B26"/>
                </a:solidFill>
                <a:latin typeface="Arial"/>
              </a:rPr>
              <a:t>•  It is best practice to version your buckets</a:t>
            </a:r>
          </a:p>
          <a:p>
            <a:pPr>
              <a:spcAft>
                <a:spcPts val="1000"/>
              </a:spcAft>
            </a:pPr>
            <a:r>
              <a:rPr sz="1800" b="0">
                <a:solidFill>
                  <a:srgbClr val="161B26"/>
                </a:solidFill>
                <a:latin typeface="Arial"/>
              </a:rPr>
              <a:t>•  Protect against unintended deletes (ability to restore a version)</a:t>
            </a:r>
          </a:p>
          <a:p>
            <a:pPr>
              <a:spcAft>
                <a:spcPts val="1000"/>
              </a:spcAft>
            </a:pPr>
            <a:r>
              <a:rPr sz="1800" b="0">
                <a:solidFill>
                  <a:srgbClr val="161B26"/>
                </a:solidFill>
                <a:latin typeface="Arial"/>
              </a:rPr>
              <a:t>•  Easy roll back to previous version</a:t>
            </a:r>
          </a:p>
          <a:p>
            <a:pPr>
              <a:spcAft>
                <a:spcPts val="1000"/>
              </a:spcAft>
            </a:pPr>
            <a:r>
              <a:rPr sz="1800" b="0">
                <a:solidFill>
                  <a:srgbClr val="161B26"/>
                </a:solidFill>
                <a:latin typeface="Arial"/>
              </a:rPr>
              <a:t>•  Notes:</a:t>
            </a:r>
          </a:p>
          <a:p>
            <a:pPr>
              <a:spcAft>
                <a:spcPts val="1000"/>
              </a:spcAft>
            </a:pPr>
            <a:r>
              <a:rPr sz="1800" b="0">
                <a:solidFill>
                  <a:srgbClr val="161B26"/>
                </a:solidFill>
                <a:latin typeface="Arial"/>
              </a:rPr>
              <a:t>•  Any file that is not versioned prior to enabling versioning will have version “null”</a:t>
            </a:r>
          </a:p>
          <a:p>
            <a:pPr>
              <a:spcAft>
                <a:spcPts val="1000"/>
              </a:spcAft>
            </a:pPr>
            <a:r>
              <a:rPr sz="1800" b="0">
                <a:solidFill>
                  <a:srgbClr val="161B26"/>
                </a:solidFill>
                <a:latin typeface="Arial"/>
              </a:rPr>
              <a:t>•  Suspending versioning does not delete the previous versions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a:t>
            </a:r>
          </a:p>
          <a:p>
            <a:pPr>
              <a:spcAft>
                <a:spcPts val="1000"/>
              </a:spcAft>
            </a:pPr>
            <a:r>
              <a:rPr sz="1800" b="0">
                <a:solidFill>
                  <a:srgbClr val="161B26"/>
                </a:solidFill>
                <a:latin typeface="Arial"/>
              </a:rPr>
              <a:t>•  s3://my-bucket/my-file.docx</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Version 1</a:t>
            </a:r>
          </a:p>
          <a:p>
            <a:pPr>
              <a:spcAft>
                <a:spcPts val="1000"/>
              </a:spcAft>
            </a:pPr>
            <a:r>
              <a:rPr sz="1800" b="0">
                <a:solidFill>
                  <a:srgbClr val="161B26"/>
                </a:solidFill>
                <a:latin typeface="Arial"/>
              </a:rPr>
              <a:t>•  Version 2</a:t>
            </a:r>
          </a:p>
          <a:p>
            <a:pPr>
              <a:spcAft>
                <a:spcPts val="1000"/>
              </a:spcAft>
            </a:pPr>
            <a:r>
              <a:rPr sz="1800" b="0">
                <a:solidFill>
                  <a:srgbClr val="161B26"/>
                </a:solidFill>
                <a:latin typeface="Arial"/>
              </a:rPr>
              <a:t>•  Version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S3 Versioning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00947"/>
            <a:ext cx="10479024" cy="37705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0_0.png"/>
          <p:cNvPicPr>
            <a:picLocks noChangeAspect="1"/>
          </p:cNvPicPr>
          <p:nvPr/>
        </p:nvPicPr>
        <p:blipFill>
          <a:blip r:embed="rId2"/>
          <a:stretch>
            <a:fillRect/>
          </a:stretch>
        </p:blipFill>
        <p:spPr>
          <a:xfrm>
            <a:off x="868680" y="2028379"/>
            <a:ext cx="10424160" cy="3715642"/>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 public to access the images on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Replication (CRR &amp; SRR)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Must enable Versioning in source and destination buckets</a:t>
            </a:r>
          </a:p>
          <a:p>
            <a:pPr>
              <a:spcAft>
                <a:spcPts val="1000"/>
              </a:spcAft>
            </a:pPr>
            <a:r>
              <a:rPr sz="1800" b="0">
                <a:solidFill>
                  <a:srgbClr val="161B26"/>
                </a:solidFill>
                <a:latin typeface="Arial"/>
              </a:rPr>
              <a:t>•  Cross-Region Replication (CRR)</a:t>
            </a:r>
          </a:p>
          <a:p>
            <a:pPr>
              <a:spcAft>
                <a:spcPts val="1000"/>
              </a:spcAft>
            </a:pPr>
            <a:r>
              <a:rPr sz="1800" b="0">
                <a:solidFill>
                  <a:srgbClr val="161B26"/>
                </a:solidFill>
                <a:latin typeface="Arial"/>
              </a:rPr>
              <a:t>•  Same-Region Replication (SRR)</a:t>
            </a:r>
          </a:p>
          <a:p>
            <a:pPr>
              <a:spcAft>
                <a:spcPts val="1000"/>
              </a:spcAft>
            </a:pPr>
            <a:r>
              <a:rPr sz="1800" b="0">
                <a:solidFill>
                  <a:srgbClr val="161B26"/>
                </a:solidFill>
                <a:latin typeface="Arial"/>
              </a:rPr>
              <a:t>•  Buckets can be in different AWS accounts</a:t>
            </a:r>
          </a:p>
          <a:p>
            <a:pPr>
              <a:spcAft>
                <a:spcPts val="1000"/>
              </a:spcAft>
            </a:pPr>
            <a:r>
              <a:rPr sz="1800" b="0">
                <a:solidFill>
                  <a:srgbClr val="161B26"/>
                </a:solidFill>
                <a:latin typeface="Arial"/>
              </a:rPr>
              <a:t>•  Copying is asynchronous</a:t>
            </a:r>
          </a:p>
          <a:p>
            <a:pPr>
              <a:spcAft>
                <a:spcPts val="1000"/>
              </a:spcAft>
            </a:pPr>
            <a:r>
              <a:rPr sz="1800" b="0">
                <a:solidFill>
                  <a:srgbClr val="161B26"/>
                </a:solidFill>
                <a:latin typeface="Arial"/>
              </a:rPr>
              <a:t>•  Must give proper IAM permissions to S3</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CRR - compliance, lower latency access, replication across accounts</a:t>
            </a:r>
          </a:p>
          <a:p>
            <a:pPr>
              <a:spcAft>
                <a:spcPts val="1000"/>
              </a:spcAft>
            </a:pPr>
            <a:r>
              <a:rPr sz="1800" b="0">
                <a:solidFill>
                  <a:srgbClr val="161B26"/>
                </a:solidFill>
                <a:latin typeface="Arial"/>
              </a:rPr>
              <a:t>•  SRR - log aggregation, live replication between production and test accounts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(eu-west-1)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(us-east-2)</a:t>
            </a:r>
          </a:p>
          <a:p>
            <a:pPr>
              <a:spcAft>
                <a:spcPts val="1000"/>
              </a:spcAft>
            </a:pPr>
            <a:r>
              <a:rPr sz="1800" b="0">
                <a:solidFill>
                  <a:srgbClr val="161B26"/>
                </a:solidFill>
                <a:latin typeface="Arial"/>
              </a:rPr>
              <a:t>•  asynchronous replication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Replication (Notes)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After you enable Replication, only new objects are replicated</a:t>
            </a:r>
          </a:p>
          <a:p>
            <a:pPr>
              <a:spcAft>
                <a:spcPts val="1000"/>
              </a:spcAft>
            </a:pPr>
            <a:r>
              <a:rPr sz="1800" b="0">
                <a:solidFill>
                  <a:srgbClr val="161B26"/>
                </a:solidFill>
                <a:latin typeface="Arial"/>
              </a:rPr>
              <a:t>•  Optionally, you can replicate existing objects using S3 Batch Replication</a:t>
            </a:r>
          </a:p>
          <a:p>
            <a:pPr>
              <a:spcAft>
                <a:spcPts val="1000"/>
              </a:spcAft>
            </a:pPr>
            <a:r>
              <a:rPr sz="1800" b="0">
                <a:solidFill>
                  <a:srgbClr val="161B26"/>
                </a:solidFill>
                <a:latin typeface="Arial"/>
              </a:rPr>
              <a:t>•  Replicates existing objects and objects that failed replication</a:t>
            </a:r>
          </a:p>
          <a:p>
            <a:pPr>
              <a:spcAft>
                <a:spcPts val="1000"/>
              </a:spcAft>
            </a:pPr>
            <a:r>
              <a:rPr sz="1800" b="0">
                <a:solidFill>
                  <a:srgbClr val="161B26"/>
                </a:solidFill>
                <a:latin typeface="Arial"/>
              </a:rPr>
              <a:t>•  For DELETE operations</a:t>
            </a:r>
          </a:p>
          <a:p>
            <a:pPr>
              <a:spcAft>
                <a:spcPts val="1000"/>
              </a:spcAft>
            </a:pPr>
            <a:r>
              <a:rPr sz="1800" b="0">
                <a:solidFill>
                  <a:srgbClr val="161B26"/>
                </a:solidFill>
                <a:latin typeface="Arial"/>
              </a:rPr>
              <a:t>•  Can replicate delete markers from source to target (optional setting)</a:t>
            </a:r>
          </a:p>
          <a:p>
            <a:pPr>
              <a:spcAft>
                <a:spcPts val="1000"/>
              </a:spcAft>
            </a:pPr>
            <a:r>
              <a:rPr sz="1800" b="0">
                <a:solidFill>
                  <a:srgbClr val="161B26"/>
                </a:solidFill>
                <a:latin typeface="Arial"/>
              </a:rPr>
              <a:t>•  Deletions with a version ID are not replicated (to avoid malicious deletes)</a:t>
            </a:r>
          </a:p>
          <a:p>
            <a:pPr>
              <a:spcAft>
                <a:spcPts val="1000"/>
              </a:spcAft>
            </a:pPr>
            <a:r>
              <a:rPr sz="1800" b="0">
                <a:solidFill>
                  <a:srgbClr val="161B26"/>
                </a:solidFill>
                <a:latin typeface="Arial"/>
              </a:rPr>
              <a:t>•  There is no "chaining" of replication</a:t>
            </a:r>
          </a:p>
          <a:p>
            <a:pPr>
              <a:spcAft>
                <a:spcPts val="1000"/>
              </a:spcAft>
            </a:pPr>
            <a:r>
              <a:rPr sz="1800" b="0">
                <a:solidFill>
                  <a:srgbClr val="161B26"/>
                </a:solidFill>
                <a:latin typeface="Arial"/>
              </a:rPr>
              <a:t>•  If bucket 1 has replication into bucket 2, which has replication into bucket 3</a:t>
            </a:r>
          </a:p>
          <a:p>
            <a:pPr>
              <a:spcAft>
                <a:spcPts val="1000"/>
              </a:spcAft>
            </a:pPr>
            <a:r>
              <a:rPr sz="1800" b="0">
                <a:solidFill>
                  <a:srgbClr val="161B26"/>
                </a:solidFill>
                <a:latin typeface="Arial"/>
              </a:rPr>
              <a:t>•  Then objects created in bucket 1 are not replicated to bucket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S3 Replication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80892"/>
            <a:ext cx="10479024" cy="32106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3_0.png"/>
          <p:cNvPicPr>
            <a:picLocks noChangeAspect="1"/>
          </p:cNvPicPr>
          <p:nvPr/>
        </p:nvPicPr>
        <p:blipFill>
          <a:blip r:embed="rId2"/>
          <a:stretch>
            <a:fillRect/>
          </a:stretch>
        </p:blipFill>
        <p:spPr>
          <a:xfrm>
            <a:off x="868680" y="2308324"/>
            <a:ext cx="10424160" cy="315575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Replication Rule between two buckets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Standard - General Purpose</a:t>
            </a:r>
          </a:p>
          <a:p>
            <a:pPr>
              <a:spcAft>
                <a:spcPts val="1000"/>
              </a:spcAft>
            </a:pPr>
            <a:r>
              <a:rPr sz="1800" b="0">
                <a:solidFill>
                  <a:srgbClr val="161B26"/>
                </a:solidFill>
                <a:latin typeface="Arial"/>
              </a:rPr>
              <a:t>•  Amazon S3 Standard-Infrequent Access (IA)</a:t>
            </a:r>
          </a:p>
          <a:p>
            <a:pPr>
              <a:spcAft>
                <a:spcPts val="1000"/>
              </a:spcAft>
            </a:pPr>
            <a:r>
              <a:rPr sz="1800" b="0">
                <a:solidFill>
                  <a:srgbClr val="161B26"/>
                </a:solidFill>
                <a:latin typeface="Arial"/>
              </a:rPr>
              <a:t>•  Amazon S3 One Zone-Infrequent Access</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Amazon S3 Glacier Flexible Retrieval</a:t>
            </a:r>
          </a:p>
          <a:p>
            <a:pPr>
              <a:spcAft>
                <a:spcPts val="1000"/>
              </a:spcAft>
            </a:pPr>
            <a:r>
              <a:rPr sz="1800" b="0">
                <a:solidFill>
                  <a:srgbClr val="161B26"/>
                </a:solidFill>
                <a:latin typeface="Arial"/>
              </a:rPr>
              <a:t>•  Amazon S3 Glacier Deep Archive</a:t>
            </a:r>
          </a:p>
          <a:p>
            <a:pPr>
              <a:spcAft>
                <a:spcPts val="1000"/>
              </a:spcAft>
            </a:pPr>
            <a:r>
              <a:rPr sz="1800" b="0">
                <a:solidFill>
                  <a:srgbClr val="161B26"/>
                </a:solidFill>
                <a:latin typeface="Arial"/>
              </a:rPr>
              <a:t>•  Amazon S3 Intelligent Tiering</a:t>
            </a:r>
          </a:p>
          <a:p>
            <a:pPr>
              <a:spcAft>
                <a:spcPts val="1000"/>
              </a:spcAft>
            </a:pPr>
            <a:r>
              <a:rPr sz="1800" b="0">
                <a:solidFill>
                  <a:srgbClr val="161B26"/>
                </a:solidFill>
                <a:latin typeface="Arial"/>
              </a:rPr>
              <a:t>•  Can move between classes manually or using S3 Lifecycle configurations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Durability and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Durability:</a:t>
            </a:r>
          </a:p>
          <a:p>
            <a:pPr>
              <a:spcAft>
                <a:spcPts val="1000"/>
              </a:spcAft>
            </a:pPr>
            <a:r>
              <a:rPr sz="1800" b="0">
                <a:solidFill>
                  <a:srgbClr val="161B26"/>
                </a:solidFill>
                <a:latin typeface="Arial"/>
              </a:rPr>
              <a:t>•  High durability (99.999999999%, 11 9’s) of objects across multiple AZ</a:t>
            </a:r>
          </a:p>
          <a:p>
            <a:pPr>
              <a:spcAft>
                <a:spcPts val="1000"/>
              </a:spcAft>
            </a:pPr>
            <a:r>
              <a:rPr sz="1800" b="0">
                <a:solidFill>
                  <a:srgbClr val="161B26"/>
                </a:solidFill>
                <a:latin typeface="Arial"/>
              </a:rPr>
              <a:t>•  If you store 10,000,000 objects with Amazon S3, you can on average expect to incur a loss of a single object once every 10,000 years</a:t>
            </a:r>
          </a:p>
          <a:p>
            <a:pPr>
              <a:spcAft>
                <a:spcPts val="1000"/>
              </a:spcAft>
            </a:pPr>
            <a:r>
              <a:rPr sz="1800" b="0">
                <a:solidFill>
                  <a:srgbClr val="161B26"/>
                </a:solidFill>
                <a:latin typeface="Arial"/>
              </a:rPr>
              <a:t>•  Same for all storage classes</a:t>
            </a:r>
          </a:p>
          <a:p>
            <a:pPr>
              <a:spcAft>
                <a:spcPts val="1000"/>
              </a:spcAft>
            </a:pPr>
            <a:r>
              <a:rPr sz="1800" b="0">
                <a:solidFill>
                  <a:srgbClr val="161B26"/>
                </a:solidFill>
                <a:latin typeface="Arial"/>
              </a:rPr>
              <a:t>•  Availability:</a:t>
            </a:r>
          </a:p>
          <a:p>
            <a:pPr>
              <a:spcAft>
                <a:spcPts val="1000"/>
              </a:spcAft>
            </a:pPr>
            <a:r>
              <a:rPr sz="1800" b="0">
                <a:solidFill>
                  <a:srgbClr val="161B26"/>
                </a:solidFill>
                <a:latin typeface="Arial"/>
              </a:rPr>
              <a:t>•  Measures how readily available a service is</a:t>
            </a:r>
          </a:p>
          <a:p>
            <a:pPr>
              <a:spcAft>
                <a:spcPts val="1000"/>
              </a:spcAft>
            </a:pPr>
            <a:r>
              <a:rPr sz="1800" b="0">
                <a:solidFill>
                  <a:srgbClr val="161B26"/>
                </a:solidFill>
                <a:latin typeface="Arial"/>
              </a:rPr>
              <a:t>•  Varies depending on storage class</a:t>
            </a:r>
          </a:p>
          <a:p>
            <a:pPr>
              <a:spcAft>
                <a:spcPts val="1000"/>
              </a:spcAft>
            </a:pPr>
            <a:r>
              <a:rPr sz="1800" b="0">
                <a:solidFill>
                  <a:srgbClr val="161B26"/>
                </a:solidFill>
                <a:latin typeface="Arial"/>
              </a:rPr>
              <a:t>•  Example: S3 standard has 99.99% availability = not available 53 minutes a year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Standard - General Purpose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99.99% Availability</a:t>
            </a:r>
          </a:p>
          <a:p>
            <a:pPr>
              <a:spcAft>
                <a:spcPts val="1000"/>
              </a:spcAft>
            </a:pPr>
            <a:r>
              <a:rPr sz="2000" b="0">
                <a:solidFill>
                  <a:srgbClr val="161B26"/>
                </a:solidFill>
                <a:latin typeface="Arial"/>
              </a:rPr>
              <a:t>•  Used for frequently accessed data</a:t>
            </a:r>
          </a:p>
          <a:p>
            <a:pPr>
              <a:spcAft>
                <a:spcPts val="1000"/>
              </a:spcAft>
            </a:pPr>
            <a:r>
              <a:rPr sz="2000" b="0">
                <a:solidFill>
                  <a:srgbClr val="161B26"/>
                </a:solidFill>
                <a:latin typeface="Arial"/>
              </a:rPr>
              <a:t>•  Low latency and high throughput</a:t>
            </a:r>
          </a:p>
          <a:p>
            <a:pPr>
              <a:spcAft>
                <a:spcPts val="1000"/>
              </a:spcAft>
            </a:pPr>
            <a:r>
              <a:rPr sz="2000" b="0">
                <a:solidFill>
                  <a:srgbClr val="161B26"/>
                </a:solidFill>
                <a:latin typeface="Arial"/>
              </a:rPr>
              <a:t>•  Sustain 2 concurrent facility failures</a:t>
            </a:r>
          </a:p>
          <a:p>
            <a:pPr>
              <a:spcAft>
                <a:spcPts val="1000"/>
              </a:spcAft>
            </a:pPr>
            <a:r>
              <a:rPr sz="2000" b="0">
                <a:solidFill>
                  <a:srgbClr val="161B26"/>
                </a:solidFill>
                <a:latin typeface="Arial"/>
              </a:rPr>
              <a:t>•  Use Cases: Big Data analytics, mobile &amp; gaming applications, content distribution…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 Infrequent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data that is less frequently accessed, but requires rapid access when needed</a:t>
            </a:r>
          </a:p>
          <a:p>
            <a:pPr>
              <a:spcAft>
                <a:spcPts val="1000"/>
              </a:spcAft>
            </a:pPr>
            <a:r>
              <a:rPr sz="1800" b="0">
                <a:solidFill>
                  <a:srgbClr val="161B26"/>
                </a:solidFill>
                <a:latin typeface="Arial"/>
              </a:rPr>
              <a:t>•  Lower cost than S3 Standard</a:t>
            </a:r>
          </a:p>
          <a:p>
            <a:pPr>
              <a:spcAft>
                <a:spcPts val="1000"/>
              </a:spcAft>
            </a:pPr>
            <a:r>
              <a:rPr sz="1800" b="0">
                <a:solidFill>
                  <a:srgbClr val="161B26"/>
                </a:solidFill>
                <a:latin typeface="Arial"/>
              </a:rPr>
              <a:t>•  Amazon S3 Standard-Infrequent Access (S3 Standard-IA)</a:t>
            </a:r>
          </a:p>
          <a:p>
            <a:pPr>
              <a:spcAft>
                <a:spcPts val="1000"/>
              </a:spcAft>
            </a:pPr>
            <a:r>
              <a:rPr sz="1800" b="0">
                <a:solidFill>
                  <a:srgbClr val="161B26"/>
                </a:solidFill>
                <a:latin typeface="Arial"/>
              </a:rPr>
              <a:t>•  99.9% Availability</a:t>
            </a:r>
          </a:p>
          <a:p>
            <a:pPr>
              <a:spcAft>
                <a:spcPts val="1000"/>
              </a:spcAft>
            </a:pPr>
            <a:r>
              <a:rPr sz="1800" b="0">
                <a:solidFill>
                  <a:srgbClr val="161B26"/>
                </a:solidFill>
                <a:latin typeface="Arial"/>
              </a:rPr>
              <a:t>•  Use cases: Disaster Recovery, backups</a:t>
            </a:r>
          </a:p>
          <a:p>
            <a:pPr>
              <a:spcAft>
                <a:spcPts val="1000"/>
              </a:spcAft>
            </a:pPr>
            <a:r>
              <a:rPr sz="1800" b="0">
                <a:solidFill>
                  <a:srgbClr val="161B26"/>
                </a:solidFill>
                <a:latin typeface="Arial"/>
              </a:rPr>
              <a:t>•  Amazon S3 One Zone-Infrequent Access (S3 Standard-IA)</a:t>
            </a:r>
          </a:p>
          <a:p>
            <a:pPr>
              <a:spcAft>
                <a:spcPts val="1000"/>
              </a:spcAft>
            </a:pPr>
            <a:r>
              <a:rPr sz="1800" b="0">
                <a:solidFill>
                  <a:srgbClr val="161B26"/>
                </a:solidFill>
                <a:latin typeface="Arial"/>
              </a:rPr>
              <a:t>•  High durability (99.999999999%) in a single AZ; data lost when AZ is destroyed</a:t>
            </a:r>
          </a:p>
          <a:p>
            <a:pPr>
              <a:spcAft>
                <a:spcPts val="1000"/>
              </a:spcAft>
            </a:pPr>
            <a:r>
              <a:rPr sz="1800" b="0">
                <a:solidFill>
                  <a:srgbClr val="161B26"/>
                </a:solidFill>
                <a:latin typeface="Arial"/>
              </a:rPr>
              <a:t>•  99.5% Availability</a:t>
            </a:r>
          </a:p>
          <a:p>
            <a:pPr>
              <a:spcAft>
                <a:spcPts val="1000"/>
              </a:spcAft>
            </a:pPr>
            <a:r>
              <a:rPr sz="1800" b="0">
                <a:solidFill>
                  <a:srgbClr val="161B26"/>
                </a:solidFill>
                <a:latin typeface="Arial"/>
              </a:rPr>
              <a:t>•  Use Cases: Storing secondary backup copies of on-premises data, or data you can recreate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Low-cost object storage meant for archiving / backup</a:t>
            </a:r>
          </a:p>
          <a:p>
            <a:pPr>
              <a:spcAft>
                <a:spcPts val="1000"/>
              </a:spcAft>
            </a:pPr>
            <a:r>
              <a:rPr sz="1800" b="0">
                <a:solidFill>
                  <a:srgbClr val="161B26"/>
                </a:solidFill>
                <a:latin typeface="Arial"/>
              </a:rPr>
              <a:t>•  Pricing: price for storage + object retrieval cost</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Millisecond retrieval, great for data accessed once a quarter</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Flexible Retrieval (formerly Amazon S3 Glacier):</a:t>
            </a:r>
          </a:p>
          <a:p>
            <a:pPr>
              <a:spcAft>
                <a:spcPts val="1000"/>
              </a:spcAft>
            </a:pPr>
            <a:r>
              <a:rPr sz="1800" b="0">
                <a:solidFill>
                  <a:srgbClr val="161B26"/>
                </a:solidFill>
                <a:latin typeface="Arial"/>
              </a:rPr>
              <a:t>•  Expedited (1 to 5 minutes), Standard (3 to 5 hours), Bulk (5 to 12 hours) – free</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Deep Archive - for long term storage:</a:t>
            </a:r>
          </a:p>
          <a:p>
            <a:pPr>
              <a:spcAft>
                <a:spcPts val="1000"/>
              </a:spcAft>
            </a:pPr>
            <a:r>
              <a:rPr sz="1800" b="0">
                <a:solidFill>
                  <a:srgbClr val="161B26"/>
                </a:solidFill>
                <a:latin typeface="Arial"/>
              </a:rPr>
              <a:t>•  Standard (12 hours), Bulk (48 hours)</a:t>
            </a:r>
          </a:p>
          <a:p>
            <a:pPr>
              <a:spcAft>
                <a:spcPts val="1000"/>
              </a:spcAft>
            </a:pPr>
            <a:r>
              <a:rPr sz="1800" b="0">
                <a:solidFill>
                  <a:srgbClr val="161B26"/>
                </a:solidFill>
                <a:latin typeface="Arial"/>
              </a:rPr>
              <a:t>•  Minimum storage duration of 180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Intelligent-Tiering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Small monthly monitoring and auto-tiering fee</a:t>
            </a:r>
          </a:p>
          <a:p>
            <a:pPr>
              <a:spcAft>
                <a:spcPts val="1000"/>
              </a:spcAft>
            </a:pPr>
            <a:r>
              <a:rPr sz="1800" b="0">
                <a:solidFill>
                  <a:srgbClr val="161B26"/>
                </a:solidFill>
                <a:latin typeface="Arial"/>
              </a:rPr>
              <a:t>•  Moves objects automatically between Access Tiers based on usage</a:t>
            </a:r>
          </a:p>
          <a:p>
            <a:pPr>
              <a:spcAft>
                <a:spcPts val="1000"/>
              </a:spcAft>
            </a:pPr>
            <a:r>
              <a:rPr sz="1800" b="0">
                <a:solidFill>
                  <a:srgbClr val="161B26"/>
                </a:solidFill>
                <a:latin typeface="Arial"/>
              </a:rPr>
              <a:t>•  There are no retrieval charges in S3 Intelligent-Tiering</a:t>
            </a:r>
          </a:p>
          <a:p>
            <a:pPr>
              <a:spcAft>
                <a:spcPts val="1000"/>
              </a:spcAft>
            </a:pPr>
            <a:r>
              <a:rPr sz="1800" b="0">
                <a:solidFill>
                  <a:srgbClr val="161B26"/>
                </a:solidFill>
                <a:latin typeface="Arial"/>
              </a:rPr>
              <a:t>•  Frequent Access tier (automatic): default tier</a:t>
            </a:r>
          </a:p>
          <a:p>
            <a:pPr>
              <a:spcAft>
                <a:spcPts val="1000"/>
              </a:spcAft>
            </a:pPr>
            <a:r>
              <a:rPr sz="1800" b="0">
                <a:solidFill>
                  <a:srgbClr val="161B26"/>
                </a:solidFill>
                <a:latin typeface="Arial"/>
              </a:rPr>
              <a:t>•  Infrequent Access tier (automatic): objects not accessed for 30 days</a:t>
            </a:r>
          </a:p>
          <a:p>
            <a:pPr>
              <a:spcAft>
                <a:spcPts val="1000"/>
              </a:spcAft>
            </a:pPr>
            <a:r>
              <a:rPr sz="1800" b="0">
                <a:solidFill>
                  <a:srgbClr val="161B26"/>
                </a:solidFill>
                <a:latin typeface="Arial"/>
              </a:rPr>
              <a:t>•  Archive Instant Access tier (automatic): objects not accessed for 90 days</a:t>
            </a:r>
          </a:p>
          <a:p>
            <a:pPr>
              <a:spcAft>
                <a:spcPts val="1000"/>
              </a:spcAft>
            </a:pPr>
            <a:r>
              <a:rPr sz="1800" b="0">
                <a:solidFill>
                  <a:srgbClr val="161B26"/>
                </a:solidFill>
                <a:latin typeface="Arial"/>
              </a:rPr>
              <a:t>•  Archive Access tier (optional): configurable from 90 days to 700+ days</a:t>
            </a:r>
          </a:p>
          <a:p>
            <a:pPr>
              <a:spcAft>
                <a:spcPts val="1000"/>
              </a:spcAft>
            </a:pPr>
            <a:r>
              <a:rPr sz="1800" b="0">
                <a:solidFill>
                  <a:srgbClr val="161B26"/>
                </a:solidFill>
                <a:latin typeface="Arial"/>
              </a:rPr>
              <a:t>•  Deep Archive Access tier (optional): config. from 180 days to 700+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Comparison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https://aws.amazon.com/s3/storage-classes/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Storage Classes - Price Comparison Example: us-east-1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https://aws.amazon.com/s3/pricing/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S3 Life Cycle Rule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94058"/>
            <a:ext cx="10479024" cy="398428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02_0.png"/>
          <p:cNvPicPr>
            <a:picLocks noChangeAspect="1"/>
          </p:cNvPicPr>
          <p:nvPr/>
        </p:nvPicPr>
        <p:blipFill>
          <a:blip r:embed="rId2"/>
          <a:stretch>
            <a:fillRect/>
          </a:stretch>
        </p:blipFill>
        <p:spPr>
          <a:xfrm>
            <a:off x="868680" y="1921490"/>
            <a:ext cx="10424160" cy="392941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S3 life cycle rule as shown below: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Amazon S3 and Athena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Moving between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transition objects between storage classes</a:t>
            </a:r>
          </a:p>
          <a:p>
            <a:pPr>
              <a:spcAft>
                <a:spcPts val="1000"/>
              </a:spcAft>
            </a:pPr>
            <a:r>
              <a:rPr sz="1800" b="0">
                <a:solidFill>
                  <a:srgbClr val="161B26"/>
                </a:solidFill>
                <a:latin typeface="Arial"/>
              </a:rPr>
              <a:t>•  For infrequently accessed object, move them to Stanard IA</a:t>
            </a:r>
          </a:p>
          <a:p>
            <a:pPr>
              <a:spcAft>
                <a:spcPts val="1000"/>
              </a:spcAft>
            </a:pPr>
            <a:r>
              <a:rPr sz="1800" b="0">
                <a:solidFill>
                  <a:srgbClr val="161B26"/>
                </a:solidFill>
                <a:latin typeface="Arial"/>
              </a:rPr>
              <a:t>•  For archive objects that you don’t need fast access to, move them to Glacier or Glacier Deep Archive</a:t>
            </a:r>
          </a:p>
          <a:p>
            <a:pPr>
              <a:spcAft>
                <a:spcPts val="1000"/>
              </a:spcAft>
            </a:pPr>
            <a:r>
              <a:rPr sz="1800" b="0">
                <a:solidFill>
                  <a:srgbClr val="161B26"/>
                </a:solidFill>
                <a:latin typeface="Arial"/>
              </a:rPr>
              <a:t>•  Moving objects can be automated using a Lifecycle Rules</a:t>
            </a:r>
          </a:p>
          <a:p>
            <a:pPr>
              <a:spcAft>
                <a:spcPts val="1000"/>
              </a:spcAft>
            </a:pPr>
            <a:r>
              <a:rPr sz="1800" b="0">
                <a:solidFill>
                  <a:srgbClr val="161B26"/>
                </a:solidFill>
                <a:latin typeface="Arial"/>
              </a:rPr>
              <a:t>•  Standard</a:t>
            </a:r>
          </a:p>
          <a:p>
            <a:pPr>
              <a:spcAft>
                <a:spcPts val="1000"/>
              </a:spcAft>
            </a:pPr>
            <a:r>
              <a:rPr sz="1800" b="0">
                <a:solidFill>
                  <a:srgbClr val="161B26"/>
                </a:solidFill>
                <a:latin typeface="Arial"/>
              </a:rPr>
              <a:t>•  Standard IA</a:t>
            </a:r>
          </a:p>
          <a:p>
            <a:pPr>
              <a:spcAft>
                <a:spcPts val="1000"/>
              </a:spcAft>
            </a:pPr>
            <a:r>
              <a:rPr sz="1800" b="0">
                <a:solidFill>
                  <a:srgbClr val="161B26"/>
                </a:solidFill>
                <a:latin typeface="Arial"/>
              </a:rPr>
              <a:t>•  Intelligent Tiering</a:t>
            </a:r>
          </a:p>
          <a:p>
            <a:pPr>
              <a:spcAft>
                <a:spcPts val="1000"/>
              </a:spcAft>
            </a:pPr>
            <a:r>
              <a:rPr sz="1800" b="0">
                <a:solidFill>
                  <a:srgbClr val="161B26"/>
                </a:solidFill>
                <a:latin typeface="Arial"/>
              </a:rPr>
              <a:t>•  One-Zone IA</a:t>
            </a:r>
          </a:p>
          <a:p>
            <a:pPr>
              <a:spcAft>
                <a:spcPts val="1000"/>
              </a:spcAft>
            </a:pPr>
            <a:r>
              <a:rPr sz="1800" b="0">
                <a:solidFill>
                  <a:srgbClr val="161B26"/>
                </a:solidFill>
                <a:latin typeface="Arial"/>
              </a:rPr>
              <a:t>•  Glacier Instant Retrieval</a:t>
            </a:r>
          </a:p>
          <a:p>
            <a:pPr>
              <a:spcAft>
                <a:spcPts val="1000"/>
              </a:spcAft>
            </a:pPr>
            <a:r>
              <a:rPr sz="1800" b="0">
                <a:solidFill>
                  <a:srgbClr val="161B26"/>
                </a:solidFill>
                <a:latin typeface="Arial"/>
              </a:rPr>
              <a:t>•  Glacier Flexible Retrieval</a:t>
            </a:r>
          </a:p>
          <a:p>
            <a:pPr>
              <a:spcAft>
                <a:spcPts val="1000"/>
              </a:spcAft>
            </a:pPr>
            <a:r>
              <a:rPr sz="1800" b="0">
                <a:solidFill>
                  <a:srgbClr val="161B26"/>
                </a:solidFill>
                <a:latin typeface="Arial"/>
              </a:rPr>
              <a:t>•  Glacier Deep Archive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Lifecycle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Transition Actions - configure objects to transition to another storage class</a:t>
            </a:r>
          </a:p>
          <a:p>
            <a:pPr>
              <a:spcAft>
                <a:spcPts val="1000"/>
              </a:spcAft>
            </a:pPr>
            <a:r>
              <a:rPr sz="1800" b="0">
                <a:solidFill>
                  <a:srgbClr val="161B26"/>
                </a:solidFill>
                <a:latin typeface="Arial"/>
              </a:rPr>
              <a:t>•  Move objects to Standard IA class 60 days after creation</a:t>
            </a:r>
          </a:p>
          <a:p>
            <a:pPr>
              <a:spcAft>
                <a:spcPts val="1000"/>
              </a:spcAft>
            </a:pPr>
            <a:r>
              <a:rPr sz="1800" b="0">
                <a:solidFill>
                  <a:srgbClr val="161B26"/>
                </a:solidFill>
                <a:latin typeface="Arial"/>
              </a:rPr>
              <a:t>•  Move to Glacier for archiving after 6 months</a:t>
            </a:r>
          </a:p>
          <a:p>
            <a:pPr>
              <a:spcAft>
                <a:spcPts val="1000"/>
              </a:spcAft>
            </a:pPr>
            <a:r>
              <a:rPr sz="1800" b="0">
                <a:solidFill>
                  <a:srgbClr val="161B26"/>
                </a:solidFill>
                <a:latin typeface="Arial"/>
              </a:rPr>
              <a:t>•  Expiration Actions - configure objects to expire (delete) after some time</a:t>
            </a:r>
          </a:p>
          <a:p>
            <a:pPr>
              <a:spcAft>
                <a:spcPts val="1000"/>
              </a:spcAft>
            </a:pPr>
            <a:r>
              <a:rPr sz="1800" b="0">
                <a:solidFill>
                  <a:srgbClr val="161B26"/>
                </a:solidFill>
                <a:latin typeface="Arial"/>
              </a:rPr>
              <a:t>•  Access log files can be set to delete after a 365 days</a:t>
            </a:r>
          </a:p>
          <a:p>
            <a:pPr>
              <a:spcAft>
                <a:spcPts val="1000"/>
              </a:spcAft>
            </a:pPr>
            <a:r>
              <a:rPr sz="1800" b="0">
                <a:solidFill>
                  <a:srgbClr val="161B26"/>
                </a:solidFill>
                <a:latin typeface="Arial"/>
              </a:rPr>
              <a:t>•  Can be used to delete old versions of files (if versioning is enabled)</a:t>
            </a:r>
          </a:p>
          <a:p>
            <a:pPr>
              <a:spcAft>
                <a:spcPts val="1000"/>
              </a:spcAft>
            </a:pPr>
            <a:r>
              <a:rPr sz="1800" b="0">
                <a:solidFill>
                  <a:srgbClr val="161B26"/>
                </a:solidFill>
                <a:latin typeface="Arial"/>
              </a:rPr>
              <a:t>•  Can be used to delete incomplete Multi-Part uploads</a:t>
            </a:r>
          </a:p>
          <a:p>
            <a:pPr>
              <a:spcAft>
                <a:spcPts val="1000"/>
              </a:spcAft>
            </a:pPr>
            <a:r>
              <a:rPr sz="1800" b="0">
                <a:solidFill>
                  <a:srgbClr val="161B26"/>
                </a:solidFill>
                <a:latin typeface="Arial"/>
              </a:rPr>
              <a:t>•  Rules can be created for a certain prefix (example: s3://mybucket/mp3/*)</a:t>
            </a:r>
          </a:p>
          <a:p>
            <a:pPr>
              <a:spcAft>
                <a:spcPts val="1000"/>
              </a:spcAft>
            </a:pPr>
            <a:r>
              <a:rPr sz="1800" b="0">
                <a:solidFill>
                  <a:srgbClr val="161B26"/>
                </a:solidFill>
                <a:latin typeface="Arial"/>
              </a:rPr>
              <a:t>•  Rules can be created for certain objects Tags (example: Department: Finance)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Lifecycle Rules (Scenario 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application on EC2 creates images thumbnails after profile</a:t>
            </a:r>
          </a:p>
          <a:p>
            <a:pPr>
              <a:spcAft>
                <a:spcPts val="1000"/>
              </a:spcAft>
            </a:pPr>
            <a:r>
              <a:rPr sz="2000" b="0">
                <a:solidFill>
                  <a:srgbClr val="161B26"/>
                </a:solidFill>
                <a:latin typeface="Arial"/>
              </a:rPr>
              <a:t>•  photos are uploaded to Amazon S3. These thumbnails can be easily recreated, and only need to be kept for 60 days. The source images should be able to be immediately retrieved for these 60 days, and afterwards, the user can wait up to 6 hours. How would you design this?</a:t>
            </a:r>
          </a:p>
          <a:p>
            <a:pPr>
              <a:spcAft>
                <a:spcPts val="1000"/>
              </a:spcAft>
            </a:pPr>
            <a:r>
              <a:rPr sz="2000" b="0">
                <a:solidFill>
                  <a:srgbClr val="161B26"/>
                </a:solidFill>
                <a:latin typeface="Arial"/>
              </a:rPr>
              <a:t>•  S3 source images can be on Standard with a lifecycle configuration to trainsition them to Glacier after 60 days</a:t>
            </a:r>
          </a:p>
          <a:p>
            <a:pPr>
              <a:spcAft>
                <a:spcPts val="1000"/>
              </a:spcAft>
            </a:pPr>
            <a:r>
              <a:rPr sz="2000" b="0">
                <a:solidFill>
                  <a:srgbClr val="161B26"/>
                </a:solidFill>
                <a:latin typeface="Arial"/>
              </a:rPr>
              <a:t>•  S3 thumbnails can be on One-Zone IA with a lifecycle configuration to expire them (delete them) after 60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Lifecycle Rules (Scenario 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rule in your company states that you should be able to recover your deleted S3 objects immediately for 30 days, although this may happen rarely. After this time, and for up to 365 days, deleted objects should</a:t>
            </a:r>
          </a:p>
          <a:p>
            <a:pPr>
              <a:spcAft>
                <a:spcPts val="1000"/>
              </a:spcAft>
            </a:pPr>
            <a:r>
              <a:rPr sz="2000" b="0">
                <a:solidFill>
                  <a:srgbClr val="161B26"/>
                </a:solidFill>
                <a:latin typeface="Arial"/>
              </a:rPr>
              <a:t>•  be recoverable within 48 hours.</a:t>
            </a:r>
          </a:p>
          <a:p>
            <a:pPr>
              <a:spcAft>
                <a:spcPts val="1000"/>
              </a:spcAft>
            </a:pPr>
            <a:r>
              <a:rPr sz="2000" b="0">
                <a:solidFill>
                  <a:srgbClr val="161B26"/>
                </a:solidFill>
                <a:latin typeface="Arial"/>
              </a:rPr>
              <a:t>•  Enable S3 Versioning in order to have object versions, so that “deleted objects” are in fact hidden by a “delete marker” and can be recovered</a:t>
            </a:r>
          </a:p>
          <a:p>
            <a:pPr>
              <a:spcAft>
                <a:spcPts val="1000"/>
              </a:spcAft>
            </a:pPr>
            <a:r>
              <a:rPr sz="2000" b="0">
                <a:solidFill>
                  <a:srgbClr val="161B26"/>
                </a:solidFill>
                <a:latin typeface="Arial"/>
              </a:rPr>
              <a:t>•  Transition the “noncurrent versions” of the object to Standard IA</a:t>
            </a:r>
          </a:p>
          <a:p>
            <a:pPr>
              <a:spcAft>
                <a:spcPts val="1000"/>
              </a:spcAft>
            </a:pPr>
            <a:r>
              <a:rPr sz="2000" b="0">
                <a:solidFill>
                  <a:srgbClr val="161B26"/>
                </a:solidFill>
                <a:latin typeface="Arial"/>
              </a:rPr>
              <a:t>•  Transition afterwards the “noncurrent versions” to Glacier Deep Archive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Analytics - Storage Class Analysis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 you decide when to transition objects to the right storage class</a:t>
            </a:r>
          </a:p>
          <a:p>
            <a:pPr>
              <a:spcAft>
                <a:spcPts val="1000"/>
              </a:spcAft>
            </a:pPr>
            <a:r>
              <a:rPr sz="1800" b="0">
                <a:solidFill>
                  <a:srgbClr val="161B26"/>
                </a:solidFill>
                <a:latin typeface="Arial"/>
              </a:rPr>
              <a:t>•  Recommendations for Standard and Stanard IA</a:t>
            </a:r>
          </a:p>
          <a:p>
            <a:pPr>
              <a:spcAft>
                <a:spcPts val="1000"/>
              </a:spcAft>
            </a:pPr>
            <a:r>
              <a:rPr sz="1800" b="0">
                <a:solidFill>
                  <a:srgbClr val="161B26"/>
                </a:solidFill>
                <a:latin typeface="Arial"/>
              </a:rPr>
              <a:t>•  Does NOT work for One-Zone IA or Glacier</a:t>
            </a:r>
          </a:p>
          <a:p>
            <a:pPr>
              <a:spcAft>
                <a:spcPts val="1000"/>
              </a:spcAft>
            </a:pPr>
            <a:r>
              <a:rPr sz="1800" b="0">
                <a:solidFill>
                  <a:srgbClr val="161B26"/>
                </a:solidFill>
                <a:latin typeface="Arial"/>
              </a:rPr>
              <a:t>•  Report is updated daily</a:t>
            </a:r>
          </a:p>
          <a:p>
            <a:pPr>
              <a:spcAft>
                <a:spcPts val="1000"/>
              </a:spcAft>
            </a:pPr>
            <a:r>
              <a:rPr sz="1800" b="0">
                <a:solidFill>
                  <a:srgbClr val="161B26"/>
                </a:solidFill>
                <a:latin typeface="Arial"/>
              </a:rPr>
              <a:t>•  24 to 48 hours to start seeing data analysis</a:t>
            </a:r>
          </a:p>
          <a:p>
            <a:pPr>
              <a:spcAft>
                <a:spcPts val="1000"/>
              </a:spcAft>
            </a:pPr>
            <a:r>
              <a:rPr sz="1800" b="0">
                <a:solidFill>
                  <a:srgbClr val="161B26"/>
                </a:solidFill>
                <a:latin typeface="Arial"/>
              </a:rPr>
              <a:t>•  Good first step to put together Lifecycle Rules (or improve them)!</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S3 Analytics</a:t>
            </a:r>
          </a:p>
          <a:p>
            <a:pPr>
              <a:spcAft>
                <a:spcPts val="1000"/>
              </a:spcAft>
            </a:pPr>
            <a:r>
              <a:rPr sz="1800" b="0">
                <a:solidFill>
                  <a:srgbClr val="161B26"/>
                </a:solidFill>
                <a:latin typeface="Arial"/>
              </a:rPr>
              <a:t>•  .csv report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Event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S3:ObjectCreated, S3:ObjectRemoved, S3:ObjectRestore, S3:Replication…</a:t>
            </a:r>
          </a:p>
          <a:p>
            <a:pPr>
              <a:spcAft>
                <a:spcPts val="1000"/>
              </a:spcAft>
            </a:pPr>
            <a:r>
              <a:rPr sz="1800" b="0">
                <a:solidFill>
                  <a:srgbClr val="161B26"/>
                </a:solidFill>
                <a:latin typeface="Arial"/>
              </a:rPr>
              <a:t>•  Object name filtering possible (*.jpg)</a:t>
            </a:r>
          </a:p>
          <a:p>
            <a:pPr>
              <a:spcAft>
                <a:spcPts val="1000"/>
              </a:spcAft>
            </a:pPr>
            <a:r>
              <a:rPr sz="1800" b="0">
                <a:solidFill>
                  <a:srgbClr val="161B26"/>
                </a:solidFill>
                <a:latin typeface="Arial"/>
              </a:rPr>
              <a:t>•  Use case: generate thumbnails of images uploaded to S3</a:t>
            </a:r>
          </a:p>
          <a:p>
            <a:pPr>
              <a:spcAft>
                <a:spcPts val="1000"/>
              </a:spcAft>
            </a:pPr>
            <a:r>
              <a:rPr sz="1800" b="0">
                <a:solidFill>
                  <a:srgbClr val="161B26"/>
                </a:solidFill>
                <a:latin typeface="Arial"/>
              </a:rPr>
              <a:t>•  Can create as many "S3 events" as desired</a:t>
            </a:r>
          </a:p>
          <a:p>
            <a:pPr>
              <a:spcAft>
                <a:spcPts val="1000"/>
              </a:spcAft>
            </a:pPr>
            <a:r>
              <a:rPr sz="1800" b="0">
                <a:solidFill>
                  <a:srgbClr val="161B26"/>
                </a:solidFill>
                <a:latin typeface="Arial"/>
              </a:rPr>
              <a:t>•  S3 event notifications typically deliver events in seconds but can sometimes take a minute or longer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Event Notifications - IAM Permissions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52532" y="1801368"/>
            <a:ext cx="625645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0_0.png"/>
          <p:cNvPicPr>
            <a:picLocks noChangeAspect="1"/>
          </p:cNvPicPr>
          <p:nvPr/>
        </p:nvPicPr>
        <p:blipFill>
          <a:blip r:embed="rId2"/>
          <a:stretch>
            <a:fillRect/>
          </a:stretch>
        </p:blipFill>
        <p:spPr>
          <a:xfrm>
            <a:off x="2979964" y="1828800"/>
            <a:ext cx="620159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Lambda Resource Policy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Event Notifications with 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bucket</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All events</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rules</a:t>
            </a:r>
          </a:p>
          <a:p>
            <a:pPr>
              <a:spcAft>
                <a:spcPts val="1000"/>
              </a:spcAft>
            </a:pPr>
            <a:r>
              <a:rPr sz="1800" b="0">
                <a:solidFill>
                  <a:srgbClr val="161B26"/>
                </a:solidFill>
                <a:latin typeface="Arial"/>
              </a:rPr>
              <a:t>•  Over 18</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as destinations</a:t>
            </a:r>
          </a:p>
          <a:p>
            <a:pPr>
              <a:spcAft>
                <a:spcPts val="1000"/>
              </a:spcAft>
            </a:pPr>
            <a:r>
              <a:rPr sz="1800" b="0">
                <a:solidFill>
                  <a:srgbClr val="161B26"/>
                </a:solidFill>
                <a:latin typeface="Arial"/>
              </a:rPr>
              <a:t>•  Advanced filtering options with JSON rules (metadata, object size, name...)</a:t>
            </a:r>
          </a:p>
          <a:p>
            <a:pPr>
              <a:spcAft>
                <a:spcPts val="1000"/>
              </a:spcAft>
            </a:pPr>
            <a:r>
              <a:rPr sz="1800" b="0">
                <a:solidFill>
                  <a:srgbClr val="161B26"/>
                </a:solidFill>
                <a:latin typeface="Arial"/>
              </a:rPr>
              <a:t>•  Multiple Destinations - ex Step Functions, Kinesis Streams / Firehose…</a:t>
            </a:r>
          </a:p>
          <a:p>
            <a:pPr>
              <a:spcAft>
                <a:spcPts val="1000"/>
              </a:spcAft>
            </a:pPr>
            <a:r>
              <a:rPr sz="1800" b="0">
                <a:solidFill>
                  <a:srgbClr val="161B26"/>
                </a:solidFill>
                <a:latin typeface="Arial"/>
              </a:rPr>
              <a:t>•  EventBridge Capabilties - Archive, Replay Events, Reliable delivery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Event Notification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87819" y="1801368"/>
            <a:ext cx="79858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2_0.png"/>
          <p:cNvPicPr>
            <a:picLocks noChangeAspect="1"/>
          </p:cNvPicPr>
          <p:nvPr/>
        </p:nvPicPr>
        <p:blipFill>
          <a:blip r:embed="rId2"/>
          <a:stretch>
            <a:fillRect/>
          </a:stretch>
        </p:blipFill>
        <p:spPr>
          <a:xfrm>
            <a:off x="2115251" y="1828800"/>
            <a:ext cx="793101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Baseline Performance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automatically scales to high request rates, latency 100-200 ms</a:t>
            </a:r>
          </a:p>
          <a:p>
            <a:pPr>
              <a:spcAft>
                <a:spcPts val="1000"/>
              </a:spcAft>
            </a:pPr>
            <a:r>
              <a:rPr sz="1800" b="0">
                <a:solidFill>
                  <a:srgbClr val="161B26"/>
                </a:solidFill>
                <a:latin typeface="Arial"/>
              </a:rPr>
              <a:t>•  Your application can achieve at least 3,500 PUT/COPY/POST/DELETE or 5,500 GET/HEAD requests per second per prefix in a bucket.</a:t>
            </a:r>
          </a:p>
          <a:p>
            <a:pPr>
              <a:spcAft>
                <a:spcPts val="1000"/>
              </a:spcAft>
            </a:pPr>
            <a:r>
              <a:rPr sz="1800" b="0">
                <a:solidFill>
                  <a:srgbClr val="161B26"/>
                </a:solidFill>
                <a:latin typeface="Arial"/>
              </a:rPr>
              <a:t>•  There are no limits to the number of prefixes in a bucket.</a:t>
            </a:r>
          </a:p>
          <a:p>
            <a:pPr>
              <a:spcAft>
                <a:spcPts val="1000"/>
              </a:spcAft>
            </a:pPr>
            <a:r>
              <a:rPr sz="1800" b="0">
                <a:solidFill>
                  <a:srgbClr val="161B26"/>
                </a:solidFill>
                <a:latin typeface="Arial"/>
              </a:rPr>
              <a:t>•  Example (object path =&gt; prefix):</a:t>
            </a:r>
          </a:p>
          <a:p>
            <a:pPr>
              <a:spcAft>
                <a:spcPts val="1000"/>
              </a:spcAft>
            </a:pPr>
            <a:r>
              <a:rPr sz="1800" b="0">
                <a:solidFill>
                  <a:srgbClr val="161B26"/>
                </a:solidFill>
                <a:latin typeface="Arial"/>
              </a:rPr>
              <a:t>•  bucket/folder1/sub1/file	=&gt; /folder1/sub1/</a:t>
            </a:r>
          </a:p>
          <a:p>
            <a:pPr>
              <a:spcAft>
                <a:spcPts val="1000"/>
              </a:spcAft>
            </a:pPr>
            <a:r>
              <a:rPr sz="1800" b="0">
                <a:solidFill>
                  <a:srgbClr val="161B26"/>
                </a:solidFill>
                <a:latin typeface="Arial"/>
              </a:rPr>
              <a:t>•  bucket/folder1/sub2/file	=&gt; /folder1/sub2/</a:t>
            </a:r>
          </a:p>
          <a:p>
            <a:pPr>
              <a:spcAft>
                <a:spcPts val="1000"/>
              </a:spcAft>
            </a:pPr>
            <a:r>
              <a:rPr sz="1800" b="0">
                <a:solidFill>
                  <a:srgbClr val="161B26"/>
                </a:solidFill>
                <a:latin typeface="Arial"/>
              </a:rPr>
              <a:t>•  bucket/1/file =&gt; /1/</a:t>
            </a:r>
          </a:p>
          <a:p>
            <a:pPr>
              <a:spcAft>
                <a:spcPts val="1000"/>
              </a:spcAft>
            </a:pPr>
            <a:r>
              <a:rPr sz="1800" b="0">
                <a:solidFill>
                  <a:srgbClr val="161B26"/>
                </a:solidFill>
                <a:latin typeface="Arial"/>
              </a:rPr>
              <a:t>•  bucket/2/file =&gt; /2/</a:t>
            </a:r>
          </a:p>
          <a:p>
            <a:pPr>
              <a:spcAft>
                <a:spcPts val="1000"/>
              </a:spcAft>
            </a:pPr>
            <a:r>
              <a:rPr sz="1800" b="0">
                <a:solidFill>
                  <a:srgbClr val="161B26"/>
                </a:solidFill>
                <a:latin typeface="Arial"/>
              </a:rPr>
              <a:t>•  If you spread reads across all four prefixes evenly, you can achieve 22,000 requests per second for GET and HEAD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Performance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Multi-Part upload:</a:t>
            </a:r>
          </a:p>
          <a:p>
            <a:pPr>
              <a:spcAft>
                <a:spcPts val="1000"/>
              </a:spcAft>
            </a:pPr>
            <a:r>
              <a:rPr sz="1800" b="0">
                <a:solidFill>
                  <a:srgbClr val="161B26"/>
                </a:solidFill>
                <a:latin typeface="Arial"/>
              </a:rPr>
              <a:t>•  recommended for files &gt; 100MB, must use for files &gt; 5GB</a:t>
            </a:r>
          </a:p>
          <a:p>
            <a:pPr>
              <a:spcAft>
                <a:spcPts val="1000"/>
              </a:spcAft>
            </a:pPr>
            <a:r>
              <a:rPr sz="1800" b="0">
                <a:solidFill>
                  <a:srgbClr val="161B26"/>
                </a:solidFill>
                <a:latin typeface="Arial"/>
              </a:rPr>
              <a:t>•  Can help parallelize uploads (speed up transfers)</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Increase transfer speed by transferring file to an AWS edge location which will forward the data to the S3 bucket in the 	target region</a:t>
            </a:r>
          </a:p>
          <a:p>
            <a:pPr>
              <a:spcAft>
                <a:spcPts val="1000"/>
              </a:spcAft>
            </a:pPr>
            <a:r>
              <a:rPr sz="1800" b="0">
                <a:solidFill>
                  <a:srgbClr val="161B26"/>
                </a:solidFill>
                <a:latin typeface="Arial"/>
              </a:rPr>
              <a:t>•  Compatible with multi-part upload</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Parallel uploads</a:t>
            </a:r>
          </a:p>
          <a:p>
            <a:pPr>
              <a:spcAft>
                <a:spcPts val="1000"/>
              </a:spcAft>
            </a:pPr>
            <a:r>
              <a:rPr sz="1800" b="0">
                <a:solidFill>
                  <a:srgbClr val="161B26"/>
                </a:solidFill>
                <a:latin typeface="Arial"/>
              </a:rPr>
              <a:t>•  Divide In parts</a:t>
            </a:r>
          </a:p>
          <a:p>
            <a:pPr>
              <a:spcAft>
                <a:spcPts val="1000"/>
              </a:spcAft>
            </a:pPr>
            <a:r>
              <a:rPr sz="1800" b="0">
                <a:solidFill>
                  <a:srgbClr val="161B26"/>
                </a:solidFill>
                <a:latin typeface="Arial"/>
              </a:rPr>
              <a:t>•  BIG file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Australia</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USA</a:t>
            </a:r>
          </a:p>
          <a:p>
            <a:pPr>
              <a:spcAft>
                <a:spcPts val="1000"/>
              </a:spcAft>
            </a:pPr>
            <a:r>
              <a:rPr sz="1800" b="0">
                <a:solidFill>
                  <a:srgbClr val="161B26"/>
                </a:solidFill>
                <a:latin typeface="Arial"/>
              </a:rPr>
              <a:t>•  Fast</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Fast</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File in USA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Performance - S3 Byte-Range Fetches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be used to speed up downloads</a:t>
            </a:r>
          </a:p>
          <a:p>
            <a:pPr>
              <a:spcAft>
                <a:spcPts val="1000"/>
              </a:spcAft>
            </a:pPr>
            <a:r>
              <a:rPr sz="1800" b="0">
                <a:solidFill>
                  <a:srgbClr val="161B26"/>
                </a:solidFill>
                <a:latin typeface="Arial"/>
              </a:rPr>
              <a:t>•  Parallelize GETs by requesting specific byte ranges</a:t>
            </a:r>
          </a:p>
          <a:p>
            <a:pPr>
              <a:spcAft>
                <a:spcPts val="1000"/>
              </a:spcAft>
            </a:pPr>
            <a:r>
              <a:rPr sz="1800" b="0">
                <a:solidFill>
                  <a:srgbClr val="161B26"/>
                </a:solidFill>
                <a:latin typeface="Arial"/>
              </a:rPr>
              <a:t>•  Better resilience in case of failures</a:t>
            </a:r>
          </a:p>
          <a:p>
            <a:pPr>
              <a:spcAft>
                <a:spcPts val="1000"/>
              </a:spcAft>
            </a:pPr>
            <a:r>
              <a:rPr sz="1800" b="0">
                <a:solidFill>
                  <a:srgbClr val="161B26"/>
                </a:solidFill>
                <a:latin typeface="Arial"/>
              </a:rPr>
              <a:t>•  Can be used to retrieve only partial</a:t>
            </a:r>
          </a:p>
          <a:p>
            <a:pPr>
              <a:spcAft>
                <a:spcPts val="1000"/>
              </a:spcAft>
            </a:pPr>
            <a:r>
              <a:rPr sz="1800" b="0">
                <a:solidFill>
                  <a:srgbClr val="161B26"/>
                </a:solidFill>
                <a:latin typeface="Arial"/>
              </a:rPr>
              <a:t>•  File in S3</a:t>
            </a:r>
          </a:p>
          <a:p>
            <a:pPr>
              <a:spcAft>
                <a:spcPts val="1000"/>
              </a:spcAft>
            </a:pPr>
            <a:r>
              <a:rPr sz="1800" b="0">
                <a:solidFill>
                  <a:srgbClr val="161B26"/>
                </a:solidFill>
                <a:latin typeface="Arial"/>
              </a:rPr>
              <a:t>•  Byte-range request for header (first XX bytes)</a:t>
            </a:r>
          </a:p>
          <a:p>
            <a:pPr>
              <a:spcAft>
                <a:spcPts val="1000"/>
              </a:spcAft>
            </a:pPr>
            <a:r>
              <a:rPr sz="1800" b="0">
                <a:solidFill>
                  <a:srgbClr val="161B26"/>
                </a:solidFill>
                <a:latin typeface="Arial"/>
              </a:rPr>
              <a:t>•  header</a:t>
            </a:r>
          </a:p>
          <a:p>
            <a:pPr>
              <a:spcAft>
                <a:spcPts val="1000"/>
              </a:spcAft>
            </a:pPr>
            <a:r>
              <a:rPr sz="1800" b="0">
                <a:solidFill>
                  <a:srgbClr val="161B26"/>
                </a:solidFill>
                <a:latin typeface="Arial"/>
              </a:rPr>
              <a:t>•  File in S3</a:t>
            </a:r>
          </a:p>
          <a:p>
            <a:pPr>
              <a:spcAft>
                <a:spcPts val="1000"/>
              </a:spcAft>
            </a:pPr>
            <a:r>
              <a:rPr sz="1800" b="0">
                <a:solidFill>
                  <a:srgbClr val="161B26"/>
                </a:solidFill>
                <a:latin typeface="Arial"/>
              </a:rPr>
              <a:t>•  Part 1</a:t>
            </a:r>
          </a:p>
          <a:p>
            <a:pPr>
              <a:spcAft>
                <a:spcPts val="1000"/>
              </a:spcAft>
            </a:pPr>
            <a:r>
              <a:rPr sz="1800" b="0">
                <a:solidFill>
                  <a:srgbClr val="161B26"/>
                </a:solidFill>
                <a:latin typeface="Arial"/>
              </a:rPr>
              <a:t>•  Part 2</a:t>
            </a:r>
          </a:p>
          <a:p>
            <a:pPr>
              <a:spcAft>
                <a:spcPts val="1000"/>
              </a:spcAft>
            </a:pPr>
            <a:r>
              <a:rPr sz="1800" b="0">
                <a:solidFill>
                  <a:srgbClr val="161B26"/>
                </a:solidFill>
                <a:latin typeface="Arial"/>
              </a:rPr>
              <a:t>•  Part 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(for example the head of a file)</a:t>
            </a:r>
          </a:p>
          <a:p>
            <a:pPr>
              <a:spcAft>
                <a:spcPts val="1000"/>
              </a:spcAft>
            </a:pPr>
            <a:r>
              <a:rPr sz="1800" b="0">
                <a:solidFill>
                  <a:srgbClr val="161B26"/>
                </a:solidFill>
                <a:latin typeface="Arial"/>
              </a:rPr>
              <a:t>•  Requests in parallel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Batch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Perform bulk operations on existing S3 objects with a single request, example:</a:t>
            </a:r>
          </a:p>
          <a:p>
            <a:pPr>
              <a:spcAft>
                <a:spcPts val="1000"/>
              </a:spcAft>
            </a:pPr>
            <a:r>
              <a:rPr sz="1800" b="0">
                <a:solidFill>
                  <a:srgbClr val="161B26"/>
                </a:solidFill>
                <a:latin typeface="Arial"/>
              </a:rPr>
              <a:t>•  Modify object metadata &amp; properties</a:t>
            </a:r>
          </a:p>
          <a:p>
            <a:pPr>
              <a:spcAft>
                <a:spcPts val="1000"/>
              </a:spcAft>
            </a:pPr>
            <a:r>
              <a:rPr sz="1800" b="0">
                <a:solidFill>
                  <a:srgbClr val="161B26"/>
                </a:solidFill>
                <a:latin typeface="Arial"/>
              </a:rPr>
              <a:t>•  Copy objects between S3 buckets</a:t>
            </a:r>
          </a:p>
          <a:p>
            <a:pPr>
              <a:spcAft>
                <a:spcPts val="1000"/>
              </a:spcAft>
            </a:pPr>
            <a:r>
              <a:rPr sz="1800" b="0">
                <a:solidFill>
                  <a:srgbClr val="161B26"/>
                </a:solidFill>
                <a:latin typeface="Arial"/>
              </a:rPr>
              <a:t>•  Encrypt un-encrypted objects</a:t>
            </a:r>
          </a:p>
          <a:p>
            <a:pPr>
              <a:spcAft>
                <a:spcPts val="1000"/>
              </a:spcAft>
            </a:pPr>
            <a:r>
              <a:rPr sz="1800" b="0">
                <a:solidFill>
                  <a:srgbClr val="161B26"/>
                </a:solidFill>
                <a:latin typeface="Arial"/>
              </a:rPr>
              <a:t>•  Modify ACLs, tags</a:t>
            </a:r>
          </a:p>
          <a:p>
            <a:pPr>
              <a:spcAft>
                <a:spcPts val="1000"/>
              </a:spcAft>
            </a:pPr>
            <a:r>
              <a:rPr sz="1800" b="0">
                <a:solidFill>
                  <a:srgbClr val="161B26"/>
                </a:solidFill>
                <a:latin typeface="Arial"/>
              </a:rPr>
              <a:t>•  Restore objects from S3 Glacier</a:t>
            </a:r>
          </a:p>
          <a:p>
            <a:pPr>
              <a:spcAft>
                <a:spcPts val="1000"/>
              </a:spcAft>
            </a:pPr>
            <a:r>
              <a:rPr sz="1800" b="0">
                <a:solidFill>
                  <a:srgbClr val="161B26"/>
                </a:solidFill>
                <a:latin typeface="Arial"/>
              </a:rPr>
              <a:t>•  Invoke Lambda function to perform custom action on each object</a:t>
            </a:r>
          </a:p>
          <a:p>
            <a:pPr>
              <a:spcAft>
                <a:spcPts val="1000"/>
              </a:spcAft>
            </a:pPr>
            <a:r>
              <a:rPr sz="1800" b="0">
                <a:solidFill>
                  <a:srgbClr val="161B26"/>
                </a:solidFill>
                <a:latin typeface="Arial"/>
              </a:rPr>
              <a:t>•  A job consists of a list of objects, the action to perform, and optional parameters</a:t>
            </a:r>
          </a:p>
          <a:p>
            <a:pPr>
              <a:spcAft>
                <a:spcPts val="1000"/>
              </a:spcAft>
            </a:pPr>
            <a:r>
              <a:rPr sz="1800" b="0">
                <a:solidFill>
                  <a:srgbClr val="161B26"/>
                </a:solidFill>
                <a:latin typeface="Arial"/>
              </a:rPr>
              <a:t>•  S3 Batch Operations manages retries, tracks progress, sends completion notifications, generate reports …</a:t>
            </a:r>
          </a:p>
          <a:p>
            <a:pPr>
              <a:spcAft>
                <a:spcPts val="1000"/>
              </a:spcAft>
            </a:pPr>
            <a:r>
              <a:rPr sz="1800" b="0">
                <a:solidFill>
                  <a:srgbClr val="161B26"/>
                </a:solidFill>
                <a:latin typeface="Arial"/>
              </a:rPr>
              <a:t>•  You can use S3 Inventory to get object list to use</a:t>
            </a:r>
          </a:p>
          <a:p>
            <a:pPr>
              <a:spcAft>
                <a:spcPts val="1000"/>
              </a:spcAft>
            </a:pPr>
            <a:r>
              <a:rPr sz="1800" b="0">
                <a:solidFill>
                  <a:srgbClr val="161B26"/>
                </a:solidFill>
                <a:latin typeface="Arial"/>
              </a:rPr>
              <a:t>•  S3 Select to filter your objects</a:t>
            </a:r>
          </a:p>
          <a:p>
            <a:pPr>
              <a:spcAft>
                <a:spcPts val="1000"/>
              </a:spcAft>
            </a:pPr>
            <a:r>
              <a:rPr sz="1800" b="0">
                <a:solidFill>
                  <a:srgbClr val="161B26"/>
                </a:solidFill>
                <a:latin typeface="Arial"/>
              </a:rPr>
              <a:t>•  S3 Inventory</a:t>
            </a:r>
          </a:p>
          <a:p>
            <a:pPr>
              <a:spcAft>
                <a:spcPts val="1000"/>
              </a:spcAft>
            </a:pPr>
            <a:r>
              <a:rPr sz="1800" b="0">
                <a:solidFill>
                  <a:srgbClr val="161B26"/>
                </a:solidFill>
                <a:latin typeface="Arial"/>
              </a:rPr>
              <a:t>•  S3 Select</a:t>
            </a:r>
          </a:p>
          <a:p>
            <a:pPr>
              <a:spcAft>
                <a:spcPts val="1000"/>
              </a:spcAft>
            </a:pPr>
            <a:r>
              <a:rPr sz="1800" b="0">
                <a:solidFill>
                  <a:srgbClr val="161B26"/>
                </a:solidFill>
                <a:latin typeface="Arial"/>
              </a:rPr>
              <a:t>•  Objects List Report</a:t>
            </a:r>
          </a:p>
          <a:p>
            <a:pPr>
              <a:spcAft>
                <a:spcPts val="1000"/>
              </a:spcAft>
            </a:pPr>
            <a:r>
              <a:rPr sz="1800" b="0">
                <a:solidFill>
                  <a:srgbClr val="161B26"/>
                </a:solidFill>
                <a:latin typeface="Arial"/>
              </a:rPr>
              <a:t>•  filtered list</a:t>
            </a:r>
          </a:p>
          <a:p>
            <a:pPr>
              <a:spcAft>
                <a:spcPts val="1000"/>
              </a:spcAft>
            </a:pPr>
            <a:r>
              <a:rPr sz="1800" b="0">
                <a:solidFill>
                  <a:srgbClr val="161B26"/>
                </a:solidFill>
                <a:latin typeface="Arial"/>
              </a:rPr>
              <a:t>•  filter</a:t>
            </a:r>
          </a:p>
          <a:p>
            <a:pPr>
              <a:spcAft>
                <a:spcPts val="1000"/>
              </a:spcAft>
            </a:pPr>
            <a:r>
              <a:rPr sz="1800" b="0">
                <a:solidFill>
                  <a:srgbClr val="161B26"/>
                </a:solidFill>
                <a:latin typeface="Arial"/>
              </a:rPr>
              <a:t>•  S3 Batch Operations</a:t>
            </a:r>
          </a:p>
          <a:p>
            <a:pPr>
              <a:spcAft>
                <a:spcPts val="1000"/>
              </a:spcAft>
            </a:pPr>
            <a:r>
              <a:rPr sz="1800" b="0">
                <a:solidFill>
                  <a:srgbClr val="161B26"/>
                </a:solidFill>
                <a:latin typeface="Arial"/>
              </a:rPr>
              <a:t>•  operation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parameters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Processed Objects</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Inventory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List objects and their corresponding metadata (alternative to S3 List API operation)</a:t>
            </a:r>
          </a:p>
          <a:p>
            <a:pPr>
              <a:spcAft>
                <a:spcPts val="1000"/>
              </a:spcAft>
            </a:pPr>
            <a:r>
              <a:rPr sz="1800" b="0">
                <a:solidFill>
                  <a:srgbClr val="161B26"/>
                </a:solidFill>
                <a:latin typeface="Arial"/>
              </a:rPr>
              <a:t>•  Usage examples:</a:t>
            </a:r>
          </a:p>
          <a:p>
            <a:pPr>
              <a:spcAft>
                <a:spcPts val="1000"/>
              </a:spcAft>
            </a:pPr>
            <a:r>
              <a:rPr sz="1800" b="0">
                <a:solidFill>
                  <a:srgbClr val="161B26"/>
                </a:solidFill>
                <a:latin typeface="Arial"/>
              </a:rPr>
              <a:t>•  Audit and report on the replication and encryption status of your objects</a:t>
            </a:r>
          </a:p>
          <a:p>
            <a:pPr>
              <a:spcAft>
                <a:spcPts val="1000"/>
              </a:spcAft>
            </a:pPr>
            <a:r>
              <a:rPr sz="1800" b="0">
                <a:solidFill>
                  <a:srgbClr val="161B26"/>
                </a:solidFill>
                <a:latin typeface="Arial"/>
              </a:rPr>
              <a:t>•  Get the number of objects in an S3 bucket</a:t>
            </a:r>
          </a:p>
          <a:p>
            <a:pPr>
              <a:spcAft>
                <a:spcPts val="1000"/>
              </a:spcAft>
            </a:pPr>
            <a:r>
              <a:rPr sz="1800" b="0">
                <a:solidFill>
                  <a:srgbClr val="161B26"/>
                </a:solidFill>
                <a:latin typeface="Arial"/>
              </a:rPr>
              <a:t>•  Identify the total storage of previous object versions</a:t>
            </a:r>
          </a:p>
          <a:p>
            <a:pPr>
              <a:spcAft>
                <a:spcPts val="1000"/>
              </a:spcAft>
            </a:pPr>
            <a:r>
              <a:rPr sz="1800" b="0">
                <a:solidFill>
                  <a:srgbClr val="161B26"/>
                </a:solidFill>
                <a:latin typeface="Arial"/>
              </a:rPr>
              <a:t>•  Generate daily or weekly reports</a:t>
            </a:r>
          </a:p>
          <a:p>
            <a:pPr>
              <a:spcAft>
                <a:spcPts val="1000"/>
              </a:spcAft>
            </a:pPr>
            <a:r>
              <a:rPr sz="1800" b="0">
                <a:solidFill>
                  <a:srgbClr val="161B26"/>
                </a:solidFill>
                <a:latin typeface="Arial"/>
              </a:rPr>
              <a:t>•  Output files: CSV, ORC, or Apache Parquet</a:t>
            </a:r>
          </a:p>
          <a:p>
            <a:pPr>
              <a:spcAft>
                <a:spcPts val="1000"/>
              </a:spcAft>
            </a:pPr>
            <a:r>
              <a:rPr sz="1800" b="0">
                <a:solidFill>
                  <a:srgbClr val="161B26"/>
                </a:solidFill>
                <a:latin typeface="Arial"/>
              </a:rPr>
              <a:t>•  You can query all the data using Amazon Athena, Redshift, Presto, Hive, Spark…</a:t>
            </a:r>
          </a:p>
          <a:p>
            <a:pPr>
              <a:spcAft>
                <a:spcPts val="1000"/>
              </a:spcAft>
            </a:pPr>
            <a:r>
              <a:rPr sz="1800" b="0">
                <a:solidFill>
                  <a:srgbClr val="161B26"/>
                </a:solidFill>
                <a:latin typeface="Arial"/>
              </a:rPr>
              <a:t>•  You can filter generated report using S3 Select</a:t>
            </a:r>
          </a:p>
          <a:p>
            <a:pPr>
              <a:spcAft>
                <a:spcPts val="1000"/>
              </a:spcAft>
            </a:pPr>
            <a:r>
              <a:rPr sz="1800" b="0">
                <a:solidFill>
                  <a:srgbClr val="161B26"/>
                </a:solidFill>
                <a:latin typeface="Arial"/>
              </a:rPr>
              <a:t>•  Use cases: Business, Compliance, Regulatory needs,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Low-cost object storage meant for archiving / backup</a:t>
            </a:r>
          </a:p>
          <a:p>
            <a:pPr>
              <a:spcAft>
                <a:spcPts val="1000"/>
              </a:spcAft>
            </a:pPr>
            <a:r>
              <a:rPr sz="1800" b="0">
                <a:solidFill>
                  <a:srgbClr val="161B26"/>
                </a:solidFill>
                <a:latin typeface="Arial"/>
              </a:rPr>
              <a:t>•  Data is retained for the longer term (10s of years)</a:t>
            </a:r>
          </a:p>
          <a:p>
            <a:pPr>
              <a:spcAft>
                <a:spcPts val="1000"/>
              </a:spcAft>
            </a:pPr>
            <a:r>
              <a:rPr sz="1800" b="0">
                <a:solidFill>
                  <a:srgbClr val="161B26"/>
                </a:solidFill>
                <a:latin typeface="Arial"/>
              </a:rPr>
              <a:t>•  Alternative to on-premises magnetic tape storage</a:t>
            </a:r>
          </a:p>
          <a:p>
            <a:pPr>
              <a:spcAft>
                <a:spcPts val="1000"/>
              </a:spcAft>
            </a:pPr>
            <a:r>
              <a:rPr sz="1800" b="0">
                <a:solidFill>
                  <a:srgbClr val="161B26"/>
                </a:solidFill>
                <a:latin typeface="Arial"/>
              </a:rPr>
              <a:t>•  Average annual durability is 99.999999999%</a:t>
            </a:r>
          </a:p>
          <a:p>
            <a:pPr>
              <a:spcAft>
                <a:spcPts val="1000"/>
              </a:spcAft>
            </a:pPr>
            <a:r>
              <a:rPr sz="1800" b="0">
                <a:solidFill>
                  <a:srgbClr val="161B26"/>
                </a:solidFill>
                <a:latin typeface="Arial"/>
              </a:rPr>
              <a:t>•  Cost per storage per month ($0.004 / GB – Standard | $0.00099 / GB Deep Archive)</a:t>
            </a:r>
          </a:p>
          <a:p>
            <a:pPr>
              <a:spcAft>
                <a:spcPts val="1000"/>
              </a:spcAft>
            </a:pPr>
            <a:r>
              <a:rPr sz="1800" b="0">
                <a:solidFill>
                  <a:srgbClr val="161B26"/>
                </a:solidFill>
                <a:latin typeface="Arial"/>
              </a:rPr>
              <a:t>•  Each item in Glacier is called "Archive" (up to 40TB)</a:t>
            </a:r>
          </a:p>
          <a:p>
            <a:pPr>
              <a:spcAft>
                <a:spcPts val="1000"/>
              </a:spcAft>
            </a:pPr>
            <a:r>
              <a:rPr sz="1800" b="0">
                <a:solidFill>
                  <a:srgbClr val="161B26"/>
                </a:solidFill>
                <a:latin typeface="Arial"/>
              </a:rPr>
              <a:t>•  Archives are stored in "Vaults"</a:t>
            </a:r>
          </a:p>
          <a:p>
            <a:pPr>
              <a:spcAft>
                <a:spcPts val="1000"/>
              </a:spcAft>
            </a:pPr>
            <a:r>
              <a:rPr sz="1800" b="0">
                <a:solidFill>
                  <a:srgbClr val="161B26"/>
                </a:solidFill>
                <a:latin typeface="Arial"/>
              </a:rPr>
              <a:t>•  By default, data encrypted at rest using AES-256 – keys managed by AWS</a:t>
            </a:r>
          </a:p>
          <a:p>
            <a:pPr>
              <a:spcAft>
                <a:spcPts val="1000"/>
              </a:spcAft>
            </a:pPr>
            <a:r>
              <a:rPr sz="1800" b="0">
                <a:solidFill>
                  <a:srgbClr val="161B26"/>
                </a:solidFill>
                <a:latin typeface="Arial"/>
              </a:rPr>
              <a:t>•  Exam tip: archival from S3 after XXX days =&gt; use Glacier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Vault Operations:</a:t>
            </a:r>
          </a:p>
          <a:p>
            <a:pPr>
              <a:spcAft>
                <a:spcPts val="1000"/>
              </a:spcAft>
            </a:pPr>
            <a:r>
              <a:rPr sz="1800" b="0">
                <a:solidFill>
                  <a:srgbClr val="161B26"/>
                </a:solidFill>
                <a:latin typeface="Arial"/>
              </a:rPr>
              <a:t>•  Create &amp; Delete - delete only when there’s no archives in it</a:t>
            </a:r>
          </a:p>
          <a:p>
            <a:pPr>
              <a:spcAft>
                <a:spcPts val="1000"/>
              </a:spcAft>
            </a:pPr>
            <a:r>
              <a:rPr sz="1800" b="0">
                <a:solidFill>
                  <a:srgbClr val="161B26"/>
                </a:solidFill>
                <a:latin typeface="Arial"/>
              </a:rPr>
              <a:t>•  Retrieving Metadata - creation date, number of archives, total size of all archives, …</a:t>
            </a:r>
          </a:p>
          <a:p>
            <a:pPr>
              <a:spcAft>
                <a:spcPts val="1000"/>
              </a:spcAft>
            </a:pPr>
            <a:r>
              <a:rPr sz="1800" b="0">
                <a:solidFill>
                  <a:srgbClr val="161B26"/>
                </a:solidFill>
                <a:latin typeface="Arial"/>
              </a:rPr>
              <a:t>•  Download Inventory - list of archives in the vault (archive ID, creation date, size, …)</a:t>
            </a:r>
          </a:p>
          <a:p>
            <a:pPr>
              <a:spcAft>
                <a:spcPts val="1000"/>
              </a:spcAft>
            </a:pPr>
            <a:r>
              <a:rPr sz="1800" b="0">
                <a:solidFill>
                  <a:srgbClr val="161B26"/>
                </a:solidFill>
                <a:latin typeface="Arial"/>
              </a:rPr>
              <a:t>•  Glacier Operations:</a:t>
            </a:r>
          </a:p>
          <a:p>
            <a:pPr>
              <a:spcAft>
                <a:spcPts val="1000"/>
              </a:spcAft>
            </a:pPr>
            <a:r>
              <a:rPr sz="1800" b="0">
                <a:solidFill>
                  <a:srgbClr val="161B26"/>
                </a:solidFill>
                <a:latin typeface="Arial"/>
              </a:rPr>
              <a:t>•  Upload- single operation or by parts (MultiPart upload) for larger archives</a:t>
            </a:r>
          </a:p>
          <a:p>
            <a:pPr>
              <a:spcAft>
                <a:spcPts val="1000"/>
              </a:spcAft>
            </a:pPr>
            <a:r>
              <a:rPr sz="1800" b="0">
                <a:solidFill>
                  <a:srgbClr val="161B26"/>
                </a:solidFill>
                <a:latin typeface="Arial"/>
              </a:rPr>
              <a:t>•  Download - first initiate a retrieval job for the archive, Glacier then prepares it for download.</a:t>
            </a:r>
          </a:p>
          <a:p>
            <a:pPr>
              <a:spcAft>
                <a:spcPts val="1000"/>
              </a:spcAft>
            </a:pPr>
            <a:r>
              <a:rPr sz="1800" b="0">
                <a:solidFill>
                  <a:srgbClr val="161B26"/>
                </a:solidFill>
                <a:latin typeface="Arial"/>
              </a:rPr>
              <a:t>•  User then has a limited time to download the data from staging server. (optionally, specify a range or portion of bytes to retrieve)</a:t>
            </a:r>
          </a:p>
          <a:p>
            <a:pPr>
              <a:spcAft>
                <a:spcPts val="1000"/>
              </a:spcAft>
            </a:pPr>
            <a:r>
              <a:rPr sz="1800" b="0">
                <a:solidFill>
                  <a:srgbClr val="161B26"/>
                </a:solidFill>
                <a:latin typeface="Arial"/>
              </a:rPr>
              <a:t>•  Delete - use Glacier Rest API or AWS SDKs by specifying archive ID</a:t>
            </a:r>
          </a:p>
          <a:p>
            <a:pPr>
              <a:spcAft>
                <a:spcPts val="1000"/>
              </a:spcAft>
            </a:pPr>
            <a:r>
              <a:rPr sz="1800" b="0">
                <a:solidFill>
                  <a:srgbClr val="161B26"/>
                </a:solidFill>
                <a:latin typeface="Arial"/>
              </a:rPr>
              <a:t>•  Restore links have an expiry date</a:t>
            </a:r>
          </a:p>
          <a:p>
            <a:pPr>
              <a:spcAft>
                <a:spcPts val="1000"/>
              </a:spcAft>
            </a:pPr>
            <a:r>
              <a:rPr sz="1800" b="0">
                <a:solidFill>
                  <a:srgbClr val="161B26"/>
                </a:solidFill>
                <a:latin typeface="Arial"/>
              </a:rPr>
              <a:t>•  Retrieval Options:</a:t>
            </a:r>
          </a:p>
          <a:p>
            <a:pPr>
              <a:spcAft>
                <a:spcPts val="1000"/>
              </a:spcAft>
            </a:pPr>
            <a:r>
              <a:rPr sz="1800" b="0">
                <a:solidFill>
                  <a:srgbClr val="161B26"/>
                </a:solidFill>
                <a:latin typeface="Arial"/>
              </a:rPr>
              <a:t>•  Expedited (1 to 5 minutes retrieval) - $0.03 per GB and $10 per 1000 requests</a:t>
            </a:r>
          </a:p>
          <a:p>
            <a:pPr>
              <a:spcAft>
                <a:spcPts val="1000"/>
              </a:spcAft>
            </a:pPr>
            <a:r>
              <a:rPr sz="1800" b="0">
                <a:solidFill>
                  <a:srgbClr val="161B26"/>
                </a:solidFill>
                <a:latin typeface="Arial"/>
              </a:rPr>
              <a:t>•  Standard (3 to 5 hours) - $0.01 per GB and 0.03 per 1000 requests</a:t>
            </a:r>
          </a:p>
          <a:p>
            <a:pPr>
              <a:spcAft>
                <a:spcPts val="1000"/>
              </a:spcAft>
            </a:pPr>
            <a:r>
              <a:rPr sz="1800" b="0">
                <a:solidFill>
                  <a:srgbClr val="161B26"/>
                </a:solidFill>
                <a:latin typeface="Arial"/>
              </a:rPr>
              <a:t>•  Bulk (5 to 12 hours) - $0.0025 per GB and $0.025 per 1000 requests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Glacier - Vault Policies &amp; Vault Lock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Each Vault has:</a:t>
            </a:r>
          </a:p>
          <a:p>
            <a:pPr>
              <a:spcAft>
                <a:spcPts val="1000"/>
              </a:spcAft>
            </a:pPr>
            <a:r>
              <a:rPr sz="1800" b="0">
                <a:solidFill>
                  <a:srgbClr val="161B26"/>
                </a:solidFill>
                <a:latin typeface="Arial"/>
              </a:rPr>
              <a:t>•  ONE vault access policy</a:t>
            </a:r>
          </a:p>
          <a:p>
            <a:pPr>
              <a:spcAft>
                <a:spcPts val="1000"/>
              </a:spcAft>
            </a:pPr>
            <a:r>
              <a:rPr sz="1800" b="0">
                <a:solidFill>
                  <a:srgbClr val="161B26"/>
                </a:solidFill>
                <a:latin typeface="Arial"/>
              </a:rPr>
              <a:t>•  ONE vault lock policy</a:t>
            </a:r>
          </a:p>
          <a:p>
            <a:pPr>
              <a:spcAft>
                <a:spcPts val="1000"/>
              </a:spcAft>
            </a:pPr>
            <a:r>
              <a:rPr sz="1800" b="0">
                <a:solidFill>
                  <a:srgbClr val="161B26"/>
                </a:solidFill>
                <a:latin typeface="Arial"/>
              </a:rPr>
              <a:t>•  Vault Policies are written in JSON</a:t>
            </a:r>
          </a:p>
          <a:p>
            <a:pPr>
              <a:spcAft>
                <a:spcPts val="1000"/>
              </a:spcAft>
            </a:pPr>
            <a:r>
              <a:rPr sz="1800" b="0">
                <a:solidFill>
                  <a:srgbClr val="161B26"/>
                </a:solidFill>
                <a:latin typeface="Arial"/>
              </a:rPr>
              <a:t>•  Vault Access Policy is like a bucket policy (restrict user / account permissions)</a:t>
            </a:r>
          </a:p>
          <a:p>
            <a:pPr>
              <a:spcAft>
                <a:spcPts val="1000"/>
              </a:spcAft>
            </a:pPr>
            <a:r>
              <a:rPr sz="1800" b="0">
                <a:solidFill>
                  <a:srgbClr val="161B26"/>
                </a:solidFill>
                <a:latin typeface="Arial"/>
              </a:rPr>
              <a:t>•  Vault Lock Policy is a policy you lock, for regulatory and compliance requirements.</a:t>
            </a:r>
          </a:p>
          <a:p>
            <a:pPr>
              <a:spcAft>
                <a:spcPts val="1000"/>
              </a:spcAft>
            </a:pPr>
            <a:r>
              <a:rPr sz="1800" b="0">
                <a:solidFill>
                  <a:srgbClr val="161B26"/>
                </a:solidFill>
                <a:latin typeface="Arial"/>
              </a:rPr>
              <a:t>•  The policy is immutable, it can never be changed (that's why it’s called a LOCK)</a:t>
            </a:r>
          </a:p>
          <a:p>
            <a:pPr>
              <a:spcAft>
                <a:spcPts val="1000"/>
              </a:spcAft>
            </a:pPr>
            <a:r>
              <a:rPr sz="1800" b="0">
                <a:solidFill>
                  <a:srgbClr val="161B26"/>
                </a:solidFill>
                <a:latin typeface="Arial"/>
              </a:rPr>
              <a:t>•  Example 1: forbid deleting an archive if less than 1 year old</a:t>
            </a:r>
          </a:p>
          <a:p>
            <a:pPr>
              <a:spcAft>
                <a:spcPts val="1000"/>
              </a:spcAft>
            </a:pPr>
            <a:r>
              <a:rPr sz="1800" b="0">
                <a:solidFill>
                  <a:srgbClr val="161B26"/>
                </a:solidFill>
                <a:latin typeface="Arial"/>
              </a:rPr>
              <a:t>•  Example 2: implement WORM policy (write once read many)</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Vault Access Policy</a:t>
            </a:r>
          </a:p>
          <a:p>
            <a:pPr>
              <a:spcAft>
                <a:spcPts val="1000"/>
              </a:spcAft>
            </a:pPr>
            <a:r>
              <a:rPr sz="1800" b="0">
                <a:solidFill>
                  <a:srgbClr val="161B26"/>
                </a:solidFill>
                <a:latin typeface="Arial"/>
              </a:rPr>
              <a:t>•  Vault</a:t>
            </a:r>
          </a:p>
          <a:p>
            <a:pPr>
              <a:spcAft>
                <a:spcPts val="1000"/>
              </a:spcAft>
            </a:pPr>
            <a:r>
              <a:rPr sz="1800" b="0">
                <a:solidFill>
                  <a:srgbClr val="161B26"/>
                </a:solidFill>
                <a:latin typeface="Arial"/>
              </a:rPr>
              <a:t>•  Vault Lock Policy</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Archives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Glacier - Notifications for Restore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Vault Notification Configuration</a:t>
            </a:r>
          </a:p>
          <a:p>
            <a:pPr>
              <a:spcAft>
                <a:spcPts val="1000"/>
              </a:spcAft>
            </a:pPr>
            <a:r>
              <a:rPr sz="1800" b="0">
                <a:solidFill>
                  <a:srgbClr val="161B26"/>
                </a:solidFill>
                <a:latin typeface="Arial"/>
              </a:rPr>
              <a:t>•  Configure a vault so that when a job completes a message is sent to SNS</a:t>
            </a:r>
          </a:p>
          <a:p>
            <a:pPr>
              <a:spcAft>
                <a:spcPts val="1000"/>
              </a:spcAft>
            </a:pPr>
            <a:r>
              <a:rPr sz="1800" b="0">
                <a:solidFill>
                  <a:srgbClr val="161B26"/>
                </a:solidFill>
                <a:latin typeface="Arial"/>
              </a:rPr>
              <a:t>•  Optionally, specify an SNS topic when you initiate a job</a:t>
            </a:r>
          </a:p>
          <a:p>
            <a:pPr>
              <a:spcAft>
                <a:spcPts val="1000"/>
              </a:spcAft>
            </a:pPr>
            <a:r>
              <a:rPr sz="1800" b="0">
                <a:solidFill>
                  <a:srgbClr val="161B26"/>
                </a:solidFill>
                <a:latin typeface="Arial"/>
              </a:rPr>
              <a:t>•  S3 Event Notifications</a:t>
            </a:r>
          </a:p>
          <a:p>
            <a:pPr>
              <a:spcAft>
                <a:spcPts val="1000"/>
              </a:spcAft>
            </a:pPr>
            <a:r>
              <a:rPr sz="1800" b="0">
                <a:solidFill>
                  <a:srgbClr val="161B26"/>
                </a:solidFill>
                <a:latin typeface="Arial"/>
              </a:rPr>
              <a:t>•  S3 supports the restoration of objects archived to S3 Glacier storage classes</a:t>
            </a:r>
          </a:p>
          <a:p>
            <a:pPr>
              <a:spcAft>
                <a:spcPts val="1000"/>
              </a:spcAft>
            </a:pPr>
            <a:r>
              <a:rPr sz="1800" b="0">
                <a:solidFill>
                  <a:srgbClr val="161B26"/>
                </a:solidFill>
                <a:latin typeface="Arial"/>
              </a:rPr>
              <a:t>•  s3:ObjectRestore:Post =&gt; notify when object restoration initiated</a:t>
            </a:r>
          </a:p>
          <a:p>
            <a:pPr>
              <a:spcAft>
                <a:spcPts val="1000"/>
              </a:spcAft>
            </a:pPr>
            <a:r>
              <a:rPr sz="1800" b="0">
                <a:solidFill>
                  <a:srgbClr val="161B26"/>
                </a:solidFill>
                <a:latin typeface="Arial"/>
              </a:rPr>
              <a:t>•  s3:ObjectRestore:Completed =&gt; notify when object restoration completed</a:t>
            </a:r>
          </a:p>
          <a:p>
            <a:pPr>
              <a:spcAft>
                <a:spcPts val="1000"/>
              </a:spcAft>
            </a:pPr>
            <a:r>
              <a:rPr sz="1800" b="0">
                <a:solidFill>
                  <a:srgbClr val="161B26"/>
                </a:solidFill>
                <a:latin typeface="Arial"/>
              </a:rPr>
              <a:t>•  Vault</a:t>
            </a:r>
          </a:p>
          <a:p>
            <a:pPr>
              <a:spcAft>
                <a:spcPts val="1000"/>
              </a:spcAft>
            </a:pPr>
            <a:r>
              <a:rPr sz="1800" b="0">
                <a:solidFill>
                  <a:srgbClr val="161B26"/>
                </a:solidFill>
                <a:latin typeface="Arial"/>
              </a:rPr>
              <a:t>•  Archives</a:t>
            </a:r>
          </a:p>
          <a:p>
            <a:pPr>
              <a:spcAft>
                <a:spcPts val="1000"/>
              </a:spcAft>
            </a:pPr>
            <a:r>
              <a:rPr sz="1800" b="0">
                <a:solidFill>
                  <a:srgbClr val="161B26"/>
                </a:solidFill>
                <a:latin typeface="Arial"/>
              </a:rPr>
              <a:t>•  initiate restore archive job</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Amazon Glacier</a:t>
            </a:r>
          </a:p>
          <a:p>
            <a:pPr>
              <a:spcAft>
                <a:spcPts val="1000"/>
              </a:spcAft>
            </a:pPr>
            <a:r>
              <a:rPr sz="1800" b="0">
                <a:solidFill>
                  <a:srgbClr val="161B26"/>
                </a:solidFill>
                <a:latin typeface="Arial"/>
              </a:rPr>
              <a:t>•  archive ready	restore</a:t>
            </a:r>
          </a:p>
          <a:p>
            <a:pPr>
              <a:spcAft>
                <a:spcPts val="1000"/>
              </a:spcAft>
            </a:pPr>
            <a:r>
              <a:rPr sz="1800" b="0">
                <a:solidFill>
                  <a:srgbClr val="161B26"/>
                </a:solidFill>
                <a:latin typeface="Arial"/>
              </a:rPr>
              <a:t>•  send notification</a:t>
            </a:r>
          </a:p>
          <a:p>
            <a:pPr>
              <a:spcAft>
                <a:spcPts val="1000"/>
              </a:spcAft>
            </a:pPr>
            <a:r>
              <a:rPr sz="1800" b="0">
                <a:solidFill>
                  <a:srgbClr val="161B26"/>
                </a:solidFill>
                <a:latin typeface="Arial"/>
              </a:rPr>
              <a:t>•  notify</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download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Glacier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31129"/>
            <a:ext cx="10479024" cy="407590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22_0.png"/>
          <p:cNvPicPr>
            <a:picLocks noChangeAspect="1"/>
          </p:cNvPicPr>
          <p:nvPr/>
        </p:nvPicPr>
        <p:blipFill>
          <a:blip r:embed="rId2"/>
          <a:stretch>
            <a:fillRect/>
          </a:stretch>
        </p:blipFill>
        <p:spPr>
          <a:xfrm>
            <a:off x="868680" y="2058561"/>
            <a:ext cx="10424160" cy="402103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Multi Part Upload - Deep Dive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Upload large objects in parts (any order)</a:t>
            </a:r>
          </a:p>
          <a:p>
            <a:pPr>
              <a:spcAft>
                <a:spcPts val="1000"/>
              </a:spcAft>
            </a:pPr>
            <a:r>
              <a:rPr sz="1800" b="0">
                <a:solidFill>
                  <a:srgbClr val="161B26"/>
                </a:solidFill>
                <a:latin typeface="Arial"/>
              </a:rPr>
              <a:t>•  Recommended for files &gt; 100MB, must use for 	files &gt; 5GB</a:t>
            </a:r>
          </a:p>
          <a:p>
            <a:pPr>
              <a:spcAft>
                <a:spcPts val="1000"/>
              </a:spcAft>
            </a:pPr>
            <a:r>
              <a:rPr sz="1800" b="0">
                <a:solidFill>
                  <a:srgbClr val="161B26"/>
                </a:solidFill>
                <a:latin typeface="Arial"/>
              </a:rPr>
              <a:t>•  Can help parallelize uploads (speed up transfers)</a:t>
            </a:r>
          </a:p>
          <a:p>
            <a:pPr>
              <a:spcAft>
                <a:spcPts val="1000"/>
              </a:spcAft>
            </a:pPr>
            <a:r>
              <a:rPr sz="1800" b="0">
                <a:solidFill>
                  <a:srgbClr val="161B26"/>
                </a:solidFill>
                <a:latin typeface="Arial"/>
              </a:rPr>
              <a:t>•  Max. parts: 10,000</a:t>
            </a:r>
          </a:p>
          <a:p>
            <a:pPr>
              <a:spcAft>
                <a:spcPts val="1000"/>
              </a:spcAft>
            </a:pPr>
            <a:r>
              <a:rPr sz="1800" b="0">
                <a:solidFill>
                  <a:srgbClr val="161B26"/>
                </a:solidFill>
                <a:latin typeface="Arial"/>
              </a:rPr>
              <a:t>•  Failures: restart uploading ONLY failed parts (improves performance)</a:t>
            </a:r>
          </a:p>
          <a:p>
            <a:pPr>
              <a:spcAft>
                <a:spcPts val="1000"/>
              </a:spcAft>
            </a:pPr>
            <a:r>
              <a:rPr sz="1800" b="0">
                <a:solidFill>
                  <a:srgbClr val="161B26"/>
                </a:solidFill>
                <a:latin typeface="Arial"/>
              </a:rPr>
              <a:t>•  Use Lifecycle policy to automate old parts</a:t>
            </a:r>
          </a:p>
          <a:p>
            <a:pPr>
              <a:spcAft>
                <a:spcPts val="1000"/>
              </a:spcAft>
            </a:pPr>
            <a:r>
              <a:rPr sz="1800" b="0">
                <a:solidFill>
                  <a:srgbClr val="161B26"/>
                </a:solidFill>
                <a:latin typeface="Arial"/>
              </a:rPr>
              <a:t>•  Deletion of unfinished upload after x days (e.g., network outage)</a:t>
            </a:r>
          </a:p>
          <a:p>
            <a:pPr>
              <a:spcAft>
                <a:spcPts val="1000"/>
              </a:spcAft>
            </a:pPr>
            <a:r>
              <a:rPr sz="1800" b="0">
                <a:solidFill>
                  <a:srgbClr val="161B26"/>
                </a:solidFill>
                <a:latin typeface="Arial"/>
              </a:rPr>
              <a:t>•  Upload using AWS CLI or AWS SDK</a:t>
            </a:r>
          </a:p>
          <a:p>
            <a:pPr>
              <a:spcAft>
                <a:spcPts val="1000"/>
              </a:spcAft>
            </a:pPr>
            <a:r>
              <a:rPr sz="1800" b="0">
                <a:solidFill>
                  <a:srgbClr val="161B26"/>
                </a:solidFill>
                <a:latin typeface="Arial"/>
              </a:rPr>
              <a:t>•  BIG file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parts</a:t>
            </a:r>
          </a:p>
          <a:p>
            <a:pPr>
              <a:spcAft>
                <a:spcPts val="1000"/>
              </a:spcAft>
            </a:pPr>
            <a:r>
              <a:rPr sz="1800" b="0">
                <a:solidFill>
                  <a:srgbClr val="161B26"/>
                </a:solidFill>
                <a:latin typeface="Arial"/>
              </a:rPr>
              <a:t>•  (max. 10,000)</a:t>
            </a:r>
          </a:p>
          <a:p>
            <a:pPr>
              <a:spcAft>
                <a:spcPts val="1000"/>
              </a:spcAft>
            </a:pPr>
            <a:r>
              <a:rPr sz="1800" b="0">
                <a:solidFill>
                  <a:srgbClr val="161B26"/>
                </a:solidFill>
                <a:latin typeface="Arial"/>
              </a:rPr>
              <a:t>•  parallel uploads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Concatenating parts (COMPLETE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Serverless query service to analyze data stored in Amazon S3</a:t>
            </a:r>
          </a:p>
          <a:p>
            <a:pPr>
              <a:spcAft>
                <a:spcPts val="1000"/>
              </a:spcAft>
            </a:pPr>
            <a:r>
              <a:rPr sz="1800" b="0">
                <a:solidFill>
                  <a:srgbClr val="161B26"/>
                </a:solidFill>
                <a:latin typeface="Arial"/>
              </a:rPr>
              <a:t>•  Uses standard SQL language to query the files (built on Presto)</a:t>
            </a:r>
          </a:p>
          <a:p>
            <a:pPr>
              <a:spcAft>
                <a:spcPts val="1000"/>
              </a:spcAft>
            </a:pPr>
            <a:r>
              <a:rPr sz="1800" b="0">
                <a:solidFill>
                  <a:srgbClr val="161B26"/>
                </a:solidFill>
                <a:latin typeface="Arial"/>
              </a:rPr>
              <a:t>•  Supports CSV, JSON, ORC, Avro, and Parquet</a:t>
            </a:r>
          </a:p>
          <a:p>
            <a:pPr>
              <a:spcAft>
                <a:spcPts val="1000"/>
              </a:spcAft>
            </a:pPr>
            <a:r>
              <a:rPr sz="1800" b="0">
                <a:solidFill>
                  <a:srgbClr val="161B26"/>
                </a:solidFill>
                <a:latin typeface="Arial"/>
              </a:rPr>
              <a:t>•  Pricing: $5.00 per TB of data scanned</a:t>
            </a:r>
          </a:p>
          <a:p>
            <a:pPr>
              <a:spcAft>
                <a:spcPts val="1000"/>
              </a:spcAft>
            </a:pPr>
            <a:r>
              <a:rPr sz="1800" b="0">
                <a:solidFill>
                  <a:srgbClr val="161B26"/>
                </a:solidFill>
                <a:latin typeface="Arial"/>
              </a:rPr>
              <a:t>•  Commonly used with Amazon Quicksight for 	reporting/dashboards</a:t>
            </a:r>
          </a:p>
          <a:p>
            <a:pPr>
              <a:spcAft>
                <a:spcPts val="1000"/>
              </a:spcAft>
            </a:pPr>
            <a:r>
              <a:rPr sz="1800" b="0">
                <a:solidFill>
                  <a:srgbClr val="161B26"/>
                </a:solidFill>
                <a:latin typeface="Arial"/>
              </a:rPr>
              <a:t>•  Use cases: Business intelligence / analytics / reporting, analyze &amp; 	query VPC Flow Logs, ELB Logs, CloudTrail trails, etc...</a:t>
            </a:r>
          </a:p>
          <a:p>
            <a:pPr>
              <a:spcAft>
                <a:spcPts val="1000"/>
              </a:spcAft>
            </a:pPr>
            <a:r>
              <a:rPr sz="1800" b="0">
                <a:solidFill>
                  <a:srgbClr val="161B26"/>
                </a:solidFill>
                <a:latin typeface="Arial"/>
              </a:rPr>
              <a:t>•  Exam Tip: analyze data in S3 using serverless SQL, use Athena</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load data</a:t>
            </a:r>
          </a:p>
          <a:p>
            <a:pPr>
              <a:spcAft>
                <a:spcPts val="1000"/>
              </a:spcAft>
            </a:pPr>
            <a:r>
              <a:rPr sz="1800" b="0">
                <a:solidFill>
                  <a:srgbClr val="161B26"/>
                </a:solidFill>
                <a:latin typeface="Arial"/>
              </a:rPr>
              <a:t>•  Amazon Athena</a:t>
            </a:r>
          </a:p>
          <a:p>
            <a:pPr>
              <a:spcAft>
                <a:spcPts val="1000"/>
              </a:spcAft>
            </a:pPr>
            <a:r>
              <a:rPr sz="1800" b="0">
                <a:solidFill>
                  <a:srgbClr val="161B26"/>
                </a:solidFill>
                <a:latin typeface="Arial"/>
              </a:rPr>
              <a:t>•  Query &amp; Analyze</a:t>
            </a:r>
          </a:p>
          <a:p>
            <a:pPr>
              <a:spcAft>
                <a:spcPts val="1000"/>
              </a:spcAft>
            </a:pPr>
            <a:r>
              <a:rPr sz="1800" b="0">
                <a:solidFill>
                  <a:srgbClr val="161B26"/>
                </a:solidFill>
                <a:latin typeface="Arial"/>
              </a:rPr>
              <a:t>•  Amazon QuickSight</a:t>
            </a:r>
          </a:p>
          <a:p>
            <a:pPr>
              <a:spcAft>
                <a:spcPts val="1000"/>
              </a:spcAft>
            </a:pPr>
            <a:r>
              <a:rPr sz="1800" b="0">
                <a:solidFill>
                  <a:srgbClr val="161B26"/>
                </a:solidFill>
                <a:latin typeface="Arial"/>
              </a:rPr>
              <a:t>•  Reporting &amp; Dashboards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Anthena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59603" y="1801368"/>
            <a:ext cx="904231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25_0.png"/>
          <p:cNvPicPr>
            <a:picLocks noChangeAspect="1"/>
          </p:cNvPicPr>
          <p:nvPr/>
        </p:nvPicPr>
        <p:blipFill>
          <a:blip r:embed="rId2"/>
          <a:stretch>
            <a:fillRect/>
          </a:stretch>
        </p:blipFill>
        <p:spPr>
          <a:xfrm>
            <a:off x="1587035" y="1828800"/>
            <a:ext cx="898745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 - Performance Improvement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Columnar data for cost-savings (less scan)</a:t>
            </a:r>
          </a:p>
          <a:p>
            <a:pPr>
              <a:spcAft>
                <a:spcPts val="1000"/>
              </a:spcAft>
            </a:pPr>
            <a:r>
              <a:rPr sz="1800" b="0">
                <a:solidFill>
                  <a:srgbClr val="161B26"/>
                </a:solidFill>
                <a:latin typeface="Arial"/>
              </a:rPr>
              <a:t>•  Apache Parquet or ORC is recommended</a:t>
            </a:r>
          </a:p>
          <a:p>
            <a:pPr>
              <a:spcAft>
                <a:spcPts val="1000"/>
              </a:spcAft>
            </a:pPr>
            <a:r>
              <a:rPr sz="1800" b="0">
                <a:solidFill>
                  <a:srgbClr val="161B26"/>
                </a:solidFill>
                <a:latin typeface="Arial"/>
              </a:rPr>
              <a:t>•  Huge performance improvement</a:t>
            </a:r>
          </a:p>
          <a:p>
            <a:pPr>
              <a:spcAft>
                <a:spcPts val="1000"/>
              </a:spcAft>
            </a:pPr>
            <a:r>
              <a:rPr sz="1800" b="0">
                <a:solidFill>
                  <a:srgbClr val="161B26"/>
                </a:solidFill>
                <a:latin typeface="Arial"/>
              </a:rPr>
              <a:t>•  Use Glue to convert your data to Parquet or ORC</a:t>
            </a:r>
          </a:p>
          <a:p>
            <a:pPr>
              <a:spcAft>
                <a:spcPts val="1000"/>
              </a:spcAft>
            </a:pPr>
            <a:r>
              <a:rPr sz="1800" b="0">
                <a:solidFill>
                  <a:srgbClr val="161B26"/>
                </a:solidFill>
                <a:latin typeface="Arial"/>
              </a:rPr>
              <a:t>•  Compress data for smaller retrievals (bzip2, gzip, lz4, snappy, zlip, zstd…)</a:t>
            </a:r>
          </a:p>
          <a:p>
            <a:pPr>
              <a:spcAft>
                <a:spcPts val="1000"/>
              </a:spcAft>
            </a:pPr>
            <a:r>
              <a:rPr sz="1800" b="0">
                <a:solidFill>
                  <a:srgbClr val="161B26"/>
                </a:solidFill>
                <a:latin typeface="Arial"/>
              </a:rPr>
              <a:t>•  Partition datasets in S3 for easy querying on virtual columns</a:t>
            </a:r>
          </a:p>
          <a:p>
            <a:pPr>
              <a:spcAft>
                <a:spcPts val="1000"/>
              </a:spcAft>
            </a:pPr>
            <a:r>
              <a:rPr sz="1800" b="0">
                <a:solidFill>
                  <a:srgbClr val="161B26"/>
                </a:solidFill>
                <a:latin typeface="Arial"/>
              </a:rPr>
              <a:t>•  s3://yourBucket/pathToTable</a:t>
            </a:r>
          </a:p>
          <a:p>
            <a:pPr>
              <a:spcAft>
                <a:spcPts val="1000"/>
              </a:spcAft>
            </a:pPr>
            <a:r>
              <a:rPr sz="1800" b="0">
                <a:solidFill>
                  <a:srgbClr val="161B26"/>
                </a:solidFill>
                <a:latin typeface="Arial"/>
              </a:rPr>
              <a:t>•  /&lt;PARTITION_COLUMN_NAME&gt;=&lt;VALUE&gt;</a:t>
            </a:r>
          </a:p>
          <a:p>
            <a:pPr>
              <a:spcAft>
                <a:spcPts val="1000"/>
              </a:spcAft>
            </a:pPr>
            <a:r>
              <a:rPr sz="1800" b="0">
                <a:solidFill>
                  <a:srgbClr val="161B26"/>
                </a:solidFill>
                <a:latin typeface="Arial"/>
              </a:rPr>
              <a:t>•  /&lt;PARTITION_COLUMN_NAME&gt;=&lt;VALUE&gt;</a:t>
            </a:r>
          </a:p>
          <a:p>
            <a:pPr>
              <a:spcAft>
                <a:spcPts val="1000"/>
              </a:spcAft>
            </a:pPr>
            <a:r>
              <a:rPr sz="1800" b="0">
                <a:solidFill>
                  <a:srgbClr val="161B26"/>
                </a:solidFill>
                <a:latin typeface="Arial"/>
              </a:rPr>
              <a:t>•  /&lt;PARTITION_COLUMN_NAME&gt;=&lt;VALUE&gt;</a:t>
            </a:r>
          </a:p>
          <a:p>
            <a:pPr>
              <a:spcAft>
                <a:spcPts val="1000"/>
              </a:spcAft>
            </a:pPr>
            <a:r>
              <a:rPr sz="1800" b="0">
                <a:solidFill>
                  <a:srgbClr val="161B26"/>
                </a:solidFill>
                <a:latin typeface="Arial"/>
              </a:rPr>
              <a:t>•  /etc…</a:t>
            </a:r>
          </a:p>
          <a:p>
            <a:pPr>
              <a:spcAft>
                <a:spcPts val="1000"/>
              </a:spcAft>
            </a:pPr>
            <a:r>
              <a:rPr sz="1800" b="0">
                <a:solidFill>
                  <a:srgbClr val="161B26"/>
                </a:solidFill>
                <a:latin typeface="Arial"/>
              </a:rPr>
              <a:t>•  Example: s3://athena-examples/flight/parquet/year=1991/month=1/day=1/</a:t>
            </a:r>
          </a:p>
          <a:p>
            <a:pPr>
              <a:spcAft>
                <a:spcPts val="1000"/>
              </a:spcAft>
            </a:pPr>
            <a:r>
              <a:rPr sz="1800" b="0">
                <a:solidFill>
                  <a:srgbClr val="161B26"/>
                </a:solidFill>
                <a:latin typeface="Arial"/>
              </a:rPr>
              <a:t>•  Use larger files (&gt; 128 MB) to minimize overhead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 - Federated Query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you to run SQL queries across data stored in relational, non-relational, object, and custom data sources (AWS or on-premises)</a:t>
            </a:r>
          </a:p>
          <a:p>
            <a:pPr>
              <a:spcAft>
                <a:spcPts val="1000"/>
              </a:spcAft>
            </a:pPr>
            <a:r>
              <a:rPr sz="1800" b="0">
                <a:solidFill>
                  <a:srgbClr val="161B26"/>
                </a:solidFill>
                <a:latin typeface="Arial"/>
              </a:rPr>
              <a:t>•  Uses Data Source Connectors that run on AWS Lambda to run Federated Queries (e.g., CloudWatch Logs, DynamoDB, RDS, …)</a:t>
            </a:r>
          </a:p>
          <a:p>
            <a:pPr>
              <a:spcAft>
                <a:spcPts val="1000"/>
              </a:spcAft>
            </a:pPr>
            <a:r>
              <a:rPr sz="1800" b="0">
                <a:solidFill>
                  <a:srgbClr val="161B26"/>
                </a:solidFill>
                <a:latin typeface="Arial"/>
              </a:rPr>
              <a:t>•  Store the results back in Amazon S3</a:t>
            </a:r>
          </a:p>
          <a:p>
            <a:pPr>
              <a:spcAft>
                <a:spcPts val="1000"/>
              </a:spcAft>
            </a:pPr>
            <a:r>
              <a:rPr sz="1800" b="0">
                <a:solidFill>
                  <a:srgbClr val="161B26"/>
                </a:solidFill>
                <a:latin typeface="Arial"/>
              </a:rPr>
              <a:t>•  Amazon Athena</a:t>
            </a:r>
          </a:p>
          <a:p>
            <a:pPr>
              <a:spcAft>
                <a:spcPts val="1000"/>
              </a:spcAft>
            </a:pPr>
            <a:r>
              <a:rPr sz="1800" b="0">
                <a:solidFill>
                  <a:srgbClr val="161B26"/>
                </a:solidFill>
                <a:latin typeface="Arial"/>
              </a:rPr>
              <a:t>•  Database (On-Premises)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(Data Source</a:t>
            </a:r>
          </a:p>
          <a:p>
            <a:pPr>
              <a:spcAft>
                <a:spcPts val="1000"/>
              </a:spcAft>
            </a:pPr>
            <a:r>
              <a:rPr sz="1800" b="0">
                <a:solidFill>
                  <a:srgbClr val="161B26"/>
                </a:solidFill>
                <a:latin typeface="Arial"/>
              </a:rPr>
              <a:t>•  Connector)</a:t>
            </a:r>
          </a:p>
          <a:p>
            <a:pPr>
              <a:spcAft>
                <a:spcPts val="1000"/>
              </a:spcAft>
            </a:pPr>
            <a:r>
              <a:rPr sz="1800" b="0">
                <a:solidFill>
                  <a:srgbClr val="161B26"/>
                </a:solidFill>
                <a:latin typeface="Arial"/>
              </a:rPr>
              <a:t>•  ElastiCache</a:t>
            </a:r>
          </a:p>
          <a:p>
            <a:pPr>
              <a:spcAft>
                <a:spcPts val="1000"/>
              </a:spcAft>
            </a:pPr>
            <a:r>
              <a:rPr sz="1800" b="0">
                <a:solidFill>
                  <a:srgbClr val="161B26"/>
                </a:solidFill>
                <a:latin typeface="Arial"/>
              </a:rPr>
              <a:t>•  DocumentDB</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Redshift</a:t>
            </a:r>
          </a:p>
          <a:p>
            <a:pPr>
              <a:spcAft>
                <a:spcPts val="1000"/>
              </a:spcAft>
            </a:pPr>
            <a:r>
              <a:rPr sz="1800" b="0">
                <a:solidFill>
                  <a:srgbClr val="161B26"/>
                </a:solidFill>
                <a:latin typeface="Arial"/>
              </a:rPr>
              <a:t>•  HBase in EMR</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Aurora</a:t>
            </a:r>
          </a:p>
          <a:p>
            <a:pPr>
              <a:spcAft>
                <a:spcPts val="1000"/>
              </a:spcAft>
            </a:pPr>
            <a:r>
              <a:rPr sz="1800" b="0">
                <a:solidFill>
                  <a:srgbClr val="161B26"/>
                </a:solidFill>
                <a:latin typeface="Arial"/>
              </a:rPr>
              <a:t>•  SQL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Athena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17352"/>
            <a:ext cx="10479024" cy="450345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28_0.png"/>
          <p:cNvPicPr>
            <a:picLocks noChangeAspect="1"/>
          </p:cNvPicPr>
          <p:nvPr/>
        </p:nvPicPr>
        <p:blipFill>
          <a:blip r:embed="rId2"/>
          <a:stretch>
            <a:fillRect/>
          </a:stretch>
        </p:blipFill>
        <p:spPr>
          <a:xfrm>
            <a:off x="868680" y="1844784"/>
            <a:ext cx="10424160" cy="444859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AMAZON S3 - SECURITY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S3 - Security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encrypt objects in S3 buckets using one of 4 methods</a:t>
            </a:r>
          </a:p>
          <a:p>
            <a:pPr>
              <a:spcAft>
                <a:spcPts val="1000"/>
              </a:spcAft>
            </a:pPr>
            <a:r>
              <a:rPr sz="1800" b="0">
                <a:solidFill>
                  <a:srgbClr val="161B26"/>
                </a:solidFill>
                <a:latin typeface="Arial"/>
              </a:rPr>
              <a:t>•  Server-Side Encryption (SSE)</a:t>
            </a:r>
          </a:p>
          <a:p>
            <a:pPr>
              <a:spcAft>
                <a:spcPts val="1000"/>
              </a:spcAft>
            </a:pPr>
            <a:r>
              <a:rPr sz="1800" b="0">
                <a:solidFill>
                  <a:srgbClr val="161B26"/>
                </a:solidFill>
                <a:latin typeface="Arial"/>
              </a:rPr>
              <a:t>•  Server-Side Encryption with Amazon S3-Managed Keys (SSE-S3) Enabled by Default</a:t>
            </a:r>
          </a:p>
          <a:p>
            <a:pPr>
              <a:spcAft>
                <a:spcPts val="1000"/>
              </a:spcAft>
            </a:pPr>
            <a:r>
              <a:rPr sz="1800" b="0">
                <a:solidFill>
                  <a:srgbClr val="161B26"/>
                </a:solidFill>
                <a:latin typeface="Arial"/>
              </a:rPr>
              <a:t>•  Encrypts S3 objects using keys handled, managed, and owned by AWS</a:t>
            </a:r>
          </a:p>
          <a:p>
            <a:pPr>
              <a:spcAft>
                <a:spcPts val="1000"/>
              </a:spcAft>
            </a:pPr>
            <a:r>
              <a:rPr sz="1800" b="0">
                <a:solidFill>
                  <a:srgbClr val="161B26"/>
                </a:solidFill>
                <a:latin typeface="Arial"/>
              </a:rPr>
              <a:t>•  Server-Side Encryption with KMS Keys stored in AWS KMS (SSE-KMS)</a:t>
            </a:r>
          </a:p>
          <a:p>
            <a:pPr>
              <a:spcAft>
                <a:spcPts val="1000"/>
              </a:spcAft>
            </a:pPr>
            <a:r>
              <a:rPr sz="1800" b="0">
                <a:solidFill>
                  <a:srgbClr val="161B26"/>
                </a:solidFill>
                <a:latin typeface="Arial"/>
              </a:rPr>
              <a:t>•  Leverage AWS Key Management Service (AWS KMS) to manage encryption keys</a:t>
            </a:r>
          </a:p>
          <a:p>
            <a:pPr>
              <a:spcAft>
                <a:spcPts val="1000"/>
              </a:spcAft>
            </a:pPr>
            <a:r>
              <a:rPr sz="1800" b="0">
                <a:solidFill>
                  <a:srgbClr val="161B26"/>
                </a:solidFill>
                <a:latin typeface="Arial"/>
              </a:rPr>
              <a:t>•  Server-Side Encryption with Customer-Provided Keys (SSE-C)</a:t>
            </a:r>
          </a:p>
          <a:p>
            <a:pPr>
              <a:spcAft>
                <a:spcPts val="1000"/>
              </a:spcAft>
            </a:pPr>
            <a:r>
              <a:rPr sz="1800" b="0">
                <a:solidFill>
                  <a:srgbClr val="161B26"/>
                </a:solidFill>
                <a:latin typeface="Arial"/>
              </a:rPr>
              <a:t>•  When you want to manage your own encryption keys</a:t>
            </a:r>
          </a:p>
          <a:p>
            <a:pPr>
              <a:spcAft>
                <a:spcPts val="1000"/>
              </a:spcAft>
            </a:pPr>
            <a:r>
              <a:rPr sz="1800" b="0">
                <a:solidFill>
                  <a:srgbClr val="161B26"/>
                </a:solidFill>
                <a:latin typeface="Arial"/>
              </a:rPr>
              <a:t>•  Cilent-Side Encryption</a:t>
            </a:r>
          </a:p>
          <a:p>
            <a:pPr>
              <a:spcAft>
                <a:spcPts val="1000"/>
              </a:spcAft>
            </a:pPr>
            <a:r>
              <a:rPr sz="1800" b="0">
                <a:solidFill>
                  <a:srgbClr val="161B26"/>
                </a:solidFill>
                <a:latin typeface="Arial"/>
              </a:rPr>
              <a:t>•  It’s important to understand which ones are for which situation for the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Encryption - SSE-S3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HTTP(S) + Header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Encryption using keys handled, managed, and owned by AWS</a:t>
            </a:r>
          </a:p>
          <a:p>
            <a:pPr>
              <a:spcAft>
                <a:spcPts val="1000"/>
              </a:spcAft>
            </a:pPr>
            <a:r>
              <a:rPr sz="1800" b="0">
                <a:solidFill>
                  <a:srgbClr val="161B26"/>
                </a:solidFill>
                <a:latin typeface="Arial"/>
              </a:rPr>
              <a:t>•  Object is encrypted server-side</a:t>
            </a:r>
          </a:p>
          <a:p>
            <a:pPr>
              <a:spcAft>
                <a:spcPts val="1000"/>
              </a:spcAft>
            </a:pPr>
            <a:r>
              <a:rPr sz="1800" b="0">
                <a:solidFill>
                  <a:srgbClr val="161B26"/>
                </a:solidFill>
                <a:latin typeface="Arial"/>
              </a:rPr>
              <a:t>•  Encryption type is AES-256</a:t>
            </a:r>
          </a:p>
          <a:p>
            <a:pPr>
              <a:spcAft>
                <a:spcPts val="1000"/>
              </a:spcAft>
            </a:pPr>
            <a:r>
              <a:rPr sz="1800" b="0">
                <a:solidFill>
                  <a:srgbClr val="161B26"/>
                </a:solidFill>
                <a:latin typeface="Arial"/>
              </a:rPr>
              <a:t>•  Must set header "x-amz-server-side-encryption":"AES256"</a:t>
            </a:r>
          </a:p>
          <a:p>
            <a:pPr>
              <a:spcAft>
                <a:spcPts val="1000"/>
              </a:spcAft>
            </a:pPr>
            <a:r>
              <a:rPr sz="1800" b="0">
                <a:solidFill>
                  <a:srgbClr val="161B26"/>
                </a:solidFill>
                <a:latin typeface="Arial"/>
              </a:rPr>
              <a:t>•  Enabled by default for new buckets &amp; new objects</a:t>
            </a:r>
          </a:p>
          <a:p>
            <a:pPr>
              <a:spcAft>
                <a:spcPts val="1000"/>
              </a:spcAft>
            </a:pPr>
            <a:r>
              <a:rPr sz="1800" b="0">
                <a:solidFill>
                  <a:srgbClr val="161B26"/>
                </a:solidFill>
                <a:latin typeface="Arial"/>
              </a:rPr>
              <a:t>•  S3 Owned Key</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Object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Encryption - SSE-KMS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HTTP(S) + Header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Encryption using keys handled and managed by AWS KMS (Key Management Service)</a:t>
            </a:r>
          </a:p>
          <a:p>
            <a:pPr>
              <a:spcAft>
                <a:spcPts val="1000"/>
              </a:spcAft>
            </a:pPr>
            <a:r>
              <a:rPr sz="1800" b="0">
                <a:solidFill>
                  <a:srgbClr val="161B26"/>
                </a:solidFill>
                <a:latin typeface="Arial"/>
              </a:rPr>
              <a:t>•  KMS advantages: user control + audit key usage using CloudTrail</a:t>
            </a:r>
          </a:p>
          <a:p>
            <a:pPr>
              <a:spcAft>
                <a:spcPts val="1000"/>
              </a:spcAft>
            </a:pPr>
            <a:r>
              <a:rPr sz="1800" b="0">
                <a:solidFill>
                  <a:srgbClr val="161B26"/>
                </a:solidFill>
                <a:latin typeface="Arial"/>
              </a:rPr>
              <a:t>•  Object is encrypted server side</a:t>
            </a:r>
          </a:p>
          <a:p>
            <a:pPr>
              <a:spcAft>
                <a:spcPts val="1000"/>
              </a:spcAft>
            </a:pPr>
            <a:r>
              <a:rPr sz="1800" b="0">
                <a:solidFill>
                  <a:srgbClr val="161B26"/>
                </a:solidFill>
                <a:latin typeface="Arial"/>
              </a:rPr>
              <a:t>•  Must set header  "x-amz-server-side-encryption":"AWS:KMS"</a:t>
            </a:r>
          </a:p>
          <a:p>
            <a:pPr>
              <a:spcAft>
                <a:spcPts val="1000"/>
              </a:spcAft>
            </a:pPr>
            <a:r>
              <a:rPr sz="1800" b="0">
                <a:solidFill>
                  <a:srgbClr val="161B26"/>
                </a:solidFill>
                <a:latin typeface="Arial"/>
              </a:rPr>
              <a:t>•  KMS Key</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Object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SSE-KMS Limitation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use SSE-KMS, you may be impacted by the KMS limits</a:t>
            </a:r>
          </a:p>
          <a:p>
            <a:pPr>
              <a:spcAft>
                <a:spcPts val="1000"/>
              </a:spcAft>
            </a:pPr>
            <a:r>
              <a:rPr sz="1800" b="0">
                <a:solidFill>
                  <a:srgbClr val="161B26"/>
                </a:solidFill>
                <a:latin typeface="Arial"/>
              </a:rPr>
              <a:t>•  When you upload, it calls the</a:t>
            </a:r>
          </a:p>
          <a:p>
            <a:pPr>
              <a:spcAft>
                <a:spcPts val="1000"/>
              </a:spcAft>
            </a:pPr>
            <a:r>
              <a:rPr sz="1800" b="0">
                <a:solidFill>
                  <a:srgbClr val="161B26"/>
                </a:solidFill>
                <a:latin typeface="Arial"/>
              </a:rPr>
              <a:t>•  GenerateDataKey KMS API</a:t>
            </a:r>
          </a:p>
          <a:p>
            <a:pPr>
              <a:spcAft>
                <a:spcPts val="1000"/>
              </a:spcAft>
            </a:pPr>
            <a:r>
              <a:rPr sz="1800" b="0">
                <a:solidFill>
                  <a:srgbClr val="161B26"/>
                </a:solidFill>
                <a:latin typeface="Arial"/>
              </a:rPr>
              <a:t>•  When you download, it calls the Decrypt KMS API</a:t>
            </a:r>
          </a:p>
          <a:p>
            <a:pPr>
              <a:spcAft>
                <a:spcPts val="1000"/>
              </a:spcAft>
            </a:pPr>
            <a:r>
              <a:rPr sz="1800" b="0">
                <a:solidFill>
                  <a:srgbClr val="161B26"/>
                </a:solidFill>
                <a:latin typeface="Arial"/>
              </a:rPr>
              <a:t>•  Count towards the KMS quota per second (5500, 10000, 30000 req/s based on region)</a:t>
            </a:r>
          </a:p>
          <a:p>
            <a:pPr>
              <a:spcAft>
                <a:spcPts val="1000"/>
              </a:spcAft>
            </a:pPr>
            <a:r>
              <a:rPr sz="1800" b="0">
                <a:solidFill>
                  <a:srgbClr val="161B26"/>
                </a:solidFill>
                <a:latin typeface="Arial"/>
              </a:rPr>
              <a:t>•  You can request a quota increase using the Service Quotas Console</a:t>
            </a:r>
          </a:p>
          <a:p>
            <a:pPr>
              <a:spcAft>
                <a:spcPts val="1000"/>
              </a:spcAft>
            </a:pPr>
            <a:r>
              <a:rPr sz="1800" b="0">
                <a:solidFill>
                  <a:srgbClr val="161B26"/>
                </a:solidFill>
                <a:latin typeface="Arial"/>
              </a:rPr>
              <a:t>•  KMS Key</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Upload / download SSE-KMS</a:t>
            </a:r>
          </a:p>
          <a:p>
            <a:pPr>
              <a:spcAft>
                <a:spcPts val="1000"/>
              </a:spcAft>
            </a:pPr>
            <a:r>
              <a:rPr sz="1800" b="0">
                <a:solidFill>
                  <a:srgbClr val="161B26"/>
                </a:solidFill>
                <a:latin typeface="Arial"/>
              </a:rPr>
              <a:t>•  API call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Encryption - SSE-C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Server-Side Encryption using keys fully managed by the customer outside of AWS</a:t>
            </a:r>
          </a:p>
          <a:p>
            <a:pPr>
              <a:spcAft>
                <a:spcPts val="1000"/>
              </a:spcAft>
            </a:pPr>
            <a:r>
              <a:rPr sz="1800" b="0">
                <a:solidFill>
                  <a:srgbClr val="161B26"/>
                </a:solidFill>
                <a:latin typeface="Arial"/>
              </a:rPr>
              <a:t>•  Amazon S3 does NOT store the encryption key you provide</a:t>
            </a:r>
          </a:p>
          <a:p>
            <a:pPr>
              <a:spcAft>
                <a:spcPts val="1000"/>
              </a:spcAft>
            </a:pPr>
            <a:r>
              <a:rPr sz="1800" b="0">
                <a:solidFill>
                  <a:srgbClr val="161B26"/>
                </a:solidFill>
                <a:latin typeface="Arial"/>
              </a:rPr>
              <a:t>•  HTTPS must be used</a:t>
            </a:r>
          </a:p>
          <a:p>
            <a:pPr>
              <a:spcAft>
                <a:spcPts val="1000"/>
              </a:spcAft>
            </a:pPr>
            <a:r>
              <a:rPr sz="1800" b="0">
                <a:solidFill>
                  <a:srgbClr val="161B26"/>
                </a:solidFill>
                <a:latin typeface="Arial"/>
              </a:rPr>
              <a:t>•  Encryption key must provided in HTTP headers, for every HTTP request made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HTTPS ONLY</a:t>
            </a:r>
          </a:p>
          <a:p>
            <a:pPr>
              <a:spcAft>
                <a:spcPts val="1000"/>
              </a:spcAft>
            </a:pPr>
            <a:r>
              <a:rPr sz="1800" b="0">
                <a:solidFill>
                  <a:srgbClr val="161B26"/>
                </a:solidFill>
                <a:latin typeface="Arial"/>
              </a:rPr>
              <a:t>•  + Key in Header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Client-Provided Key</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Object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Encryption - Client-Side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Use client libraries such as Amazon S3 Cilent-Side Encryption Library</a:t>
            </a:r>
          </a:p>
          <a:p>
            <a:pPr>
              <a:spcAft>
                <a:spcPts val="1000"/>
              </a:spcAft>
            </a:pPr>
            <a:r>
              <a:rPr sz="1800" b="0">
                <a:solidFill>
                  <a:srgbClr val="161B26"/>
                </a:solidFill>
                <a:latin typeface="Arial"/>
              </a:rPr>
              <a:t>•  Clients must encrypt data themselves before sending to Amazon S3</a:t>
            </a:r>
          </a:p>
          <a:p>
            <a:pPr>
              <a:spcAft>
                <a:spcPts val="1000"/>
              </a:spcAft>
            </a:pPr>
            <a:r>
              <a:rPr sz="1800" b="0">
                <a:solidFill>
                  <a:srgbClr val="161B26"/>
                </a:solidFill>
                <a:latin typeface="Arial"/>
              </a:rPr>
              <a:t>•  Clients must decrypt data themselves when retrieving from Amazon S3</a:t>
            </a:r>
          </a:p>
          <a:p>
            <a:pPr>
              <a:spcAft>
                <a:spcPts val="1000"/>
              </a:spcAft>
            </a:pPr>
            <a:r>
              <a:rPr sz="1800" b="0">
                <a:solidFill>
                  <a:srgbClr val="161B26"/>
                </a:solidFill>
                <a:latin typeface="Arial"/>
              </a:rPr>
              <a:t>•  Customer fully manages the keys and encryption cycle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File</a:t>
            </a:r>
          </a:p>
          <a:p>
            <a:pPr>
              <a:spcAft>
                <a:spcPts val="1000"/>
              </a:spcAft>
            </a:pPr>
            <a:r>
              <a:rPr sz="1800" b="0">
                <a:solidFill>
                  <a:srgbClr val="161B26"/>
                </a:solidFill>
                <a:latin typeface="Arial"/>
              </a:rPr>
              <a:t>•  Client Key</a:t>
            </a:r>
          </a:p>
          <a:p>
            <a:pPr>
              <a:spcAft>
                <a:spcPts val="1000"/>
              </a:spcAft>
            </a:pPr>
            <a:r>
              <a:rPr sz="1800" b="0">
                <a:solidFill>
                  <a:srgbClr val="161B26"/>
                </a:solidFill>
                <a:latin typeface="Arial"/>
              </a:rPr>
              <a:t>•  File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Encryption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 Encryption in transit (SSL/TLS)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Encryption in flight is also called SSL/TLS</a:t>
            </a:r>
          </a:p>
          <a:p>
            <a:pPr>
              <a:spcAft>
                <a:spcPts val="1000"/>
              </a:spcAft>
            </a:pPr>
            <a:r>
              <a:rPr sz="1800" b="0">
                <a:solidFill>
                  <a:srgbClr val="161B26"/>
                </a:solidFill>
                <a:latin typeface="Arial"/>
              </a:rPr>
              <a:t>•  Amazon S3 exposes two endpoints:</a:t>
            </a:r>
          </a:p>
          <a:p>
            <a:pPr>
              <a:spcAft>
                <a:spcPts val="1000"/>
              </a:spcAft>
            </a:pPr>
            <a:r>
              <a:rPr sz="1800" b="0">
                <a:solidFill>
                  <a:srgbClr val="161B26"/>
                </a:solidFill>
                <a:latin typeface="Arial"/>
              </a:rPr>
              <a:t>•  HTTP Endpoint - non encrypted</a:t>
            </a:r>
          </a:p>
          <a:p>
            <a:pPr>
              <a:spcAft>
                <a:spcPts val="1000"/>
              </a:spcAft>
            </a:pPr>
            <a:r>
              <a:rPr sz="1800" b="0">
                <a:solidFill>
                  <a:srgbClr val="161B26"/>
                </a:solidFill>
                <a:latin typeface="Arial"/>
              </a:rPr>
              <a:t>•  HTTPS Endpoint - encryption in flight</a:t>
            </a:r>
          </a:p>
          <a:p>
            <a:pPr>
              <a:spcAft>
                <a:spcPts val="1000"/>
              </a:spcAft>
            </a:pPr>
            <a:r>
              <a:rPr sz="1800" b="0">
                <a:solidFill>
                  <a:srgbClr val="161B26"/>
                </a:solidFill>
                <a:latin typeface="Arial"/>
              </a:rPr>
              <a:t>•  HTTPS is recommended</a:t>
            </a:r>
          </a:p>
          <a:p>
            <a:pPr>
              <a:spcAft>
                <a:spcPts val="1000"/>
              </a:spcAft>
            </a:pPr>
            <a:r>
              <a:rPr sz="1800" b="0">
                <a:solidFill>
                  <a:srgbClr val="161B26"/>
                </a:solidFill>
                <a:latin typeface="Arial"/>
              </a:rPr>
              <a:t>•  HTTPS is mandatory for SSE-C</a:t>
            </a:r>
          </a:p>
          <a:p>
            <a:pPr>
              <a:spcAft>
                <a:spcPts val="1000"/>
              </a:spcAft>
            </a:pPr>
            <a:r>
              <a:rPr sz="1800" b="0">
                <a:solidFill>
                  <a:srgbClr val="161B26"/>
                </a:solidFill>
                <a:latin typeface="Arial"/>
              </a:rPr>
              <a:t>•  Most clients would use the HTTPS endpoint by default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 Force Encryption in Transit aws:SecureTransport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a:t>
            </a:r>
          </a:p>
          <a:p>
            <a:pPr>
              <a:spcAft>
                <a:spcPts val="1000"/>
              </a:spcAft>
            </a:pPr>
            <a:r>
              <a:rPr sz="1800" b="0">
                <a:solidFill>
                  <a:srgbClr val="161B26"/>
                </a:solidFill>
                <a:latin typeface="Arial"/>
              </a:rPr>
              <a:t>•  Bucket Policy</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https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 Default Encryption vs. Bucket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377601"/>
            <a:ext cx="10479024" cy="301719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438_0.png"/>
          <p:cNvPicPr>
            <a:picLocks noChangeAspect="1"/>
          </p:cNvPicPr>
          <p:nvPr/>
        </p:nvPicPr>
        <p:blipFill>
          <a:blip r:embed="rId2"/>
          <a:stretch>
            <a:fillRect/>
          </a:stretch>
        </p:blipFill>
        <p:spPr>
          <a:xfrm>
            <a:off x="868680" y="2405033"/>
            <a:ext cx="10424160" cy="2962334"/>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SSE-S3 encryption is automatically applied to new objects stored in S3 bucket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1685" y="1801368"/>
            <a:ext cx="100181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439_0.png"/>
          <p:cNvPicPr>
            <a:picLocks noChangeAspect="1"/>
          </p:cNvPicPr>
          <p:nvPr/>
        </p:nvPicPr>
        <p:blipFill>
          <a:blip r:embed="rId2"/>
          <a:stretch>
            <a:fillRect/>
          </a:stretch>
        </p:blipFill>
        <p:spPr>
          <a:xfrm>
            <a:off x="1099117" y="1828800"/>
            <a:ext cx="996328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Cross-Origin Resource Sharing (CORS)</a:t>
            </a:r>
          </a:p>
          <a:p>
            <a:pPr>
              <a:spcAft>
                <a:spcPts val="1000"/>
              </a:spcAft>
            </a:pPr>
            <a:r>
              <a:rPr sz="1800" b="0">
                <a:solidFill>
                  <a:srgbClr val="161B26"/>
                </a:solidFill>
                <a:latin typeface="Arial"/>
              </a:rPr>
              <a:t>•  Origin = scheme (protocol) + host (domain) + port</a:t>
            </a:r>
          </a:p>
          <a:p>
            <a:pPr>
              <a:spcAft>
                <a:spcPts val="1000"/>
              </a:spcAft>
            </a:pPr>
            <a:r>
              <a:rPr sz="1800" b="0">
                <a:solidFill>
                  <a:srgbClr val="161B26"/>
                </a:solidFill>
                <a:latin typeface="Arial"/>
              </a:rPr>
              <a:t>•  example: https://www.example.com (implied port is 443 for HTTPS, 80 for HTTP)</a:t>
            </a:r>
          </a:p>
          <a:p>
            <a:pPr>
              <a:spcAft>
                <a:spcPts val="1000"/>
              </a:spcAft>
            </a:pPr>
            <a:r>
              <a:rPr sz="1800" b="0">
                <a:solidFill>
                  <a:srgbClr val="161B26"/>
                </a:solidFill>
                <a:latin typeface="Arial"/>
              </a:rPr>
              <a:t>•  Web Browser based mechanism to allow requests to other origins while visiting the main origin</a:t>
            </a:r>
          </a:p>
          <a:p>
            <a:pPr>
              <a:spcAft>
                <a:spcPts val="1000"/>
              </a:spcAft>
            </a:pPr>
            <a:r>
              <a:rPr sz="1800" b="0">
                <a:solidFill>
                  <a:srgbClr val="161B26"/>
                </a:solidFill>
                <a:latin typeface="Arial"/>
              </a:rPr>
              <a:t>•  Same origin: http://example/app1 &amp; http://example/app2</a:t>
            </a:r>
          </a:p>
          <a:p>
            <a:pPr>
              <a:spcAft>
                <a:spcPts val="1000"/>
              </a:spcAft>
            </a:pPr>
            <a:r>
              <a:rPr sz="1800" b="0">
                <a:solidFill>
                  <a:srgbClr val="161B26"/>
                </a:solidFill>
                <a:latin typeface="Arial"/>
              </a:rPr>
              <a:t>•  Different origins: http://example.com &amp; http://other.example/</a:t>
            </a:r>
          </a:p>
          <a:p>
            <a:pPr>
              <a:spcAft>
                <a:spcPts val="1000"/>
              </a:spcAft>
            </a:pPr>
            <a:r>
              <a:rPr sz="1800" b="0">
                <a:solidFill>
                  <a:srgbClr val="161B26"/>
                </a:solidFill>
                <a:latin typeface="Arial"/>
              </a:rPr>
              <a:t>•  The requests won’t be fulfilled unless the other origin allows for the requests, using CORS Headers (example: Access-Control-Allow-Origin)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(Origin) https://www.example.com</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(Cross-Origin) https://www.other.com</a:t>
            </a:r>
          </a:p>
          <a:p>
            <a:pPr>
              <a:spcAft>
                <a:spcPts val="1000"/>
              </a:spcAft>
            </a:pPr>
            <a:r>
              <a:rPr sz="1800" b="0">
                <a:solidFill>
                  <a:srgbClr val="161B26"/>
                </a:solidFill>
                <a:latin typeface="Arial"/>
              </a:rPr>
              <a:t>•  Web Browser</a:t>
            </a:r>
          </a:p>
          <a:p>
            <a:pPr>
              <a:spcAft>
                <a:spcPts val="1000"/>
              </a:spcAft>
            </a:pPr>
            <a:r>
              <a:rPr sz="1800" b="0">
                <a:solidFill>
                  <a:srgbClr val="161B26"/>
                </a:solidFill>
                <a:latin typeface="Arial"/>
              </a:rPr>
              <a:t>•  HTTPS Request</a:t>
            </a:r>
          </a:p>
          <a:p>
            <a:pPr>
              <a:spcAft>
                <a:spcPts val="1000"/>
              </a:spcAft>
            </a:pPr>
            <a:r>
              <a:rPr sz="1800" b="0">
                <a:solidFill>
                  <a:srgbClr val="161B26"/>
                </a:solidFill>
                <a:latin typeface="Arial"/>
              </a:rPr>
              <a:t>•  OPTIONS /</a:t>
            </a:r>
          </a:p>
          <a:p>
            <a:pPr>
              <a:spcAft>
                <a:spcPts val="1000"/>
              </a:spcAft>
            </a:pPr>
            <a:r>
              <a:rPr sz="1800" b="0">
                <a:solidFill>
                  <a:srgbClr val="161B26"/>
                </a:solidFill>
                <a:latin typeface="Arial"/>
              </a:rPr>
              <a:t>•  Host: www.other.com</a:t>
            </a:r>
          </a:p>
          <a:p>
            <a:pPr>
              <a:spcAft>
                <a:spcPts val="1000"/>
              </a:spcAft>
            </a:pPr>
            <a:r>
              <a:rPr sz="1800" b="0">
                <a:solidFill>
                  <a:srgbClr val="161B26"/>
                </a:solidFill>
                <a:latin typeface="Arial"/>
              </a:rPr>
              <a:t>•  Origin: https://www.example.com</a:t>
            </a:r>
          </a:p>
          <a:p>
            <a:pPr>
              <a:spcAft>
                <a:spcPts val="1000"/>
              </a:spcAft>
            </a:pPr>
            <a:r>
              <a:rPr sz="1800" b="0">
                <a:solidFill>
                  <a:srgbClr val="161B26"/>
                </a:solidFill>
                <a:latin typeface="Arial"/>
              </a:rPr>
              <a:t>•  Preflight Request</a:t>
            </a:r>
          </a:p>
          <a:p>
            <a:pPr>
              <a:spcAft>
                <a:spcPts val="1000"/>
              </a:spcAft>
            </a:pPr>
            <a:r>
              <a:rPr sz="1800" b="0">
                <a:solidFill>
                  <a:srgbClr val="161B26"/>
                </a:solidFill>
                <a:latin typeface="Arial"/>
              </a:rPr>
              <a:t>•  Access-Control-Allow-Origin: https://www.example.com Access-Control-Allow-Methods: GET, PUT, DELETE</a:t>
            </a:r>
          </a:p>
          <a:p>
            <a:pPr>
              <a:spcAft>
                <a:spcPts val="1000"/>
              </a:spcAft>
            </a:pPr>
            <a:r>
              <a:rPr sz="1800" b="0">
                <a:solidFill>
                  <a:srgbClr val="161B26"/>
                </a:solidFill>
                <a:latin typeface="Arial"/>
              </a:rPr>
              <a:t>•  Preflight Response</a:t>
            </a:r>
          </a:p>
          <a:p>
            <a:pPr>
              <a:spcAft>
                <a:spcPts val="1000"/>
              </a:spcAft>
            </a:pPr>
            <a:r>
              <a:rPr sz="1800" b="0">
                <a:solidFill>
                  <a:srgbClr val="161B26"/>
                </a:solidFill>
                <a:latin typeface="Arial"/>
              </a:rPr>
              <a:t>•  GET /</a:t>
            </a:r>
          </a:p>
          <a:p>
            <a:pPr>
              <a:spcAft>
                <a:spcPts val="1000"/>
              </a:spcAft>
            </a:pPr>
            <a:r>
              <a:rPr sz="1800" b="0">
                <a:solidFill>
                  <a:srgbClr val="161B26"/>
                </a:solidFill>
                <a:latin typeface="Arial"/>
              </a:rPr>
              <a:t>•  Host: www.other.com</a:t>
            </a:r>
          </a:p>
          <a:p>
            <a:pPr>
              <a:spcAft>
                <a:spcPts val="1000"/>
              </a:spcAft>
            </a:pPr>
            <a:r>
              <a:rPr sz="1800" b="0">
                <a:solidFill>
                  <a:srgbClr val="161B26"/>
                </a:solidFill>
                <a:latin typeface="Arial"/>
              </a:rPr>
              <a:t>•  Origin: https://www.example.com</a:t>
            </a:r>
          </a:p>
          <a:p>
            <a:pPr>
              <a:spcAft>
                <a:spcPts val="1000"/>
              </a:spcAft>
            </a:pPr>
            <a:r>
              <a:rPr sz="1800" b="0">
                <a:solidFill>
                  <a:srgbClr val="161B26"/>
                </a:solidFill>
                <a:latin typeface="Arial"/>
              </a:rPr>
              <a:t>•  CORS Headers received already by the Origin</a:t>
            </a:r>
          </a:p>
          <a:p>
            <a:pPr>
              <a:spcAft>
                <a:spcPts val="1000"/>
              </a:spcAft>
            </a:pPr>
            <a:r>
              <a:rPr sz="1800" b="0">
                <a:solidFill>
                  <a:srgbClr val="161B26"/>
                </a:solidFill>
                <a:latin typeface="Arial"/>
              </a:rPr>
              <a:t>•  The Web Browser can make requests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a client makes a cross-origin request on our S3 bucket, we need to enable the correct CORS headers</a:t>
            </a:r>
          </a:p>
          <a:p>
            <a:pPr>
              <a:spcAft>
                <a:spcPts val="1000"/>
              </a:spcAft>
            </a:pPr>
            <a:r>
              <a:rPr sz="1800" b="0">
                <a:solidFill>
                  <a:srgbClr val="161B26"/>
                </a:solidFill>
                <a:latin typeface="Arial"/>
              </a:rPr>
              <a:t>•  It’s a popular exam question</a:t>
            </a:r>
          </a:p>
          <a:p>
            <a:pPr>
              <a:spcAft>
                <a:spcPts val="1000"/>
              </a:spcAft>
            </a:pPr>
            <a:r>
              <a:rPr sz="1800" b="0">
                <a:solidFill>
                  <a:srgbClr val="161B26"/>
                </a:solidFill>
                <a:latin typeface="Arial"/>
              </a:rPr>
              <a:t>•  You can allow for a specific origin or for * (all origins)</a:t>
            </a:r>
          </a:p>
          <a:p>
            <a:pPr>
              <a:spcAft>
                <a:spcPts val="1000"/>
              </a:spcAft>
            </a:pPr>
            <a:r>
              <a:rPr sz="1800" b="0">
                <a:solidFill>
                  <a:srgbClr val="161B26"/>
                </a:solidFill>
                <a:latin typeface="Arial"/>
              </a:rPr>
              <a:t>•  Web Browser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(my-bucket-html)</a:t>
            </a:r>
          </a:p>
          <a:p>
            <a:pPr>
              <a:spcAft>
                <a:spcPts val="1000"/>
              </a:spcAft>
            </a:pPr>
            <a:r>
              <a:rPr sz="1800" b="0">
                <a:solidFill>
                  <a:srgbClr val="161B26"/>
                </a:solidFill>
                <a:latin typeface="Arial"/>
              </a:rPr>
              <a:t>•  (Static Website Enabled)</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(my-bucket-assets)</a:t>
            </a:r>
          </a:p>
          <a:p>
            <a:pPr>
              <a:spcAft>
                <a:spcPts val="1000"/>
              </a:spcAft>
            </a:pPr>
            <a:r>
              <a:rPr sz="1800" b="0">
                <a:solidFill>
                  <a:srgbClr val="161B26"/>
                </a:solidFill>
                <a:latin typeface="Arial"/>
              </a:rPr>
              <a:t>•  (Static Website Enabled)</a:t>
            </a:r>
          </a:p>
          <a:p>
            <a:pPr>
              <a:spcAft>
                <a:spcPts val="1000"/>
              </a:spcAft>
            </a:pPr>
            <a:r>
              <a:rPr sz="1800" b="0">
                <a:solidFill>
                  <a:srgbClr val="161B26"/>
                </a:solidFill>
                <a:latin typeface="Arial"/>
              </a:rPr>
              <a:t>•  GET /index.html</a:t>
            </a:r>
          </a:p>
          <a:p>
            <a:pPr>
              <a:spcAft>
                <a:spcPts val="1000"/>
              </a:spcAft>
            </a:pPr>
            <a:r>
              <a:rPr sz="1800" b="0">
                <a:solidFill>
                  <a:srgbClr val="161B26"/>
                </a:solidFill>
                <a:latin typeface="Arial"/>
              </a:rPr>
              <a:t>•  Host: http://my-bucket-html.s3-website.us-west-2.amazonaws.com</a:t>
            </a:r>
          </a:p>
          <a:p>
            <a:pPr>
              <a:spcAft>
                <a:spcPts val="1000"/>
              </a:spcAft>
            </a:pPr>
            <a:r>
              <a:rPr sz="1800" b="0">
                <a:solidFill>
                  <a:srgbClr val="161B26"/>
                </a:solidFill>
                <a:latin typeface="Arial"/>
              </a:rPr>
              <a:t>•  index.html</a:t>
            </a:r>
          </a:p>
          <a:p>
            <a:pPr>
              <a:spcAft>
                <a:spcPts val="1000"/>
              </a:spcAft>
            </a:pPr>
            <a:r>
              <a:rPr sz="1800" b="0">
                <a:solidFill>
                  <a:srgbClr val="161B26"/>
                </a:solidFill>
                <a:latin typeface="Arial"/>
              </a:rPr>
              <a:t>•  GET /images/coffee.jpg</a:t>
            </a:r>
          </a:p>
          <a:p>
            <a:pPr>
              <a:spcAft>
                <a:spcPts val="1000"/>
              </a:spcAft>
            </a:pPr>
            <a:r>
              <a:rPr sz="1800" b="0">
                <a:solidFill>
                  <a:srgbClr val="161B26"/>
                </a:solidFill>
                <a:latin typeface="Arial"/>
              </a:rPr>
              <a:t>•  Host: http://my-bucket-assets.s3-website.us-west-2.amazonaws.com Origin: http://my-bucket-html.s3-website.us-west-2.amazonaws.com</a:t>
            </a:r>
          </a:p>
          <a:p>
            <a:pPr>
              <a:spcAft>
                <a:spcPts val="1000"/>
              </a:spcAft>
            </a:pPr>
            <a:r>
              <a:rPr sz="1800" b="0">
                <a:solidFill>
                  <a:srgbClr val="161B26"/>
                </a:solidFill>
                <a:latin typeface="Arial"/>
              </a:rPr>
              <a:t>•  Access-Control-Allow-Origin: http://my-bucket-html.s3-website.us-west-2.amazonaws.com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9776" y="1801368"/>
            <a:ext cx="10261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443_0.png"/>
          <p:cNvPicPr>
            <a:picLocks noChangeAspect="1"/>
          </p:cNvPicPr>
          <p:nvPr/>
        </p:nvPicPr>
        <p:blipFill>
          <a:blip r:embed="rId2"/>
          <a:stretch>
            <a:fillRect/>
          </a:stretch>
        </p:blipFill>
        <p:spPr>
          <a:xfrm>
            <a:off x="977208" y="1828800"/>
            <a:ext cx="10207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MFA Delete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MFA (Multi-Factor Authentication) - force users to generate a code on a device (usually a mobile phone or hardware) before doing important operations on S3</a:t>
            </a:r>
          </a:p>
          <a:p>
            <a:pPr>
              <a:spcAft>
                <a:spcPts val="1000"/>
              </a:spcAft>
            </a:pPr>
            <a:r>
              <a:rPr sz="1800" b="0">
                <a:solidFill>
                  <a:srgbClr val="161B26"/>
                </a:solidFill>
                <a:latin typeface="Arial"/>
              </a:rPr>
              <a:t>•  MFA will be required to:</a:t>
            </a:r>
          </a:p>
          <a:p>
            <a:pPr>
              <a:spcAft>
                <a:spcPts val="1000"/>
              </a:spcAft>
            </a:pPr>
            <a:r>
              <a:rPr sz="1800" b="0">
                <a:solidFill>
                  <a:srgbClr val="161B26"/>
                </a:solidFill>
                <a:latin typeface="Arial"/>
              </a:rPr>
              <a:t>•  Permanently delete an object version</a:t>
            </a:r>
          </a:p>
          <a:p>
            <a:pPr>
              <a:spcAft>
                <a:spcPts val="1000"/>
              </a:spcAft>
            </a:pPr>
            <a:r>
              <a:rPr sz="1800" b="0">
                <a:solidFill>
                  <a:srgbClr val="161B26"/>
                </a:solidFill>
                <a:latin typeface="Arial"/>
              </a:rPr>
              <a:t>•  Suspend Versioning on the bucket</a:t>
            </a:r>
          </a:p>
          <a:p>
            <a:pPr>
              <a:spcAft>
                <a:spcPts val="1000"/>
              </a:spcAft>
            </a:pPr>
            <a:r>
              <a:rPr sz="1800" b="0">
                <a:solidFill>
                  <a:srgbClr val="161B26"/>
                </a:solidFill>
                <a:latin typeface="Arial"/>
              </a:rPr>
              <a:t>•  MFA won’t be required to:</a:t>
            </a:r>
          </a:p>
          <a:p>
            <a:pPr>
              <a:spcAft>
                <a:spcPts val="1000"/>
              </a:spcAft>
            </a:pPr>
            <a:r>
              <a:rPr sz="1800" b="0">
                <a:solidFill>
                  <a:srgbClr val="161B26"/>
                </a:solidFill>
                <a:latin typeface="Arial"/>
              </a:rPr>
              <a:t>•  Enable Versioning</a:t>
            </a:r>
          </a:p>
          <a:p>
            <a:pPr>
              <a:spcAft>
                <a:spcPts val="1000"/>
              </a:spcAft>
            </a:pPr>
            <a:r>
              <a:rPr sz="1800" b="0">
                <a:solidFill>
                  <a:srgbClr val="161B26"/>
                </a:solidFill>
                <a:latin typeface="Arial"/>
              </a:rPr>
              <a:t>•  List deleted versions</a:t>
            </a:r>
          </a:p>
          <a:p>
            <a:pPr>
              <a:spcAft>
                <a:spcPts val="1000"/>
              </a:spcAft>
            </a:pPr>
            <a:r>
              <a:rPr sz="1800" b="0">
                <a:solidFill>
                  <a:srgbClr val="161B26"/>
                </a:solidFill>
                <a:latin typeface="Arial"/>
              </a:rPr>
              <a:t>•  To use MFA Delete, Versioning must be enabled on the bucket</a:t>
            </a:r>
          </a:p>
          <a:p>
            <a:pPr>
              <a:spcAft>
                <a:spcPts val="1000"/>
              </a:spcAft>
            </a:pPr>
            <a:r>
              <a:rPr sz="1800" b="0">
                <a:solidFill>
                  <a:srgbClr val="161B26"/>
                </a:solidFill>
                <a:latin typeface="Arial"/>
              </a:rPr>
              <a:t>•  Only the bucket owner (root account) can enable/disable MFA Delete</a:t>
            </a:r>
          </a:p>
          <a:p>
            <a:pPr>
              <a:spcAft>
                <a:spcPts val="1000"/>
              </a:spcAft>
            </a:pPr>
            <a:r>
              <a:rPr sz="1800" b="0">
                <a:solidFill>
                  <a:srgbClr val="161B26"/>
                </a:solidFill>
                <a:latin typeface="Arial"/>
              </a:rPr>
              <a:t>•  Google Authenticator</a:t>
            </a:r>
          </a:p>
          <a:p>
            <a:pPr>
              <a:spcAft>
                <a:spcPts val="1000"/>
              </a:spcAft>
            </a:pPr>
            <a:r>
              <a:rPr sz="1800" b="0">
                <a:solidFill>
                  <a:srgbClr val="161B26"/>
                </a:solidFill>
                <a:latin typeface="Arial"/>
              </a:rPr>
              <a:t>•  MFA Hardware Device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Access Logs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audit purpose, you may want to log all access to S3 buckets</a:t>
            </a:r>
          </a:p>
          <a:p>
            <a:pPr>
              <a:spcAft>
                <a:spcPts val="1000"/>
              </a:spcAft>
            </a:pPr>
            <a:r>
              <a:rPr sz="1800" b="0">
                <a:solidFill>
                  <a:srgbClr val="161B26"/>
                </a:solidFill>
                <a:latin typeface="Arial"/>
              </a:rPr>
              <a:t>•  Any request made to S3, from any account, authorized or denied will be logged into another S3 bucket</a:t>
            </a:r>
          </a:p>
          <a:p>
            <a:pPr>
              <a:spcAft>
                <a:spcPts val="1000"/>
              </a:spcAft>
            </a:pPr>
            <a:r>
              <a:rPr sz="1800" b="0">
                <a:solidFill>
                  <a:srgbClr val="161B26"/>
                </a:solidFill>
                <a:latin typeface="Arial"/>
              </a:rPr>
              <a:t>•  That data can be analyzed using data analysis tools…</a:t>
            </a:r>
          </a:p>
          <a:p>
            <a:pPr>
              <a:spcAft>
                <a:spcPts val="1000"/>
              </a:spcAft>
            </a:pPr>
            <a:r>
              <a:rPr sz="1800" b="0">
                <a:solidFill>
                  <a:srgbClr val="161B26"/>
                </a:solidFill>
                <a:latin typeface="Arial"/>
              </a:rPr>
              <a:t>•  The target logging bucket must be in the same AWS region</a:t>
            </a:r>
          </a:p>
          <a:p>
            <a:pPr>
              <a:spcAft>
                <a:spcPts val="1000"/>
              </a:spcAft>
            </a:pPr>
            <a:r>
              <a:rPr sz="1800" b="0">
                <a:solidFill>
                  <a:srgbClr val="161B26"/>
                </a:solidFill>
                <a:latin typeface="Arial"/>
              </a:rPr>
              <a:t>•  The log format is at: 	https://docs.aws.amazon.com/AmazonS3/latest/dev/LogFormat.html</a:t>
            </a:r>
          </a:p>
          <a:p>
            <a:pPr>
              <a:spcAft>
                <a:spcPts val="1000"/>
              </a:spcAft>
            </a:pPr>
            <a:r>
              <a:rPr sz="1800" b="0">
                <a:solidFill>
                  <a:srgbClr val="161B26"/>
                </a:solidFill>
                <a:latin typeface="Arial"/>
              </a:rPr>
              <a:t>•  My-bucket</a:t>
            </a:r>
          </a:p>
          <a:p>
            <a:pPr>
              <a:spcAft>
                <a:spcPts val="1000"/>
              </a:spcAft>
            </a:pPr>
            <a:r>
              <a:rPr sz="1800" b="0">
                <a:solidFill>
                  <a:srgbClr val="161B26"/>
                </a:solidFill>
                <a:latin typeface="Arial"/>
              </a:rPr>
              <a:t>•  requests</a:t>
            </a:r>
          </a:p>
          <a:p>
            <a:pPr>
              <a:spcAft>
                <a:spcPts val="1000"/>
              </a:spcAft>
            </a:pPr>
            <a:r>
              <a:rPr sz="1800" b="0">
                <a:solidFill>
                  <a:srgbClr val="161B26"/>
                </a:solidFill>
                <a:latin typeface="Arial"/>
              </a:rPr>
              <a:t>•  Log all requests</a:t>
            </a:r>
          </a:p>
          <a:p>
            <a:pPr>
              <a:spcAft>
                <a:spcPts val="1000"/>
              </a:spcAft>
            </a:pPr>
            <a:r>
              <a:rPr sz="1800" b="0">
                <a:solidFill>
                  <a:srgbClr val="161B26"/>
                </a:solidFill>
                <a:latin typeface="Arial"/>
              </a:rPr>
              <a:t>•  Logging Bucket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Access Logs: Warning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Do not set your logging bucket to be the monitored bucket</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 will create a logging loop, and your bucket will grow exponentially</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App Bucket &amp; Logging Bucket</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Logging loop</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PutObject</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Do not try this at home ©</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Pre-Signed	URLs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Generate pre-signed URLs using the S3 Console, AWS CLI or SDK</a:t>
            </a:r>
          </a:p>
          <a:p>
            <a:pPr>
              <a:spcAft>
                <a:spcPts val="1000"/>
              </a:spcAft>
            </a:pPr>
            <a:r>
              <a:rPr sz="1800" b="0">
                <a:solidFill>
                  <a:srgbClr val="161B26"/>
                </a:solidFill>
                <a:latin typeface="Arial"/>
              </a:rPr>
              <a:t>•  URL Expiration</a:t>
            </a:r>
          </a:p>
          <a:p>
            <a:pPr>
              <a:spcAft>
                <a:spcPts val="1000"/>
              </a:spcAft>
            </a:pPr>
            <a:r>
              <a:rPr sz="1800" b="0">
                <a:solidFill>
                  <a:srgbClr val="161B26"/>
                </a:solidFill>
                <a:latin typeface="Arial"/>
              </a:rPr>
              <a:t>•  S3 Console - 1 min up to 720 mins (12 hours)</a:t>
            </a:r>
          </a:p>
          <a:p>
            <a:pPr>
              <a:spcAft>
                <a:spcPts val="1000"/>
              </a:spcAft>
            </a:pPr>
            <a:r>
              <a:rPr sz="1800" b="0">
                <a:solidFill>
                  <a:srgbClr val="161B26"/>
                </a:solidFill>
                <a:latin typeface="Arial"/>
              </a:rPr>
              <a:t>•  AWS CLI - configure expiration with --expires-in parameter in seconds (default 3600 secs, max. 604800 secs ~ 168 hours)</a:t>
            </a:r>
          </a:p>
          <a:p>
            <a:pPr>
              <a:spcAft>
                <a:spcPts val="1000"/>
              </a:spcAft>
            </a:pPr>
            <a:r>
              <a:rPr sz="1800" b="0">
                <a:solidFill>
                  <a:srgbClr val="161B26"/>
                </a:solidFill>
                <a:latin typeface="Arial"/>
              </a:rPr>
              <a:t>•  Users given a pre-signed URL inherit the permissions of the user that generated the URL for GET / PUT</a:t>
            </a:r>
          </a:p>
          <a:p>
            <a:pPr>
              <a:spcAft>
                <a:spcPts val="1000"/>
              </a:spcAft>
            </a:pPr>
            <a:r>
              <a:rPr sz="1800" b="0">
                <a:solidFill>
                  <a:srgbClr val="161B26"/>
                </a:solidFill>
                <a:latin typeface="Arial"/>
              </a:rPr>
              <a:t>•  Examples:</a:t>
            </a:r>
          </a:p>
          <a:p>
            <a:pPr>
              <a:spcAft>
                <a:spcPts val="1000"/>
              </a:spcAft>
            </a:pPr>
            <a:r>
              <a:rPr sz="1800" b="0">
                <a:solidFill>
                  <a:srgbClr val="161B26"/>
                </a:solidFill>
                <a:latin typeface="Arial"/>
              </a:rPr>
              <a:t>•  Allow only logged-in users to download a premium video from your S3 bucket</a:t>
            </a:r>
          </a:p>
          <a:p>
            <a:pPr>
              <a:spcAft>
                <a:spcPts val="1000"/>
              </a:spcAft>
            </a:pPr>
            <a:r>
              <a:rPr sz="1800" b="0">
                <a:solidFill>
                  <a:srgbClr val="161B26"/>
                </a:solidFill>
                <a:latin typeface="Arial"/>
              </a:rPr>
              <a:t>•  Allow an ever-changing list of users to download files by generating URLs dynamically</a:t>
            </a:r>
          </a:p>
          <a:p>
            <a:pPr>
              <a:spcAft>
                <a:spcPts val="1000"/>
              </a:spcAft>
            </a:pPr>
            <a:r>
              <a:rPr sz="1800" b="0">
                <a:solidFill>
                  <a:srgbClr val="161B26"/>
                </a:solidFill>
                <a:latin typeface="Arial"/>
              </a:rPr>
              <a:t>•  Allow temporarily a user to upload a file to a precise location in your S3 bucket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(Private)</a:t>
            </a:r>
          </a:p>
          <a:p>
            <a:pPr>
              <a:spcAft>
                <a:spcPts val="1000"/>
              </a:spcAft>
            </a:pPr>
            <a:r>
              <a:rPr sz="1800" b="0">
                <a:solidFill>
                  <a:srgbClr val="161B26"/>
                </a:solidFill>
                <a:latin typeface="Arial"/>
              </a:rPr>
              <a:t>•  Owner</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generate pre-signed URL</a:t>
            </a:r>
          </a:p>
          <a:p>
            <a:pPr>
              <a:spcAft>
                <a:spcPts val="1000"/>
              </a:spcAft>
            </a:pPr>
            <a:r>
              <a:rPr sz="1800" b="0">
                <a:solidFill>
                  <a:srgbClr val="161B26"/>
                </a:solidFill>
                <a:latin typeface="Arial"/>
              </a:rPr>
              <a:t>•  URL</a:t>
            </a:r>
          </a:p>
          <a:p>
            <a:pPr>
              <a:spcAft>
                <a:spcPts val="1000"/>
              </a:spcAft>
            </a:pPr>
            <a:r>
              <a:rPr sz="1800" b="0">
                <a:solidFill>
                  <a:srgbClr val="161B26"/>
                </a:solidFill>
                <a:latin typeface="Arial"/>
              </a:rPr>
              <a:t>•  URL</a:t>
            </a:r>
          </a:p>
          <a:p>
            <a:pPr>
              <a:spcAft>
                <a:spcPts val="1000"/>
              </a:spcAft>
            </a:pPr>
            <a:r>
              <a:rPr sz="1800" b="0">
                <a:solidFill>
                  <a:srgbClr val="161B26"/>
                </a:solidFill>
                <a:latin typeface="Arial"/>
              </a:rPr>
              <a:t>•  URL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Access Log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2383" y="1801368"/>
            <a:ext cx="1021675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448_0.png"/>
          <p:cNvPicPr>
            <a:picLocks noChangeAspect="1"/>
          </p:cNvPicPr>
          <p:nvPr/>
        </p:nvPicPr>
        <p:blipFill>
          <a:blip r:embed="rId2"/>
          <a:stretch>
            <a:fillRect/>
          </a:stretch>
        </p:blipFill>
        <p:spPr>
          <a:xfrm>
            <a:off x="999815" y="1828800"/>
            <a:ext cx="1016189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Glacier Vault Lock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Adopt a WORM (Write Once Read Many) model</a:t>
            </a:r>
          </a:p>
          <a:p>
            <a:pPr>
              <a:spcAft>
                <a:spcPts val="1000"/>
              </a:spcAft>
            </a:pPr>
            <a:r>
              <a:rPr sz="1800" b="0">
                <a:solidFill>
                  <a:srgbClr val="161B26"/>
                </a:solidFill>
                <a:latin typeface="Arial"/>
              </a:rPr>
              <a:t>•  Create a Vault Lock Policy</a:t>
            </a:r>
          </a:p>
          <a:p>
            <a:pPr>
              <a:spcAft>
                <a:spcPts val="1000"/>
              </a:spcAft>
            </a:pPr>
            <a:r>
              <a:rPr sz="1800" b="0">
                <a:solidFill>
                  <a:srgbClr val="161B26"/>
                </a:solidFill>
                <a:latin typeface="Arial"/>
              </a:rPr>
              <a:t>•  Lock the policy for future edits</a:t>
            </a:r>
          </a:p>
          <a:p>
            <a:pPr>
              <a:spcAft>
                <a:spcPts val="1000"/>
              </a:spcAft>
            </a:pPr>
            <a:r>
              <a:rPr sz="1800" b="0">
                <a:solidFill>
                  <a:srgbClr val="161B26"/>
                </a:solidFill>
                <a:latin typeface="Arial"/>
              </a:rPr>
              <a:t>•  (can no longer be changed or deleted)</a:t>
            </a:r>
          </a:p>
          <a:p>
            <a:pPr>
              <a:spcAft>
                <a:spcPts val="1000"/>
              </a:spcAft>
            </a:pPr>
            <a:r>
              <a:rPr sz="1800" b="0">
                <a:solidFill>
                  <a:srgbClr val="161B26"/>
                </a:solidFill>
                <a:latin typeface="Arial"/>
              </a:rPr>
              <a:t>•  Helpful for compliance and data retention</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Vault Lock Policy</a:t>
            </a:r>
          </a:p>
          <a:p>
            <a:pPr>
              <a:spcAft>
                <a:spcPts val="1000"/>
              </a:spcAft>
            </a:pPr>
            <a:r>
              <a:rPr sz="1800" b="0">
                <a:solidFill>
                  <a:srgbClr val="161B26"/>
                </a:solidFill>
                <a:latin typeface="Arial"/>
              </a:rPr>
              <a:t>•  Object can’t be deleted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Object Lock (versioning must be enabled)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Adopt a WORM (Write Once Read Many) model</a:t>
            </a:r>
          </a:p>
          <a:p>
            <a:pPr>
              <a:spcAft>
                <a:spcPts val="1000"/>
              </a:spcAft>
            </a:pPr>
            <a:r>
              <a:rPr sz="1800" b="0">
                <a:solidFill>
                  <a:srgbClr val="161B26"/>
                </a:solidFill>
                <a:latin typeface="Arial"/>
              </a:rPr>
              <a:t>•  Block an object version deletion for a specified amount of time</a:t>
            </a:r>
          </a:p>
          <a:p>
            <a:pPr>
              <a:spcAft>
                <a:spcPts val="1000"/>
              </a:spcAft>
            </a:pPr>
            <a:r>
              <a:rPr sz="1800" b="0">
                <a:solidFill>
                  <a:srgbClr val="161B26"/>
                </a:solidFill>
                <a:latin typeface="Arial"/>
              </a:rPr>
              <a:t>•  Retention mode - Compliance:</a:t>
            </a:r>
          </a:p>
          <a:p>
            <a:pPr>
              <a:spcAft>
                <a:spcPts val="1000"/>
              </a:spcAft>
            </a:pPr>
            <a:r>
              <a:rPr sz="1800" b="0">
                <a:solidFill>
                  <a:srgbClr val="161B26"/>
                </a:solidFill>
                <a:latin typeface="Arial"/>
              </a:rPr>
              <a:t>•  Object versions can't be overwritten or deleted by any user, including the root user</a:t>
            </a:r>
          </a:p>
          <a:p>
            <a:pPr>
              <a:spcAft>
                <a:spcPts val="1000"/>
              </a:spcAft>
            </a:pPr>
            <a:r>
              <a:rPr sz="1800" b="0">
                <a:solidFill>
                  <a:srgbClr val="161B26"/>
                </a:solidFill>
                <a:latin typeface="Arial"/>
              </a:rPr>
              <a:t>•  Objects retention modes can't be changed, and retention periods can't be shortened</a:t>
            </a:r>
          </a:p>
          <a:p>
            <a:pPr>
              <a:spcAft>
                <a:spcPts val="1000"/>
              </a:spcAft>
            </a:pPr>
            <a:r>
              <a:rPr sz="1800" b="0">
                <a:solidFill>
                  <a:srgbClr val="161B26"/>
                </a:solidFill>
                <a:latin typeface="Arial"/>
              </a:rPr>
              <a:t>•  Retention mode - Governance:</a:t>
            </a:r>
          </a:p>
          <a:p>
            <a:pPr>
              <a:spcAft>
                <a:spcPts val="1000"/>
              </a:spcAft>
            </a:pPr>
            <a:r>
              <a:rPr sz="1800" b="0">
                <a:solidFill>
                  <a:srgbClr val="161B26"/>
                </a:solidFill>
                <a:latin typeface="Arial"/>
              </a:rPr>
              <a:t>•  Most users can't overwrite or delete an object version or alter its lock settings</a:t>
            </a:r>
          </a:p>
          <a:p>
            <a:pPr>
              <a:spcAft>
                <a:spcPts val="1000"/>
              </a:spcAft>
            </a:pPr>
            <a:r>
              <a:rPr sz="1800" b="0">
                <a:solidFill>
                  <a:srgbClr val="161B26"/>
                </a:solidFill>
                <a:latin typeface="Arial"/>
              </a:rPr>
              <a:t>•  Some users have special permissions to change the retention or delete the object</a:t>
            </a:r>
          </a:p>
          <a:p>
            <a:pPr>
              <a:spcAft>
                <a:spcPts val="1000"/>
              </a:spcAft>
            </a:pPr>
            <a:r>
              <a:rPr sz="1800" b="0">
                <a:solidFill>
                  <a:srgbClr val="161B26"/>
                </a:solidFill>
                <a:latin typeface="Arial"/>
              </a:rPr>
              <a:t>•  Retention Period: protect the object for a fixed period, it can be extended</a:t>
            </a:r>
          </a:p>
          <a:p>
            <a:pPr>
              <a:spcAft>
                <a:spcPts val="1000"/>
              </a:spcAft>
            </a:pPr>
            <a:r>
              <a:rPr sz="1800" b="0">
                <a:solidFill>
                  <a:srgbClr val="161B26"/>
                </a:solidFill>
                <a:latin typeface="Arial"/>
              </a:rPr>
              <a:t>•  Legal Hold:</a:t>
            </a:r>
          </a:p>
          <a:p>
            <a:pPr>
              <a:spcAft>
                <a:spcPts val="1000"/>
              </a:spcAft>
            </a:pPr>
            <a:r>
              <a:rPr sz="1800" b="0">
                <a:solidFill>
                  <a:srgbClr val="161B26"/>
                </a:solidFill>
                <a:latin typeface="Arial"/>
              </a:rPr>
              <a:t>•  protect the object indefinitely, independent from retention period</a:t>
            </a:r>
          </a:p>
          <a:p>
            <a:pPr>
              <a:spcAft>
                <a:spcPts val="1000"/>
              </a:spcAft>
            </a:pPr>
            <a:r>
              <a:rPr sz="1800" b="0">
                <a:solidFill>
                  <a:srgbClr val="161B26"/>
                </a:solidFill>
                <a:latin typeface="Arial"/>
              </a:rPr>
              <a:t>•  can be freely placed and removed using the s3:PutObjectLegalHold IAM permission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Access Points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/finance/…</a:t>
            </a:r>
          </a:p>
          <a:p>
            <a:pPr>
              <a:spcAft>
                <a:spcPts val="1000"/>
              </a:spcAft>
            </a:pPr>
            <a:r>
              <a:rPr sz="1800" b="0">
                <a:solidFill>
                  <a:srgbClr val="161B26"/>
                </a:solidFill>
                <a:latin typeface="Arial"/>
              </a:rPr>
              <a:t>•  /sales/…</a:t>
            </a:r>
          </a:p>
          <a:p>
            <a:pPr>
              <a:spcAft>
                <a:spcPts val="1000"/>
              </a:spcAft>
            </a:pPr>
            <a:r>
              <a:rPr sz="1800" b="0">
                <a:solidFill>
                  <a:srgbClr val="161B26"/>
                </a:solidFill>
                <a:latin typeface="Arial"/>
              </a:rPr>
              <a:t>•  Simple Bucket Policy</a:t>
            </a:r>
          </a:p>
          <a:p>
            <a:pPr>
              <a:spcAft>
                <a:spcPts val="1000"/>
              </a:spcAft>
            </a:pPr>
            <a:r>
              <a:rPr sz="1800" b="0">
                <a:solidFill>
                  <a:srgbClr val="161B26"/>
                </a:solidFill>
                <a:latin typeface="Arial"/>
              </a:rPr>
              <a:t>•  Finance Access Point</a:t>
            </a:r>
          </a:p>
          <a:p>
            <a:pPr>
              <a:spcAft>
                <a:spcPts val="1000"/>
              </a:spcAft>
            </a:pPr>
            <a:r>
              <a:rPr sz="1800" b="0">
                <a:solidFill>
                  <a:srgbClr val="161B26"/>
                </a:solidFill>
                <a:latin typeface="Arial"/>
              </a:rPr>
              <a:t>•  Sales Access Point</a:t>
            </a:r>
          </a:p>
          <a:p>
            <a:pPr>
              <a:spcAft>
                <a:spcPts val="1000"/>
              </a:spcAft>
            </a:pPr>
            <a:r>
              <a:rPr sz="1800" b="0">
                <a:solidFill>
                  <a:srgbClr val="161B26"/>
                </a:solidFill>
                <a:latin typeface="Arial"/>
              </a:rPr>
              <a:t>•  Analytics Access Point</a:t>
            </a:r>
          </a:p>
          <a:p>
            <a:pPr>
              <a:spcAft>
                <a:spcPts val="1000"/>
              </a:spcAft>
            </a:pPr>
            <a:r>
              <a:rPr sz="1800" b="0">
                <a:solidFill>
                  <a:srgbClr val="161B26"/>
                </a:solidFill>
                <a:latin typeface="Arial"/>
              </a:rPr>
              <a:t>•  Policy</a:t>
            </a:r>
          </a:p>
          <a:p>
            <a:pPr>
              <a:spcAft>
                <a:spcPts val="1000"/>
              </a:spcAft>
            </a:pPr>
            <a:r>
              <a:rPr sz="1800" b="0">
                <a:solidFill>
                  <a:srgbClr val="161B26"/>
                </a:solidFill>
                <a:latin typeface="Arial"/>
              </a:rPr>
              <a:t>•  Grant R/W to</a:t>
            </a:r>
          </a:p>
          <a:p>
            <a:pPr>
              <a:spcAft>
                <a:spcPts val="1000"/>
              </a:spcAft>
            </a:pPr>
            <a:r>
              <a:rPr sz="1800" b="0">
                <a:solidFill>
                  <a:srgbClr val="161B26"/>
                </a:solidFill>
                <a:latin typeface="Arial"/>
              </a:rPr>
              <a:t>•  /finance prefix</a:t>
            </a:r>
          </a:p>
          <a:p>
            <a:pPr>
              <a:spcAft>
                <a:spcPts val="1000"/>
              </a:spcAft>
            </a:pPr>
            <a:r>
              <a:rPr sz="1800" b="0">
                <a:solidFill>
                  <a:srgbClr val="161B26"/>
                </a:solidFill>
                <a:latin typeface="Arial"/>
              </a:rPr>
              <a:t>•  Policy</a:t>
            </a:r>
          </a:p>
          <a:p>
            <a:pPr>
              <a:spcAft>
                <a:spcPts val="1000"/>
              </a:spcAft>
            </a:pPr>
            <a:r>
              <a:rPr sz="1800" b="0">
                <a:solidFill>
                  <a:srgbClr val="161B26"/>
                </a:solidFill>
                <a:latin typeface="Arial"/>
              </a:rPr>
              <a:t>•  Grant R/W to</a:t>
            </a:r>
          </a:p>
          <a:p>
            <a:pPr>
              <a:spcAft>
                <a:spcPts val="1000"/>
              </a:spcAft>
            </a:pPr>
            <a:r>
              <a:rPr sz="1800" b="0">
                <a:solidFill>
                  <a:srgbClr val="161B26"/>
                </a:solidFill>
                <a:latin typeface="Arial"/>
              </a:rPr>
              <a:t>•  /sales prefix</a:t>
            </a:r>
          </a:p>
          <a:p>
            <a:pPr>
              <a:spcAft>
                <a:spcPts val="1000"/>
              </a:spcAft>
            </a:pPr>
            <a:r>
              <a:rPr sz="1800" b="0">
                <a:solidFill>
                  <a:srgbClr val="161B26"/>
                </a:solidFill>
                <a:latin typeface="Arial"/>
              </a:rPr>
              <a:t>•  Policy</a:t>
            </a:r>
          </a:p>
          <a:p>
            <a:pPr>
              <a:spcAft>
                <a:spcPts val="1000"/>
              </a:spcAft>
            </a:pPr>
            <a:r>
              <a:rPr sz="1800" b="0">
                <a:solidFill>
                  <a:srgbClr val="161B26"/>
                </a:solidFill>
                <a:latin typeface="Arial"/>
              </a:rPr>
              <a:t>•  Grant R to</a:t>
            </a:r>
          </a:p>
          <a:p>
            <a:pPr>
              <a:spcAft>
                <a:spcPts val="1000"/>
              </a:spcAft>
            </a:pPr>
            <a:r>
              <a:rPr sz="1800" b="0">
                <a:solidFill>
                  <a:srgbClr val="161B26"/>
                </a:solidFill>
                <a:latin typeface="Arial"/>
              </a:rPr>
              <a:t>•  entire bucket</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(Finance)</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(Sales)</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(Analytics)</a:t>
            </a:r>
          </a:p>
          <a:p>
            <a:pPr>
              <a:spcAft>
                <a:spcPts val="1000"/>
              </a:spcAft>
            </a:pPr>
            <a:r>
              <a:rPr sz="1800" b="0">
                <a:solidFill>
                  <a:srgbClr val="161B26"/>
                </a:solidFill>
                <a:latin typeface="Arial"/>
              </a:rPr>
              <a:t>•  Access Points simplify security management for S3 Buckets</a:t>
            </a:r>
          </a:p>
          <a:p>
            <a:pPr>
              <a:spcAft>
                <a:spcPts val="1000"/>
              </a:spcAft>
            </a:pPr>
            <a:r>
              <a:rPr sz="1800" b="0">
                <a:solidFill>
                  <a:srgbClr val="161B26"/>
                </a:solidFill>
                <a:latin typeface="Arial"/>
              </a:rPr>
              <a:t>•  Each Access Point has:</a:t>
            </a:r>
          </a:p>
          <a:p>
            <a:pPr>
              <a:spcAft>
                <a:spcPts val="1000"/>
              </a:spcAft>
            </a:pPr>
            <a:r>
              <a:rPr sz="1800" b="0">
                <a:solidFill>
                  <a:srgbClr val="161B26"/>
                </a:solidFill>
                <a:latin typeface="Arial"/>
              </a:rPr>
              <a:t>•  its own DNS name (Internet Origin or VPC Origin)</a:t>
            </a:r>
          </a:p>
          <a:p>
            <a:pPr>
              <a:spcAft>
                <a:spcPts val="1000"/>
              </a:spcAft>
            </a:pPr>
            <a:r>
              <a:rPr sz="1800" b="0">
                <a:solidFill>
                  <a:srgbClr val="161B26"/>
                </a:solidFill>
                <a:latin typeface="Arial"/>
              </a:rPr>
              <a:t>•  an access point policy (similar to bucket policy) - manage security at scale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Access Points - VPC	Origin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73377" y="1801368"/>
            <a:ext cx="921476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452_0.jpg"/>
          <p:cNvPicPr>
            <a:picLocks noChangeAspect="1"/>
          </p:cNvPicPr>
          <p:nvPr/>
        </p:nvPicPr>
        <p:blipFill>
          <a:blip r:embed="rId2"/>
          <a:stretch>
            <a:fillRect/>
          </a:stretch>
        </p:blipFill>
        <p:spPr>
          <a:xfrm>
            <a:off x="1500809" y="1828800"/>
            <a:ext cx="9159902"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We can define the access point to be accessible only from within the VPC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Multi-Region Access Points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Provide a global endpoint that span 	S3 buckets in multiple AWS regions</a:t>
            </a:r>
          </a:p>
          <a:p>
            <a:pPr>
              <a:spcAft>
                <a:spcPts val="1000"/>
              </a:spcAft>
            </a:pPr>
            <a:r>
              <a:rPr sz="2000" b="0">
                <a:solidFill>
                  <a:srgbClr val="161B26"/>
                </a:solidFill>
                <a:latin typeface="Arial"/>
              </a:rPr>
              <a:t>•  Dynamically route requests to the 	nearest S3 bucket (lowest latency)</a:t>
            </a:r>
          </a:p>
          <a:p>
            <a:pPr>
              <a:spcAft>
                <a:spcPts val="1000"/>
              </a:spcAft>
            </a:pPr>
            <a:r>
              <a:rPr sz="2000" b="0">
                <a:solidFill>
                  <a:srgbClr val="161B26"/>
                </a:solidFill>
                <a:latin typeface="Arial"/>
              </a:rPr>
              <a:t>•  Bi-directional S3 bucket replication 	rules are created to keep data in 	sync across regions</a:t>
            </a:r>
          </a:p>
          <a:p>
            <a:pPr>
              <a:spcAft>
                <a:spcPts val="1000"/>
              </a:spcAft>
            </a:pPr>
            <a:r>
              <a:rPr sz="2000" b="0">
                <a:solidFill>
                  <a:srgbClr val="161B26"/>
                </a:solidFill>
                <a:latin typeface="Arial"/>
              </a:rPr>
              <a:t>•  Failover Controls - allows you to shift requests across S3 buckets in different AWS regions within minutes (Active-Active or Active-Passive)</a:t>
            </a:r>
          </a:p>
          <a:p>
            <a:pPr>
              <a:spcAft>
                <a:spcPts val="1000"/>
              </a:spcAft>
            </a:pPr>
            <a:r>
              <a:rPr sz="2000" b="0">
                <a:solidFill>
                  <a:srgbClr val="161B26"/>
                </a:solidFill>
                <a:latin typeface="Arial"/>
              </a:rPr>
              <a:t>•  S3 Multi-Region Access Point</a:t>
            </a:r>
          </a:p>
          <a:p>
            <a:pPr>
              <a:spcAft>
                <a:spcPts val="1000"/>
              </a:spcAft>
            </a:pPr>
            <a:r>
              <a:rPr sz="2000" b="0">
                <a:solidFill>
                  <a:srgbClr val="161B26"/>
                </a:solidFill>
                <a:latin typeface="Arial"/>
              </a:rPr>
              <a:t>•  Bi-directional replication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Multi-Region Access Points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Multi-Region Access Point</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eu-west-1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ap-southeast-1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Bi-directional Cross-Region Replication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request S3 object</a:t>
            </a:r>
          </a:p>
          <a:p>
            <a:pPr>
              <a:spcAft>
                <a:spcPts val="1000"/>
              </a:spcAft>
            </a:pPr>
            <a:r>
              <a:rPr sz="1800" b="0">
                <a:solidFill>
                  <a:srgbClr val="161B26"/>
                </a:solidFill>
                <a:latin typeface="Arial"/>
              </a:rPr>
              <a:t>•  request routed to AWS region with the lowest latency</a:t>
            </a:r>
          </a:p>
          <a:p>
            <a:pPr>
              <a:spcAft>
                <a:spcPts val="1000"/>
              </a:spcAft>
            </a:pPr>
            <a:r>
              <a:rPr sz="1800" b="0">
                <a:solidFill>
                  <a:srgbClr val="161B26"/>
                </a:solidFill>
                <a:latin typeface="Arial"/>
              </a:rPr>
              <a:t>•  Bi-directional Cross-Region Replication</a:t>
            </a:r>
          </a:p>
          <a:p>
            <a:pPr>
              <a:spcAft>
                <a:spcPts val="1000"/>
              </a:spcAft>
            </a:pPr>
            <a:r>
              <a:rPr sz="1800" b="0">
                <a:solidFill>
                  <a:srgbClr val="161B26"/>
                </a:solidFill>
                <a:latin typeface="Arial"/>
              </a:rPr>
              <a:t>•  Bi-directional Cross-Region Replication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Multi-Region Access Points - Failover Controls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Multi-Region Access Point</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Selected Active S3 Bucket</a:t>
            </a:r>
          </a:p>
          <a:p>
            <a:pPr>
              <a:spcAft>
                <a:spcPts val="1000"/>
              </a:spcAft>
            </a:pPr>
            <a:r>
              <a:rPr sz="1800" b="0">
                <a:solidFill>
                  <a:srgbClr val="161B26"/>
                </a:solidFill>
                <a:latin typeface="Arial"/>
              </a:rPr>
              <a:t>•  eu-west-1</a:t>
            </a:r>
          </a:p>
          <a:p>
            <a:pPr>
              <a:spcAft>
                <a:spcPts val="1000"/>
              </a:spcAft>
            </a:pPr>
            <a:r>
              <a:rPr sz="1800" b="0">
                <a:solidFill>
                  <a:srgbClr val="161B26"/>
                </a:solidFill>
                <a:latin typeface="Arial"/>
              </a:rPr>
              <a:t>•  Selected Passive S3 Bucket</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request S3 object</a:t>
            </a:r>
          </a:p>
          <a:p>
            <a:pPr>
              <a:spcAft>
                <a:spcPts val="1000"/>
              </a:spcAft>
            </a:pPr>
            <a:r>
              <a:rPr sz="1800" b="0">
                <a:solidFill>
                  <a:srgbClr val="161B26"/>
                </a:solidFill>
                <a:latin typeface="Arial"/>
              </a:rPr>
              <a:t>•  Failover initiated</a:t>
            </a:r>
          </a:p>
          <a:p>
            <a:pPr>
              <a:spcAft>
                <a:spcPts val="1000"/>
              </a:spcAft>
            </a:pPr>
            <a:r>
              <a:rPr sz="1800" b="0">
                <a:solidFill>
                  <a:srgbClr val="161B26"/>
                </a:solidFill>
                <a:latin typeface="Arial"/>
              </a:rPr>
              <a:t>•  Active/Passive Failover Controls</a:t>
            </a:r>
          </a:p>
          <a:p>
            <a:pPr>
              <a:spcAft>
                <a:spcPts val="1000"/>
              </a:spcAft>
            </a:pPr>
            <a:r>
              <a:rPr sz="1800" b="0">
                <a:solidFill>
                  <a:srgbClr val="161B26"/>
                </a:solidFill>
                <a:latin typeface="Arial"/>
              </a:rPr>
              <a:t>•  Regional traffic disruption</a:t>
            </a:r>
          </a:p>
          <a:p>
            <a:pPr>
              <a:spcAft>
                <a:spcPts val="1000"/>
              </a:spcAft>
            </a:pPr>
            <a:r>
              <a:rPr sz="1800" b="0">
                <a:solidFill>
                  <a:srgbClr val="161B26"/>
                </a:solidFill>
                <a:latin typeface="Arial"/>
              </a:rPr>
              <a:t>•  Works with active/active or active/passive setups</a:t>
            </a:r>
          </a:p>
          <a:p>
            <a:pPr>
              <a:spcAft>
                <a:spcPts val="1000"/>
              </a:spcAft>
            </a:pPr>
            <a:r>
              <a:rPr sz="1800" b="0">
                <a:solidFill>
                  <a:srgbClr val="161B26"/>
                </a:solidFill>
                <a:latin typeface="Arial"/>
              </a:rPr>
              <a:t>•  Bi-directional Cross-Region Replication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	Gateway for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Endpoint Gateway</a:t>
            </a:r>
          </a:p>
          <a:p>
            <a:pPr>
              <a:spcAft>
                <a:spcPts val="1000"/>
              </a:spcAft>
            </a:pPr>
            <a:r>
              <a:rPr sz="1800" b="0">
                <a:solidFill>
                  <a:srgbClr val="161B26"/>
                </a:solidFill>
                <a:latin typeface="Arial"/>
              </a:rPr>
              <a:t>•  Private Instance</a:t>
            </a:r>
          </a:p>
          <a:p>
            <a:pPr>
              <a:spcAft>
                <a:spcPts val="1000"/>
              </a:spcAft>
            </a:pPr>
            <a:r>
              <a:rPr sz="1800" b="0">
                <a:solidFill>
                  <a:srgbClr val="161B26"/>
                </a:solidFill>
                <a:latin typeface="Arial"/>
              </a:rPr>
              <a:t>•  Public Instance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Bucket policy by AWS:SourceIP (public IP)</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S3 Bucket Bucket policy by</a:t>
            </a:r>
          </a:p>
          <a:p>
            <a:pPr>
              <a:spcAft>
                <a:spcPts val="1000"/>
              </a:spcAft>
            </a:pPr>
            <a:r>
              <a:rPr sz="1800" b="0">
                <a:solidFill>
                  <a:srgbClr val="161B26"/>
                </a:solidFill>
                <a:latin typeface="Arial"/>
              </a:rPr>
              <a:t>•  AWS:SourceVpce</a:t>
            </a:r>
          </a:p>
          <a:p>
            <a:pPr>
              <a:spcAft>
                <a:spcPts val="1000"/>
              </a:spcAft>
            </a:pPr>
            <a:r>
              <a:rPr sz="1800" b="0">
                <a:solidFill>
                  <a:srgbClr val="161B26"/>
                </a:solidFill>
                <a:latin typeface="Arial"/>
              </a:rPr>
              <a:t>•  (one or few endpoints)</a:t>
            </a:r>
          </a:p>
          <a:p>
            <a:pPr>
              <a:spcAft>
                <a:spcPts val="1000"/>
              </a:spcAft>
            </a:pPr>
            <a:r>
              <a:rPr sz="1800" b="0">
                <a:solidFill>
                  <a:srgbClr val="161B26"/>
                </a:solidFill>
                <a:latin typeface="Arial"/>
              </a:rPr>
              <a:t>•  OR</a:t>
            </a:r>
          </a:p>
          <a:p>
            <a:pPr>
              <a:spcAft>
                <a:spcPts val="1000"/>
              </a:spcAft>
            </a:pPr>
            <a:r>
              <a:rPr sz="1800" b="0">
                <a:solidFill>
                  <a:srgbClr val="161B26"/>
                </a:solidFill>
                <a:latin typeface="Arial"/>
              </a:rPr>
              <a:t>•  AWS:SourceVpc</a:t>
            </a:r>
          </a:p>
          <a:p>
            <a:pPr>
              <a:spcAft>
                <a:spcPts val="1000"/>
              </a:spcAft>
            </a:pPr>
            <a:r>
              <a:rPr sz="1800" b="0">
                <a:solidFill>
                  <a:srgbClr val="161B26"/>
                </a:solidFill>
                <a:latin typeface="Arial"/>
              </a:rPr>
              <a:t>•  (encompass all possible VPC endpoints)</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private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Access Point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34851" y="1801368"/>
            <a:ext cx="709181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457_0.png"/>
          <p:cNvPicPr>
            <a:picLocks noChangeAspect="1"/>
          </p:cNvPicPr>
          <p:nvPr/>
        </p:nvPicPr>
        <p:blipFill>
          <a:blip r:embed="rId2"/>
          <a:stretch>
            <a:fillRect/>
          </a:stretch>
        </p:blipFill>
        <p:spPr>
          <a:xfrm>
            <a:off x="2562283" y="1828800"/>
            <a:ext cx="703695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Storage Solutions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Highly-secure, portable devices to collect and process data at the edge and migrate data into and out of AWS</a:t>
            </a:r>
          </a:p>
          <a:p>
            <a:pPr>
              <a:spcAft>
                <a:spcPts val="1000"/>
              </a:spcAft>
            </a:pPr>
            <a:r>
              <a:rPr sz="2000" b="0">
                <a:solidFill>
                  <a:srgbClr val="161B26"/>
                </a:solidFill>
                <a:latin typeface="Arial"/>
              </a:rPr>
              <a:t>•  Snowball Edge</a:t>
            </a:r>
          </a:p>
          <a:p>
            <a:pPr>
              <a:spcAft>
                <a:spcPts val="1000"/>
              </a:spcAft>
            </a:pPr>
            <a:r>
              <a:rPr sz="2000" b="0">
                <a:solidFill>
                  <a:srgbClr val="161B26"/>
                </a:solidFill>
                <a:latin typeface="Arial"/>
              </a:rPr>
              <a:t>•  Snowcone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15154" y="1801368"/>
            <a:ext cx="913121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0_0.png"/>
          <p:cNvPicPr>
            <a:picLocks noChangeAspect="1"/>
          </p:cNvPicPr>
          <p:nvPr/>
        </p:nvPicPr>
        <p:blipFill>
          <a:blip r:embed="rId2"/>
          <a:stretch>
            <a:fillRect/>
          </a:stretch>
        </p:blipFill>
        <p:spPr>
          <a:xfrm>
            <a:off x="1542586" y="1828800"/>
            <a:ext cx="907634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 Migrations with AWS Snow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Challenges:</a:t>
            </a:r>
          </a:p>
          <a:p>
            <a:pPr>
              <a:spcAft>
                <a:spcPts val="1000"/>
              </a:spcAft>
            </a:pPr>
            <a:r>
              <a:rPr sz="1800" b="0">
                <a:solidFill>
                  <a:srgbClr val="161B26"/>
                </a:solidFill>
                <a:latin typeface="Arial"/>
              </a:rPr>
              <a:t>•  Limited connectivity</a:t>
            </a:r>
          </a:p>
          <a:p>
            <a:pPr>
              <a:spcAft>
                <a:spcPts val="1000"/>
              </a:spcAft>
            </a:pPr>
            <a:r>
              <a:rPr sz="1800" b="0">
                <a:solidFill>
                  <a:srgbClr val="161B26"/>
                </a:solidFill>
                <a:latin typeface="Arial"/>
              </a:rPr>
              <a:t>•  Limited bandwidth</a:t>
            </a:r>
          </a:p>
          <a:p>
            <a:pPr>
              <a:spcAft>
                <a:spcPts val="1000"/>
              </a:spcAft>
            </a:pPr>
            <a:r>
              <a:rPr sz="1800" b="0">
                <a:solidFill>
                  <a:srgbClr val="161B26"/>
                </a:solidFill>
                <a:latin typeface="Arial"/>
              </a:rPr>
              <a:t>•  High network cost</a:t>
            </a:r>
          </a:p>
          <a:p>
            <a:pPr>
              <a:spcAft>
                <a:spcPts val="1000"/>
              </a:spcAft>
            </a:pPr>
            <a:r>
              <a:rPr sz="1800" b="0">
                <a:solidFill>
                  <a:srgbClr val="161B26"/>
                </a:solidFill>
                <a:latin typeface="Arial"/>
              </a:rPr>
              <a:t>•  Shared bandwidth (can’t maximize the line)</a:t>
            </a:r>
          </a:p>
          <a:p>
            <a:pPr>
              <a:spcAft>
                <a:spcPts val="1000"/>
              </a:spcAft>
            </a:pPr>
            <a:r>
              <a:rPr sz="1800" b="0">
                <a:solidFill>
                  <a:srgbClr val="161B26"/>
                </a:solidFill>
                <a:latin typeface="Arial"/>
              </a:rPr>
              <a:t>•  Connection stability</a:t>
            </a:r>
          </a:p>
          <a:p>
            <a:pPr>
              <a:spcAft>
                <a:spcPts val="1000"/>
              </a:spcAft>
            </a:pPr>
            <a:r>
              <a:rPr sz="1800" b="0">
                <a:solidFill>
                  <a:srgbClr val="161B26"/>
                </a:solidFill>
                <a:latin typeface="Arial"/>
              </a:rPr>
              <a:t>•  AWS Snow Family: offline devices to perform data migrations</a:t>
            </a:r>
          </a:p>
          <a:p>
            <a:pPr>
              <a:spcAft>
                <a:spcPts val="1000"/>
              </a:spcAft>
            </a:pPr>
            <a:r>
              <a:rPr sz="1800" b="0">
                <a:solidFill>
                  <a:srgbClr val="161B26"/>
                </a:solidFill>
                <a:latin typeface="Arial"/>
              </a:rPr>
              <a:t>•  If it takes more than a week to transfer over the network, use Snowball devices!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Diagrams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Direct upload to S3:</a:t>
            </a:r>
          </a:p>
          <a:p>
            <a:pPr>
              <a:spcAft>
                <a:spcPts val="1000"/>
              </a:spcAft>
            </a:pPr>
            <a:r>
              <a:rPr sz="1800" b="0">
                <a:solidFill>
                  <a:srgbClr val="161B26"/>
                </a:solidFill>
                <a:latin typeface="Arial"/>
              </a:rPr>
              <a:t>•  With Snow Family:</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S3 bucket</a:t>
            </a:r>
          </a:p>
          <a:p>
            <a:pPr>
              <a:spcAft>
                <a:spcPts val="1000"/>
              </a:spcAft>
            </a:pPr>
            <a:r>
              <a:rPr sz="1800" b="0">
                <a:solidFill>
                  <a:srgbClr val="161B26"/>
                </a:solidFill>
                <a:latin typeface="Arial"/>
              </a:rPr>
              <a:t>•  import/	Amazon S3</a:t>
            </a:r>
          </a:p>
          <a:p>
            <a:pPr>
              <a:spcAft>
                <a:spcPts val="1000"/>
              </a:spcAft>
            </a:pPr>
            <a:r>
              <a:rPr sz="1800" b="0">
                <a:solidFill>
                  <a:srgbClr val="161B26"/>
                </a:solidFill>
                <a:latin typeface="Arial"/>
              </a:rPr>
              <a:t>•  export	bucket</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Snowball</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Snowball</a:t>
            </a:r>
          </a:p>
          <a:p>
            <a:pPr>
              <a:spcAft>
                <a:spcPts val="1000"/>
              </a:spcAft>
            </a:pPr>
            <a:r>
              <a:rPr sz="1800" b="0">
                <a:solidFill>
                  <a:srgbClr val="161B26"/>
                </a:solidFill>
                <a:latin typeface="Arial"/>
              </a:rPr>
              <a:t>•  www: 10Gbit/s</a:t>
            </a:r>
          </a:p>
          <a:p>
            <a:pPr>
              <a:spcAft>
                <a:spcPts val="1000"/>
              </a:spcAft>
            </a:pPr>
            <a:r>
              <a:rPr sz="1800" b="0">
                <a:solidFill>
                  <a:srgbClr val="161B26"/>
                </a:solidFill>
                <a:latin typeface="Arial"/>
              </a:rPr>
              <a:t>•  ship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 Family - Usage Process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Request Snowball devices from the AWS console for delivery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Install the snowball client / AWS OpsHub on your servers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Connect the snowball to your servers and copy files using the client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Ship back the device when you’re done (goes to the right AWS facility)</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Data will be loaded into an S3 bucket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Snowball is completely wiped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Edge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Process data while it’s being created on an edge location</a:t>
            </a:r>
          </a:p>
          <a:p>
            <a:pPr>
              <a:spcAft>
                <a:spcPts val="1000"/>
              </a:spcAft>
            </a:pPr>
            <a:r>
              <a:rPr sz="1800" b="0">
                <a:solidFill>
                  <a:srgbClr val="161B26"/>
                </a:solidFill>
                <a:latin typeface="Arial"/>
              </a:rPr>
              <a:t>•  A truck on the road, a ship on the sea, a mining station underground...</a:t>
            </a:r>
          </a:p>
          <a:p>
            <a:pPr>
              <a:spcAft>
                <a:spcPts val="1000"/>
              </a:spcAft>
            </a:pPr>
            <a:r>
              <a:rPr sz="1800" b="0">
                <a:solidFill>
                  <a:srgbClr val="161B26"/>
                </a:solidFill>
                <a:latin typeface="Arial"/>
              </a:rPr>
              <a:t>•  These locations may have limited internet and no access to computing power</a:t>
            </a:r>
          </a:p>
          <a:p>
            <a:pPr>
              <a:spcAft>
                <a:spcPts val="1000"/>
              </a:spcAft>
            </a:pPr>
            <a:r>
              <a:rPr sz="1800" b="0">
                <a:solidFill>
                  <a:srgbClr val="161B26"/>
                </a:solidFill>
                <a:latin typeface="Arial"/>
              </a:rPr>
              <a:t>•  We setup a  Snowball Edge / Snowcone device to do edge computing</a:t>
            </a:r>
          </a:p>
          <a:p>
            <a:pPr>
              <a:spcAft>
                <a:spcPts val="1000"/>
              </a:spcAft>
            </a:pPr>
            <a:r>
              <a:rPr sz="1800" b="0">
                <a:solidFill>
                  <a:srgbClr val="161B26"/>
                </a:solidFill>
                <a:latin typeface="Arial"/>
              </a:rPr>
              <a:t>•  Snowcone: 2 CPUs, 4 GB of memory, wired or wireless access</a:t>
            </a:r>
          </a:p>
          <a:p>
            <a:pPr>
              <a:spcAft>
                <a:spcPts val="1000"/>
              </a:spcAft>
            </a:pPr>
            <a:r>
              <a:rPr sz="1800" b="0">
                <a:solidFill>
                  <a:srgbClr val="161B26"/>
                </a:solidFill>
                <a:latin typeface="Arial"/>
              </a:rPr>
              <a:t>•  Snowball Edge Compute Optimized (dedicated for that use case) &amp; Storage Optimized</a:t>
            </a:r>
          </a:p>
          <a:p>
            <a:pPr>
              <a:spcAft>
                <a:spcPts val="1000"/>
              </a:spcAft>
            </a:pPr>
            <a:r>
              <a:rPr sz="1800" b="0">
                <a:solidFill>
                  <a:srgbClr val="161B26"/>
                </a:solidFill>
                <a:latin typeface="Arial"/>
              </a:rPr>
              <a:t>•  Run EC2 Instances or Lambda functions at the edge</a:t>
            </a:r>
          </a:p>
          <a:p>
            <a:pPr>
              <a:spcAft>
                <a:spcPts val="1000"/>
              </a:spcAft>
            </a:pPr>
            <a:r>
              <a:rPr sz="1800" b="0">
                <a:solidFill>
                  <a:srgbClr val="161B26"/>
                </a:solidFill>
                <a:latin typeface="Arial"/>
              </a:rPr>
              <a:t>•  Use cases: preprocess data, machine learning, transcoding media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Launch 3rd party high-performance file systems on AWS</a:t>
            </a:r>
          </a:p>
          <a:p>
            <a:pPr>
              <a:spcAft>
                <a:spcPts val="1000"/>
              </a:spcAft>
            </a:pPr>
            <a:r>
              <a:rPr sz="1800" b="0">
                <a:solidFill>
                  <a:srgbClr val="161B26"/>
                </a:solidFill>
                <a:latin typeface="Arial"/>
              </a:rPr>
              <a:t>•  Fully managed service</a:t>
            </a:r>
          </a:p>
          <a:p>
            <a:pPr>
              <a:spcAft>
                <a:spcPts val="1000"/>
              </a:spcAft>
            </a:pPr>
            <a:r>
              <a:rPr sz="1800" b="0">
                <a:solidFill>
                  <a:srgbClr val="161B26"/>
                </a:solidFill>
                <a:latin typeface="Arial"/>
              </a:rPr>
              <a:t>•  FSx for Lustre</a:t>
            </a:r>
          </a:p>
          <a:p>
            <a:pPr>
              <a:spcAft>
                <a:spcPts val="1000"/>
              </a:spcAft>
            </a:pPr>
            <a:r>
              <a:rPr sz="1800" b="0">
                <a:solidFill>
                  <a:srgbClr val="161B26"/>
                </a:solidFill>
                <a:latin typeface="Arial"/>
              </a:rPr>
              <a:t>•  FSx for Windows File Server</a:t>
            </a:r>
          </a:p>
          <a:p>
            <a:pPr>
              <a:spcAft>
                <a:spcPts val="1000"/>
              </a:spcAft>
            </a:pPr>
            <a:r>
              <a:rPr sz="1800" b="0">
                <a:solidFill>
                  <a:srgbClr val="161B26"/>
                </a:solidFill>
                <a:latin typeface="Arial"/>
              </a:rPr>
              <a:t>•  FSx for</a:t>
            </a:r>
          </a:p>
          <a:p>
            <a:pPr>
              <a:spcAft>
                <a:spcPts val="1000"/>
              </a:spcAft>
            </a:pPr>
            <a:r>
              <a:rPr sz="1800" b="0">
                <a:solidFill>
                  <a:srgbClr val="161B26"/>
                </a:solidFill>
                <a:latin typeface="Arial"/>
              </a:rPr>
              <a:t>•  NetApp ONTAP</a:t>
            </a:r>
          </a:p>
          <a:p>
            <a:pPr>
              <a:spcAft>
                <a:spcPts val="1000"/>
              </a:spcAft>
            </a:pPr>
            <a:r>
              <a:rPr sz="1800" b="0">
                <a:solidFill>
                  <a:srgbClr val="161B26"/>
                </a:solidFill>
                <a:latin typeface="Arial"/>
              </a:rPr>
              <a:t>•  FSx for OpenZFS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FSx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98075" y="1801368"/>
            <a:ext cx="796536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6_0.png"/>
          <p:cNvPicPr>
            <a:picLocks noChangeAspect="1"/>
          </p:cNvPicPr>
          <p:nvPr/>
        </p:nvPicPr>
        <p:blipFill>
          <a:blip r:embed="rId2"/>
          <a:stretch>
            <a:fillRect/>
          </a:stretch>
        </p:blipFill>
        <p:spPr>
          <a:xfrm>
            <a:off x="2125507" y="1828800"/>
            <a:ext cx="791050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Windows (File Server)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FSx for Windows is a fully managed Windows file system share drive</a:t>
            </a:r>
          </a:p>
          <a:p>
            <a:pPr>
              <a:spcAft>
                <a:spcPts val="1000"/>
              </a:spcAft>
            </a:pPr>
            <a:r>
              <a:rPr sz="1800" b="0">
                <a:solidFill>
                  <a:srgbClr val="161B26"/>
                </a:solidFill>
                <a:latin typeface="Arial"/>
              </a:rPr>
              <a:t>•  Supports SMB protocol &amp; Windows NTFS</a:t>
            </a:r>
          </a:p>
          <a:p>
            <a:pPr>
              <a:spcAft>
                <a:spcPts val="1000"/>
              </a:spcAft>
            </a:pPr>
            <a:r>
              <a:rPr sz="1800" b="0">
                <a:solidFill>
                  <a:srgbClr val="161B26"/>
                </a:solidFill>
                <a:latin typeface="Arial"/>
              </a:rPr>
              <a:t>•  Microsoft Active Directory integration, ACLs, user quotas</a:t>
            </a:r>
          </a:p>
          <a:p>
            <a:pPr>
              <a:spcAft>
                <a:spcPts val="1000"/>
              </a:spcAft>
            </a:pPr>
            <a:r>
              <a:rPr sz="1800" b="0">
                <a:solidFill>
                  <a:srgbClr val="161B26"/>
                </a:solidFill>
                <a:latin typeface="Arial"/>
              </a:rPr>
              <a:t>•  Can be mounted on Linux EC2 instances</a:t>
            </a:r>
          </a:p>
          <a:p>
            <a:pPr>
              <a:spcAft>
                <a:spcPts val="1000"/>
              </a:spcAft>
            </a:pPr>
            <a:r>
              <a:rPr sz="1800" b="0">
                <a:solidFill>
                  <a:srgbClr val="161B26"/>
                </a:solidFill>
                <a:latin typeface="Arial"/>
              </a:rPr>
              <a:t>•  Supports Microsoft's Distrubuted File System (DFS) Namespaces (group files across multiple FS)</a:t>
            </a:r>
          </a:p>
          <a:p>
            <a:pPr>
              <a:spcAft>
                <a:spcPts val="1000"/>
              </a:spcAft>
            </a:pPr>
            <a:r>
              <a:rPr sz="1800" b="0">
                <a:solidFill>
                  <a:srgbClr val="161B26"/>
                </a:solidFill>
                <a:latin typeface="Arial"/>
              </a:rPr>
              <a:t>•  Scale up to 10s of GB/s, millions of IOPS, 100s PB of data</a:t>
            </a:r>
          </a:p>
          <a:p>
            <a:pPr>
              <a:spcAft>
                <a:spcPts val="1000"/>
              </a:spcAft>
            </a:pPr>
            <a:r>
              <a:rPr sz="1800" b="0">
                <a:solidFill>
                  <a:srgbClr val="161B26"/>
                </a:solidFill>
                <a:latin typeface="Arial"/>
              </a:rPr>
              <a:t>•  Storage Options:</a:t>
            </a:r>
          </a:p>
          <a:p>
            <a:pPr>
              <a:spcAft>
                <a:spcPts val="1000"/>
              </a:spcAft>
            </a:pPr>
            <a:r>
              <a:rPr sz="1800" b="0">
                <a:solidFill>
                  <a:srgbClr val="161B26"/>
                </a:solidFill>
                <a:latin typeface="Arial"/>
              </a:rPr>
              <a:t>•  SSD - latency sensitive workloads (databases, media processing, data analytics, …)</a:t>
            </a:r>
          </a:p>
          <a:p>
            <a:pPr>
              <a:spcAft>
                <a:spcPts val="1000"/>
              </a:spcAft>
            </a:pPr>
            <a:r>
              <a:rPr sz="1800" b="0">
                <a:solidFill>
                  <a:srgbClr val="161B26"/>
                </a:solidFill>
                <a:latin typeface="Arial"/>
              </a:rPr>
              <a:t>•  HDD - broad spectrum of workloads (home directory, CMS, …)</a:t>
            </a:r>
          </a:p>
          <a:p>
            <a:pPr>
              <a:spcAft>
                <a:spcPts val="1000"/>
              </a:spcAft>
            </a:pPr>
            <a:r>
              <a:rPr sz="1800" b="0">
                <a:solidFill>
                  <a:srgbClr val="161B26"/>
                </a:solidFill>
                <a:latin typeface="Arial"/>
              </a:rPr>
              <a:t>•  Can be accessed from your on-premises infrastructure (VPN or Direct Connect)</a:t>
            </a:r>
          </a:p>
          <a:p>
            <a:pPr>
              <a:spcAft>
                <a:spcPts val="1000"/>
              </a:spcAft>
            </a:pPr>
            <a:r>
              <a:rPr sz="1800" b="0">
                <a:solidFill>
                  <a:srgbClr val="161B26"/>
                </a:solidFill>
                <a:latin typeface="Arial"/>
              </a:rPr>
              <a:t>•  Can be configured to be Multi-AZ (high availability)</a:t>
            </a:r>
          </a:p>
          <a:p>
            <a:pPr>
              <a:spcAft>
                <a:spcPts val="1000"/>
              </a:spcAft>
            </a:pPr>
            <a:r>
              <a:rPr sz="1800" b="0">
                <a:solidFill>
                  <a:srgbClr val="161B26"/>
                </a:solidFill>
                <a:latin typeface="Arial"/>
              </a:rPr>
              <a:t>•  Data is backed-up daily to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Lustre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Lustre is a type of parallel distributed file system, for large-scale computing</a:t>
            </a:r>
          </a:p>
          <a:p>
            <a:pPr>
              <a:spcAft>
                <a:spcPts val="1000"/>
              </a:spcAft>
            </a:pPr>
            <a:r>
              <a:rPr sz="1800" b="0">
                <a:solidFill>
                  <a:srgbClr val="161B26"/>
                </a:solidFill>
                <a:latin typeface="Arial"/>
              </a:rPr>
              <a:t>•  The name Lustre is derived from “Linux” and “cluster</a:t>
            </a:r>
          </a:p>
          <a:p>
            <a:pPr>
              <a:spcAft>
                <a:spcPts val="1000"/>
              </a:spcAft>
            </a:pPr>
            <a:r>
              <a:rPr sz="1800" b="0">
                <a:solidFill>
                  <a:srgbClr val="161B26"/>
                </a:solidFill>
                <a:latin typeface="Arial"/>
              </a:rPr>
              <a:t>•  Machine Learning, High Performance Computing (HPC)</a:t>
            </a:r>
          </a:p>
          <a:p>
            <a:pPr>
              <a:spcAft>
                <a:spcPts val="1000"/>
              </a:spcAft>
            </a:pPr>
            <a:r>
              <a:rPr sz="1800" b="0">
                <a:solidFill>
                  <a:srgbClr val="161B26"/>
                </a:solidFill>
                <a:latin typeface="Arial"/>
              </a:rPr>
              <a:t>•  Video Processing, Financial Modeling, Electronic Design Automation</a:t>
            </a:r>
          </a:p>
          <a:p>
            <a:pPr>
              <a:spcAft>
                <a:spcPts val="1000"/>
              </a:spcAft>
            </a:pPr>
            <a:r>
              <a:rPr sz="1800" b="0">
                <a:solidFill>
                  <a:srgbClr val="161B26"/>
                </a:solidFill>
                <a:latin typeface="Arial"/>
              </a:rPr>
              <a:t>•  Scales up to 100s GB/s, millions of IOPS, sub-ms latencies</a:t>
            </a:r>
          </a:p>
          <a:p>
            <a:pPr>
              <a:spcAft>
                <a:spcPts val="1000"/>
              </a:spcAft>
            </a:pPr>
            <a:r>
              <a:rPr sz="1800" b="0">
                <a:solidFill>
                  <a:srgbClr val="161B26"/>
                </a:solidFill>
                <a:latin typeface="Arial"/>
              </a:rPr>
              <a:t>•  Storage Options:</a:t>
            </a:r>
          </a:p>
          <a:p>
            <a:pPr>
              <a:spcAft>
                <a:spcPts val="1000"/>
              </a:spcAft>
            </a:pPr>
            <a:r>
              <a:rPr sz="1800" b="0">
                <a:solidFill>
                  <a:srgbClr val="161B26"/>
                </a:solidFill>
                <a:latin typeface="Arial"/>
              </a:rPr>
              <a:t>•  SSD - low-latency, IOPS intensive workloads, small &amp; random file operations</a:t>
            </a:r>
          </a:p>
          <a:p>
            <a:pPr>
              <a:spcAft>
                <a:spcPts val="1000"/>
              </a:spcAft>
            </a:pPr>
            <a:r>
              <a:rPr sz="1800" b="0">
                <a:solidFill>
                  <a:srgbClr val="161B26"/>
                </a:solidFill>
                <a:latin typeface="Arial"/>
              </a:rPr>
              <a:t>•  HDD - throughput-intensive workloads, large &amp; sequential file operations</a:t>
            </a:r>
          </a:p>
          <a:p>
            <a:pPr>
              <a:spcAft>
                <a:spcPts val="1000"/>
              </a:spcAft>
            </a:pPr>
            <a:r>
              <a:rPr sz="1800" b="0">
                <a:solidFill>
                  <a:srgbClr val="161B26"/>
                </a:solidFill>
                <a:latin typeface="Arial"/>
              </a:rPr>
              <a:t>•  Seamless integration with S3</a:t>
            </a:r>
          </a:p>
          <a:p>
            <a:pPr>
              <a:spcAft>
                <a:spcPts val="1000"/>
              </a:spcAft>
            </a:pPr>
            <a:r>
              <a:rPr sz="1800" b="0">
                <a:solidFill>
                  <a:srgbClr val="161B26"/>
                </a:solidFill>
                <a:latin typeface="Arial"/>
              </a:rPr>
              <a:t>•  Can “read S3” as a file system (through FSx)</a:t>
            </a:r>
          </a:p>
          <a:p>
            <a:pPr>
              <a:spcAft>
                <a:spcPts val="1000"/>
              </a:spcAft>
            </a:pPr>
            <a:r>
              <a:rPr sz="1800" b="0">
                <a:solidFill>
                  <a:srgbClr val="161B26"/>
                </a:solidFill>
                <a:latin typeface="Arial"/>
              </a:rPr>
              <a:t>•  Can write the output of the computations back to S3 (through FSx)</a:t>
            </a:r>
          </a:p>
          <a:p>
            <a:pPr>
              <a:spcAft>
                <a:spcPts val="1000"/>
              </a:spcAft>
            </a:pPr>
            <a:r>
              <a:rPr sz="1800" b="0">
                <a:solidFill>
                  <a:srgbClr val="161B26"/>
                </a:solidFill>
                <a:latin typeface="Arial"/>
              </a:rPr>
              <a:t>•  Can be used from on-premises servers (VPN or Direct Connect)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FSx Lustre - File System Deployment Options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Scratch File System</a:t>
            </a:r>
          </a:p>
          <a:p>
            <a:pPr>
              <a:spcAft>
                <a:spcPts val="1000"/>
              </a:spcAft>
            </a:pPr>
            <a:r>
              <a:rPr sz="1800" b="0">
                <a:solidFill>
                  <a:srgbClr val="161B26"/>
                </a:solidFill>
                <a:latin typeface="Arial"/>
              </a:rPr>
              <a:t>•  Temporary storage</a:t>
            </a:r>
          </a:p>
          <a:p>
            <a:pPr>
              <a:spcAft>
                <a:spcPts val="1000"/>
              </a:spcAft>
            </a:pPr>
            <a:r>
              <a:rPr sz="1800" b="0">
                <a:solidFill>
                  <a:srgbClr val="161B26"/>
                </a:solidFill>
                <a:latin typeface="Arial"/>
              </a:rPr>
              <a:t>•  Data is not replicated (doesn’t persist if file 	server fails)</a:t>
            </a:r>
          </a:p>
          <a:p>
            <a:pPr>
              <a:spcAft>
                <a:spcPts val="1000"/>
              </a:spcAft>
            </a:pPr>
            <a:r>
              <a:rPr sz="1800" b="0">
                <a:solidFill>
                  <a:srgbClr val="161B26"/>
                </a:solidFill>
                <a:latin typeface="Arial"/>
              </a:rPr>
              <a:t>•  High burst (6x faster, 200MBps per TiB)</a:t>
            </a:r>
          </a:p>
          <a:p>
            <a:pPr>
              <a:spcAft>
                <a:spcPts val="1000"/>
              </a:spcAft>
            </a:pPr>
            <a:r>
              <a:rPr sz="1800" b="0">
                <a:solidFill>
                  <a:srgbClr val="161B26"/>
                </a:solidFill>
                <a:latin typeface="Arial"/>
              </a:rPr>
              <a:t>•  Usage: short-term processing, optimize costs</a:t>
            </a:r>
          </a:p>
          <a:p>
            <a:pPr>
              <a:spcAft>
                <a:spcPts val="1000"/>
              </a:spcAft>
            </a:pPr>
            <a:r>
              <a:rPr sz="1800" b="0">
                <a:solidFill>
                  <a:srgbClr val="161B26"/>
                </a:solidFill>
                <a:latin typeface="Arial"/>
              </a:rPr>
              <a:t>•  Persistent File System</a:t>
            </a:r>
          </a:p>
          <a:p>
            <a:pPr>
              <a:spcAft>
                <a:spcPts val="1000"/>
              </a:spcAft>
            </a:pPr>
            <a:r>
              <a:rPr sz="1800" b="0">
                <a:solidFill>
                  <a:srgbClr val="161B26"/>
                </a:solidFill>
                <a:latin typeface="Arial"/>
              </a:rPr>
              <a:t>•  Long-term storage</a:t>
            </a:r>
          </a:p>
          <a:p>
            <a:pPr>
              <a:spcAft>
                <a:spcPts val="1000"/>
              </a:spcAft>
            </a:pPr>
            <a:r>
              <a:rPr sz="1800" b="0">
                <a:solidFill>
                  <a:srgbClr val="161B26"/>
                </a:solidFill>
                <a:latin typeface="Arial"/>
              </a:rPr>
              <a:t>•  Data is replicated within same AZ</a:t>
            </a:r>
          </a:p>
          <a:p>
            <a:pPr>
              <a:spcAft>
                <a:spcPts val="1000"/>
              </a:spcAft>
            </a:pPr>
            <a:r>
              <a:rPr sz="1800" b="0">
                <a:solidFill>
                  <a:srgbClr val="161B26"/>
                </a:solidFill>
                <a:latin typeface="Arial"/>
              </a:rPr>
              <a:t>•  Replace failed files within minutes</a:t>
            </a:r>
          </a:p>
          <a:p>
            <a:pPr>
              <a:spcAft>
                <a:spcPts val="1000"/>
              </a:spcAft>
            </a:pPr>
            <a:r>
              <a:rPr sz="1800" b="0">
                <a:solidFill>
                  <a:srgbClr val="161B26"/>
                </a:solidFill>
                <a:latin typeface="Arial"/>
              </a:rPr>
              <a:t>•  Usage: long-term processing, sensitive data</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Compute</a:t>
            </a:r>
          </a:p>
          <a:p>
            <a:pPr>
              <a:spcAft>
                <a:spcPts val="1000"/>
              </a:spcAft>
            </a:pPr>
            <a:r>
              <a:rPr sz="1800" b="0">
                <a:solidFill>
                  <a:srgbClr val="161B26"/>
                </a:solidFill>
                <a:latin typeface="Arial"/>
              </a:rPr>
              <a:t>•  instances</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Compute  instances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(optional data repository)</a:t>
            </a:r>
          </a:p>
          <a:p>
            <a:pPr>
              <a:spcAft>
                <a:spcPts val="1000"/>
              </a:spcAft>
            </a:pPr>
            <a:r>
              <a:rPr sz="1800" b="0">
                <a:solidFill>
                  <a:srgbClr val="161B26"/>
                </a:solidFill>
                <a:latin typeface="Arial"/>
              </a:rPr>
              <a:t>•  FSx For Lustre</a:t>
            </a:r>
          </a:p>
          <a:p>
            <a:pPr>
              <a:spcAft>
                <a:spcPts val="1000"/>
              </a:spcAft>
            </a:pPr>
            <a:r>
              <a:rPr sz="1800" b="0">
                <a:solidFill>
                  <a:srgbClr val="161B26"/>
                </a:solidFill>
                <a:latin typeface="Arial"/>
              </a:rPr>
              <a:t>•  (Scratch file system)</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Compute</a:t>
            </a:r>
          </a:p>
          <a:p>
            <a:pPr>
              <a:spcAft>
                <a:spcPts val="1000"/>
              </a:spcAft>
            </a:pPr>
            <a:r>
              <a:rPr sz="1800" b="0">
                <a:solidFill>
                  <a:srgbClr val="161B26"/>
                </a:solidFill>
                <a:latin typeface="Arial"/>
              </a:rPr>
              <a:t>•  instances</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Compute instances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(optional data repository)</a:t>
            </a:r>
          </a:p>
          <a:p>
            <a:pPr>
              <a:spcAft>
                <a:spcPts val="1000"/>
              </a:spcAft>
            </a:pPr>
            <a:r>
              <a:rPr sz="1800" b="0">
                <a:solidFill>
                  <a:srgbClr val="161B26"/>
                </a:solidFill>
                <a:latin typeface="Arial"/>
              </a:rPr>
              <a:t>•  FSx For Lustre</a:t>
            </a:r>
          </a:p>
          <a:p>
            <a:pPr>
              <a:spcAft>
                <a:spcPts val="1000"/>
              </a:spcAft>
            </a:pPr>
            <a:r>
              <a:rPr sz="1800" b="0">
                <a:solidFill>
                  <a:srgbClr val="161B26"/>
                </a:solidFill>
                <a:latin typeface="Arial"/>
              </a:rPr>
              <a:t>•  (Persistent file system)</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ENI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FSx for NetApp ONTAP</a:t>
            </a:r>
          </a:p>
          <a:p>
            <a:pPr>
              <a:spcAft>
                <a:spcPts val="1000"/>
              </a:spcAft>
            </a:pPr>
            <a:r>
              <a:rPr sz="1800" b="0">
                <a:solidFill>
                  <a:srgbClr val="161B26"/>
                </a:solidFill>
                <a:latin typeface="Arial"/>
              </a:rPr>
              <a:t>•  Managed NetApp ONTAP on AWS</a:t>
            </a:r>
          </a:p>
          <a:p>
            <a:pPr>
              <a:spcAft>
                <a:spcPts val="1000"/>
              </a:spcAft>
            </a:pPr>
            <a:r>
              <a:rPr sz="1800" b="0">
                <a:solidFill>
                  <a:srgbClr val="161B26"/>
                </a:solidFill>
                <a:latin typeface="Arial"/>
              </a:rPr>
              <a:t>•  File System compatible with NFS, SMB, iSCSI protocol</a:t>
            </a:r>
          </a:p>
          <a:p>
            <a:pPr>
              <a:spcAft>
                <a:spcPts val="1000"/>
              </a:spcAft>
            </a:pPr>
            <a:r>
              <a:rPr sz="1800" b="0">
                <a:solidFill>
                  <a:srgbClr val="161B26"/>
                </a:solidFill>
                <a:latin typeface="Arial"/>
              </a:rPr>
              <a:t>•  Move workloads running on ONTAP or NAS to AWS</a:t>
            </a:r>
          </a:p>
          <a:p>
            <a:pPr>
              <a:spcAft>
                <a:spcPts val="1000"/>
              </a:spcAft>
            </a:pPr>
            <a:r>
              <a:rPr sz="1800" b="0">
                <a:solidFill>
                  <a:srgbClr val="161B26"/>
                </a:solidFill>
                <a:latin typeface="Arial"/>
              </a:rPr>
              <a:t>•  Works with:</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MacOS</a:t>
            </a:r>
          </a:p>
          <a:p>
            <a:pPr>
              <a:spcAft>
                <a:spcPts val="1000"/>
              </a:spcAft>
            </a:pPr>
            <a:r>
              <a:rPr sz="1800" b="0">
                <a:solidFill>
                  <a:srgbClr val="161B26"/>
                </a:solidFill>
                <a:latin typeface="Arial"/>
              </a:rPr>
              <a:t>•  VMware Cloud on AWS</a:t>
            </a:r>
          </a:p>
          <a:p>
            <a:pPr>
              <a:spcAft>
                <a:spcPts val="1000"/>
              </a:spcAft>
            </a:pPr>
            <a:r>
              <a:rPr sz="1800" b="0">
                <a:solidFill>
                  <a:srgbClr val="161B26"/>
                </a:solidFill>
                <a:latin typeface="Arial"/>
              </a:rPr>
              <a:t>•  Amazon Workspaces &amp; AppStream 2.0</a:t>
            </a:r>
          </a:p>
          <a:p>
            <a:pPr>
              <a:spcAft>
                <a:spcPts val="1000"/>
              </a:spcAft>
            </a:pPr>
            <a:r>
              <a:rPr sz="1800" b="0">
                <a:solidFill>
                  <a:srgbClr val="161B26"/>
                </a:solidFill>
                <a:latin typeface="Arial"/>
              </a:rPr>
              <a:t>•  Amazon EC2, ECS and EKS</a:t>
            </a:r>
          </a:p>
          <a:p>
            <a:pPr>
              <a:spcAft>
                <a:spcPts val="1000"/>
              </a:spcAft>
            </a:pPr>
            <a:r>
              <a:rPr sz="1800" b="0">
                <a:solidFill>
                  <a:srgbClr val="161B26"/>
                </a:solidFill>
                <a:latin typeface="Arial"/>
              </a:rPr>
              <a:t>•  Storage shrinks or grows automatically</a:t>
            </a:r>
          </a:p>
          <a:p>
            <a:pPr>
              <a:spcAft>
                <a:spcPts val="1000"/>
              </a:spcAft>
            </a:pPr>
            <a:r>
              <a:rPr sz="1800" b="0">
                <a:solidFill>
                  <a:srgbClr val="161B26"/>
                </a:solidFill>
                <a:latin typeface="Arial"/>
              </a:rPr>
              <a:t>•  Snapshots, replication, low-cost, compression and data de-duplication</a:t>
            </a:r>
          </a:p>
          <a:p>
            <a:pPr>
              <a:spcAft>
                <a:spcPts val="1000"/>
              </a:spcAft>
            </a:pPr>
            <a:r>
              <a:rPr sz="1800" b="0">
                <a:solidFill>
                  <a:srgbClr val="161B26"/>
                </a:solidFill>
                <a:latin typeface="Arial"/>
              </a:rPr>
              <a:t>•  Point-in-time instantaneous cloning (helpful for testing new workloads)</a:t>
            </a:r>
          </a:p>
          <a:p>
            <a:pPr>
              <a:spcAft>
                <a:spcPts val="1000"/>
              </a:spcAft>
            </a:pPr>
            <a:r>
              <a:rPr sz="1800" b="0">
                <a:solidFill>
                  <a:srgbClr val="161B26"/>
                </a:solidFill>
                <a:latin typeface="Arial"/>
              </a:rPr>
              <a:t>•  Amazon FSx for NetApp ONTAP FS</a:t>
            </a:r>
          </a:p>
          <a:p>
            <a:pPr>
              <a:spcAft>
                <a:spcPts val="1000"/>
              </a:spcAft>
            </a:pPr>
            <a:r>
              <a:rPr sz="1800" b="0">
                <a:solidFill>
                  <a:srgbClr val="161B26"/>
                </a:solidFill>
                <a:latin typeface="Arial"/>
              </a:rPr>
              <a:t>•  VMware Cloud	Amazon</a:t>
            </a:r>
          </a:p>
          <a:p>
            <a:pPr>
              <a:spcAft>
                <a:spcPts val="1000"/>
              </a:spcAft>
            </a:pPr>
            <a:r>
              <a:rPr sz="1800" b="0">
                <a:solidFill>
                  <a:srgbClr val="161B26"/>
                </a:solidFill>
                <a:latin typeface="Arial"/>
              </a:rPr>
              <a:t>•  on AWS	AppStream 2.0</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ECS</a:t>
            </a:r>
          </a:p>
          <a:p>
            <a:pPr>
              <a:spcAft>
                <a:spcPts val="1000"/>
              </a:spcAft>
            </a:pPr>
            <a:r>
              <a:rPr sz="1800" b="0">
                <a:solidFill>
                  <a:srgbClr val="161B26"/>
                </a:solidFill>
                <a:latin typeface="Arial"/>
              </a:rPr>
              <a:t>•  EKS</a:t>
            </a:r>
          </a:p>
          <a:p>
            <a:pPr>
              <a:spcAft>
                <a:spcPts val="1000"/>
              </a:spcAft>
            </a:pPr>
            <a:r>
              <a:rPr sz="1800" b="0">
                <a:solidFill>
                  <a:srgbClr val="161B26"/>
                </a:solidFill>
                <a:latin typeface="Arial"/>
              </a:rPr>
              <a:t>•  Amazon	On-premises WorkSpaces		Server</a:t>
            </a:r>
          </a:p>
          <a:p>
            <a:pPr>
              <a:spcAft>
                <a:spcPts val="1000"/>
              </a:spcAft>
            </a:pPr>
            <a:r>
              <a:rPr sz="1800" b="0">
                <a:solidFill>
                  <a:srgbClr val="161B26"/>
                </a:solidFill>
                <a:latin typeface="Arial"/>
              </a:rPr>
              <a:t>•  NFS, SMB, iSCSI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OpenZFS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Managed OpenZFS file system on AWS</a:t>
            </a:r>
          </a:p>
          <a:p>
            <a:pPr>
              <a:spcAft>
                <a:spcPts val="1000"/>
              </a:spcAft>
            </a:pPr>
            <a:r>
              <a:rPr sz="1800" b="0">
                <a:solidFill>
                  <a:srgbClr val="161B26"/>
                </a:solidFill>
                <a:latin typeface="Arial"/>
              </a:rPr>
              <a:t>•  File System compatible with NFS (v3, v4, v4.1, v4.2)</a:t>
            </a:r>
          </a:p>
          <a:p>
            <a:pPr>
              <a:spcAft>
                <a:spcPts val="1000"/>
              </a:spcAft>
            </a:pPr>
            <a:r>
              <a:rPr sz="1800" b="0">
                <a:solidFill>
                  <a:srgbClr val="161B26"/>
                </a:solidFill>
                <a:latin typeface="Arial"/>
              </a:rPr>
              <a:t>•  Move workloads running on ZFS to AWS</a:t>
            </a:r>
          </a:p>
          <a:p>
            <a:pPr>
              <a:spcAft>
                <a:spcPts val="1000"/>
              </a:spcAft>
            </a:pPr>
            <a:r>
              <a:rPr sz="1800" b="0">
                <a:solidFill>
                  <a:srgbClr val="161B26"/>
                </a:solidFill>
                <a:latin typeface="Arial"/>
              </a:rPr>
              <a:t>•  Works with:</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MacOS</a:t>
            </a:r>
          </a:p>
          <a:p>
            <a:pPr>
              <a:spcAft>
                <a:spcPts val="1000"/>
              </a:spcAft>
            </a:pPr>
            <a:r>
              <a:rPr sz="1800" b="0">
                <a:solidFill>
                  <a:srgbClr val="161B26"/>
                </a:solidFill>
                <a:latin typeface="Arial"/>
              </a:rPr>
              <a:t>•  VMware Cloud on AWS</a:t>
            </a:r>
          </a:p>
          <a:p>
            <a:pPr>
              <a:spcAft>
                <a:spcPts val="1000"/>
              </a:spcAft>
            </a:pPr>
            <a:r>
              <a:rPr sz="1800" b="0">
                <a:solidFill>
                  <a:srgbClr val="161B26"/>
                </a:solidFill>
                <a:latin typeface="Arial"/>
              </a:rPr>
              <a:t>•  Amazon Workspaces &amp; AppStream 2.0</a:t>
            </a:r>
          </a:p>
          <a:p>
            <a:pPr>
              <a:spcAft>
                <a:spcPts val="1000"/>
              </a:spcAft>
            </a:pPr>
            <a:r>
              <a:rPr sz="1800" b="0">
                <a:solidFill>
                  <a:srgbClr val="161B26"/>
                </a:solidFill>
                <a:latin typeface="Arial"/>
              </a:rPr>
              <a:t>•  Amazon EC2, ECS and EKS</a:t>
            </a:r>
          </a:p>
          <a:p>
            <a:pPr>
              <a:spcAft>
                <a:spcPts val="1000"/>
              </a:spcAft>
            </a:pPr>
            <a:r>
              <a:rPr sz="1800" b="0">
                <a:solidFill>
                  <a:srgbClr val="161B26"/>
                </a:solidFill>
                <a:latin typeface="Arial"/>
              </a:rPr>
              <a:t>•  Up to 1,000,000 IOPS with &lt; 0.5ms latency</a:t>
            </a:r>
          </a:p>
          <a:p>
            <a:pPr>
              <a:spcAft>
                <a:spcPts val="1000"/>
              </a:spcAft>
            </a:pPr>
            <a:r>
              <a:rPr sz="1800" b="0">
                <a:solidFill>
                  <a:srgbClr val="161B26"/>
                </a:solidFill>
                <a:latin typeface="Arial"/>
              </a:rPr>
              <a:t>•  Snapshots, compression and low-cost</a:t>
            </a:r>
          </a:p>
          <a:p>
            <a:pPr>
              <a:spcAft>
                <a:spcPts val="1000"/>
              </a:spcAft>
            </a:pPr>
            <a:r>
              <a:rPr sz="1800" b="0">
                <a:solidFill>
                  <a:srgbClr val="161B26"/>
                </a:solidFill>
                <a:latin typeface="Arial"/>
              </a:rPr>
              <a:t>•  Point-in-time instantaneous cloning (helpful for testing new workloads)</a:t>
            </a:r>
          </a:p>
          <a:p>
            <a:pPr>
              <a:spcAft>
                <a:spcPts val="1000"/>
              </a:spcAft>
            </a:pPr>
            <a:r>
              <a:rPr sz="1800" b="0">
                <a:solidFill>
                  <a:srgbClr val="161B26"/>
                </a:solidFill>
                <a:latin typeface="Arial"/>
              </a:rPr>
              <a:t>•  Amazon FSx for OpenZFS</a:t>
            </a:r>
          </a:p>
          <a:p>
            <a:pPr>
              <a:spcAft>
                <a:spcPts val="1000"/>
              </a:spcAft>
            </a:pPr>
            <a:r>
              <a:rPr sz="1800" b="0">
                <a:solidFill>
                  <a:srgbClr val="161B26"/>
                </a:solidFill>
                <a:latin typeface="Arial"/>
              </a:rPr>
              <a:t>•  VMware Cloud      Amazon</a:t>
            </a:r>
          </a:p>
          <a:p>
            <a:pPr>
              <a:spcAft>
                <a:spcPts val="1000"/>
              </a:spcAft>
            </a:pPr>
            <a:r>
              <a:rPr sz="1800" b="0">
                <a:solidFill>
                  <a:srgbClr val="161B26"/>
                </a:solidFill>
                <a:latin typeface="Arial"/>
              </a:rPr>
              <a:t>•  on AWS	   AppStream 2.0</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ECS</a:t>
            </a:r>
          </a:p>
          <a:p>
            <a:pPr>
              <a:spcAft>
                <a:spcPts val="1000"/>
              </a:spcAft>
            </a:pPr>
            <a:r>
              <a:rPr sz="1800" b="0">
                <a:solidFill>
                  <a:srgbClr val="161B26"/>
                </a:solidFill>
                <a:latin typeface="Arial"/>
              </a:rPr>
              <a:t>•  EKS</a:t>
            </a:r>
          </a:p>
          <a:p>
            <a:pPr>
              <a:spcAft>
                <a:spcPts val="1000"/>
              </a:spcAft>
            </a:pPr>
            <a:r>
              <a:rPr sz="1800" b="0">
                <a:solidFill>
                  <a:srgbClr val="161B26"/>
                </a:solidFill>
                <a:latin typeface="Arial"/>
              </a:rPr>
              <a:t>•  Amazon</a:t>
            </a:r>
          </a:p>
          <a:p>
            <a:pPr>
              <a:spcAft>
                <a:spcPts val="1000"/>
              </a:spcAft>
            </a:pPr>
            <a:r>
              <a:rPr sz="1800" b="0">
                <a:solidFill>
                  <a:srgbClr val="161B26"/>
                </a:solidFill>
                <a:latin typeface="Arial"/>
              </a:rPr>
              <a:t>•  On- Premises  Workplaces</a:t>
            </a:r>
          </a:p>
          <a:p>
            <a:pPr>
              <a:spcAft>
                <a:spcPts val="1000"/>
              </a:spcAft>
            </a:pPr>
            <a:r>
              <a:rPr sz="1800" b="0">
                <a:solidFill>
                  <a:srgbClr val="161B26"/>
                </a:solidFill>
                <a:latin typeface="Arial"/>
              </a:rPr>
              <a:t>•  NFS (v3, v4, v4.1, v4.2)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FSx for SysOps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FSx for Windows - Single-AZ</a:t>
            </a:r>
          </a:p>
          <a:p>
            <a:pPr>
              <a:spcAft>
                <a:spcPts val="1000"/>
              </a:spcAft>
            </a:pPr>
            <a:r>
              <a:rPr sz="1800" b="0">
                <a:solidFill>
                  <a:srgbClr val="161B26"/>
                </a:solidFill>
                <a:latin typeface="Arial"/>
              </a:rPr>
              <a:t>•  Automatically replicates data within an AZ</a:t>
            </a:r>
          </a:p>
          <a:p>
            <a:pPr>
              <a:spcAft>
                <a:spcPts val="1000"/>
              </a:spcAft>
            </a:pPr>
            <a:r>
              <a:rPr sz="1800" b="0">
                <a:solidFill>
                  <a:srgbClr val="161B26"/>
                </a:solidFill>
                <a:latin typeface="Arial"/>
              </a:rPr>
              <a:t>•  Two generations: Single-AZ 1 (SSD), Single-AZ 2 (SSD &amp; HDD)</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File System</a:t>
            </a:r>
          </a:p>
          <a:p>
            <a:pPr>
              <a:spcAft>
                <a:spcPts val="1000"/>
              </a:spcAft>
            </a:pPr>
            <a:r>
              <a:rPr sz="1800" b="0">
                <a:solidFill>
                  <a:srgbClr val="161B26"/>
                </a:solidFill>
                <a:latin typeface="Arial"/>
              </a:rPr>
              <a:t>•  FSx for Windows - Multi-AZ</a:t>
            </a:r>
          </a:p>
          <a:p>
            <a:pPr>
              <a:spcAft>
                <a:spcPts val="1000"/>
              </a:spcAft>
            </a:pPr>
            <a:r>
              <a:rPr sz="1800" b="0">
                <a:solidFill>
                  <a:srgbClr val="161B26"/>
                </a:solidFill>
                <a:latin typeface="Arial"/>
              </a:rPr>
              <a:t>•  Automatically replicates data across AZs (synchronous)</a:t>
            </a:r>
          </a:p>
          <a:p>
            <a:pPr>
              <a:spcAft>
                <a:spcPts val="1000"/>
              </a:spcAft>
            </a:pPr>
            <a:r>
              <a:rPr sz="1800" b="0">
                <a:solidFill>
                  <a:srgbClr val="161B26"/>
                </a:solidFill>
                <a:latin typeface="Arial"/>
              </a:rPr>
              <a:t>•  Standby file server in a different AZ (automatic failover)</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File System</a:t>
            </a:r>
          </a:p>
          <a:p>
            <a:pPr>
              <a:spcAft>
                <a:spcPts val="1000"/>
              </a:spcAft>
            </a:pPr>
            <a:r>
              <a:rPr sz="1800" b="0">
                <a:solidFill>
                  <a:srgbClr val="161B26"/>
                </a:solidFill>
                <a:latin typeface="Arial"/>
              </a:rPr>
              <a:t>•  File System</a:t>
            </a:r>
          </a:p>
          <a:p>
            <a:pPr>
              <a:spcAft>
                <a:spcPts val="1000"/>
              </a:spcAft>
            </a:pPr>
            <a:r>
              <a:rPr sz="1800" b="0">
                <a:solidFill>
                  <a:srgbClr val="161B26"/>
                </a:solidFill>
                <a:latin typeface="Arial"/>
              </a:rPr>
              <a:t>•  (standby)</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synchronous replication</a:t>
            </a:r>
          </a:p>
          <a:p>
            <a:pPr>
              <a:spcAft>
                <a:spcPts val="1000"/>
              </a:spcAft>
            </a:pPr>
            <a:r>
              <a:rPr sz="1800" b="0">
                <a:solidFill>
                  <a:srgbClr val="161B26"/>
                </a:solidFill>
                <a:latin typeface="Arial"/>
              </a:rPr>
              <a:t>•  failover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FSx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8034" y="1801368"/>
            <a:ext cx="101054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3_0.png"/>
          <p:cNvPicPr>
            <a:picLocks noChangeAspect="1"/>
          </p:cNvPicPr>
          <p:nvPr/>
        </p:nvPicPr>
        <p:blipFill>
          <a:blip r:embed="rId2"/>
          <a:stretch>
            <a:fillRect/>
          </a:stretch>
        </p:blipFill>
        <p:spPr>
          <a:xfrm>
            <a:off x="1055466" y="1828800"/>
            <a:ext cx="1005058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Hybrid Cloud for Storage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is pushing for ”hybrid cloud”</a:t>
            </a:r>
          </a:p>
          <a:p>
            <a:pPr>
              <a:spcAft>
                <a:spcPts val="1000"/>
              </a:spcAft>
            </a:pPr>
            <a:r>
              <a:rPr sz="1800" b="0">
                <a:solidFill>
                  <a:srgbClr val="161B26"/>
                </a:solidFill>
                <a:latin typeface="Arial"/>
              </a:rPr>
              <a:t>•  Part of your infrastructure is on the cloud</a:t>
            </a:r>
          </a:p>
          <a:p>
            <a:pPr>
              <a:spcAft>
                <a:spcPts val="1000"/>
              </a:spcAft>
            </a:pPr>
            <a:r>
              <a:rPr sz="1800" b="0">
                <a:solidFill>
                  <a:srgbClr val="161B26"/>
                </a:solidFill>
                <a:latin typeface="Arial"/>
              </a:rPr>
              <a:t>•  Part of your infrastructure is on-premises</a:t>
            </a:r>
          </a:p>
          <a:p>
            <a:pPr>
              <a:spcAft>
                <a:spcPts val="1000"/>
              </a:spcAft>
            </a:pPr>
            <a:r>
              <a:rPr sz="1800" b="0">
                <a:solidFill>
                  <a:srgbClr val="161B26"/>
                </a:solidFill>
                <a:latin typeface="Arial"/>
              </a:rPr>
              <a:t>•  This can be due to</a:t>
            </a:r>
          </a:p>
          <a:p>
            <a:pPr>
              <a:spcAft>
                <a:spcPts val="1000"/>
              </a:spcAft>
            </a:pPr>
            <a:r>
              <a:rPr sz="1800" b="0">
                <a:solidFill>
                  <a:srgbClr val="161B26"/>
                </a:solidFill>
                <a:latin typeface="Arial"/>
              </a:rPr>
              <a:t>•  Long cloud migrations</a:t>
            </a:r>
          </a:p>
          <a:p>
            <a:pPr>
              <a:spcAft>
                <a:spcPts val="1000"/>
              </a:spcAft>
            </a:pPr>
            <a:r>
              <a:rPr sz="1800" b="0">
                <a:solidFill>
                  <a:srgbClr val="161B26"/>
                </a:solidFill>
                <a:latin typeface="Arial"/>
              </a:rPr>
              <a:t>•  Security requirements</a:t>
            </a:r>
          </a:p>
          <a:p>
            <a:pPr>
              <a:spcAft>
                <a:spcPts val="1000"/>
              </a:spcAft>
            </a:pPr>
            <a:r>
              <a:rPr sz="1800" b="0">
                <a:solidFill>
                  <a:srgbClr val="161B26"/>
                </a:solidFill>
                <a:latin typeface="Arial"/>
              </a:rPr>
              <a:t>•  Compliance requirements</a:t>
            </a:r>
          </a:p>
          <a:p>
            <a:pPr>
              <a:spcAft>
                <a:spcPts val="1000"/>
              </a:spcAft>
            </a:pPr>
            <a:r>
              <a:rPr sz="1800" b="0">
                <a:solidFill>
                  <a:srgbClr val="161B26"/>
                </a:solidFill>
                <a:latin typeface="Arial"/>
              </a:rPr>
              <a:t>•  IT strategy</a:t>
            </a:r>
          </a:p>
          <a:p>
            <a:pPr>
              <a:spcAft>
                <a:spcPts val="1000"/>
              </a:spcAft>
            </a:pPr>
            <a:r>
              <a:rPr sz="1800" b="0">
                <a:solidFill>
                  <a:srgbClr val="161B26"/>
                </a:solidFill>
                <a:latin typeface="Arial"/>
              </a:rPr>
              <a:t>•  S3 is a proprietary storage technology (unlike EFS / NFS), so how do you expose the S3 data on-premises?</a:t>
            </a:r>
          </a:p>
          <a:p>
            <a:pPr>
              <a:spcAft>
                <a:spcPts val="1000"/>
              </a:spcAft>
            </a:pPr>
            <a:r>
              <a:rPr sz="1800" b="0">
                <a:solidFill>
                  <a:srgbClr val="161B26"/>
                </a:solidFill>
                <a:latin typeface="Arial"/>
              </a:rPr>
              <a:t>•  AWS Storage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Cloud Native Options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Block</a:t>
            </a:r>
          </a:p>
          <a:p>
            <a:pPr>
              <a:spcAft>
                <a:spcPts val="1000"/>
              </a:spcAft>
            </a:pPr>
            <a:r>
              <a:rPr sz="1800" b="0">
                <a:solidFill>
                  <a:srgbClr val="161B26"/>
                </a:solidFill>
                <a:latin typeface="Arial"/>
              </a:rPr>
              <a:t>•  File</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Amazon EBS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Store</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Glacier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Bridge between on-premises data and cloud data</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disaster recovery</a:t>
            </a:r>
          </a:p>
          <a:p>
            <a:pPr>
              <a:spcAft>
                <a:spcPts val="1000"/>
              </a:spcAft>
            </a:pPr>
            <a:r>
              <a:rPr sz="1800" b="0">
                <a:solidFill>
                  <a:srgbClr val="161B26"/>
                </a:solidFill>
                <a:latin typeface="Arial"/>
              </a:rPr>
              <a:t>•  backup &amp; restore</a:t>
            </a:r>
          </a:p>
          <a:p>
            <a:pPr>
              <a:spcAft>
                <a:spcPts val="1000"/>
              </a:spcAft>
            </a:pPr>
            <a:r>
              <a:rPr sz="1800" b="0">
                <a:solidFill>
                  <a:srgbClr val="161B26"/>
                </a:solidFill>
                <a:latin typeface="Arial"/>
              </a:rPr>
              <a:t>•  tiered storage</a:t>
            </a:r>
          </a:p>
          <a:p>
            <a:pPr>
              <a:spcAft>
                <a:spcPts val="1000"/>
              </a:spcAft>
            </a:pPr>
            <a:r>
              <a:rPr sz="1800" b="0">
                <a:solidFill>
                  <a:srgbClr val="161B26"/>
                </a:solidFill>
                <a:latin typeface="Arial"/>
              </a:rPr>
              <a:t>•  on-premises cache &amp; low-latency files access</a:t>
            </a:r>
          </a:p>
          <a:p>
            <a:pPr>
              <a:spcAft>
                <a:spcPts val="1000"/>
              </a:spcAft>
            </a:pPr>
            <a:r>
              <a:rPr sz="1800" b="0">
                <a:solidFill>
                  <a:srgbClr val="161B26"/>
                </a:solidFill>
                <a:latin typeface="Arial"/>
              </a:rPr>
              <a:t>•  Types of Storage Gateway:</a:t>
            </a:r>
          </a:p>
          <a:p>
            <a:pPr>
              <a:spcAft>
                <a:spcPts val="1000"/>
              </a:spcAft>
            </a:pPr>
            <a:r>
              <a:rPr sz="1800" b="0">
                <a:solidFill>
                  <a:srgbClr val="161B26"/>
                </a:solidFill>
                <a:latin typeface="Arial"/>
              </a:rPr>
              <a:t>•  S3 File Gateway</a:t>
            </a:r>
          </a:p>
          <a:p>
            <a:pPr>
              <a:spcAft>
                <a:spcPts val="1000"/>
              </a:spcAft>
            </a:pPr>
            <a:r>
              <a:rPr sz="1800" b="0">
                <a:solidFill>
                  <a:srgbClr val="161B26"/>
                </a:solidFill>
                <a:latin typeface="Arial"/>
              </a:rPr>
              <a:t>•  FSx File Gateway</a:t>
            </a:r>
          </a:p>
          <a:p>
            <a:pPr>
              <a:spcAft>
                <a:spcPts val="1000"/>
              </a:spcAft>
            </a:pPr>
            <a:r>
              <a:rPr sz="1800" b="0">
                <a:solidFill>
                  <a:srgbClr val="161B26"/>
                </a:solidFill>
                <a:latin typeface="Arial"/>
              </a:rPr>
              <a:t>•  Volume Gateway</a:t>
            </a:r>
          </a:p>
          <a:p>
            <a:pPr>
              <a:spcAft>
                <a:spcPts val="1000"/>
              </a:spcAft>
            </a:pPr>
            <a:r>
              <a:rPr sz="1800" b="0">
                <a:solidFill>
                  <a:srgbClr val="161B26"/>
                </a:solidFill>
                <a:latin typeface="Arial"/>
              </a:rPr>
              <a:t>•  Tape gateway</a:t>
            </a:r>
          </a:p>
          <a:p>
            <a:pPr>
              <a:spcAft>
                <a:spcPts val="1000"/>
              </a:spcAft>
            </a:pPr>
            <a:r>
              <a:rPr sz="1800" b="0">
                <a:solidFill>
                  <a:srgbClr val="161B26"/>
                </a:solidFill>
                <a:latin typeface="Arial"/>
              </a:rPr>
              <a:t>•  Storage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83514" y="1801368"/>
            <a:ext cx="91944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7_0.png"/>
          <p:cNvPicPr>
            <a:picLocks noChangeAspect="1"/>
          </p:cNvPicPr>
          <p:nvPr/>
        </p:nvPicPr>
        <p:blipFill>
          <a:blip r:embed="rId2"/>
          <a:stretch>
            <a:fillRect/>
          </a:stretch>
        </p:blipFill>
        <p:spPr>
          <a:xfrm>
            <a:off x="1510946" y="1828800"/>
            <a:ext cx="91396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54067" y="1801368"/>
            <a:ext cx="965338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9_0.png"/>
          <p:cNvPicPr>
            <a:picLocks noChangeAspect="1"/>
          </p:cNvPicPr>
          <p:nvPr/>
        </p:nvPicPr>
        <p:blipFill>
          <a:blip r:embed="rId2"/>
          <a:stretch>
            <a:fillRect/>
          </a:stretch>
        </p:blipFill>
        <p:spPr>
          <a:xfrm>
            <a:off x="1281499" y="1828800"/>
            <a:ext cx="959852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File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Configured S3 buckets are accessible using the NFS and SMB protocol</a:t>
            </a:r>
          </a:p>
          <a:p>
            <a:pPr>
              <a:spcAft>
                <a:spcPts val="1000"/>
              </a:spcAft>
            </a:pPr>
            <a:r>
              <a:rPr sz="1800" b="0">
                <a:solidFill>
                  <a:srgbClr val="161B26"/>
                </a:solidFill>
                <a:latin typeface="Arial"/>
              </a:rPr>
              <a:t>•  Most recently used data is cached in the file gateway</a:t>
            </a:r>
          </a:p>
          <a:p>
            <a:pPr>
              <a:spcAft>
                <a:spcPts val="1000"/>
              </a:spcAft>
            </a:pPr>
            <a:r>
              <a:rPr sz="1800" b="0">
                <a:solidFill>
                  <a:srgbClr val="161B26"/>
                </a:solidFill>
                <a:latin typeface="Arial"/>
              </a:rPr>
              <a:t>•  Supports S3 Standard, S3 Standard IA, S3 One Zone A, S3 Intelligent Tiering</a:t>
            </a:r>
          </a:p>
          <a:p>
            <a:pPr>
              <a:spcAft>
                <a:spcPts val="1000"/>
              </a:spcAft>
            </a:pPr>
            <a:r>
              <a:rPr sz="1800" b="0">
                <a:solidFill>
                  <a:srgbClr val="161B26"/>
                </a:solidFill>
                <a:latin typeface="Arial"/>
              </a:rPr>
              <a:t>•  Transition to S3 Glacier using a lifecycle Policy</a:t>
            </a:r>
          </a:p>
          <a:p>
            <a:pPr>
              <a:spcAft>
                <a:spcPts val="1000"/>
              </a:spcAft>
            </a:pPr>
            <a:r>
              <a:rPr sz="1800" b="0">
                <a:solidFill>
                  <a:srgbClr val="161B26"/>
                </a:solidFill>
                <a:latin typeface="Arial"/>
              </a:rPr>
              <a:t>•  Bucket access using IAM roles for each File Gateway</a:t>
            </a:r>
          </a:p>
          <a:p>
            <a:pPr>
              <a:spcAft>
                <a:spcPts val="1000"/>
              </a:spcAft>
            </a:pPr>
            <a:r>
              <a:rPr sz="1800" b="0">
                <a:solidFill>
                  <a:srgbClr val="161B26"/>
                </a:solidFill>
                <a:latin typeface="Arial"/>
              </a:rPr>
              <a:t>•  SMB Protocol has integration with Active Directory (AD) for user authentication</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S3 File Gateway</a:t>
            </a:r>
          </a:p>
          <a:p>
            <a:pPr>
              <a:spcAft>
                <a:spcPts val="1000"/>
              </a:spcAft>
            </a:pPr>
            <a:r>
              <a:rPr sz="1800" b="0">
                <a:solidFill>
                  <a:srgbClr val="161B26"/>
                </a:solidFill>
                <a:latin typeface="Arial"/>
              </a:rPr>
              <a:t>•  S3 Standard S3 Standard-IA</a:t>
            </a:r>
          </a:p>
          <a:p>
            <a:pPr>
              <a:spcAft>
                <a:spcPts val="1000"/>
              </a:spcAft>
            </a:pPr>
            <a:r>
              <a:rPr sz="1800" b="0">
                <a:solidFill>
                  <a:srgbClr val="161B26"/>
                </a:solidFill>
                <a:latin typeface="Arial"/>
              </a:rPr>
              <a:t>•  S3 One Zone-IA</a:t>
            </a:r>
          </a:p>
          <a:p>
            <a:pPr>
              <a:spcAft>
                <a:spcPts val="1000"/>
              </a:spcAft>
            </a:pPr>
            <a:r>
              <a:rPr sz="1800" b="0">
                <a:solidFill>
                  <a:srgbClr val="161B26"/>
                </a:solidFill>
                <a:latin typeface="Arial"/>
              </a:rPr>
              <a:t>•  S3 Intelligent-Tiering</a:t>
            </a:r>
          </a:p>
          <a:p>
            <a:pPr>
              <a:spcAft>
                <a:spcPts val="1000"/>
              </a:spcAft>
            </a:pPr>
            <a:r>
              <a:rPr sz="1800" b="0">
                <a:solidFill>
                  <a:srgbClr val="161B26"/>
                </a:solidFill>
                <a:latin typeface="Arial"/>
              </a:rPr>
              <a:t>•  S3 Glacier</a:t>
            </a:r>
          </a:p>
          <a:p>
            <a:pPr>
              <a:spcAft>
                <a:spcPts val="1000"/>
              </a:spcAft>
            </a:pPr>
            <a:r>
              <a:rPr sz="1800" b="0">
                <a:solidFill>
                  <a:srgbClr val="161B26"/>
                </a:solidFill>
                <a:latin typeface="Arial"/>
              </a:rPr>
              <a:t>•  NFS or SMB</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Lifecycle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File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Native access to Amazon FSx for Windows File Server</a:t>
            </a:r>
          </a:p>
          <a:p>
            <a:pPr>
              <a:spcAft>
                <a:spcPts val="1000"/>
              </a:spcAft>
            </a:pPr>
            <a:r>
              <a:rPr sz="1800" b="0">
                <a:solidFill>
                  <a:srgbClr val="161B26"/>
                </a:solidFill>
                <a:latin typeface="Arial"/>
              </a:rPr>
              <a:t>•  Local cache for frequently accessed data</a:t>
            </a:r>
          </a:p>
          <a:p>
            <a:pPr>
              <a:spcAft>
                <a:spcPts val="1000"/>
              </a:spcAft>
            </a:pPr>
            <a:r>
              <a:rPr sz="1800" b="0">
                <a:solidFill>
                  <a:srgbClr val="161B26"/>
                </a:solidFill>
                <a:latin typeface="Arial"/>
              </a:rPr>
              <a:t>•  Windows native compatibility (SMB, NTFS, Active Directory...)</a:t>
            </a:r>
          </a:p>
          <a:p>
            <a:pPr>
              <a:spcAft>
                <a:spcPts val="1000"/>
              </a:spcAft>
            </a:pPr>
            <a:r>
              <a:rPr sz="1800" b="0">
                <a:solidFill>
                  <a:srgbClr val="161B26"/>
                </a:solidFill>
                <a:latin typeface="Arial"/>
              </a:rPr>
              <a:t>•  Useful for group file shares and home directories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SMB Clients</a:t>
            </a:r>
          </a:p>
          <a:p>
            <a:pPr>
              <a:spcAft>
                <a:spcPts val="1000"/>
              </a:spcAft>
            </a:pPr>
            <a:r>
              <a:rPr sz="1800" b="0">
                <a:solidFill>
                  <a:srgbClr val="161B26"/>
                </a:solidFill>
                <a:latin typeface="Arial"/>
              </a:rPr>
              <a:t>•  Amazon FSx File Gateway</a:t>
            </a:r>
          </a:p>
          <a:p>
            <a:pPr>
              <a:spcAft>
                <a:spcPts val="1000"/>
              </a:spcAft>
            </a:pPr>
            <a:r>
              <a:rPr sz="1800" b="0">
                <a:solidFill>
                  <a:srgbClr val="161B26"/>
                </a:solidFill>
                <a:latin typeface="Arial"/>
              </a:rPr>
              <a:t>•  File systems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for Windows File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Volume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Block storage using iSCSI protocol backed by S3</a:t>
            </a:r>
          </a:p>
          <a:p>
            <a:pPr>
              <a:spcAft>
                <a:spcPts val="1000"/>
              </a:spcAft>
            </a:pPr>
            <a:r>
              <a:rPr sz="1800" b="0">
                <a:solidFill>
                  <a:srgbClr val="161B26"/>
                </a:solidFill>
                <a:latin typeface="Arial"/>
              </a:rPr>
              <a:t>•  Backed by EBS snapshots which can help restore on-premises volumes!</a:t>
            </a:r>
          </a:p>
          <a:p>
            <a:pPr>
              <a:spcAft>
                <a:spcPts val="1000"/>
              </a:spcAft>
            </a:pPr>
            <a:r>
              <a:rPr sz="1800" b="0">
                <a:solidFill>
                  <a:srgbClr val="161B26"/>
                </a:solidFill>
                <a:latin typeface="Arial"/>
              </a:rPr>
              <a:t>•  Cached volumes: low latency access to most recent data</a:t>
            </a:r>
          </a:p>
          <a:p>
            <a:pPr>
              <a:spcAft>
                <a:spcPts val="1000"/>
              </a:spcAft>
            </a:pPr>
            <a:r>
              <a:rPr sz="1800" b="0">
                <a:solidFill>
                  <a:srgbClr val="161B26"/>
                </a:solidFill>
                <a:latin typeface="Arial"/>
              </a:rPr>
              <a:t>•  Stored volumes: entire dataset is on premise, scheduled backups to S3</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Amazon EBS Snapshots</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Volume Gateway</a:t>
            </a:r>
          </a:p>
          <a:p>
            <a:pPr>
              <a:spcAft>
                <a:spcPts val="1000"/>
              </a:spcAft>
            </a:pPr>
            <a:r>
              <a:rPr sz="1800" b="0">
                <a:solidFill>
                  <a:srgbClr val="161B26"/>
                </a:solidFill>
                <a:latin typeface="Arial"/>
              </a:rPr>
              <a:t>•  HTTPS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Tape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Some companies have backup processes using physical tapes (!)</a:t>
            </a:r>
          </a:p>
          <a:p>
            <a:pPr>
              <a:spcAft>
                <a:spcPts val="1000"/>
              </a:spcAft>
            </a:pPr>
            <a:r>
              <a:rPr sz="1800" b="0">
                <a:solidFill>
                  <a:srgbClr val="161B26"/>
                </a:solidFill>
                <a:latin typeface="Arial"/>
              </a:rPr>
              <a:t>•  With Tape Gateway, companies use the same processes but, in the cloud</a:t>
            </a:r>
          </a:p>
          <a:p>
            <a:pPr>
              <a:spcAft>
                <a:spcPts val="1000"/>
              </a:spcAft>
            </a:pPr>
            <a:r>
              <a:rPr sz="1800" b="0">
                <a:solidFill>
                  <a:srgbClr val="161B26"/>
                </a:solidFill>
                <a:latin typeface="Arial"/>
              </a:rPr>
              <a:t>•  Virtual Tape Library (VTL) backed by Amazon S3 and Glacier</a:t>
            </a:r>
          </a:p>
          <a:p>
            <a:pPr>
              <a:spcAft>
                <a:spcPts val="1000"/>
              </a:spcAft>
            </a:pPr>
            <a:r>
              <a:rPr sz="1800" b="0">
                <a:solidFill>
                  <a:srgbClr val="161B26"/>
                </a:solidFill>
                <a:latin typeface="Arial"/>
              </a:rPr>
              <a:t>•  Back up data using existing tape-based processes (and iSCSI interface)</a:t>
            </a:r>
          </a:p>
          <a:p>
            <a:pPr>
              <a:spcAft>
                <a:spcPts val="1000"/>
              </a:spcAft>
            </a:pPr>
            <a:r>
              <a:rPr sz="1800" b="0">
                <a:solidFill>
                  <a:srgbClr val="161B26"/>
                </a:solidFill>
                <a:latin typeface="Arial"/>
              </a:rPr>
              <a:t>•  Works with leading backup software vendors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Virtual Tapes stored in Amazon S3</a:t>
            </a:r>
          </a:p>
          <a:p>
            <a:pPr>
              <a:spcAft>
                <a:spcPts val="1000"/>
              </a:spcAft>
            </a:pPr>
            <a:r>
              <a:rPr sz="1800" b="0">
                <a:solidFill>
                  <a:srgbClr val="161B26"/>
                </a:solidFill>
                <a:latin typeface="Arial"/>
              </a:rPr>
              <a:t>•  Archived Tapes stored in Amazon Glacier</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Backup Server</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Tape Gateway</a:t>
            </a:r>
          </a:p>
          <a:p>
            <a:pPr>
              <a:spcAft>
                <a:spcPts val="1000"/>
              </a:spcAft>
            </a:pPr>
            <a:r>
              <a:rPr sz="1800" b="0">
                <a:solidFill>
                  <a:srgbClr val="161B26"/>
                </a:solidFill>
                <a:latin typeface="Arial"/>
              </a:rPr>
              <a:t>•  Media Changer</a:t>
            </a:r>
          </a:p>
          <a:p>
            <a:pPr>
              <a:spcAft>
                <a:spcPts val="1000"/>
              </a:spcAft>
            </a:pPr>
            <a:r>
              <a:rPr sz="1800" b="0">
                <a:solidFill>
                  <a:srgbClr val="161B26"/>
                </a:solidFill>
                <a:latin typeface="Arial"/>
              </a:rPr>
              <a:t>•  Tape Drive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Hardware appliance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32912" y="1801368"/>
            <a:ext cx="72956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84_0.jpg"/>
          <p:cNvPicPr>
            <a:picLocks noChangeAspect="1"/>
          </p:cNvPicPr>
          <p:nvPr/>
        </p:nvPicPr>
        <p:blipFill>
          <a:blip r:embed="rId2"/>
          <a:stretch>
            <a:fillRect/>
          </a:stretch>
        </p:blipFill>
        <p:spPr>
          <a:xfrm>
            <a:off x="2460344" y="1828800"/>
            <a:ext cx="724083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Using Storage Gateway means you need on-premises virtualization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On-Premises</a:t>
            </a:r>
          </a:p>
          <a:p>
            <a:pPr>
              <a:spcAft>
                <a:spcPts val="1000"/>
              </a:spcAft>
            </a:pPr>
            <a:r>
              <a:rPr sz="1800" b="0">
                <a:solidFill>
                  <a:srgbClr val="161B26"/>
                </a:solidFill>
                <a:latin typeface="Arial"/>
              </a:rPr>
              <a:t>•  File Gateway</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Volume Gateway</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Tape Gateway</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Backup Application</a:t>
            </a:r>
          </a:p>
          <a:p>
            <a:pPr>
              <a:spcAft>
                <a:spcPts val="1000"/>
              </a:spcAft>
            </a:pPr>
            <a:r>
              <a:rPr sz="1800" b="0">
                <a:solidFill>
                  <a:srgbClr val="161B26"/>
                </a:solidFill>
                <a:latin typeface="Arial"/>
              </a:rPr>
              <a:t>•  User/group file shares</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NFS/SMB</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iSCSI VTL</a:t>
            </a:r>
          </a:p>
          <a:p>
            <a:pPr>
              <a:spcAft>
                <a:spcPts val="1000"/>
              </a:spcAft>
            </a:pPr>
            <a:r>
              <a:rPr sz="1800" b="0">
                <a:solidFill>
                  <a:srgbClr val="161B26"/>
                </a:solidFill>
                <a:latin typeface="Arial"/>
              </a:rPr>
              <a:t>•  Gateway Deployment Options VM(VMware, Hyper-V, KVM) or Hardware Appliance</a:t>
            </a:r>
          </a:p>
          <a:p>
            <a:pPr>
              <a:spcAft>
                <a:spcPts val="1000"/>
              </a:spcAft>
            </a:pPr>
            <a:r>
              <a:rPr sz="1800" b="0">
                <a:solidFill>
                  <a:srgbClr val="161B26"/>
                </a:solidFill>
                <a:latin typeface="Arial"/>
              </a:rPr>
              <a:t>•  Amazon S3 excluding Glacier &amp;</a:t>
            </a:r>
          </a:p>
          <a:p>
            <a:pPr>
              <a:spcAft>
                <a:spcPts val="1000"/>
              </a:spcAft>
            </a:pPr>
            <a:r>
              <a:rPr sz="1800" b="0">
                <a:solidFill>
                  <a:srgbClr val="161B26"/>
                </a:solidFill>
                <a:latin typeface="Arial"/>
              </a:rPr>
              <a:t>•  Glacier Deep Archive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Tape Library</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For Windows File Server</a:t>
            </a:r>
          </a:p>
          <a:p>
            <a:pPr>
              <a:spcAft>
                <a:spcPts val="1000"/>
              </a:spcAft>
            </a:pPr>
            <a:r>
              <a:rPr sz="1800" b="0">
                <a:solidFill>
                  <a:srgbClr val="161B26"/>
                </a:solidFill>
                <a:latin typeface="Arial"/>
              </a:rPr>
              <a:t>•  Any S3 Storage Class</a:t>
            </a:r>
          </a:p>
          <a:p>
            <a:pPr>
              <a:spcAft>
                <a:spcPts val="1000"/>
              </a:spcAft>
            </a:pPr>
            <a:r>
              <a:rPr sz="1800" b="0">
                <a:solidFill>
                  <a:srgbClr val="161B26"/>
                </a:solidFill>
                <a:latin typeface="Arial"/>
              </a:rPr>
              <a:t>•  Including Glacier</a:t>
            </a:r>
          </a:p>
          <a:p>
            <a:pPr>
              <a:spcAft>
                <a:spcPts val="1000"/>
              </a:spcAft>
            </a:pPr>
            <a:r>
              <a:rPr sz="1800" b="0">
                <a:solidFill>
                  <a:srgbClr val="161B26"/>
                </a:solidFill>
                <a:latin typeface="Arial"/>
              </a:rPr>
              <a:t>•  AWS EBS</a:t>
            </a:r>
          </a:p>
          <a:p>
            <a:pPr>
              <a:spcAft>
                <a:spcPts val="1000"/>
              </a:spcAft>
            </a:pPr>
            <a:r>
              <a:rPr sz="1800" b="0">
                <a:solidFill>
                  <a:srgbClr val="161B26"/>
                </a:solidFill>
                <a:latin typeface="Arial"/>
              </a:rPr>
              <a:t>•  Tape Archive</a:t>
            </a:r>
          </a:p>
          <a:p>
            <a:pPr>
              <a:spcAft>
                <a:spcPts val="1000"/>
              </a:spcAft>
            </a:pPr>
            <a:r>
              <a:rPr sz="1800" b="0">
                <a:solidFill>
                  <a:srgbClr val="161B26"/>
                </a:solidFill>
                <a:latin typeface="Arial"/>
              </a:rPr>
              <a:t>•  Glacier &amp; Glacier Deep Archive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Eject from backup application</a:t>
            </a:r>
          </a:p>
          <a:p>
            <a:pPr>
              <a:spcAft>
                <a:spcPts val="1000"/>
              </a:spcAft>
            </a:pPr>
            <a:r>
              <a:rPr sz="1800" b="0">
                <a:solidFill>
                  <a:srgbClr val="161B26"/>
                </a:solidFill>
                <a:latin typeface="Arial"/>
              </a:rPr>
              <a:t>•  Automated Backups</a:t>
            </a:r>
          </a:p>
          <a:p>
            <a:pPr>
              <a:spcAft>
                <a:spcPts val="1000"/>
              </a:spcAft>
            </a:pPr>
            <a:r>
              <a:rPr sz="1800" b="0">
                <a:solidFill>
                  <a:srgbClr val="161B26"/>
                </a:solidFill>
                <a:latin typeface="Arial"/>
              </a:rPr>
              <a:t>•  Storage Gateway</a:t>
            </a:r>
          </a:p>
          <a:p>
            <a:pPr>
              <a:spcAft>
                <a:spcPts val="1000"/>
              </a:spcAft>
            </a:pPr>
            <a:r>
              <a:rPr sz="1800" b="0">
                <a:solidFill>
                  <a:srgbClr val="161B26"/>
                </a:solidFill>
                <a:latin typeface="Arial"/>
              </a:rPr>
              <a:t>•  Encryption in Transit</a:t>
            </a:r>
          </a:p>
          <a:p>
            <a:pPr>
              <a:spcAft>
                <a:spcPts val="1000"/>
              </a:spcAft>
            </a:pPr>
            <a:r>
              <a:rPr sz="1800" b="0">
                <a:solidFill>
                  <a:srgbClr val="161B26"/>
                </a:solidFill>
                <a:latin typeface="Arial"/>
              </a:rPr>
              <a:t>•  Internet or Direct Connect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File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Native access to Amazon FSx for Windows File Server</a:t>
            </a:r>
          </a:p>
          <a:p>
            <a:pPr>
              <a:spcAft>
                <a:spcPts val="1000"/>
              </a:spcAft>
            </a:pPr>
            <a:r>
              <a:rPr sz="1800" b="0">
                <a:solidFill>
                  <a:srgbClr val="161B26"/>
                </a:solidFill>
                <a:latin typeface="Arial"/>
              </a:rPr>
              <a:t>•  Local cache for frequently accessed data</a:t>
            </a:r>
          </a:p>
          <a:p>
            <a:pPr>
              <a:spcAft>
                <a:spcPts val="1000"/>
              </a:spcAft>
            </a:pPr>
            <a:r>
              <a:rPr sz="1800" b="0">
                <a:solidFill>
                  <a:srgbClr val="161B26"/>
                </a:solidFill>
                <a:latin typeface="Arial"/>
              </a:rPr>
              <a:t>•  Windows native compatibility (SMB, NFTS, Active Directory...)</a:t>
            </a:r>
          </a:p>
          <a:p>
            <a:pPr>
              <a:spcAft>
                <a:spcPts val="1000"/>
              </a:spcAft>
            </a:pPr>
            <a:r>
              <a:rPr sz="1800" b="0">
                <a:solidFill>
                  <a:srgbClr val="161B26"/>
                </a:solidFill>
                <a:latin typeface="Arial"/>
              </a:rPr>
              <a:t>•  Useful for group file shares and home directories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SMB Clients</a:t>
            </a:r>
          </a:p>
          <a:p>
            <a:pPr>
              <a:spcAft>
                <a:spcPts val="1000"/>
              </a:spcAft>
            </a:pPr>
            <a:r>
              <a:rPr sz="1800" b="0">
                <a:solidFill>
                  <a:srgbClr val="161B26"/>
                </a:solidFill>
                <a:latin typeface="Arial"/>
              </a:rPr>
              <a:t>•  Amazon FSx File Gateway</a:t>
            </a:r>
          </a:p>
          <a:p>
            <a:pPr>
              <a:spcAft>
                <a:spcPts val="1000"/>
              </a:spcAft>
            </a:pPr>
            <a:r>
              <a:rPr sz="1800" b="0">
                <a:solidFill>
                  <a:srgbClr val="161B26"/>
                </a:solidFill>
                <a:latin typeface="Arial"/>
              </a:rPr>
              <a:t>•  File systems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for Windows File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SysOps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File Gateway is POSIX compliant (Linux file system)</a:t>
            </a:r>
          </a:p>
          <a:p>
            <a:pPr>
              <a:spcAft>
                <a:spcPts val="1000"/>
              </a:spcAft>
            </a:pPr>
            <a:r>
              <a:rPr sz="1800" b="0">
                <a:solidFill>
                  <a:srgbClr val="161B26"/>
                </a:solidFill>
                <a:latin typeface="Arial"/>
              </a:rPr>
              <a:t>•  POSIX metadata ownership, permissions, and timestamps stored in the object’s metadata in S3</a:t>
            </a:r>
          </a:p>
          <a:p>
            <a:pPr>
              <a:spcAft>
                <a:spcPts val="1000"/>
              </a:spcAft>
            </a:pPr>
            <a:r>
              <a:rPr sz="1800" b="0">
                <a:solidFill>
                  <a:srgbClr val="161B26"/>
                </a:solidFill>
                <a:latin typeface="Arial"/>
              </a:rPr>
              <a:t>•  Reboot Storage Gateway VM: (e.g., maintenance)</a:t>
            </a:r>
          </a:p>
          <a:p>
            <a:pPr>
              <a:spcAft>
                <a:spcPts val="1000"/>
              </a:spcAft>
            </a:pPr>
            <a:r>
              <a:rPr sz="1800" b="0">
                <a:solidFill>
                  <a:srgbClr val="161B26"/>
                </a:solidFill>
                <a:latin typeface="Arial"/>
              </a:rPr>
              <a:t>•  File Gateway: simply restart the Storage Gateway VM</a:t>
            </a:r>
          </a:p>
          <a:p>
            <a:pPr>
              <a:spcAft>
                <a:spcPts val="1000"/>
              </a:spcAft>
            </a:pPr>
            <a:r>
              <a:rPr sz="1800" b="0">
                <a:solidFill>
                  <a:srgbClr val="161B26"/>
                </a:solidFill>
                <a:latin typeface="Arial"/>
              </a:rPr>
              <a:t>•  Volume and Tape Gateway:</a:t>
            </a:r>
          </a:p>
          <a:p>
            <a:pPr>
              <a:spcAft>
                <a:spcPts val="1000"/>
              </a:spcAft>
            </a:pPr>
            <a:r>
              <a:rPr sz="1800" b="0">
                <a:solidFill>
                  <a:srgbClr val="161B26"/>
                </a:solidFill>
                <a:latin typeface="Arial"/>
              </a:rPr>
              <a:t>•  Stop Storage Gateway Service (AWS Console,VM local Console, Storage Gateway API)</a:t>
            </a:r>
          </a:p>
          <a:p>
            <a:pPr>
              <a:spcAft>
                <a:spcPts val="1000"/>
              </a:spcAft>
            </a:pPr>
            <a:r>
              <a:rPr sz="1800" b="0">
                <a:solidFill>
                  <a:srgbClr val="161B26"/>
                </a:solidFill>
                <a:latin typeface="Arial"/>
              </a:rPr>
              <a:t>•  Reboot the Storage Gateway VM</a:t>
            </a:r>
          </a:p>
          <a:p>
            <a:pPr>
              <a:spcAft>
                <a:spcPts val="1000"/>
              </a:spcAft>
            </a:pPr>
            <a:r>
              <a:rPr sz="1800" b="0">
                <a:solidFill>
                  <a:srgbClr val="161B26"/>
                </a:solidFill>
                <a:latin typeface="Arial"/>
              </a:rPr>
              <a:t>•  Start Storage Gateway Service (AWS Console,VM local Console, Storage Gateway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Activations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Two ways to get Activation Key:</a:t>
            </a:r>
          </a:p>
          <a:p>
            <a:pPr>
              <a:spcAft>
                <a:spcPts val="1000"/>
              </a:spcAft>
            </a:pPr>
            <a:r>
              <a:rPr sz="1800" b="0">
                <a:solidFill>
                  <a:srgbClr val="161B26"/>
                </a:solidFill>
                <a:latin typeface="Arial"/>
              </a:rPr>
              <a:t>•  Using the Gateway VM CLI</a:t>
            </a:r>
          </a:p>
          <a:p>
            <a:pPr>
              <a:spcAft>
                <a:spcPts val="1000"/>
              </a:spcAft>
            </a:pPr>
            <a:r>
              <a:rPr sz="1800" b="0">
                <a:solidFill>
                  <a:srgbClr val="161B26"/>
                </a:solidFill>
                <a:latin typeface="Arial"/>
              </a:rPr>
              <a:t>•  Make a web request to the Gateway VM (Port 80)</a:t>
            </a:r>
          </a:p>
          <a:p>
            <a:pPr>
              <a:spcAft>
                <a:spcPts val="1000"/>
              </a:spcAft>
            </a:pPr>
            <a:r>
              <a:rPr sz="1800" b="0">
                <a:solidFill>
                  <a:srgbClr val="161B26"/>
                </a:solidFill>
                <a:latin typeface="Arial"/>
              </a:rPr>
              <a:t>•  Troubleshooting Activation Failures:</a:t>
            </a:r>
          </a:p>
          <a:p>
            <a:pPr>
              <a:spcAft>
                <a:spcPts val="1000"/>
              </a:spcAft>
            </a:pPr>
            <a:r>
              <a:rPr sz="1800" b="0">
                <a:solidFill>
                  <a:srgbClr val="161B26"/>
                </a:solidFill>
                <a:latin typeface="Arial"/>
              </a:rPr>
              <a:t>•  Make sure the Gateway VM has port 80 opened</a:t>
            </a:r>
          </a:p>
          <a:p>
            <a:pPr>
              <a:spcAft>
                <a:spcPts val="1000"/>
              </a:spcAft>
            </a:pPr>
            <a:r>
              <a:rPr sz="1800" b="0">
                <a:solidFill>
                  <a:srgbClr val="161B26"/>
                </a:solidFill>
                <a:latin typeface="Arial"/>
              </a:rPr>
              <a:t>•  Check that the Gateway VM has the correct time and synchronizing its time automatically to a Network Time Protocol (NTP) server</a:t>
            </a:r>
          </a:p>
          <a:p>
            <a:pPr>
              <a:spcAft>
                <a:spcPts val="1000"/>
              </a:spcAft>
            </a:pPr>
            <a:r>
              <a:rPr sz="1800" b="0">
                <a:solidFill>
                  <a:srgbClr val="161B26"/>
                </a:solidFill>
                <a:latin typeface="Arial"/>
              </a:rPr>
              <a:t>•  File Gateway</a:t>
            </a:r>
          </a:p>
          <a:p>
            <a:pPr>
              <a:spcAft>
                <a:spcPts val="1000"/>
              </a:spcAft>
            </a:pPr>
            <a:r>
              <a:rPr sz="1800" b="0">
                <a:solidFill>
                  <a:srgbClr val="161B26"/>
                </a:solidFill>
                <a:latin typeface="Arial"/>
              </a:rPr>
              <a:t>•  curl ‘vm_ip_address/?activationRegion= activation_region&amp;no_redirect’</a:t>
            </a:r>
          </a:p>
          <a:p>
            <a:pPr>
              <a:spcAft>
                <a:spcPts val="1000"/>
              </a:spcAft>
            </a:pPr>
            <a:r>
              <a:rPr sz="1800" b="0">
                <a:solidFill>
                  <a:srgbClr val="161B26"/>
                </a:solidFill>
                <a:latin typeface="Arial"/>
              </a:rPr>
              <a:t>•  F9KRH-….</a:t>
            </a:r>
          </a:p>
          <a:p>
            <a:pPr>
              <a:spcAft>
                <a:spcPts val="1000"/>
              </a:spcAft>
            </a:pPr>
            <a:r>
              <a:rPr sz="1800" b="0">
                <a:solidFill>
                  <a:srgbClr val="161B26"/>
                </a:solidFill>
                <a:latin typeface="Arial"/>
              </a:rPr>
              <a:t>•  AWS Console</a:t>
            </a:r>
          </a:p>
          <a:p>
            <a:pPr>
              <a:spcAft>
                <a:spcPts val="1000"/>
              </a:spcAft>
            </a:pPr>
            <a:r>
              <a:rPr sz="1800" b="0">
                <a:solidFill>
                  <a:srgbClr val="161B26"/>
                </a:solidFill>
                <a:latin typeface="Arial"/>
              </a:rPr>
              <a:t>•  F9KRH-….</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Port 80</a:t>
            </a:r>
          </a:p>
          <a:p>
            <a:pPr>
              <a:spcAft>
                <a:spcPts val="1000"/>
              </a:spcAft>
            </a:pPr>
            <a:r>
              <a:rPr sz="1800" b="0">
                <a:solidFill>
                  <a:srgbClr val="161B26"/>
                </a:solidFill>
                <a:latin typeface="Arial"/>
              </a:rPr>
              <a:t>•  NTP Server</a:t>
            </a:r>
          </a:p>
          <a:p>
            <a:pPr>
              <a:spcAft>
                <a:spcPts val="1000"/>
              </a:spcAft>
            </a:pPr>
            <a:r>
              <a:rPr sz="1800" b="0">
                <a:solidFill>
                  <a:srgbClr val="161B26"/>
                </a:solidFill>
                <a:latin typeface="Arial"/>
              </a:rPr>
              <a:t>•  sync</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Volume Gateway Cache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Cached mode: only the most recent data is stored</a:t>
            </a:r>
          </a:p>
          <a:p>
            <a:pPr>
              <a:spcAft>
                <a:spcPts val="1000"/>
              </a:spcAft>
            </a:pPr>
            <a:r>
              <a:rPr sz="1800" b="0">
                <a:solidFill>
                  <a:srgbClr val="161B26"/>
                </a:solidFill>
                <a:latin typeface="Arial"/>
              </a:rPr>
              <a:t>•  Looking at cache efficiency</a:t>
            </a:r>
          </a:p>
          <a:p>
            <a:pPr>
              <a:spcAft>
                <a:spcPts val="1000"/>
              </a:spcAft>
            </a:pPr>
            <a:r>
              <a:rPr sz="1800" b="0">
                <a:solidFill>
                  <a:srgbClr val="161B26"/>
                </a:solidFill>
                <a:latin typeface="Arial"/>
              </a:rPr>
              <a:t>•  Look at the CacheHitPercent metric (you want it to be high)</a:t>
            </a:r>
          </a:p>
          <a:p>
            <a:pPr>
              <a:spcAft>
                <a:spcPts val="1000"/>
              </a:spcAft>
            </a:pPr>
            <a:r>
              <a:rPr sz="1800" b="0">
                <a:solidFill>
                  <a:srgbClr val="161B26"/>
                </a:solidFill>
                <a:latin typeface="Arial"/>
              </a:rPr>
              <a:t>•  Look at the CachePercentUsed (you don’t want it to be too high)</a:t>
            </a:r>
          </a:p>
          <a:p>
            <a:pPr>
              <a:spcAft>
                <a:spcPts val="1000"/>
              </a:spcAft>
            </a:pPr>
            <a:r>
              <a:rPr sz="1800" b="0">
                <a:solidFill>
                  <a:srgbClr val="161B26"/>
                </a:solidFill>
                <a:latin typeface="Arial"/>
              </a:rPr>
              <a:t>•  Create a larger cache disk</a:t>
            </a:r>
          </a:p>
          <a:p>
            <a:pPr>
              <a:spcAft>
                <a:spcPts val="1000"/>
              </a:spcAft>
            </a:pPr>
            <a:r>
              <a:rPr sz="1800" b="0">
                <a:solidFill>
                  <a:srgbClr val="161B26"/>
                </a:solidFill>
                <a:latin typeface="Arial"/>
              </a:rPr>
              <a:t>•  Use the cached volume to clone a new volume of a larger size</a:t>
            </a:r>
          </a:p>
          <a:p>
            <a:pPr>
              <a:spcAft>
                <a:spcPts val="1000"/>
              </a:spcAft>
            </a:pPr>
            <a:r>
              <a:rPr sz="1800" b="0">
                <a:solidFill>
                  <a:srgbClr val="161B26"/>
                </a:solidFill>
                <a:latin typeface="Arial"/>
              </a:rPr>
              <a:t>•  Select the new disk as the cached volume</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Cached</a:t>
            </a:r>
          </a:p>
          <a:p>
            <a:pPr>
              <a:spcAft>
                <a:spcPts val="1000"/>
              </a:spcAft>
            </a:pPr>
            <a:r>
              <a:rPr sz="1800" b="0">
                <a:solidFill>
                  <a:srgbClr val="161B26"/>
                </a:solidFill>
                <a:latin typeface="Arial"/>
              </a:rPr>
              <a:t>•  Volume</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Cache Miss</a:t>
            </a:r>
          </a:p>
          <a:p>
            <a:pPr>
              <a:spcAft>
                <a:spcPts val="1000"/>
              </a:spcAft>
            </a:pPr>
            <a:r>
              <a:rPr sz="1800" b="0">
                <a:solidFill>
                  <a:srgbClr val="161B26"/>
                </a:solidFill>
                <a:latin typeface="Arial"/>
              </a:rPr>
              <a:t>•  Corporate Data Center Cache</a:t>
            </a:r>
          </a:p>
          <a:p>
            <a:pPr>
              <a:spcAft>
                <a:spcPts val="1000"/>
              </a:spcAft>
            </a:pPr>
            <a:r>
              <a:rPr sz="1800" b="0">
                <a:solidFill>
                  <a:srgbClr val="161B26"/>
                </a:solidFill>
                <a:latin typeface="Arial"/>
              </a:rPr>
              <a:t>•  Hit</a:t>
            </a:r>
          </a:p>
          <a:p>
            <a:pPr>
              <a:spcAft>
                <a:spcPts val="1000"/>
              </a:spcAft>
            </a:pPr>
            <a:r>
              <a:rPr sz="1800" b="0">
                <a:solidFill>
                  <a:srgbClr val="161B26"/>
                </a:solidFill>
                <a:latin typeface="Arial"/>
              </a:rPr>
              <a:t>•  CacheHitPercent: 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CloudFront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Content Delivery Network (CDN)</a:t>
            </a:r>
          </a:p>
          <a:p>
            <a:pPr>
              <a:spcAft>
                <a:spcPts val="1000"/>
              </a:spcAft>
            </a:pPr>
            <a:r>
              <a:rPr sz="2000" b="0">
                <a:solidFill>
                  <a:srgbClr val="161B26"/>
                </a:solidFill>
                <a:latin typeface="Arial"/>
              </a:rPr>
              <a:t>•  Improves read performance, content is cached at the edge</a:t>
            </a:r>
          </a:p>
          <a:p>
            <a:pPr>
              <a:spcAft>
                <a:spcPts val="1000"/>
              </a:spcAft>
            </a:pPr>
            <a:r>
              <a:rPr sz="2000" b="0">
                <a:solidFill>
                  <a:srgbClr val="161B26"/>
                </a:solidFill>
                <a:latin typeface="Arial"/>
              </a:rPr>
              <a:t>•  Improves users experience</a:t>
            </a:r>
          </a:p>
          <a:p>
            <a:pPr>
              <a:spcAft>
                <a:spcPts val="1000"/>
              </a:spcAft>
            </a:pPr>
            <a:r>
              <a:rPr sz="2000" b="0">
                <a:solidFill>
                  <a:srgbClr val="161B26"/>
                </a:solidFill>
                <a:latin typeface="Arial"/>
              </a:rPr>
              <a:t>•  216 Point of Presence globally (edge locations)</a:t>
            </a:r>
          </a:p>
          <a:p>
            <a:pPr>
              <a:spcAft>
                <a:spcPts val="1000"/>
              </a:spcAft>
            </a:pPr>
            <a:r>
              <a:rPr sz="2000" b="0">
                <a:solidFill>
                  <a:srgbClr val="161B26"/>
                </a:solidFill>
                <a:latin typeface="Arial"/>
              </a:rPr>
              <a:t>•  DDoS protection (because worldwide), integration with Shield, AWS Web Application Firewall</a:t>
            </a:r>
          </a:p>
          <a:p>
            <a:pPr>
              <a:spcAft>
                <a:spcPts val="1000"/>
              </a:spcAft>
            </a:pPr>
            <a:r>
              <a:rPr sz="2000" b="0">
                <a:solidFill>
                  <a:srgbClr val="161B26"/>
                </a:solidFill>
                <a:latin typeface="Arial"/>
              </a:rPr>
              <a:t>•  Source: https://aws.amazon.com/cloudfront/features/?nc=sn&amp;loc=2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20334" y="1801368"/>
            <a:ext cx="772085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92_0.png"/>
          <p:cNvPicPr>
            <a:picLocks noChangeAspect="1"/>
          </p:cNvPicPr>
          <p:nvPr/>
        </p:nvPicPr>
        <p:blipFill>
          <a:blip r:embed="rId2"/>
          <a:stretch>
            <a:fillRect/>
          </a:stretch>
        </p:blipFill>
        <p:spPr>
          <a:xfrm>
            <a:off x="2247766" y="1828800"/>
            <a:ext cx="766598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Origins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For distributing files and caching them at the edge</a:t>
            </a:r>
          </a:p>
          <a:p>
            <a:pPr>
              <a:spcAft>
                <a:spcPts val="1000"/>
              </a:spcAft>
            </a:pPr>
            <a:r>
              <a:rPr sz="1800" b="0">
                <a:solidFill>
                  <a:srgbClr val="161B26"/>
                </a:solidFill>
                <a:latin typeface="Arial"/>
              </a:rPr>
              <a:t>•  Enhanced security with CloudFront Origin Access Control (OAC)</a:t>
            </a:r>
          </a:p>
          <a:p>
            <a:pPr>
              <a:spcAft>
                <a:spcPts val="1000"/>
              </a:spcAft>
            </a:pPr>
            <a:r>
              <a:rPr sz="1800" b="0">
                <a:solidFill>
                  <a:srgbClr val="161B26"/>
                </a:solidFill>
                <a:latin typeface="Arial"/>
              </a:rPr>
              <a:t>•  OAC is replacing Origin Access Identity (OAI)</a:t>
            </a:r>
          </a:p>
          <a:p>
            <a:pPr>
              <a:spcAft>
                <a:spcPts val="1000"/>
              </a:spcAft>
            </a:pPr>
            <a:r>
              <a:rPr sz="1800" b="0">
                <a:solidFill>
                  <a:srgbClr val="161B26"/>
                </a:solidFill>
                <a:latin typeface="Arial"/>
              </a:rPr>
              <a:t>•  CloudFront can be used as an ingress (to upload files to S3)</a:t>
            </a:r>
          </a:p>
          <a:p>
            <a:pPr>
              <a:spcAft>
                <a:spcPts val="1000"/>
              </a:spcAft>
            </a:pPr>
            <a:r>
              <a:rPr sz="1800" b="0">
                <a:solidFill>
                  <a:srgbClr val="161B26"/>
                </a:solidFill>
                <a:latin typeface="Arial"/>
              </a:rPr>
              <a:t>•  Custom Origin (HTTP)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S3 website (must first enable the bucket as a static S3 website)</a:t>
            </a:r>
          </a:p>
          <a:p>
            <a:pPr>
              <a:spcAft>
                <a:spcPts val="1000"/>
              </a:spcAft>
            </a:pPr>
            <a:r>
              <a:rPr sz="1800" b="0">
                <a:solidFill>
                  <a:srgbClr val="161B26"/>
                </a:solidFill>
                <a:latin typeface="Arial"/>
              </a:rPr>
              <a:t>•  Any HTTP backend you want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at a high level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CloudFront Edge Location</a:t>
            </a:r>
          </a:p>
          <a:p>
            <a:pPr>
              <a:spcAft>
                <a:spcPts val="1000"/>
              </a:spcAft>
            </a:pPr>
            <a:r>
              <a:rPr sz="1800" b="0">
                <a:solidFill>
                  <a:srgbClr val="161B26"/>
                </a:solidFill>
                <a:latin typeface="Arial"/>
              </a:rPr>
              <a:t>•  Forward Request to your Origin</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or</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/beach.jpg?size=300x300 HTTP/1.1</a:t>
            </a:r>
          </a:p>
          <a:p>
            <a:pPr>
              <a:spcAft>
                <a:spcPts val="1000"/>
              </a:spcAft>
            </a:pPr>
            <a:r>
              <a:rPr sz="1800" b="0">
                <a:solidFill>
                  <a:srgbClr val="161B26"/>
                </a:solidFill>
                <a:latin typeface="Arial"/>
              </a:rPr>
              <a:t>•  User-Agent: Mozilla/4.0 (compatible; MSIE5.01; Windows NT) Host: www.example.com</a:t>
            </a:r>
          </a:p>
          <a:p>
            <a:pPr>
              <a:spcAft>
                <a:spcPts val="1000"/>
              </a:spcAft>
            </a:pPr>
            <a:r>
              <a:rPr sz="1800" b="0">
                <a:solidFill>
                  <a:srgbClr val="161B26"/>
                </a:solidFill>
                <a:latin typeface="Arial"/>
              </a:rPr>
              <a:t>•  Accept-Encoding: gzip, deflate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S3 as an Origin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Edge</a:t>
            </a:r>
          </a:p>
          <a:p>
            <a:pPr>
              <a:spcAft>
                <a:spcPts val="1000"/>
              </a:spcAft>
            </a:pPr>
            <a:r>
              <a:rPr sz="1800" b="0">
                <a:solidFill>
                  <a:srgbClr val="161B26"/>
                </a:solidFill>
                <a:latin typeface="Arial"/>
              </a:rPr>
              <a:t>•  Los Angeles</a:t>
            </a:r>
          </a:p>
          <a:p>
            <a:pPr>
              <a:spcAft>
                <a:spcPts val="1000"/>
              </a:spcAft>
            </a:pPr>
            <a:r>
              <a:rPr sz="1800" b="0">
                <a:solidFill>
                  <a:srgbClr val="161B26"/>
                </a:solidFill>
                <a:latin typeface="Arial"/>
              </a:rPr>
              <a:t>•  Edge Mumbai</a:t>
            </a:r>
          </a:p>
          <a:p>
            <a:pPr>
              <a:spcAft>
                <a:spcPts val="1000"/>
              </a:spcAft>
            </a:pPr>
            <a:r>
              <a:rPr sz="1800" b="0">
                <a:solidFill>
                  <a:srgbClr val="161B26"/>
                </a:solidFill>
                <a:latin typeface="Arial"/>
              </a:rPr>
              <a:t>•  Edge</a:t>
            </a:r>
          </a:p>
          <a:p>
            <a:pPr>
              <a:spcAft>
                <a:spcPts val="1000"/>
              </a:spcAft>
            </a:pPr>
            <a:r>
              <a:rPr sz="1800" b="0">
                <a:solidFill>
                  <a:srgbClr val="161B26"/>
                </a:solidFill>
                <a:latin typeface="Arial"/>
              </a:rPr>
              <a:t>•  Melbourne</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Edge</a:t>
            </a:r>
          </a:p>
          <a:p>
            <a:pPr>
              <a:spcAft>
                <a:spcPts val="1000"/>
              </a:spcAft>
            </a:pPr>
            <a:r>
              <a:rPr sz="1800" b="0">
                <a:solidFill>
                  <a:srgbClr val="161B26"/>
                </a:solidFill>
                <a:latin typeface="Arial"/>
              </a:rPr>
              <a:t>•  São Paulo</a:t>
            </a:r>
          </a:p>
          <a:p>
            <a:pPr>
              <a:spcAft>
                <a:spcPts val="1000"/>
              </a:spcAft>
            </a:pPr>
            <a:r>
              <a:rPr sz="1800" b="0">
                <a:solidFill>
                  <a:srgbClr val="161B26"/>
                </a:solidFill>
                <a:latin typeface="Arial"/>
              </a:rPr>
              <a:t>•  Origin Access Control</a:t>
            </a:r>
          </a:p>
          <a:p>
            <a:pPr>
              <a:spcAft>
                <a:spcPts val="1000"/>
              </a:spcAft>
            </a:pPr>
            <a:r>
              <a:rPr sz="1800" b="0">
                <a:solidFill>
                  <a:srgbClr val="161B26"/>
                </a:solidFill>
                <a:latin typeface="Arial"/>
              </a:rPr>
              <a:t>•  + S3 bucket policy</a:t>
            </a:r>
          </a:p>
          <a:p>
            <a:pPr>
              <a:spcAft>
                <a:spcPts val="1000"/>
              </a:spcAft>
            </a:pPr>
            <a:r>
              <a:rPr sz="1800" b="0">
                <a:solidFill>
                  <a:srgbClr val="161B26"/>
                </a:solidFill>
                <a:latin typeface="Arial"/>
              </a:rPr>
              <a:t>•  Origin (S3 bucket)</a:t>
            </a:r>
          </a:p>
          <a:p>
            <a:pPr>
              <a:spcAft>
                <a:spcPts val="1000"/>
              </a:spcAft>
            </a:pPr>
            <a:r>
              <a:rPr sz="1800" b="0">
                <a:solidFill>
                  <a:srgbClr val="161B26"/>
                </a:solidFill>
                <a:latin typeface="Arial"/>
              </a:rPr>
              <a:t>•  OAC</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AWS Cloud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vs S3 Cross Region Replication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Global Edge network</a:t>
            </a:r>
          </a:p>
          <a:p>
            <a:pPr>
              <a:spcAft>
                <a:spcPts val="1000"/>
              </a:spcAft>
            </a:pPr>
            <a:r>
              <a:rPr sz="1800" b="0">
                <a:solidFill>
                  <a:srgbClr val="161B26"/>
                </a:solidFill>
                <a:latin typeface="Arial"/>
              </a:rPr>
              <a:t>•  Files are cached for a TTL (maybe a day)</a:t>
            </a:r>
          </a:p>
          <a:p>
            <a:pPr>
              <a:spcAft>
                <a:spcPts val="1000"/>
              </a:spcAft>
            </a:pPr>
            <a:r>
              <a:rPr sz="1800" b="0">
                <a:solidFill>
                  <a:srgbClr val="161B26"/>
                </a:solidFill>
                <a:latin typeface="Arial"/>
              </a:rPr>
              <a:t>•  Great for static content that must be available everything</a:t>
            </a:r>
          </a:p>
          <a:p>
            <a:pPr>
              <a:spcAft>
                <a:spcPts val="1000"/>
              </a:spcAft>
            </a:pPr>
            <a:r>
              <a:rPr sz="1800" b="0">
                <a:solidFill>
                  <a:srgbClr val="161B26"/>
                </a:solidFill>
                <a:latin typeface="Arial"/>
              </a:rPr>
              <a:t>•  S3 Cross Region Replication:</a:t>
            </a:r>
          </a:p>
          <a:p>
            <a:pPr>
              <a:spcAft>
                <a:spcPts val="1000"/>
              </a:spcAft>
            </a:pPr>
            <a:r>
              <a:rPr sz="1800" b="0">
                <a:solidFill>
                  <a:srgbClr val="161B26"/>
                </a:solidFill>
                <a:latin typeface="Arial"/>
              </a:rPr>
              <a:t>•  Must be setup for each region you want replication to happen</a:t>
            </a:r>
          </a:p>
          <a:p>
            <a:pPr>
              <a:spcAft>
                <a:spcPts val="1000"/>
              </a:spcAft>
            </a:pPr>
            <a:r>
              <a:rPr sz="1800" b="0">
                <a:solidFill>
                  <a:srgbClr val="161B26"/>
                </a:solidFill>
                <a:latin typeface="Arial"/>
              </a:rPr>
              <a:t>•  Files are updated in near real-time</a:t>
            </a:r>
          </a:p>
          <a:p>
            <a:pPr>
              <a:spcAft>
                <a:spcPts val="1000"/>
              </a:spcAft>
            </a:pPr>
            <a:r>
              <a:rPr sz="1800" b="0">
                <a:solidFill>
                  <a:srgbClr val="161B26"/>
                </a:solidFill>
                <a:latin typeface="Arial"/>
              </a:rPr>
              <a:t>•  Read only</a:t>
            </a:r>
          </a:p>
          <a:p>
            <a:pPr>
              <a:spcAft>
                <a:spcPts val="1000"/>
              </a:spcAft>
            </a:pPr>
            <a:r>
              <a:rPr sz="1800" b="0">
                <a:solidFill>
                  <a:srgbClr val="161B26"/>
                </a:solidFill>
                <a:latin typeface="Arial"/>
              </a:rPr>
              <a:t>•  Great for dynamic content that needs to be available at low-latency in few regions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07732" y="1801368"/>
            <a:ext cx="934605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97_0.png"/>
          <p:cNvPicPr>
            <a:picLocks noChangeAspect="1"/>
          </p:cNvPicPr>
          <p:nvPr/>
        </p:nvPicPr>
        <p:blipFill>
          <a:blip r:embed="rId2"/>
          <a:stretch>
            <a:fillRect/>
          </a:stretch>
        </p:blipFill>
        <p:spPr>
          <a:xfrm>
            <a:off x="1435164" y="1828800"/>
            <a:ext cx="929119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Upload some images and index.html to a new S3 bucket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ALB or EC2 as an origin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http://d7uri8nf7uskq.cloudfront.net/tools/list-cloudfront-ips</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Public IPs</a:t>
            </a:r>
          </a:p>
          <a:p>
            <a:pPr>
              <a:spcAft>
                <a:spcPts val="1000"/>
              </a:spcAft>
            </a:pPr>
            <a:r>
              <a:rPr sz="1800" b="0">
                <a:solidFill>
                  <a:srgbClr val="161B26"/>
                </a:solidFill>
                <a:latin typeface="Arial"/>
              </a:rPr>
              <a:t>•  Allow Security Group of Load Balancer</a:t>
            </a:r>
          </a:p>
          <a:p>
            <a:pPr>
              <a:spcAft>
                <a:spcPts val="1000"/>
              </a:spcAft>
            </a:pPr>
            <a:r>
              <a:rPr sz="1800" b="0">
                <a:solidFill>
                  <a:srgbClr val="161B26"/>
                </a:solidFill>
                <a:latin typeface="Arial"/>
              </a:rPr>
              <a:t>•  Allow Public IP of Edge Locations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Can be Private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Must be Public</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Allow Public IP of Edge Locations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Must be Public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Geo Restriction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 can restrict who can access your distribution</a:t>
            </a:r>
          </a:p>
          <a:p>
            <a:pPr>
              <a:spcAft>
                <a:spcPts val="1000"/>
              </a:spcAft>
            </a:pPr>
            <a:r>
              <a:rPr sz="2000" b="0">
                <a:solidFill>
                  <a:srgbClr val="161B26"/>
                </a:solidFill>
                <a:latin typeface="Arial"/>
              </a:rPr>
              <a:t>•  Allowlist: Allow your users to access your content only if they're in one of the countries on a list of approved countries.</a:t>
            </a:r>
          </a:p>
          <a:p>
            <a:pPr>
              <a:spcAft>
                <a:spcPts val="1000"/>
              </a:spcAft>
            </a:pPr>
            <a:r>
              <a:rPr sz="2000" b="0">
                <a:solidFill>
                  <a:srgbClr val="161B26"/>
                </a:solidFill>
                <a:latin typeface="Arial"/>
              </a:rPr>
              <a:t>•  Blocklist: Prevent your users from accessing your content if they're in one of the countries on a list of banned countries.</a:t>
            </a:r>
          </a:p>
          <a:p>
            <a:pPr>
              <a:spcAft>
                <a:spcPts val="1000"/>
              </a:spcAft>
            </a:pPr>
            <a:r>
              <a:rPr sz="2000" b="0">
                <a:solidFill>
                  <a:srgbClr val="161B26"/>
                </a:solidFill>
                <a:latin typeface="Arial"/>
              </a:rPr>
              <a:t>•  The “country” is determined using a 3rd party Geo-IP database</a:t>
            </a:r>
          </a:p>
          <a:p>
            <a:pPr>
              <a:spcAft>
                <a:spcPts val="1000"/>
              </a:spcAft>
            </a:pPr>
            <a:r>
              <a:rPr sz="2000" b="0">
                <a:solidFill>
                  <a:srgbClr val="161B26"/>
                </a:solidFill>
                <a:latin typeface="Arial"/>
              </a:rPr>
              <a:t>•  Use case: Copyright Laws to control access to content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Access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Logs every request made to CloudFront into a logging S3 bucket</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Website A</a:t>
            </a:r>
          </a:p>
          <a:p>
            <a:pPr>
              <a:spcAft>
                <a:spcPts val="1000"/>
              </a:spcAft>
            </a:pPr>
            <a:r>
              <a:rPr sz="1800" b="0">
                <a:solidFill>
                  <a:srgbClr val="161B26"/>
                </a:solidFill>
                <a:latin typeface="Arial"/>
              </a:rPr>
              <a:t>•  http://d111111abcdef8.cloudfront.net</a:t>
            </a:r>
          </a:p>
          <a:p>
            <a:pPr>
              <a:spcAft>
                <a:spcPts val="1000"/>
              </a:spcAft>
            </a:pPr>
            <a:r>
              <a:rPr sz="1800" b="0">
                <a:solidFill>
                  <a:srgbClr val="161B26"/>
                </a:solidFill>
                <a:latin typeface="Arial"/>
              </a:rPr>
              <a:t>•  Website B</a:t>
            </a:r>
          </a:p>
          <a:p>
            <a:pPr>
              <a:spcAft>
                <a:spcPts val="1000"/>
              </a:spcAft>
            </a:pPr>
            <a:r>
              <a:rPr sz="1800" b="0">
                <a:solidFill>
                  <a:srgbClr val="161B26"/>
                </a:solidFill>
                <a:latin typeface="Arial"/>
              </a:rPr>
              <a:t>•  http://d222222abcdef8.cloudfront.net</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Origin Bucket</a:t>
            </a:r>
          </a:p>
          <a:p>
            <a:pPr>
              <a:spcAft>
                <a:spcPts val="1000"/>
              </a:spcAft>
            </a:pPr>
            <a:r>
              <a:rPr sz="1800" b="0">
                <a:solidFill>
                  <a:srgbClr val="161B26"/>
                </a:solidFill>
                <a:latin typeface="Arial"/>
              </a:rPr>
              <a:t>•  Logs Bucket</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Log File (Distribution A)</a:t>
            </a:r>
          </a:p>
          <a:p>
            <a:pPr>
              <a:spcAft>
                <a:spcPts val="1000"/>
              </a:spcAft>
            </a:pPr>
            <a:r>
              <a:rPr sz="1800" b="0">
                <a:solidFill>
                  <a:srgbClr val="161B26"/>
                </a:solidFill>
                <a:latin typeface="Arial"/>
              </a:rPr>
              <a:t>•  Log File (Distribution B)</a:t>
            </a:r>
          </a:p>
          <a:p>
            <a:pPr>
              <a:spcAft>
                <a:spcPts val="1000"/>
              </a:spcAft>
            </a:pPr>
            <a:r>
              <a:rPr sz="1800" b="0">
                <a:solidFill>
                  <a:srgbClr val="161B26"/>
                </a:solidFill>
                <a:latin typeface="Arial"/>
              </a:rPr>
              <a:t>•  data about requests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It’s possible to generate reports on:</a:t>
            </a:r>
          </a:p>
          <a:p>
            <a:pPr>
              <a:spcAft>
                <a:spcPts val="1000"/>
              </a:spcAft>
            </a:pPr>
            <a:r>
              <a:rPr sz="1800" b="0">
                <a:solidFill>
                  <a:srgbClr val="161B26"/>
                </a:solidFill>
                <a:latin typeface="Arial"/>
              </a:rPr>
              <a:t>•  Cache Statistics Report</a:t>
            </a:r>
          </a:p>
          <a:p>
            <a:pPr>
              <a:spcAft>
                <a:spcPts val="1000"/>
              </a:spcAft>
            </a:pPr>
            <a:r>
              <a:rPr sz="1800" b="0">
                <a:solidFill>
                  <a:srgbClr val="161B26"/>
                </a:solidFill>
                <a:latin typeface="Arial"/>
              </a:rPr>
              <a:t>•  Popular Objects Report</a:t>
            </a:r>
          </a:p>
          <a:p>
            <a:pPr>
              <a:spcAft>
                <a:spcPts val="1000"/>
              </a:spcAft>
            </a:pPr>
            <a:r>
              <a:rPr sz="1800" b="0">
                <a:solidFill>
                  <a:srgbClr val="161B26"/>
                </a:solidFill>
                <a:latin typeface="Arial"/>
              </a:rPr>
              <a:t>•  Top Referrers Report</a:t>
            </a:r>
          </a:p>
          <a:p>
            <a:pPr>
              <a:spcAft>
                <a:spcPts val="1000"/>
              </a:spcAft>
            </a:pPr>
            <a:r>
              <a:rPr sz="1800" b="0">
                <a:solidFill>
                  <a:srgbClr val="161B26"/>
                </a:solidFill>
                <a:latin typeface="Arial"/>
              </a:rPr>
              <a:t>•  Usage Reports</a:t>
            </a:r>
          </a:p>
          <a:p>
            <a:pPr>
              <a:spcAft>
                <a:spcPts val="1000"/>
              </a:spcAft>
            </a:pPr>
            <a:r>
              <a:rPr sz="1800" b="0">
                <a:solidFill>
                  <a:srgbClr val="161B26"/>
                </a:solidFill>
                <a:latin typeface="Arial"/>
              </a:rPr>
              <a:t>•  Viewers Report</a:t>
            </a:r>
          </a:p>
          <a:p>
            <a:pPr>
              <a:spcAft>
                <a:spcPts val="1000"/>
              </a:spcAft>
            </a:pPr>
            <a:r>
              <a:rPr sz="1800" b="0">
                <a:solidFill>
                  <a:srgbClr val="161B26"/>
                </a:solidFill>
                <a:latin typeface="Arial"/>
              </a:rPr>
              <a:t>•  These reports are based on the data from the Access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CloudFront caches HTTP 4xx and 5xx status codes returned by S3 ( or the origin server)</a:t>
            </a:r>
          </a:p>
          <a:p>
            <a:pPr>
              <a:spcAft>
                <a:spcPts val="1000"/>
              </a:spcAft>
            </a:pPr>
            <a:r>
              <a:rPr sz="2000" b="0">
                <a:solidFill>
                  <a:srgbClr val="161B26"/>
                </a:solidFill>
                <a:latin typeface="Arial"/>
              </a:rPr>
              <a:t>•  4xx error code indicates that user doesn’t have access to the underlying bucket (403) or the object user is requesting is not found (404)</a:t>
            </a:r>
          </a:p>
          <a:p>
            <a:pPr>
              <a:spcAft>
                <a:spcPts val="1000"/>
              </a:spcAft>
            </a:pPr>
            <a:r>
              <a:rPr sz="2000" b="0">
                <a:solidFill>
                  <a:srgbClr val="161B26"/>
                </a:solidFill>
                <a:latin typeface="Arial"/>
              </a:rPr>
              <a:t>•  5xx error codes indicates Gateway issues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Cache based on</a:t>
            </a:r>
          </a:p>
          <a:p>
            <a:pPr>
              <a:spcAft>
                <a:spcPts val="1000"/>
              </a:spcAft>
            </a:pPr>
            <a:r>
              <a:rPr sz="1800" b="0">
                <a:solidFill>
                  <a:srgbClr val="161B26"/>
                </a:solidFill>
                <a:latin typeface="Arial"/>
              </a:rPr>
              <a:t>•  Headers</a:t>
            </a:r>
          </a:p>
          <a:p>
            <a:pPr>
              <a:spcAft>
                <a:spcPts val="1000"/>
              </a:spcAft>
            </a:pPr>
            <a:r>
              <a:rPr sz="1800" b="0">
                <a:solidFill>
                  <a:srgbClr val="161B26"/>
                </a:solidFill>
                <a:latin typeface="Arial"/>
              </a:rPr>
              <a:t>•  Session Cookies</a:t>
            </a:r>
          </a:p>
          <a:p>
            <a:pPr>
              <a:spcAft>
                <a:spcPts val="1000"/>
              </a:spcAft>
            </a:pPr>
            <a:r>
              <a:rPr sz="1800" b="0">
                <a:solidFill>
                  <a:srgbClr val="161B26"/>
                </a:solidFill>
                <a:latin typeface="Arial"/>
              </a:rPr>
              <a:t>•  Query String Parameters</a:t>
            </a:r>
          </a:p>
          <a:p>
            <a:pPr>
              <a:spcAft>
                <a:spcPts val="1000"/>
              </a:spcAft>
            </a:pPr>
            <a:r>
              <a:rPr sz="1800" b="0">
                <a:solidFill>
                  <a:srgbClr val="161B26"/>
                </a:solidFill>
                <a:latin typeface="Arial"/>
              </a:rPr>
              <a:t>•  The cache lives at each CloudFront Edge Location</a:t>
            </a:r>
          </a:p>
          <a:p>
            <a:pPr>
              <a:spcAft>
                <a:spcPts val="1000"/>
              </a:spcAft>
            </a:pPr>
            <a:r>
              <a:rPr sz="1800" b="0">
                <a:solidFill>
                  <a:srgbClr val="161B26"/>
                </a:solidFill>
                <a:latin typeface="Arial"/>
              </a:rPr>
              <a:t>•  You want to maximize the cache hit rate to minimize requests on the origin</a:t>
            </a:r>
          </a:p>
          <a:p>
            <a:pPr>
              <a:spcAft>
                <a:spcPts val="1000"/>
              </a:spcAft>
            </a:pPr>
            <a:r>
              <a:rPr sz="1800" b="0">
                <a:solidFill>
                  <a:srgbClr val="161B26"/>
                </a:solidFill>
                <a:latin typeface="Arial"/>
              </a:rPr>
              <a:t>•  Control the TTL (0 seconds to 1 year), can</a:t>
            </a:r>
          </a:p>
          <a:p>
            <a:pPr>
              <a:spcAft>
                <a:spcPts val="1000"/>
              </a:spcAft>
            </a:pPr>
            <a:r>
              <a:rPr sz="1800" b="0">
                <a:solidFill>
                  <a:srgbClr val="161B26"/>
                </a:solidFill>
                <a:latin typeface="Arial"/>
              </a:rPr>
              <a:t>•  be set by the origin using the Cache- Control header, Expires header…</a:t>
            </a:r>
          </a:p>
          <a:p>
            <a:pPr>
              <a:spcAft>
                <a:spcPts val="1000"/>
              </a:spcAft>
            </a:pPr>
            <a:r>
              <a:rPr sz="1800" b="0">
                <a:solidFill>
                  <a:srgbClr val="161B26"/>
                </a:solidFill>
                <a:latin typeface="Arial"/>
              </a:rPr>
              <a:t>•  You can invalidate part of the cache using the CreateInvalidation API</a:t>
            </a:r>
          </a:p>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forwards</a:t>
            </a:r>
          </a:p>
          <a:p>
            <a:pPr>
              <a:spcAft>
                <a:spcPts val="1000"/>
              </a:spcAft>
            </a:pPr>
            <a:r>
              <a:rPr sz="1800" b="0">
                <a:solidFill>
                  <a:srgbClr val="161B26"/>
                </a:solidFill>
                <a:latin typeface="Arial"/>
              </a:rPr>
              <a:t>•  Expire based on TTL</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Check / Update cache Based on Headers / Cookies</a:t>
            </a:r>
          </a:p>
          <a:p>
            <a:pPr>
              <a:spcAft>
                <a:spcPts val="1000"/>
              </a:spcAft>
            </a:pPr>
            <a:r>
              <a:rPr sz="1800" b="0">
                <a:solidFill>
                  <a:srgbClr val="161B26"/>
                </a:solidFill>
                <a:latin typeface="Arial"/>
              </a:rPr>
              <a:t>•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Cache Behaviour for Headers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Forward all headers to your origin</a:t>
            </a:r>
          </a:p>
          <a:p>
            <a:pPr>
              <a:spcAft>
                <a:spcPts val="1000"/>
              </a:spcAft>
            </a:pPr>
            <a:r>
              <a:rPr sz="1800" b="0">
                <a:solidFill>
                  <a:srgbClr val="161B26"/>
                </a:solidFill>
                <a:latin typeface="Arial"/>
              </a:rPr>
              <a:t>•  =&gt; no caching, every request to origin</a:t>
            </a:r>
          </a:p>
          <a:p>
            <a:pPr>
              <a:spcAft>
                <a:spcPts val="1000"/>
              </a:spcAft>
            </a:pPr>
            <a:r>
              <a:rPr sz="1800" b="0">
                <a:solidFill>
                  <a:srgbClr val="161B26"/>
                </a:solidFill>
                <a:latin typeface="Arial"/>
              </a:rPr>
              <a:t>•  =&gt; TTL must be set to 0</a:t>
            </a:r>
          </a:p>
          <a:p>
            <a:pPr>
              <a:spcAft>
                <a:spcPts val="1000"/>
              </a:spcAft>
            </a:pPr>
            <a:r>
              <a:rPr sz="1800" b="0">
                <a:solidFill>
                  <a:srgbClr val="161B26"/>
                </a:solidFill>
                <a:latin typeface="Arial"/>
              </a:rPr>
              <a:t>•  Forward a whitelist of headers</a:t>
            </a:r>
          </a:p>
          <a:p>
            <a:pPr>
              <a:spcAft>
                <a:spcPts val="1000"/>
              </a:spcAft>
            </a:pPr>
            <a:r>
              <a:rPr sz="1800" b="0">
                <a:solidFill>
                  <a:srgbClr val="161B26"/>
                </a:solidFill>
                <a:latin typeface="Arial"/>
              </a:rPr>
              <a:t>•  caching based on values in all the specified headers</a:t>
            </a:r>
          </a:p>
          <a:p>
            <a:pPr>
              <a:spcAft>
                <a:spcPts val="1000"/>
              </a:spcAft>
            </a:pPr>
            <a:r>
              <a:rPr sz="1800" b="0">
                <a:solidFill>
                  <a:srgbClr val="161B26"/>
                </a:solidFill>
                <a:latin typeface="Arial"/>
              </a:rPr>
              <a:t>•  (None) == Forward only the default headers</a:t>
            </a:r>
          </a:p>
          <a:p>
            <a:pPr>
              <a:spcAft>
                <a:spcPts val="1000"/>
              </a:spcAft>
            </a:pPr>
            <a:r>
              <a:rPr sz="1800" b="0">
                <a:solidFill>
                  <a:srgbClr val="161B26"/>
                </a:solidFill>
                <a:latin typeface="Arial"/>
              </a:rPr>
              <a:t>•  no caching based on request headers</a:t>
            </a:r>
          </a:p>
          <a:p>
            <a:pPr>
              <a:spcAft>
                <a:spcPts val="1000"/>
              </a:spcAft>
            </a:pPr>
            <a:r>
              <a:rPr sz="1800" b="0">
                <a:solidFill>
                  <a:srgbClr val="161B26"/>
                </a:solidFill>
                <a:latin typeface="Arial"/>
              </a:rPr>
              <a:t>•  Best caching performance</a:t>
            </a:r>
          </a:p>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Host: pics.mywebsite.com</a:t>
            </a:r>
          </a:p>
          <a:p>
            <a:pPr>
              <a:spcAft>
                <a:spcPts val="1000"/>
              </a:spcAft>
            </a:pPr>
            <a:r>
              <a:rPr sz="1800" b="0">
                <a:solidFill>
                  <a:srgbClr val="161B26"/>
                </a:solidFill>
                <a:latin typeface="Arial"/>
              </a:rPr>
              <a:t>•  User-Agent: Mozilla/5.0 (Mac OS X 10_15_2….) Date: Tue, 28 Jan 2020 17:01:57 GMT</a:t>
            </a:r>
          </a:p>
          <a:p>
            <a:pPr>
              <a:spcAft>
                <a:spcPts val="1000"/>
              </a:spcAft>
            </a:pPr>
            <a:r>
              <a:rPr sz="1800" b="0">
                <a:solidFill>
                  <a:srgbClr val="161B26"/>
                </a:solidFill>
                <a:latin typeface="Arial"/>
              </a:rPr>
              <a:t>•  Authorization: SAPISIDHASH fdd00ecee39fe….</a:t>
            </a:r>
          </a:p>
          <a:p>
            <a:pPr>
              <a:spcAft>
                <a:spcPts val="1000"/>
              </a:spcAft>
            </a:pPr>
            <a:r>
              <a:rPr sz="1800" b="0">
                <a:solidFill>
                  <a:srgbClr val="161B26"/>
                </a:solidFill>
                <a:latin typeface="Arial"/>
              </a:rPr>
              <a:t>•  Keep-Alive: 300 Accept-Ranges: bytes;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 – Whitelist	Headers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Host: pics.mywebsite.com</a:t>
            </a:r>
          </a:p>
          <a:p>
            <a:pPr>
              <a:spcAft>
                <a:spcPts val="1000"/>
              </a:spcAft>
            </a:pPr>
            <a:r>
              <a:rPr sz="1800" b="0">
                <a:solidFill>
                  <a:srgbClr val="161B26"/>
                </a:solidFill>
                <a:latin typeface="Arial"/>
              </a:rPr>
              <a:t>•  User-Agent: Mozilla/5.0 (Mac OS X 10_15_2….) Date: Tue, 28 Jan 2020 17:01:57 GMT</a:t>
            </a:r>
          </a:p>
          <a:p>
            <a:pPr>
              <a:spcAft>
                <a:spcPts val="1000"/>
              </a:spcAft>
            </a:pPr>
            <a:r>
              <a:rPr sz="1800" b="0">
                <a:solidFill>
                  <a:srgbClr val="161B26"/>
                </a:solidFill>
                <a:latin typeface="Arial"/>
              </a:rPr>
              <a:t>•  Authorization: SAPISIDHASH fdd00ecee39fe….</a:t>
            </a:r>
          </a:p>
          <a:p>
            <a:pPr>
              <a:spcAft>
                <a:spcPts val="1000"/>
              </a:spcAft>
            </a:pPr>
            <a:r>
              <a:rPr sz="1800" b="0">
                <a:solidFill>
                  <a:srgbClr val="161B26"/>
                </a:solidFill>
                <a:latin typeface="Arial"/>
              </a:rPr>
              <a:t>•  Keep-Alive: 300 Accept-Ranges: bytes</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Host: pics.mywebsite.com</a:t>
            </a:r>
          </a:p>
          <a:p>
            <a:pPr>
              <a:spcAft>
                <a:spcPts val="1000"/>
              </a:spcAft>
            </a:pPr>
            <a:r>
              <a:rPr sz="1800" b="0">
                <a:solidFill>
                  <a:srgbClr val="161B26"/>
                </a:solidFill>
                <a:latin typeface="Arial"/>
              </a:rPr>
              <a:t>•  Authorization: SAPISIDHASH fdd00ecee39fe….</a:t>
            </a:r>
          </a:p>
          <a:p>
            <a:pPr>
              <a:spcAft>
                <a:spcPts val="1000"/>
              </a:spcAft>
            </a:pPr>
            <a:r>
              <a:rPr sz="1800" b="0">
                <a:solidFill>
                  <a:srgbClr val="161B26"/>
                </a:solidFill>
                <a:latin typeface="Arial"/>
              </a:rPr>
              <a:t>•  whitelisting</a:t>
            </a:r>
          </a:p>
          <a:p>
            <a:pPr>
              <a:spcAft>
                <a:spcPts val="1000"/>
              </a:spcAft>
            </a:pPr>
            <a:r>
              <a:rPr sz="1800" b="0">
                <a:solidFill>
                  <a:srgbClr val="161B26"/>
                </a:solidFill>
                <a:latin typeface="Arial"/>
              </a:rPr>
              <a:t>•  Cache based on Host &amp; Authorization</a:t>
            </a:r>
          </a:p>
          <a:p>
            <a:pPr>
              <a:spcAft>
                <a:spcPts val="1000"/>
              </a:spcAft>
            </a:pPr>
            <a:r>
              <a:rPr sz="1800" b="0">
                <a:solidFill>
                  <a:srgbClr val="161B26"/>
                </a:solidFill>
                <a:latin typeface="Arial"/>
              </a:rPr>
              <a:t>•  Better caching because less headers values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CloudFront Origin Headers vs Cache Behavior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Origin Custom Headers: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Origin-level setting</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Set a constant header / header value for all requests to origin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Behavior setting:</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Cache-related settings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Contains the whitelist of headers to forward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 TTL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“Cache-Control: max-age” is preferred to “Expires” header</a:t>
            </a:r>
          </a:p>
          <a:p>
            <a:pPr>
              <a:spcAft>
                <a:spcPts val="1000"/>
              </a:spcAft>
            </a:pPr>
            <a:r>
              <a:rPr sz="1800" b="0">
                <a:solidFill>
                  <a:srgbClr val="161B26"/>
                </a:solidFill>
                <a:latin typeface="Arial"/>
              </a:rPr>
              <a:t>•  If the origin always sends back the header Cache-Control then you can set the TTL to be controlled only by that header</a:t>
            </a:r>
          </a:p>
          <a:p>
            <a:pPr>
              <a:spcAft>
                <a:spcPts val="1000"/>
              </a:spcAft>
            </a:pPr>
            <a:r>
              <a:rPr sz="1800" b="0">
                <a:solidFill>
                  <a:srgbClr val="161B26"/>
                </a:solidFill>
                <a:latin typeface="Arial"/>
              </a:rPr>
              <a:t>•  In case you want to set min/max boundaries, you choose “customize” for the Object Caching setting</a:t>
            </a:r>
          </a:p>
          <a:p>
            <a:pPr>
              <a:spcAft>
                <a:spcPts val="1000"/>
              </a:spcAft>
            </a:pPr>
            <a:r>
              <a:rPr sz="1800" b="0">
                <a:solidFill>
                  <a:srgbClr val="161B26"/>
                </a:solidFill>
                <a:latin typeface="Arial"/>
              </a:rPr>
              <a:t>•  In case the Cache-Control header is missing, it will default to “default value”</a:t>
            </a:r>
          </a:p>
          <a:p>
            <a:pPr>
              <a:spcAft>
                <a:spcPts val="1000"/>
              </a:spcAft>
            </a:pPr>
            <a:r>
              <a:rPr sz="1800" b="0">
                <a:solidFill>
                  <a:srgbClr val="161B26"/>
                </a:solidFill>
                <a:latin typeface="Arial"/>
              </a:rPr>
              <a:t>•  Min. TTL</a:t>
            </a:r>
          </a:p>
          <a:p>
            <a:pPr>
              <a:spcAft>
                <a:spcPts val="1000"/>
              </a:spcAft>
            </a:pPr>
            <a:r>
              <a:rPr sz="1800" b="0">
                <a:solidFill>
                  <a:srgbClr val="161B26"/>
                </a:solidFill>
                <a:latin typeface="Arial"/>
              </a:rPr>
              <a:t>•  Max. TTL</a:t>
            </a:r>
          </a:p>
          <a:p>
            <a:pPr>
              <a:spcAft>
                <a:spcPts val="1000"/>
              </a:spcAft>
            </a:pPr>
            <a:r>
              <a:rPr sz="1800" b="0">
                <a:solidFill>
                  <a:srgbClr val="161B26"/>
                </a:solidFill>
                <a:latin typeface="Arial"/>
              </a:rPr>
              <a:t>•  Default TTL</a:t>
            </a:r>
          </a:p>
          <a:p>
            <a:pPr>
              <a:spcAft>
                <a:spcPts val="1000"/>
              </a:spcAft>
            </a:pPr>
            <a:r>
              <a:rPr sz="1800" b="0">
                <a:solidFill>
                  <a:srgbClr val="161B26"/>
                </a:solidFill>
                <a:latin typeface="Arial"/>
              </a:rPr>
              <a:t>•  Cache-Control (optional)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Cache Behaviour for Cookies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Cookies is a specific request header</a:t>
            </a:r>
          </a:p>
          <a:p>
            <a:pPr>
              <a:spcAft>
                <a:spcPts val="1000"/>
              </a:spcAft>
            </a:pPr>
            <a:r>
              <a:rPr sz="1800" b="0">
                <a:solidFill>
                  <a:srgbClr val="161B26"/>
                </a:solidFill>
                <a:latin typeface="Arial"/>
              </a:rPr>
              <a:t>•  Default: do not process the cookies</a:t>
            </a:r>
          </a:p>
          <a:p>
            <a:pPr>
              <a:spcAft>
                <a:spcPts val="1000"/>
              </a:spcAft>
            </a:pPr>
            <a:r>
              <a:rPr sz="1800" b="0">
                <a:solidFill>
                  <a:srgbClr val="161B26"/>
                </a:solidFill>
                <a:latin typeface="Arial"/>
              </a:rPr>
              <a:t>•  Caching is not based on cookies</a:t>
            </a:r>
          </a:p>
          <a:p>
            <a:pPr>
              <a:spcAft>
                <a:spcPts val="1000"/>
              </a:spcAft>
            </a:pPr>
            <a:r>
              <a:rPr sz="1800" b="0">
                <a:solidFill>
                  <a:srgbClr val="161B26"/>
                </a:solidFill>
                <a:latin typeface="Arial"/>
              </a:rPr>
              <a:t>•  Cookies are not forwarded</a:t>
            </a:r>
          </a:p>
          <a:p>
            <a:pPr>
              <a:spcAft>
                <a:spcPts val="1000"/>
              </a:spcAft>
            </a:pPr>
            <a:r>
              <a:rPr sz="1800" b="0">
                <a:solidFill>
                  <a:srgbClr val="161B26"/>
                </a:solidFill>
                <a:latin typeface="Arial"/>
              </a:rPr>
              <a:t>•  Forward a whitelist of cookies</a:t>
            </a:r>
          </a:p>
          <a:p>
            <a:pPr>
              <a:spcAft>
                <a:spcPts val="1000"/>
              </a:spcAft>
            </a:pPr>
            <a:r>
              <a:rPr sz="1800" b="0">
                <a:solidFill>
                  <a:srgbClr val="161B26"/>
                </a:solidFill>
                <a:latin typeface="Arial"/>
              </a:rPr>
              <a:t>•  caching based on values in all the specified cookies</a:t>
            </a:r>
          </a:p>
          <a:p>
            <a:pPr>
              <a:spcAft>
                <a:spcPts val="1000"/>
              </a:spcAft>
            </a:pPr>
            <a:r>
              <a:rPr sz="1800" b="0">
                <a:solidFill>
                  <a:srgbClr val="161B26"/>
                </a:solidFill>
                <a:latin typeface="Arial"/>
              </a:rPr>
              <a:t>•  Forward all cookies</a:t>
            </a:r>
          </a:p>
          <a:p>
            <a:pPr>
              <a:spcAft>
                <a:spcPts val="1000"/>
              </a:spcAft>
            </a:pPr>
            <a:r>
              <a:rPr sz="1800" b="0">
                <a:solidFill>
                  <a:srgbClr val="161B26"/>
                </a:solidFill>
                <a:latin typeface="Arial"/>
              </a:rPr>
              <a:t>•  Worst caching performance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username=John Doe; location=uk; lang = eng; user_id = 12342</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 - Cookies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username=John Doe; location=uk; lang = eng; user_id = 12342</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user_id = 12342</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Whitelisting on user_id</a:t>
            </a:r>
          </a:p>
          <a:p>
            <a:pPr>
              <a:spcAft>
                <a:spcPts val="1000"/>
              </a:spcAft>
            </a:pPr>
            <a:r>
              <a:rPr sz="1800" b="0">
                <a:solidFill>
                  <a:srgbClr val="161B26"/>
                </a:solidFill>
                <a:latin typeface="Arial"/>
              </a:rPr>
              <a:t>•  Cache based on yser_id</a:t>
            </a:r>
          </a:p>
          <a:p>
            <a:pPr>
              <a:spcAft>
                <a:spcPts val="1000"/>
              </a:spcAft>
            </a:pPr>
            <a:r>
              <a:rPr sz="1800" b="0">
                <a:solidFill>
                  <a:srgbClr val="161B26"/>
                </a:solidFill>
                <a:latin typeface="Arial"/>
              </a:rPr>
              <a:t>•  Better caching because less cookies values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CloudFront Cache Behaviour for Query Strings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Query Strings Parameters are in the URL</a:t>
            </a:r>
          </a:p>
          <a:p>
            <a:pPr>
              <a:spcAft>
                <a:spcPts val="1000"/>
              </a:spcAft>
            </a:pPr>
            <a:r>
              <a:rPr sz="1800" b="0">
                <a:solidFill>
                  <a:srgbClr val="161B26"/>
                </a:solidFill>
                <a:latin typeface="Arial"/>
              </a:rPr>
              <a:t>•  Default: do not process the query strings</a:t>
            </a:r>
          </a:p>
          <a:p>
            <a:pPr>
              <a:spcAft>
                <a:spcPts val="1000"/>
              </a:spcAft>
            </a:pPr>
            <a:r>
              <a:rPr sz="1800" b="0">
                <a:solidFill>
                  <a:srgbClr val="161B26"/>
                </a:solidFill>
                <a:latin typeface="Arial"/>
              </a:rPr>
              <a:t>•  Caching is not based on query strings</a:t>
            </a:r>
          </a:p>
          <a:p>
            <a:pPr>
              <a:spcAft>
                <a:spcPts val="1000"/>
              </a:spcAft>
            </a:pPr>
            <a:r>
              <a:rPr sz="1800" b="0">
                <a:solidFill>
                  <a:srgbClr val="161B26"/>
                </a:solidFill>
                <a:latin typeface="Arial"/>
              </a:rPr>
              <a:t>•  Parameters are not forwarded</a:t>
            </a:r>
          </a:p>
          <a:p>
            <a:pPr>
              <a:spcAft>
                <a:spcPts val="1000"/>
              </a:spcAft>
            </a:pPr>
            <a:r>
              <a:rPr sz="1800" b="0">
                <a:solidFill>
                  <a:srgbClr val="161B26"/>
                </a:solidFill>
                <a:latin typeface="Arial"/>
              </a:rPr>
              <a:t>•  Forward a whitelist of query strings</a:t>
            </a:r>
          </a:p>
          <a:p>
            <a:pPr>
              <a:spcAft>
                <a:spcPts val="1000"/>
              </a:spcAft>
            </a:pPr>
            <a:r>
              <a:rPr sz="1800" b="0">
                <a:solidFill>
                  <a:srgbClr val="161B26"/>
                </a:solidFill>
                <a:latin typeface="Arial"/>
              </a:rPr>
              <a:t>•  Caching based on the parameter whitelist</a:t>
            </a:r>
          </a:p>
          <a:p>
            <a:pPr>
              <a:spcAft>
                <a:spcPts val="1000"/>
              </a:spcAft>
            </a:pPr>
            <a:r>
              <a:rPr sz="1800" b="0">
                <a:solidFill>
                  <a:srgbClr val="161B26"/>
                </a:solidFill>
                <a:latin typeface="Arial"/>
              </a:rPr>
              <a:t>•  Forward all query strings</a:t>
            </a:r>
          </a:p>
          <a:p>
            <a:pPr>
              <a:spcAft>
                <a:spcPts val="1000"/>
              </a:spcAft>
            </a:pPr>
            <a:r>
              <a:rPr sz="1800" b="0">
                <a:solidFill>
                  <a:srgbClr val="161B26"/>
                </a:solidFill>
                <a:latin typeface="Arial"/>
              </a:rPr>
              <a:t>•  Caching based on all parameters</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/image/cat.jpg?border=red&amp;size=large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CloudFront Caching - Query String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/image/cat.jpg?border=red&amp;size=large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GET /image/cat.jpg?size=large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Whitelisting on size</a:t>
            </a:r>
          </a:p>
          <a:p>
            <a:pPr>
              <a:spcAft>
                <a:spcPts val="1000"/>
              </a:spcAft>
            </a:pPr>
            <a:r>
              <a:rPr sz="1800" b="0">
                <a:solidFill>
                  <a:srgbClr val="161B26"/>
                </a:solidFill>
                <a:latin typeface="Arial"/>
              </a:rPr>
              <a:t>•  Cache based on size</a:t>
            </a:r>
          </a:p>
          <a:p>
            <a:pPr>
              <a:spcAft>
                <a:spcPts val="1000"/>
              </a:spcAft>
            </a:pPr>
            <a:r>
              <a:rPr sz="1800" b="0">
                <a:solidFill>
                  <a:srgbClr val="161B26"/>
                </a:solidFill>
                <a:latin typeface="Arial"/>
              </a:rPr>
              <a:t>•  Better caching because less query string values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CloudFront - Maximize cache hits by separating static and dynamic distributions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Dynamic Content (REST, HTTP server):</a:t>
            </a:r>
          </a:p>
          <a:p>
            <a:pPr>
              <a:spcAft>
                <a:spcPts val="1000"/>
              </a:spcAft>
            </a:pPr>
            <a:r>
              <a:rPr sz="1800" b="0">
                <a:solidFill>
                  <a:srgbClr val="161B26"/>
                </a:solidFill>
                <a:latin typeface="Arial"/>
              </a:rPr>
              <a:t>•  ALB + EC2</a:t>
            </a:r>
          </a:p>
          <a:p>
            <a:pPr>
              <a:spcAft>
                <a:spcPts val="1000"/>
              </a:spcAft>
            </a:pPr>
            <a:r>
              <a:rPr sz="1800" b="0">
                <a:solidFill>
                  <a:srgbClr val="161B26"/>
                </a:solidFill>
                <a:latin typeface="Arial"/>
              </a:rPr>
              <a:t>•  API Gateway + Lambda</a:t>
            </a:r>
          </a:p>
          <a:p>
            <a:pPr>
              <a:spcAft>
                <a:spcPts val="1000"/>
              </a:spcAft>
            </a:pPr>
            <a:r>
              <a:rPr sz="1800" b="0">
                <a:solidFill>
                  <a:srgbClr val="161B26"/>
                </a:solidFill>
                <a:latin typeface="Arial"/>
              </a:rPr>
              <a:t>•  CDN Layer</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Dynamic</a:t>
            </a:r>
          </a:p>
          <a:p>
            <a:pPr>
              <a:spcAft>
                <a:spcPts val="1000"/>
              </a:spcAft>
            </a:pPr>
            <a:r>
              <a:rPr sz="1800" b="0">
                <a:solidFill>
                  <a:srgbClr val="161B26"/>
                </a:solidFill>
                <a:latin typeface="Arial"/>
              </a:rPr>
              <a:t>•  Static requests</a:t>
            </a:r>
          </a:p>
          <a:p>
            <a:pPr>
              <a:spcAft>
                <a:spcPts val="1000"/>
              </a:spcAft>
            </a:pPr>
            <a:r>
              <a:rPr sz="1800" b="0">
                <a:solidFill>
                  <a:srgbClr val="161B26"/>
                </a:solidFill>
                <a:latin typeface="Arial"/>
              </a:rPr>
              <a:t>•  Static content</a:t>
            </a:r>
          </a:p>
          <a:p>
            <a:pPr>
              <a:spcAft>
                <a:spcPts val="1000"/>
              </a:spcAft>
            </a:pPr>
            <a:r>
              <a:rPr sz="1800" b="0">
                <a:solidFill>
                  <a:srgbClr val="161B26"/>
                </a:solidFill>
                <a:latin typeface="Arial"/>
              </a:rPr>
              <a:t>•  Cache based on correct headers and cookie</a:t>
            </a:r>
          </a:p>
          <a:p>
            <a:pPr>
              <a:spcAft>
                <a:spcPts val="1000"/>
              </a:spcAft>
            </a:pPr>
            <a:r>
              <a:rPr sz="1800" b="0">
                <a:solidFill>
                  <a:srgbClr val="161B26"/>
                </a:solidFill>
                <a:latin typeface="Arial"/>
              </a:rPr>
              <a:t>•  No headers / session caching rules Required for maximizing cache hits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Increasing Cache Ratio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Monitor the CloudWatch metric CacheHitRate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how long to cache your objects: Cache-Control max-age header</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none or the minimally required headers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none or the minimally required cookies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none or the minimally required query string parameters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Separate static and dynamic distributions (two origins)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with ALB sticky sessions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Must forward / whitelist the cookie that controls the session affinity to the origin to allow the session affinity to work</a:t>
            </a:r>
          </a:p>
          <a:p>
            <a:pPr>
              <a:spcAft>
                <a:spcPts val="1000"/>
              </a:spcAft>
            </a:pPr>
            <a:r>
              <a:rPr sz="1800" b="0">
                <a:solidFill>
                  <a:srgbClr val="161B26"/>
                </a:solidFill>
                <a:latin typeface="Arial"/>
              </a:rPr>
              <a:t>•  Set a TTL to a value lesser than when the authentication cookie expires</a:t>
            </a:r>
          </a:p>
          <a:p>
            <a:pPr>
              <a:spcAft>
                <a:spcPts val="1000"/>
              </a:spcAft>
            </a:pPr>
            <a:r>
              <a:rPr sz="1800" b="0">
                <a:solidFill>
                  <a:srgbClr val="161B26"/>
                </a:solidFill>
                <a:latin typeface="Arial"/>
              </a:rPr>
              <a:t>•  requests</a:t>
            </a:r>
          </a:p>
          <a:p>
            <a:pPr>
              <a:spcAft>
                <a:spcPts val="1000"/>
              </a:spcAft>
            </a:pPr>
            <a:r>
              <a:rPr sz="1800" b="0">
                <a:solidFill>
                  <a:srgbClr val="161B26"/>
                </a:solidFill>
                <a:latin typeface="Arial"/>
              </a:rPr>
              <a:t>•  forward cookies</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GET /orders/all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AWSALB=…</a:t>
            </a:r>
          </a:p>
          <a:p>
            <a:pPr>
              <a:spcAft>
                <a:spcPts val="1000"/>
              </a:spcAft>
            </a:pPr>
            <a:r>
              <a:rPr sz="1800" b="0">
                <a:solidFill>
                  <a:srgbClr val="161B26"/>
                </a:solidFill>
                <a:latin typeface="Arial"/>
              </a:rPr>
              <a:t>•  Whitelisting on</a:t>
            </a:r>
          </a:p>
          <a:p>
            <a:pPr>
              <a:spcAft>
                <a:spcPts val="1000"/>
              </a:spcAft>
            </a:pPr>
            <a:r>
              <a:rPr sz="1800" b="0">
                <a:solidFill>
                  <a:srgbClr val="161B26"/>
                </a:solidFill>
                <a:latin typeface="Arial"/>
              </a:rPr>
              <a:t>•  AWSALB cookie</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GET /orders/all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AWSALB=…</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AWSALB</a:t>
            </a:r>
          </a:p>
          <a:p>
            <a:pPr>
              <a:spcAft>
                <a:spcPts val="1000"/>
              </a:spcAft>
            </a:pPr>
            <a:r>
              <a:rPr sz="1800" b="0">
                <a:solidFill>
                  <a:srgbClr val="161B26"/>
                </a:solidFill>
                <a:latin typeface="Arial"/>
              </a:rPr>
              <a:t>•  AWSALB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Database For SysOps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RDS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stands for Relational Database Service</a:t>
            </a:r>
          </a:p>
          <a:p>
            <a:pPr>
              <a:spcAft>
                <a:spcPts val="1000"/>
              </a:spcAft>
            </a:pPr>
            <a:r>
              <a:rPr sz="1800" b="0">
                <a:solidFill>
                  <a:srgbClr val="161B26"/>
                </a:solidFill>
                <a:latin typeface="Arial"/>
              </a:rPr>
              <a:t>•  It’s a managed DB service for DB use SQL as a query language.</a:t>
            </a:r>
          </a:p>
          <a:p>
            <a:pPr>
              <a:spcAft>
                <a:spcPts val="1000"/>
              </a:spcAft>
            </a:pPr>
            <a:r>
              <a:rPr sz="1800" b="0">
                <a:solidFill>
                  <a:srgbClr val="161B26"/>
                </a:solidFill>
                <a:latin typeface="Arial"/>
              </a:rPr>
              <a:t>•  It allows you to create databases in the cloud that are managed by AWS</a:t>
            </a:r>
          </a:p>
          <a:p>
            <a:pPr>
              <a:spcAft>
                <a:spcPts val="1000"/>
              </a:spcAft>
            </a:pPr>
            <a:r>
              <a:rPr sz="1800" b="0">
                <a:solidFill>
                  <a:srgbClr val="161B26"/>
                </a:solidFill>
                <a:latin typeface="Arial"/>
              </a:rPr>
              <a:t>•  Postgres</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MariaDB</a:t>
            </a:r>
          </a:p>
          <a:p>
            <a:pPr>
              <a:spcAft>
                <a:spcPts val="1000"/>
              </a:spcAft>
            </a:pPr>
            <a:r>
              <a:rPr sz="1800" b="0">
                <a:solidFill>
                  <a:srgbClr val="161B26"/>
                </a:solidFill>
                <a:latin typeface="Arial"/>
              </a:rPr>
              <a:t>•  Oracle</a:t>
            </a:r>
          </a:p>
          <a:p>
            <a:pPr>
              <a:spcAft>
                <a:spcPts val="1000"/>
              </a:spcAft>
            </a:pPr>
            <a:r>
              <a:rPr sz="1800" b="0">
                <a:solidFill>
                  <a:srgbClr val="161B26"/>
                </a:solidFill>
                <a:latin typeface="Arial"/>
              </a:rPr>
              <a:t>•  Microsoft SQL Server</a:t>
            </a:r>
          </a:p>
          <a:p>
            <a:pPr>
              <a:spcAft>
                <a:spcPts val="1000"/>
              </a:spcAft>
            </a:pPr>
            <a:r>
              <a:rPr sz="1800" b="0">
                <a:solidFill>
                  <a:srgbClr val="161B26"/>
                </a:solidFill>
                <a:latin typeface="Arial"/>
              </a:rPr>
              <a:t>•  IBM DB2</a:t>
            </a:r>
          </a:p>
          <a:p>
            <a:pPr>
              <a:spcAft>
                <a:spcPts val="1000"/>
              </a:spcAft>
            </a:pPr>
            <a:r>
              <a:rPr sz="1800" b="0">
                <a:solidFill>
                  <a:srgbClr val="161B26"/>
                </a:solidFill>
                <a:latin typeface="Arial"/>
              </a:rPr>
              <a:t>•  Aurora (AWS Proprietary database)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RDS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19894" y="1801368"/>
            <a:ext cx="992173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17_0.png"/>
          <p:cNvPicPr>
            <a:picLocks noChangeAspect="1"/>
          </p:cNvPicPr>
          <p:nvPr/>
        </p:nvPicPr>
        <p:blipFill>
          <a:blip r:embed="rId2"/>
          <a:stretch>
            <a:fillRect/>
          </a:stretch>
        </p:blipFill>
        <p:spPr>
          <a:xfrm>
            <a:off x="1147326" y="1828800"/>
            <a:ext cx="986686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50437"/>
            <a:ext cx="10479024" cy="44372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18_0.png"/>
          <p:cNvPicPr>
            <a:picLocks noChangeAspect="1"/>
          </p:cNvPicPr>
          <p:nvPr/>
        </p:nvPicPr>
        <p:blipFill>
          <a:blip r:embed="rId2"/>
          <a:stretch>
            <a:fillRect/>
          </a:stretch>
        </p:blipFill>
        <p:spPr>
          <a:xfrm>
            <a:off x="868680" y="1877869"/>
            <a:ext cx="10424160" cy="438242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Advantage over using RDS versus deploying DB on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is a managed service:</a:t>
            </a:r>
          </a:p>
          <a:p>
            <a:pPr>
              <a:spcAft>
                <a:spcPts val="1000"/>
              </a:spcAft>
            </a:pPr>
            <a:r>
              <a:rPr sz="1800" b="0">
                <a:solidFill>
                  <a:srgbClr val="161B26"/>
                </a:solidFill>
                <a:latin typeface="Arial"/>
              </a:rPr>
              <a:t>•  Automated provisioning, OS patching</a:t>
            </a:r>
          </a:p>
          <a:p>
            <a:pPr>
              <a:spcAft>
                <a:spcPts val="1000"/>
              </a:spcAft>
            </a:pPr>
            <a:r>
              <a:rPr sz="1800" b="0">
                <a:solidFill>
                  <a:srgbClr val="161B26"/>
                </a:solidFill>
                <a:latin typeface="Arial"/>
              </a:rPr>
              <a:t>•  Continuous backups and restore to specific timestamp (Point in Time Restore)!</a:t>
            </a:r>
          </a:p>
          <a:p>
            <a:pPr>
              <a:spcAft>
                <a:spcPts val="1000"/>
              </a:spcAft>
            </a:pPr>
            <a:r>
              <a:rPr sz="1800" b="0">
                <a:solidFill>
                  <a:srgbClr val="161B26"/>
                </a:solidFill>
                <a:latin typeface="Arial"/>
              </a:rPr>
              <a:t>•  Monitoring dashboards</a:t>
            </a:r>
          </a:p>
          <a:p>
            <a:pPr>
              <a:spcAft>
                <a:spcPts val="1000"/>
              </a:spcAft>
            </a:pPr>
            <a:r>
              <a:rPr sz="1800" b="0">
                <a:solidFill>
                  <a:srgbClr val="161B26"/>
                </a:solidFill>
                <a:latin typeface="Arial"/>
              </a:rPr>
              <a:t>•  Read replicas for improved read performance</a:t>
            </a:r>
          </a:p>
          <a:p>
            <a:pPr>
              <a:spcAft>
                <a:spcPts val="1000"/>
              </a:spcAft>
            </a:pPr>
            <a:r>
              <a:rPr sz="1800" b="0">
                <a:solidFill>
                  <a:srgbClr val="161B26"/>
                </a:solidFill>
                <a:latin typeface="Arial"/>
              </a:rPr>
              <a:t>•  Multi AZ setup for DR (Disaster Recovery)</a:t>
            </a:r>
          </a:p>
          <a:p>
            <a:pPr>
              <a:spcAft>
                <a:spcPts val="1000"/>
              </a:spcAft>
            </a:pPr>
            <a:r>
              <a:rPr sz="1800" b="0">
                <a:solidFill>
                  <a:srgbClr val="161B26"/>
                </a:solidFill>
                <a:latin typeface="Arial"/>
              </a:rPr>
              <a:t>•  Maintenance windows for upgrades</a:t>
            </a:r>
          </a:p>
          <a:p>
            <a:pPr>
              <a:spcAft>
                <a:spcPts val="1000"/>
              </a:spcAft>
            </a:pPr>
            <a:r>
              <a:rPr sz="1800" b="0">
                <a:solidFill>
                  <a:srgbClr val="161B26"/>
                </a:solidFill>
                <a:latin typeface="Arial"/>
              </a:rPr>
              <a:t>•  Scaling capability (vertical and horizontal)</a:t>
            </a:r>
          </a:p>
          <a:p>
            <a:pPr>
              <a:spcAft>
                <a:spcPts val="1000"/>
              </a:spcAft>
            </a:pPr>
            <a:r>
              <a:rPr sz="1800" b="0">
                <a:solidFill>
                  <a:srgbClr val="161B26"/>
                </a:solidFill>
                <a:latin typeface="Arial"/>
              </a:rPr>
              <a:t>•  Storage backed by EBS</a:t>
            </a:r>
          </a:p>
          <a:p>
            <a:pPr>
              <a:spcAft>
                <a:spcPts val="1000"/>
              </a:spcAft>
            </a:pPr>
            <a:r>
              <a:rPr sz="1800" b="0">
                <a:solidFill>
                  <a:srgbClr val="161B26"/>
                </a:solidFill>
                <a:latin typeface="Arial"/>
              </a:rPr>
              <a:t>•  BUT you can’t SSH into your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 Storage 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you increase storage on your RDS DB instance dynamically</a:t>
            </a:r>
          </a:p>
          <a:p>
            <a:pPr>
              <a:spcAft>
                <a:spcPts val="1000"/>
              </a:spcAft>
            </a:pPr>
            <a:r>
              <a:rPr sz="1800" b="0">
                <a:solidFill>
                  <a:srgbClr val="161B26"/>
                </a:solidFill>
                <a:latin typeface="Arial"/>
              </a:rPr>
              <a:t>•  When RDS detects you are running out of free database storage, it scales automatically</a:t>
            </a:r>
          </a:p>
          <a:p>
            <a:pPr>
              <a:spcAft>
                <a:spcPts val="1000"/>
              </a:spcAft>
            </a:pPr>
            <a:r>
              <a:rPr sz="1800" b="0">
                <a:solidFill>
                  <a:srgbClr val="161B26"/>
                </a:solidFill>
                <a:latin typeface="Arial"/>
              </a:rPr>
              <a:t>•  Avoid manually scaling your database storage</a:t>
            </a:r>
          </a:p>
          <a:p>
            <a:pPr>
              <a:spcAft>
                <a:spcPts val="1000"/>
              </a:spcAft>
            </a:pPr>
            <a:r>
              <a:rPr sz="1800" b="0">
                <a:solidFill>
                  <a:srgbClr val="161B26"/>
                </a:solidFill>
                <a:latin typeface="Arial"/>
              </a:rPr>
              <a:t>•  You have to set Maximum Storage Threshold (maximum limit for DB storage)</a:t>
            </a:r>
          </a:p>
          <a:p>
            <a:pPr>
              <a:spcAft>
                <a:spcPts val="1000"/>
              </a:spcAft>
            </a:pPr>
            <a:r>
              <a:rPr sz="1800" b="0">
                <a:solidFill>
                  <a:srgbClr val="161B26"/>
                </a:solidFill>
                <a:latin typeface="Arial"/>
              </a:rPr>
              <a:t>•  Automatically modify storage if:</a:t>
            </a:r>
          </a:p>
          <a:p>
            <a:pPr>
              <a:spcAft>
                <a:spcPts val="1000"/>
              </a:spcAft>
            </a:pPr>
            <a:r>
              <a:rPr sz="1800" b="0">
                <a:solidFill>
                  <a:srgbClr val="161B26"/>
                </a:solidFill>
                <a:latin typeface="Arial"/>
              </a:rPr>
              <a:t>•  Free storage is less than 10% of allocated storage</a:t>
            </a:r>
          </a:p>
          <a:p>
            <a:pPr>
              <a:spcAft>
                <a:spcPts val="1000"/>
              </a:spcAft>
            </a:pPr>
            <a:r>
              <a:rPr sz="1800" b="0">
                <a:solidFill>
                  <a:srgbClr val="161B26"/>
                </a:solidFill>
                <a:latin typeface="Arial"/>
              </a:rPr>
              <a:t>•  Low-storage lasts at least 5 minutes</a:t>
            </a:r>
          </a:p>
          <a:p>
            <a:pPr>
              <a:spcAft>
                <a:spcPts val="1000"/>
              </a:spcAft>
            </a:pPr>
            <a:r>
              <a:rPr sz="1800" b="0">
                <a:solidFill>
                  <a:srgbClr val="161B26"/>
                </a:solidFill>
                <a:latin typeface="Arial"/>
              </a:rPr>
              <a:t>•  6 hours have passed since last modification</a:t>
            </a:r>
          </a:p>
          <a:p>
            <a:pPr>
              <a:spcAft>
                <a:spcPts val="1000"/>
              </a:spcAft>
            </a:pPr>
            <a:r>
              <a:rPr sz="1800" b="0">
                <a:solidFill>
                  <a:srgbClr val="161B26"/>
                </a:solidFill>
                <a:latin typeface="Arial"/>
              </a:rPr>
              <a:t>•  Useful for applications with unpredictable workloads</a:t>
            </a:r>
          </a:p>
          <a:p>
            <a:pPr>
              <a:spcAft>
                <a:spcPts val="1000"/>
              </a:spcAft>
            </a:pPr>
            <a:r>
              <a:rPr sz="1800" b="0">
                <a:solidFill>
                  <a:srgbClr val="161B26"/>
                </a:solidFill>
                <a:latin typeface="Arial"/>
              </a:rPr>
              <a:t>•  Supports all RDS database engines</a:t>
            </a:r>
          </a:p>
          <a:p>
            <a:pPr>
              <a:spcAft>
                <a:spcPts val="1000"/>
              </a:spcAft>
            </a:pPr>
            <a:r>
              <a:rPr sz="1800" b="0">
                <a:solidFill>
                  <a:srgbClr val="161B26"/>
                </a:solidFill>
                <a:latin typeface="Arial"/>
              </a:rPr>
              <a:t>•  Read/Write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Storage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Read Replicas for read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writes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Up to 15 Read Replicas</a:t>
            </a:r>
          </a:p>
          <a:p>
            <a:pPr>
              <a:spcAft>
                <a:spcPts val="1000"/>
              </a:spcAft>
            </a:pPr>
            <a:r>
              <a:rPr sz="1800" b="0">
                <a:solidFill>
                  <a:srgbClr val="161B26"/>
                </a:solidFill>
                <a:latin typeface="Arial"/>
              </a:rPr>
              <a:t>•  Within AZ, Cross AZ or Cross Region</a:t>
            </a:r>
          </a:p>
          <a:p>
            <a:pPr>
              <a:spcAft>
                <a:spcPts val="1000"/>
              </a:spcAft>
            </a:pPr>
            <a:r>
              <a:rPr sz="1800" b="0">
                <a:solidFill>
                  <a:srgbClr val="161B26"/>
                </a:solidFill>
                <a:latin typeface="Arial"/>
              </a:rPr>
              <a:t>•  Replication is ASYNC so reads are eventually consistent</a:t>
            </a:r>
          </a:p>
          <a:p>
            <a:pPr>
              <a:spcAft>
                <a:spcPts val="1000"/>
              </a:spcAft>
            </a:pPr>
            <a:r>
              <a:rPr sz="1800" b="0">
                <a:solidFill>
                  <a:srgbClr val="161B26"/>
                </a:solidFill>
                <a:latin typeface="Arial"/>
              </a:rPr>
              <a:t>•  Replicas can be promoted to their own DB</a:t>
            </a:r>
          </a:p>
          <a:p>
            <a:pPr>
              <a:spcAft>
                <a:spcPts val="1000"/>
              </a:spcAft>
            </a:pPr>
            <a:r>
              <a:rPr sz="1800" b="0">
                <a:solidFill>
                  <a:srgbClr val="161B26"/>
                </a:solidFill>
                <a:latin typeface="Arial"/>
              </a:rPr>
              <a:t>•  Applications must update the connection</a:t>
            </a:r>
          </a:p>
          <a:p>
            <a:pPr>
              <a:spcAft>
                <a:spcPts val="1000"/>
              </a:spcAft>
            </a:pPr>
            <a:r>
              <a:rPr sz="1800" b="0">
                <a:solidFill>
                  <a:srgbClr val="161B26"/>
                </a:solidFill>
                <a:latin typeface="Arial"/>
              </a:rPr>
              <a:t>•  string to leverage read replicas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Read Replicas -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have a production database that is taking on normal load</a:t>
            </a:r>
          </a:p>
          <a:p>
            <a:pPr>
              <a:spcAft>
                <a:spcPts val="1000"/>
              </a:spcAft>
            </a:pPr>
            <a:r>
              <a:rPr sz="1800" b="0">
                <a:solidFill>
                  <a:srgbClr val="161B26"/>
                </a:solidFill>
                <a:latin typeface="Arial"/>
              </a:rPr>
              <a:t>•  You want to run a reporting application to run some analytics</a:t>
            </a:r>
          </a:p>
          <a:p>
            <a:pPr>
              <a:spcAft>
                <a:spcPts val="1000"/>
              </a:spcAft>
            </a:pPr>
            <a:r>
              <a:rPr sz="1800" b="0">
                <a:solidFill>
                  <a:srgbClr val="161B26"/>
                </a:solidFill>
                <a:latin typeface="Arial"/>
              </a:rPr>
              <a:t>•  You create a Read Replica to run the new workload there</a:t>
            </a:r>
          </a:p>
          <a:p>
            <a:pPr>
              <a:spcAft>
                <a:spcPts val="1000"/>
              </a:spcAft>
            </a:pPr>
            <a:r>
              <a:rPr sz="1800" b="0">
                <a:solidFill>
                  <a:srgbClr val="161B26"/>
                </a:solidFill>
                <a:latin typeface="Arial"/>
              </a:rPr>
              <a:t>•  The production application is unaffected</a:t>
            </a:r>
          </a:p>
          <a:p>
            <a:pPr>
              <a:spcAft>
                <a:spcPts val="1000"/>
              </a:spcAft>
            </a:pPr>
            <a:r>
              <a:rPr sz="1800" b="0">
                <a:solidFill>
                  <a:srgbClr val="161B26"/>
                </a:solidFill>
                <a:latin typeface="Arial"/>
              </a:rPr>
              <a:t>•  Read replicas are used for SELECT (=read) only kind of statements (not INSERT, UPDATE, DELETE)</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Production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Reporting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Read Replicas - Network Cost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Cross-Region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Region/AZ</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Region/AZ</a:t>
            </a:r>
          </a:p>
          <a:p>
            <a:pPr>
              <a:spcAft>
                <a:spcPts val="1000"/>
              </a:spcAft>
            </a:pPr>
            <a:r>
              <a:rPr sz="1800" b="0">
                <a:solidFill>
                  <a:srgbClr val="161B26"/>
                </a:solidFill>
                <a:latin typeface="Arial"/>
              </a:rPr>
              <a:t>•  eu-west-1b</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In AWS there’s a network cost when data goes from one AZ to another</a:t>
            </a:r>
          </a:p>
          <a:p>
            <a:pPr>
              <a:spcAft>
                <a:spcPts val="1000"/>
              </a:spcAft>
            </a:pPr>
            <a:r>
              <a:rPr sz="1800" b="0">
                <a:solidFill>
                  <a:srgbClr val="161B26"/>
                </a:solidFill>
                <a:latin typeface="Arial"/>
              </a:rPr>
              <a:t>•  For RDS Read Replicas within the same region, you don’t pay that fee</a:t>
            </a:r>
          </a:p>
          <a:p>
            <a:pPr>
              <a:spcAft>
                <a:spcPts val="1000"/>
              </a:spcAft>
            </a:pPr>
            <a:r>
              <a:rPr sz="1800" b="0">
                <a:solidFill>
                  <a:srgbClr val="161B26"/>
                </a:solidFill>
                <a:latin typeface="Arial"/>
              </a:rPr>
              <a:t>•  VS</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Same Region</a:t>
            </a:r>
          </a:p>
          <a:p>
            <a:pPr>
              <a:spcAft>
                <a:spcPts val="1000"/>
              </a:spcAft>
            </a:pPr>
            <a:r>
              <a:rPr sz="1800" b="0">
                <a:solidFill>
                  <a:srgbClr val="161B26"/>
                </a:solidFill>
                <a:latin typeface="Arial"/>
              </a:rPr>
              <a:t>•  Free</a:t>
            </a:r>
          </a:p>
          <a:p>
            <a:pPr>
              <a:spcAft>
                <a:spcPts val="1000"/>
              </a:spcAft>
            </a:pPr>
            <a:r>
              <a:rPr sz="1800" b="0">
                <a:solidFill>
                  <a:srgbClr val="161B26"/>
                </a:solidFill>
                <a:latin typeface="Arial"/>
              </a:rPr>
              <a:t>•  Same Region / Different AZ</a:t>
            </a:r>
          </a:p>
          <a:p>
            <a:pPr>
              <a:spcAft>
                <a:spcPts val="1000"/>
              </a:spcAft>
            </a:pPr>
            <a:r>
              <a:rPr sz="1800" b="0">
                <a:solidFill>
                  <a:srgbClr val="161B26"/>
                </a:solidFill>
                <a:latin typeface="Arial"/>
              </a:rPr>
              <a:t>•  us-east-1a	us-east-1b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Multi AZ (Disaster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Master DB instance (AZ A)</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writes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SYNC replication</a:t>
            </a:r>
          </a:p>
          <a:p>
            <a:pPr>
              <a:spcAft>
                <a:spcPts val="1000"/>
              </a:spcAft>
            </a:pPr>
            <a:r>
              <a:rPr sz="1800" b="0">
                <a:solidFill>
                  <a:srgbClr val="161B26"/>
                </a:solidFill>
                <a:latin typeface="Arial"/>
              </a:rPr>
              <a:t>•  One DNS name - automatic app failover to standby</a:t>
            </a:r>
          </a:p>
          <a:p>
            <a:pPr>
              <a:spcAft>
                <a:spcPts val="1000"/>
              </a:spcAft>
            </a:pPr>
            <a:r>
              <a:rPr sz="1800" b="0">
                <a:solidFill>
                  <a:srgbClr val="161B26"/>
                </a:solidFill>
                <a:latin typeface="Arial"/>
              </a:rPr>
              <a:t>•  Increase availability</a:t>
            </a:r>
          </a:p>
          <a:p>
            <a:pPr>
              <a:spcAft>
                <a:spcPts val="1000"/>
              </a:spcAft>
            </a:pPr>
            <a:r>
              <a:rPr sz="1800" b="0">
                <a:solidFill>
                  <a:srgbClr val="161B26"/>
                </a:solidFill>
                <a:latin typeface="Arial"/>
              </a:rPr>
              <a:t>•  Failover in case of loss of AZ, loss of network, instance or storage failure</a:t>
            </a:r>
          </a:p>
          <a:p>
            <a:pPr>
              <a:spcAft>
                <a:spcPts val="1000"/>
              </a:spcAft>
            </a:pPr>
            <a:r>
              <a:rPr sz="1800" b="0">
                <a:solidFill>
                  <a:srgbClr val="161B26"/>
                </a:solidFill>
                <a:latin typeface="Arial"/>
              </a:rPr>
              <a:t>•  No manual intervention in apps</a:t>
            </a:r>
          </a:p>
          <a:p>
            <a:pPr>
              <a:spcAft>
                <a:spcPts val="1000"/>
              </a:spcAft>
            </a:pPr>
            <a:r>
              <a:rPr sz="1800" b="0">
                <a:solidFill>
                  <a:srgbClr val="161B26"/>
                </a:solidFill>
                <a:latin typeface="Arial"/>
              </a:rPr>
              <a:t>•  Not used for scaling</a:t>
            </a:r>
          </a:p>
          <a:p>
            <a:pPr>
              <a:spcAft>
                <a:spcPts val="1000"/>
              </a:spcAft>
            </a:pPr>
            <a:r>
              <a:rPr sz="1800" b="0">
                <a:solidFill>
                  <a:srgbClr val="161B26"/>
                </a:solidFill>
                <a:latin typeface="Arial"/>
              </a:rPr>
              <a:t>•  Note:The Read Replicas be setup as Multi AZ for Disaster Recovery (DR)</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standby (AZ B)</a:t>
            </a:r>
          </a:p>
          <a:p>
            <a:pPr>
              <a:spcAft>
                <a:spcPts val="1000"/>
              </a:spcAft>
            </a:pPr>
            <a:r>
              <a:rPr sz="1800" b="0">
                <a:solidFill>
                  <a:srgbClr val="161B26"/>
                </a:solidFill>
                <a:latin typeface="Arial"/>
              </a:rPr>
              <a:t>•  One DNS name – automatic failover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 From Single-AZ to Multi-AZ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Zero downtime operation (no need to stop the DB)</a:t>
            </a:r>
          </a:p>
          <a:p>
            <a:pPr>
              <a:spcAft>
                <a:spcPts val="1000"/>
              </a:spcAft>
            </a:pPr>
            <a:r>
              <a:rPr sz="1800" b="0">
                <a:solidFill>
                  <a:srgbClr val="161B26"/>
                </a:solidFill>
                <a:latin typeface="Arial"/>
              </a:rPr>
              <a:t>•  Just click on “modify” for the database</a:t>
            </a:r>
          </a:p>
          <a:p>
            <a:pPr>
              <a:spcAft>
                <a:spcPts val="1000"/>
              </a:spcAft>
            </a:pPr>
            <a:r>
              <a:rPr sz="1800" b="0">
                <a:solidFill>
                  <a:srgbClr val="161B26"/>
                </a:solidFill>
                <a:latin typeface="Arial"/>
              </a:rPr>
              <a:t>•  The following happens internally:</a:t>
            </a:r>
          </a:p>
          <a:p>
            <a:pPr>
              <a:spcAft>
                <a:spcPts val="1000"/>
              </a:spcAft>
            </a:pPr>
            <a:r>
              <a:rPr sz="1800" b="0">
                <a:solidFill>
                  <a:srgbClr val="161B26"/>
                </a:solidFill>
                <a:latin typeface="Arial"/>
              </a:rPr>
              <a:t>•  A snapshot is taken</a:t>
            </a:r>
          </a:p>
          <a:p>
            <a:pPr>
              <a:spcAft>
                <a:spcPts val="1000"/>
              </a:spcAft>
            </a:pPr>
            <a:r>
              <a:rPr sz="1800" b="0">
                <a:solidFill>
                  <a:srgbClr val="161B26"/>
                </a:solidFill>
                <a:latin typeface="Arial"/>
              </a:rPr>
              <a:t>•  A new DB is restored from the snapshot in a new AZ</a:t>
            </a:r>
          </a:p>
          <a:p>
            <a:pPr>
              <a:spcAft>
                <a:spcPts val="1000"/>
              </a:spcAft>
            </a:pPr>
            <a:r>
              <a:rPr sz="1800" b="0">
                <a:solidFill>
                  <a:srgbClr val="161B26"/>
                </a:solidFill>
                <a:latin typeface="Arial"/>
              </a:rPr>
              <a:t>•  Synchronization is established between the two databases</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Standby DB</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restore</a:t>
            </a:r>
          </a:p>
          <a:p>
            <a:pPr>
              <a:spcAft>
                <a:spcPts val="1000"/>
              </a:spcAft>
            </a:pPr>
            <a:r>
              <a:rPr sz="1800" b="0">
                <a:solidFill>
                  <a:srgbClr val="161B26"/>
                </a:solidFill>
                <a:latin typeface="Arial"/>
              </a:rPr>
              <a:t>•  DB snapshot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Multi AZ - Failover Conditions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primary DB instance</a:t>
            </a:r>
          </a:p>
          <a:p>
            <a:pPr>
              <a:spcAft>
                <a:spcPts val="1000"/>
              </a:spcAft>
            </a:pPr>
            <a:r>
              <a:rPr sz="1800" b="0">
                <a:solidFill>
                  <a:srgbClr val="161B26"/>
                </a:solidFill>
                <a:latin typeface="Arial"/>
              </a:rPr>
              <a:t>•  Failed</a:t>
            </a:r>
          </a:p>
          <a:p>
            <a:pPr>
              <a:spcAft>
                <a:spcPts val="1000"/>
              </a:spcAft>
            </a:pPr>
            <a:r>
              <a:rPr sz="1800" b="0">
                <a:solidFill>
                  <a:srgbClr val="161B26"/>
                </a:solidFill>
                <a:latin typeface="Arial"/>
              </a:rPr>
              <a:t>•  OS is undergoing software patches</a:t>
            </a:r>
          </a:p>
          <a:p>
            <a:pPr>
              <a:spcAft>
                <a:spcPts val="1000"/>
              </a:spcAft>
            </a:pPr>
            <a:r>
              <a:rPr sz="1800" b="0">
                <a:solidFill>
                  <a:srgbClr val="161B26"/>
                </a:solidFill>
                <a:latin typeface="Arial"/>
              </a:rPr>
              <a:t>•  Unreachable due to loss of network connectivity</a:t>
            </a:r>
          </a:p>
          <a:p>
            <a:pPr>
              <a:spcAft>
                <a:spcPts val="1000"/>
              </a:spcAft>
            </a:pPr>
            <a:r>
              <a:rPr sz="1800" b="0">
                <a:solidFill>
                  <a:srgbClr val="161B26"/>
                </a:solidFill>
                <a:latin typeface="Arial"/>
              </a:rPr>
              <a:t>•  Modified (e.g., DB instance type changed)</a:t>
            </a:r>
          </a:p>
          <a:p>
            <a:pPr>
              <a:spcAft>
                <a:spcPts val="1000"/>
              </a:spcAft>
            </a:pPr>
            <a:r>
              <a:rPr sz="1800" b="0">
                <a:solidFill>
                  <a:srgbClr val="161B26"/>
                </a:solidFill>
                <a:latin typeface="Arial"/>
              </a:rPr>
              <a:t>•  Busy and unresponsive</a:t>
            </a:r>
          </a:p>
          <a:p>
            <a:pPr>
              <a:spcAft>
                <a:spcPts val="1000"/>
              </a:spcAft>
            </a:pPr>
            <a:r>
              <a:rPr sz="1800" b="0">
                <a:solidFill>
                  <a:srgbClr val="161B26"/>
                </a:solidFill>
                <a:latin typeface="Arial"/>
              </a:rPr>
              <a:t>•  Underlying storage failure</a:t>
            </a:r>
          </a:p>
          <a:p>
            <a:pPr>
              <a:spcAft>
                <a:spcPts val="1000"/>
              </a:spcAft>
            </a:pPr>
            <a:r>
              <a:rPr sz="1800" b="0">
                <a:solidFill>
                  <a:srgbClr val="161B26"/>
                </a:solidFill>
                <a:latin typeface="Arial"/>
              </a:rPr>
              <a:t>•  An Availability Zone outage</a:t>
            </a:r>
          </a:p>
          <a:p>
            <a:pPr>
              <a:spcAft>
                <a:spcPts val="1000"/>
              </a:spcAft>
            </a:pPr>
            <a:r>
              <a:rPr sz="1800" b="0">
                <a:solidFill>
                  <a:srgbClr val="161B26"/>
                </a:solidFill>
                <a:latin typeface="Arial"/>
              </a:rPr>
              <a:t>•  A manual failover of the DB instance was initiated using Reboot with failover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by default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Private RDS</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VPC &amp; Private Subnet</a:t>
            </a:r>
          </a:p>
          <a:p>
            <a:pPr>
              <a:spcAft>
                <a:spcPts val="1000"/>
              </a:spcAft>
            </a:pPr>
            <a:r>
              <a:rPr sz="1800" b="0">
                <a:solidFill>
                  <a:srgbClr val="161B26"/>
                </a:solidFill>
                <a:latin typeface="Arial"/>
              </a:rPr>
              <a:t>•  Not working</a:t>
            </a:r>
          </a:p>
          <a:p>
            <a:pPr>
              <a:spcAft>
                <a:spcPts val="1000"/>
              </a:spcAft>
            </a:pPr>
            <a:r>
              <a:rPr sz="1800" b="0">
                <a:solidFill>
                  <a:srgbClr val="161B26"/>
                </a:solidFill>
                <a:latin typeface="Arial"/>
              </a:rPr>
              <a:t>•  Default Lambda Deployment</a:t>
            </a:r>
          </a:p>
          <a:p>
            <a:pPr>
              <a:spcAft>
                <a:spcPts val="1000"/>
              </a:spcAft>
            </a:pPr>
            <a:r>
              <a:rPr sz="1800" b="0">
                <a:solidFill>
                  <a:srgbClr val="161B26"/>
                </a:solidFill>
                <a:latin typeface="Arial"/>
              </a:rPr>
              <a:t>•  Public www works</a:t>
            </a:r>
          </a:p>
          <a:p>
            <a:pPr>
              <a:spcAft>
                <a:spcPts val="1000"/>
              </a:spcAft>
            </a:pPr>
            <a:r>
              <a:rPr sz="1800" b="0">
                <a:solidFill>
                  <a:srgbClr val="161B26"/>
                </a:solidFill>
                <a:latin typeface="Arial"/>
              </a:rPr>
              <a:t>•  By default, your Lambda function is launched outside your own VPC (in an AWS-owned VPC)</a:t>
            </a:r>
          </a:p>
          <a:p>
            <a:pPr>
              <a:spcAft>
                <a:spcPts val="1000"/>
              </a:spcAft>
            </a:pPr>
            <a:r>
              <a:rPr sz="1800" b="0">
                <a:solidFill>
                  <a:srgbClr val="161B26"/>
                </a:solidFill>
                <a:latin typeface="Arial"/>
              </a:rPr>
              <a:t>•  Therefore, it cannot access resources in your VPC (RDS, ElastiCache, internal ELB…)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 in VPC</a:t>
            </a:r>
          </a:p>
          <a:p>
            <a:pPr>
              <a:spcAft>
                <a:spcPts val="1000"/>
              </a:spcAft>
            </a:pPr>
            <a:r>
              <a:rPr sz="1800" b="0">
                <a:solidFill>
                  <a:srgbClr val="161B26"/>
                </a:solidFill>
                <a:latin typeface="Arial"/>
              </a:rPr>
              <a:t>•  You must define the VPC ID, the Subnets and the Security Groups</a:t>
            </a:r>
          </a:p>
          <a:p>
            <a:pPr>
              <a:spcAft>
                <a:spcPts val="1000"/>
              </a:spcAft>
            </a:pPr>
            <a:r>
              <a:rPr sz="1800" b="0">
                <a:solidFill>
                  <a:srgbClr val="161B26"/>
                </a:solidFill>
                <a:latin typeface="Arial"/>
              </a:rPr>
              <a:t>•  Lambda will create an ENI (Elastic Network Interface) in your subnets</a:t>
            </a:r>
          </a:p>
          <a:p>
            <a:pPr>
              <a:spcAft>
                <a:spcPts val="1000"/>
              </a:spcAft>
            </a:pPr>
            <a:r>
              <a:rPr sz="1800" b="0">
                <a:solidFill>
                  <a:srgbClr val="161B26"/>
                </a:solidFill>
                <a:latin typeface="Arial"/>
              </a:rPr>
              <a:t>•  AWSLambdaVPCAccessExecutionRole</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Lambda Security group</a:t>
            </a:r>
          </a:p>
          <a:p>
            <a:pPr>
              <a:spcAft>
                <a:spcPts val="1000"/>
              </a:spcAft>
            </a:pPr>
            <a:r>
              <a:rPr sz="1800" b="0">
                <a:solidFill>
                  <a:srgbClr val="161B26"/>
                </a:solidFill>
                <a:latin typeface="Arial"/>
              </a:rPr>
              <a:t>•  RDS Security group</a:t>
            </a:r>
          </a:p>
          <a:p>
            <a:pPr>
              <a:spcAft>
                <a:spcPts val="1000"/>
              </a:spcAft>
            </a:pPr>
            <a:r>
              <a:rPr sz="1800" b="0">
                <a:solidFill>
                  <a:srgbClr val="161B26"/>
                </a:solidFill>
                <a:latin typeface="Arial"/>
              </a:rPr>
              <a:t>•  Amazon RDS In VPC</a:t>
            </a:r>
          </a:p>
          <a:p>
            <a:pPr>
              <a:spcAft>
                <a:spcPts val="1000"/>
              </a:spcAft>
            </a:pPr>
            <a:r>
              <a:rPr sz="1800" b="0">
                <a:solidFill>
                  <a:srgbClr val="161B26"/>
                </a:solidFill>
                <a:latin typeface="Arial"/>
              </a:rPr>
              <a:t>•  Elastic Network Interface (ENI)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RDS Proxy for AWS Lambda</a:t>
            </a:r>
          </a:p>
          <a:p>
            <a:pPr>
              <a:spcAft>
                <a:spcPts val="1000"/>
              </a:spcAft>
            </a:pPr>
            <a:r>
              <a:rPr sz="1800" b="0">
                <a:solidFill>
                  <a:srgbClr val="161B26"/>
                </a:solidFill>
                <a:latin typeface="Arial"/>
              </a:rPr>
              <a:t>•  When using Lambda functions with RDS, it opens and maintains a database connection</a:t>
            </a:r>
          </a:p>
          <a:p>
            <a:pPr>
              <a:spcAft>
                <a:spcPts val="1000"/>
              </a:spcAft>
            </a:pPr>
            <a:r>
              <a:rPr sz="1800" b="0">
                <a:solidFill>
                  <a:srgbClr val="161B26"/>
                </a:solidFill>
                <a:latin typeface="Arial"/>
              </a:rPr>
              <a:t>•  This can result in a "TooManyConnections" exception</a:t>
            </a:r>
          </a:p>
          <a:p>
            <a:pPr>
              <a:spcAft>
                <a:spcPts val="1000"/>
              </a:spcAft>
            </a:pPr>
            <a:r>
              <a:rPr sz="1800" b="0">
                <a:solidFill>
                  <a:srgbClr val="161B26"/>
                </a:solidFill>
                <a:latin typeface="Arial"/>
              </a:rPr>
              <a:t>•  With RDS Proxy, you no longer need code</a:t>
            </a:r>
          </a:p>
          <a:p>
            <a:pPr>
              <a:spcAft>
                <a:spcPts val="1000"/>
              </a:spcAft>
            </a:pPr>
            <a:r>
              <a:rPr sz="1800" b="0">
                <a:solidFill>
                  <a:srgbClr val="161B26"/>
                </a:solidFill>
                <a:latin typeface="Arial"/>
              </a:rPr>
              <a:t>•  that handles cleaning up idle connections and managing connection pools</a:t>
            </a:r>
          </a:p>
          <a:p>
            <a:pPr>
              <a:spcAft>
                <a:spcPts val="1000"/>
              </a:spcAft>
            </a:pPr>
            <a:r>
              <a:rPr sz="1800" b="0">
                <a:solidFill>
                  <a:srgbClr val="161B26"/>
                </a:solidFill>
                <a:latin typeface="Arial"/>
              </a:rPr>
              <a:t>•  Supports IAM authentication or DB authentication, auto-scaling</a:t>
            </a:r>
          </a:p>
          <a:p>
            <a:pPr>
              <a:spcAft>
                <a:spcPts val="1000"/>
              </a:spcAft>
            </a:pPr>
            <a:r>
              <a:rPr sz="1800" b="0">
                <a:solidFill>
                  <a:srgbClr val="161B26"/>
                </a:solidFill>
                <a:latin typeface="Arial"/>
              </a:rPr>
              <a:t>•  The Lambda function must have connectivity to the Proxy (public proxy =&gt; public Lambda, private proxy =&gt; Lambda in VPC)</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Lambda functions</a:t>
            </a:r>
          </a:p>
          <a:p>
            <a:pPr>
              <a:spcAft>
                <a:spcPts val="1000"/>
              </a:spcAft>
            </a:pPr>
            <a:r>
              <a:rPr sz="1800" b="0">
                <a:solidFill>
                  <a:srgbClr val="161B26"/>
                </a:solidFill>
                <a:latin typeface="Arial"/>
              </a:rPr>
              <a:t>•  RDS Proxy</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Authentication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DB Parameter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configure the DB engine using Parameter Groups</a:t>
            </a:r>
          </a:p>
          <a:p>
            <a:pPr>
              <a:spcAft>
                <a:spcPts val="1000"/>
              </a:spcAft>
            </a:pPr>
            <a:r>
              <a:rPr sz="1800" b="0">
                <a:solidFill>
                  <a:srgbClr val="161B26"/>
                </a:solidFill>
                <a:latin typeface="Arial"/>
              </a:rPr>
              <a:t>•  Dynamic parameters are applied immediately</a:t>
            </a:r>
          </a:p>
          <a:p>
            <a:pPr>
              <a:spcAft>
                <a:spcPts val="1000"/>
              </a:spcAft>
            </a:pPr>
            <a:r>
              <a:rPr sz="1800" b="0">
                <a:solidFill>
                  <a:srgbClr val="161B26"/>
                </a:solidFill>
                <a:latin typeface="Arial"/>
              </a:rPr>
              <a:t>•  Static parameters are applied after instance reboot</a:t>
            </a:r>
          </a:p>
          <a:p>
            <a:pPr>
              <a:spcAft>
                <a:spcPts val="1000"/>
              </a:spcAft>
            </a:pPr>
            <a:r>
              <a:rPr sz="1800" b="0">
                <a:solidFill>
                  <a:srgbClr val="161B26"/>
                </a:solidFill>
                <a:latin typeface="Arial"/>
              </a:rPr>
              <a:t>•  You can modify parameter group associated with a DB (must reboot)</a:t>
            </a:r>
          </a:p>
          <a:p>
            <a:pPr>
              <a:spcAft>
                <a:spcPts val="1000"/>
              </a:spcAft>
            </a:pPr>
            <a:r>
              <a:rPr sz="1800" b="0">
                <a:solidFill>
                  <a:srgbClr val="161B26"/>
                </a:solidFill>
                <a:latin typeface="Arial"/>
              </a:rPr>
              <a:t>•  See documentation for list of parameters for a DB technology</a:t>
            </a:r>
          </a:p>
          <a:p>
            <a:pPr>
              <a:spcAft>
                <a:spcPts val="1000"/>
              </a:spcAft>
            </a:pPr>
            <a:r>
              <a:rPr sz="1800" b="0">
                <a:solidFill>
                  <a:srgbClr val="161B26"/>
                </a:solidFill>
                <a:latin typeface="Arial"/>
              </a:rPr>
              <a:t>•  Must-know parameter</a:t>
            </a:r>
          </a:p>
          <a:p>
            <a:pPr>
              <a:spcAft>
                <a:spcPts val="1000"/>
              </a:spcAft>
            </a:pPr>
            <a:r>
              <a:rPr sz="1800" b="0">
                <a:solidFill>
                  <a:srgbClr val="161B26"/>
                </a:solidFill>
                <a:latin typeface="Arial"/>
              </a:rPr>
              <a:t>•  PostgreSQL / SQL Server: rds.force_ssl=1 =&gt; force SSL connections</a:t>
            </a:r>
          </a:p>
          <a:p>
            <a:pPr>
              <a:spcAft>
                <a:spcPts val="1000"/>
              </a:spcAft>
            </a:pPr>
            <a:r>
              <a:rPr sz="1800" b="0">
                <a:solidFill>
                  <a:srgbClr val="161B26"/>
                </a:solidFill>
                <a:latin typeface="Arial"/>
              </a:rPr>
              <a:t>•  MySQL / MariaDB: require_secure_transport=1 =&gt; force SSL connections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Backup vs Snapshots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Backups are “continuous” and allow point in time recovery</a:t>
            </a:r>
          </a:p>
          <a:p>
            <a:pPr>
              <a:spcAft>
                <a:spcPts val="1000"/>
              </a:spcAft>
            </a:pPr>
            <a:r>
              <a:rPr sz="1800" b="0">
                <a:solidFill>
                  <a:srgbClr val="161B26"/>
                </a:solidFill>
                <a:latin typeface="Arial"/>
              </a:rPr>
              <a:t>•  Backups happen during maintenance windows</a:t>
            </a:r>
          </a:p>
          <a:p>
            <a:pPr>
              <a:spcAft>
                <a:spcPts val="1000"/>
              </a:spcAft>
            </a:pPr>
            <a:r>
              <a:rPr sz="1800" b="0">
                <a:solidFill>
                  <a:srgbClr val="161B26"/>
                </a:solidFill>
                <a:latin typeface="Arial"/>
              </a:rPr>
              <a:t>•  When you delete a DB instance, you can retain automated backups</a:t>
            </a:r>
          </a:p>
          <a:p>
            <a:pPr>
              <a:spcAft>
                <a:spcPts val="1000"/>
              </a:spcAft>
            </a:pPr>
            <a:r>
              <a:rPr sz="1800" b="0">
                <a:solidFill>
                  <a:srgbClr val="161B26"/>
                </a:solidFill>
                <a:latin typeface="Arial"/>
              </a:rPr>
              <a:t>•  Backups have a retention period you set between 0 and 35 days</a:t>
            </a:r>
          </a:p>
          <a:p>
            <a:pPr>
              <a:spcAft>
                <a:spcPts val="1000"/>
              </a:spcAft>
            </a:pPr>
            <a:r>
              <a:rPr sz="1800" b="0">
                <a:solidFill>
                  <a:srgbClr val="161B26"/>
                </a:solidFill>
                <a:latin typeface="Arial"/>
              </a:rPr>
              <a:t>•  To disable backups, set retention period to 0</a:t>
            </a:r>
          </a:p>
          <a:p>
            <a:pPr>
              <a:spcAft>
                <a:spcPts val="1000"/>
              </a:spcAft>
            </a:pPr>
            <a:r>
              <a:rPr sz="1800" b="0">
                <a:solidFill>
                  <a:srgbClr val="161B26"/>
                </a:solidFill>
                <a:latin typeface="Arial"/>
              </a:rPr>
              <a:t>•  Snapshots takes IO operations and can stop the database from seconds to minutes</a:t>
            </a:r>
          </a:p>
          <a:p>
            <a:pPr>
              <a:spcAft>
                <a:spcPts val="1000"/>
              </a:spcAft>
            </a:pPr>
            <a:r>
              <a:rPr sz="1800" b="0">
                <a:solidFill>
                  <a:srgbClr val="161B26"/>
                </a:solidFill>
                <a:latin typeface="Arial"/>
              </a:rPr>
              <a:t>•  Snapshots taken on Multi AZ DB don’t impact the master – just the standby</a:t>
            </a:r>
          </a:p>
          <a:p>
            <a:pPr>
              <a:spcAft>
                <a:spcPts val="1000"/>
              </a:spcAft>
            </a:pPr>
            <a:r>
              <a:rPr sz="1800" b="0">
                <a:solidFill>
                  <a:srgbClr val="161B26"/>
                </a:solidFill>
                <a:latin typeface="Arial"/>
              </a:rPr>
              <a:t>•  Snapshots are incremental after the first snapshot (which is full)</a:t>
            </a:r>
          </a:p>
          <a:p>
            <a:pPr>
              <a:spcAft>
                <a:spcPts val="1000"/>
              </a:spcAft>
            </a:pPr>
            <a:r>
              <a:rPr sz="1800" b="0">
                <a:solidFill>
                  <a:srgbClr val="161B26"/>
                </a:solidFill>
                <a:latin typeface="Arial"/>
              </a:rPr>
              <a:t>•  You can copy &amp; share DB Snapshots</a:t>
            </a:r>
          </a:p>
          <a:p>
            <a:pPr>
              <a:spcAft>
                <a:spcPts val="1000"/>
              </a:spcAft>
            </a:pPr>
            <a:r>
              <a:rPr sz="1800" b="0">
                <a:solidFill>
                  <a:srgbClr val="161B26"/>
                </a:solidFill>
                <a:latin typeface="Arial"/>
              </a:rPr>
              <a:t>•  Manual Snapshots don’t expire</a:t>
            </a:r>
          </a:p>
          <a:p>
            <a:pPr>
              <a:spcAft>
                <a:spcPts val="1000"/>
              </a:spcAft>
            </a:pPr>
            <a:r>
              <a:rPr sz="1800" b="0">
                <a:solidFill>
                  <a:srgbClr val="161B26"/>
                </a:solidFill>
                <a:latin typeface="Arial"/>
              </a:rPr>
              <a:t>•  You can take a “final snapshot” when you delete your DB</a:t>
            </a:r>
          </a:p>
          <a:p>
            <a:pPr>
              <a:spcAft>
                <a:spcPts val="1000"/>
              </a:spcAft>
            </a:pPr>
            <a:r>
              <a:rPr sz="1800" b="0">
                <a:solidFill>
                  <a:srgbClr val="161B26"/>
                </a:solidFill>
                <a:latin typeface="Arial"/>
              </a:rPr>
              <a:t>•  Backups</a:t>
            </a:r>
          </a:p>
          <a:p>
            <a:pPr>
              <a:spcAft>
                <a:spcPts val="1000"/>
              </a:spcAft>
            </a:pPr>
            <a:r>
              <a:rPr sz="1800" b="0">
                <a:solidFill>
                  <a:srgbClr val="161B26"/>
                </a:solidFill>
                <a:latin typeface="Arial"/>
              </a:rPr>
              <a:t>•  Snapshots</a:t>
            </a:r>
          </a:p>
          <a:p>
            <a:pPr>
              <a:spcAft>
                <a:spcPts val="1000"/>
              </a:spcAft>
            </a:pPr>
            <a:r>
              <a:rPr sz="1800" b="0">
                <a:solidFill>
                  <a:srgbClr val="161B26"/>
                </a:solidFill>
                <a:latin typeface="Arial"/>
              </a:rPr>
              <a:t>•  Restoring from Automated Backups or DB Snapshots creates a new DB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Snapshots Sharing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Manual snapshots: can be shared with AWS accounts</a:t>
            </a:r>
          </a:p>
          <a:p>
            <a:pPr>
              <a:spcAft>
                <a:spcPts val="1000"/>
              </a:spcAft>
            </a:pPr>
            <a:r>
              <a:rPr sz="1800" b="0">
                <a:solidFill>
                  <a:srgbClr val="161B26"/>
                </a:solidFill>
                <a:latin typeface="Arial"/>
              </a:rPr>
              <a:t>•  Automated snapshots: can’t be shared, copy first</a:t>
            </a:r>
          </a:p>
          <a:p>
            <a:pPr>
              <a:spcAft>
                <a:spcPts val="1000"/>
              </a:spcAft>
            </a:pPr>
            <a:r>
              <a:rPr sz="1800" b="0">
                <a:solidFill>
                  <a:srgbClr val="161B26"/>
                </a:solidFill>
                <a:latin typeface="Arial"/>
              </a:rPr>
              <a:t>•  You can only share unencrypted snapshots and snapshots encrypted with a customer managed key</a:t>
            </a:r>
          </a:p>
          <a:p>
            <a:pPr>
              <a:spcAft>
                <a:spcPts val="1000"/>
              </a:spcAft>
            </a:pPr>
            <a:r>
              <a:rPr sz="1800" b="0">
                <a:solidFill>
                  <a:srgbClr val="161B26"/>
                </a:solidFill>
                <a:latin typeface="Arial"/>
              </a:rPr>
              <a:t>•  If you share an encrypted snapshots, you must also share any customer managed keys used to encrypt them</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Share with Account B</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Snapshot: mydbsnapshot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Snapshots Sharing with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kms:DescribeKey kms:CreateGrant kms:Encrypt kms:Decrypt kms:GenerateDataKey kms:ReEncrypt</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Snapshot (encrypted)</a:t>
            </a:r>
          </a:p>
          <a:p>
            <a:pPr>
              <a:spcAft>
                <a:spcPts val="1000"/>
              </a:spcAft>
            </a:pPr>
            <a:r>
              <a:rPr sz="1800" b="0">
                <a:solidFill>
                  <a:srgbClr val="161B26"/>
                </a:solidFill>
                <a:latin typeface="Arial"/>
              </a:rPr>
              <a:t>•  Snapshot: mydbsnapshot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Events &amp; Event Subscriptions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keeps record of events related to:</a:t>
            </a:r>
          </a:p>
          <a:p>
            <a:pPr>
              <a:spcAft>
                <a:spcPts val="1000"/>
              </a:spcAft>
            </a:pPr>
            <a:r>
              <a:rPr sz="1800" b="0">
                <a:solidFill>
                  <a:srgbClr val="161B26"/>
                </a:solidFill>
                <a:latin typeface="Arial"/>
              </a:rPr>
              <a:t>•  DB instances</a:t>
            </a:r>
          </a:p>
          <a:p>
            <a:pPr>
              <a:spcAft>
                <a:spcPts val="1000"/>
              </a:spcAft>
            </a:pPr>
            <a:r>
              <a:rPr sz="1800" b="0">
                <a:solidFill>
                  <a:srgbClr val="161B26"/>
                </a:solidFill>
                <a:latin typeface="Arial"/>
              </a:rPr>
              <a:t>•  Snapshots</a:t>
            </a:r>
          </a:p>
          <a:p>
            <a:pPr>
              <a:spcAft>
                <a:spcPts val="1000"/>
              </a:spcAft>
            </a:pPr>
            <a:r>
              <a:rPr sz="1800" b="0">
                <a:solidFill>
                  <a:srgbClr val="161B26"/>
                </a:solidFill>
                <a:latin typeface="Arial"/>
              </a:rPr>
              <a:t>•  Parameter groups, security groups …</a:t>
            </a:r>
          </a:p>
          <a:p>
            <a:pPr>
              <a:spcAft>
                <a:spcPts val="1000"/>
              </a:spcAft>
            </a:pPr>
            <a:r>
              <a:rPr sz="1800" b="0">
                <a:solidFill>
                  <a:srgbClr val="161B26"/>
                </a:solidFill>
                <a:latin typeface="Arial"/>
              </a:rPr>
              <a:t>•  Example: DB state changed from pending to running</a:t>
            </a:r>
          </a:p>
          <a:p>
            <a:pPr>
              <a:spcAft>
                <a:spcPts val="1000"/>
              </a:spcAft>
            </a:pPr>
            <a:r>
              <a:rPr sz="1800" b="0">
                <a:solidFill>
                  <a:srgbClr val="161B26"/>
                </a:solidFill>
                <a:latin typeface="Arial"/>
              </a:rPr>
              <a:t>•  RDS Event Subscription</a:t>
            </a:r>
          </a:p>
          <a:p>
            <a:pPr>
              <a:spcAft>
                <a:spcPts val="1000"/>
              </a:spcAft>
            </a:pPr>
            <a:r>
              <a:rPr sz="1800" b="0">
                <a:solidFill>
                  <a:srgbClr val="161B26"/>
                </a:solidFill>
                <a:latin typeface="Arial"/>
              </a:rPr>
              <a:t>•  Subscribe to events to be notified when an event occurs using SNS</a:t>
            </a:r>
          </a:p>
          <a:p>
            <a:pPr>
              <a:spcAft>
                <a:spcPts val="1000"/>
              </a:spcAft>
            </a:pPr>
            <a:r>
              <a:rPr sz="1800" b="0">
                <a:solidFill>
                  <a:srgbClr val="161B26"/>
                </a:solidFill>
                <a:latin typeface="Arial"/>
              </a:rPr>
              <a:t>•  Specify the Event Source (instances, SGs, …) and the Event Category (creation, failover, …)</a:t>
            </a:r>
          </a:p>
          <a:p>
            <a:pPr>
              <a:spcAft>
                <a:spcPts val="1000"/>
              </a:spcAft>
            </a:pPr>
            <a:r>
              <a:rPr sz="1800" b="0">
                <a:solidFill>
                  <a:srgbClr val="161B26"/>
                </a:solidFill>
                <a:latin typeface="Arial"/>
              </a:rPr>
              <a:t>•  RDS delivers events to EventBridge</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(backup event)</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notification</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RDS Events</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Database Log Files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Store Logs:</a:t>
            </a:r>
          </a:p>
          <a:p>
            <a:pPr>
              <a:spcAft>
                <a:spcPts val="1000"/>
              </a:spcAft>
            </a:pPr>
            <a:r>
              <a:rPr sz="1800" b="0">
                <a:solidFill>
                  <a:srgbClr val="161B26"/>
                </a:solidFill>
                <a:latin typeface="Arial"/>
              </a:rPr>
              <a:t>•  General</a:t>
            </a:r>
          </a:p>
          <a:p>
            <a:pPr>
              <a:spcAft>
                <a:spcPts val="1000"/>
              </a:spcAft>
            </a:pPr>
            <a:r>
              <a:rPr sz="1800" b="0">
                <a:solidFill>
                  <a:srgbClr val="161B26"/>
                </a:solidFill>
                <a:latin typeface="Arial"/>
              </a:rPr>
              <a:t>•  Audit</a:t>
            </a:r>
          </a:p>
          <a:p>
            <a:pPr>
              <a:spcAft>
                <a:spcPts val="1000"/>
              </a:spcAft>
            </a:pPr>
            <a:r>
              <a:rPr sz="1800" b="0">
                <a:solidFill>
                  <a:srgbClr val="161B26"/>
                </a:solidFill>
                <a:latin typeface="Arial"/>
              </a:rPr>
              <a:t>•  Error</a:t>
            </a:r>
          </a:p>
          <a:p>
            <a:pPr>
              <a:spcAft>
                <a:spcPts val="1000"/>
              </a:spcAft>
            </a:pPr>
            <a:r>
              <a:rPr sz="1800" b="0">
                <a:solidFill>
                  <a:srgbClr val="161B26"/>
                </a:solidFill>
                <a:latin typeface="Arial"/>
              </a:rPr>
              <a:t>•  Slow Query</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DB Admin</a:t>
            </a:r>
          </a:p>
          <a:p>
            <a:pPr>
              <a:spcAft>
                <a:spcPts val="1000"/>
              </a:spcAft>
            </a:pPr>
            <a:r>
              <a:rPr sz="1800" b="0">
                <a:solidFill>
                  <a:srgbClr val="161B26"/>
                </a:solidFill>
                <a:latin typeface="Arial"/>
              </a:rPr>
              <a:t>•  notification</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 Filter: Error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with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metrics associated with RDS (gathered from the hypervisor):</a:t>
            </a:r>
          </a:p>
          <a:p>
            <a:pPr>
              <a:spcAft>
                <a:spcPts val="1000"/>
              </a:spcAft>
            </a:pPr>
            <a:r>
              <a:rPr sz="1800" b="0">
                <a:solidFill>
                  <a:srgbClr val="161B26"/>
                </a:solidFill>
                <a:latin typeface="Arial"/>
              </a:rPr>
              <a:t>•  DatabaseConnections</a:t>
            </a:r>
          </a:p>
          <a:p>
            <a:pPr>
              <a:spcAft>
                <a:spcPts val="1000"/>
              </a:spcAft>
            </a:pPr>
            <a:r>
              <a:rPr sz="1800" b="0">
                <a:solidFill>
                  <a:srgbClr val="161B26"/>
                </a:solidFill>
                <a:latin typeface="Arial"/>
              </a:rPr>
              <a:t>•  SwapUsage</a:t>
            </a:r>
          </a:p>
          <a:p>
            <a:pPr>
              <a:spcAft>
                <a:spcPts val="1000"/>
              </a:spcAft>
            </a:pPr>
            <a:r>
              <a:rPr sz="1800" b="0">
                <a:solidFill>
                  <a:srgbClr val="161B26"/>
                </a:solidFill>
                <a:latin typeface="Arial"/>
              </a:rPr>
              <a:t>•  ReadIOPS / WriteIOPS</a:t>
            </a:r>
          </a:p>
          <a:p>
            <a:pPr>
              <a:spcAft>
                <a:spcPts val="1000"/>
              </a:spcAft>
            </a:pPr>
            <a:r>
              <a:rPr sz="1800" b="0">
                <a:solidFill>
                  <a:srgbClr val="161B26"/>
                </a:solidFill>
                <a:latin typeface="Arial"/>
              </a:rPr>
              <a:t>•  ReadLatency / WriteLatency</a:t>
            </a:r>
          </a:p>
          <a:p>
            <a:pPr>
              <a:spcAft>
                <a:spcPts val="1000"/>
              </a:spcAft>
            </a:pPr>
            <a:r>
              <a:rPr sz="1800" b="0">
                <a:solidFill>
                  <a:srgbClr val="161B26"/>
                </a:solidFill>
                <a:latin typeface="Arial"/>
              </a:rPr>
              <a:t>•  ReadThroughPut / WriteThroughPut</a:t>
            </a:r>
          </a:p>
          <a:p>
            <a:pPr>
              <a:spcAft>
                <a:spcPts val="1000"/>
              </a:spcAft>
            </a:pPr>
            <a:r>
              <a:rPr sz="1800" b="0">
                <a:solidFill>
                  <a:srgbClr val="161B26"/>
                </a:solidFill>
                <a:latin typeface="Arial"/>
              </a:rPr>
              <a:t>•  DiskQueueDepth</a:t>
            </a:r>
          </a:p>
          <a:p>
            <a:pPr>
              <a:spcAft>
                <a:spcPts val="1000"/>
              </a:spcAft>
            </a:pPr>
            <a:r>
              <a:rPr sz="1800" b="0">
                <a:solidFill>
                  <a:srgbClr val="161B26"/>
                </a:solidFill>
                <a:latin typeface="Arial"/>
              </a:rPr>
              <a:t>•  FreeStorageSpace</a:t>
            </a:r>
          </a:p>
          <a:p>
            <a:pPr>
              <a:spcAft>
                <a:spcPts val="1000"/>
              </a:spcAft>
            </a:pPr>
            <a:r>
              <a:rPr sz="1800" b="0">
                <a:solidFill>
                  <a:srgbClr val="161B26"/>
                </a:solidFill>
                <a:latin typeface="Arial"/>
              </a:rPr>
              <a:t>•  Enhanced Monitoring (gathered from an agent on the DB instance)</a:t>
            </a:r>
          </a:p>
          <a:p>
            <a:pPr>
              <a:spcAft>
                <a:spcPts val="1000"/>
              </a:spcAft>
            </a:pPr>
            <a:r>
              <a:rPr sz="1800" b="0">
                <a:solidFill>
                  <a:srgbClr val="161B26"/>
                </a:solidFill>
                <a:latin typeface="Arial"/>
              </a:rPr>
              <a:t>•  Useful when you need to see how different processes or threads use the CPU</a:t>
            </a:r>
          </a:p>
          <a:p>
            <a:pPr>
              <a:spcAft>
                <a:spcPts val="1000"/>
              </a:spcAft>
            </a:pPr>
            <a:r>
              <a:rPr sz="1800" b="0">
                <a:solidFill>
                  <a:srgbClr val="161B26"/>
                </a:solidFill>
                <a:latin typeface="Arial"/>
              </a:rPr>
              <a:t>•  Access to over 50 new CPU, memory, file system, and disk I/O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Performance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Visualize your database performance and analyze any issues that affect it</a:t>
            </a:r>
          </a:p>
          <a:p>
            <a:pPr>
              <a:spcAft>
                <a:spcPts val="1000"/>
              </a:spcAft>
            </a:pPr>
            <a:r>
              <a:rPr sz="1800" b="0">
                <a:solidFill>
                  <a:srgbClr val="161B26"/>
                </a:solidFill>
                <a:latin typeface="Arial"/>
              </a:rPr>
              <a:t>•  With the Performance Insights dashboard, you can visualize the database load and filter the load:</a:t>
            </a:r>
          </a:p>
          <a:p>
            <a:pPr>
              <a:spcAft>
                <a:spcPts val="1000"/>
              </a:spcAft>
            </a:pPr>
            <a:r>
              <a:rPr sz="1800" b="0">
                <a:solidFill>
                  <a:srgbClr val="161B26"/>
                </a:solidFill>
                <a:latin typeface="Arial"/>
              </a:rPr>
              <a:t>•  By Waits =&gt; find the resource that is the bottleneck (CPU, IO, lock, etc…)</a:t>
            </a:r>
          </a:p>
          <a:p>
            <a:pPr>
              <a:spcAft>
                <a:spcPts val="1000"/>
              </a:spcAft>
            </a:pPr>
            <a:r>
              <a:rPr sz="1800" b="0">
                <a:solidFill>
                  <a:srgbClr val="161B26"/>
                </a:solidFill>
                <a:latin typeface="Arial"/>
              </a:rPr>
              <a:t>•  By SQL statements =&gt; find the SQL statement that is the problem</a:t>
            </a:r>
          </a:p>
          <a:p>
            <a:pPr>
              <a:spcAft>
                <a:spcPts val="1000"/>
              </a:spcAft>
            </a:pPr>
            <a:r>
              <a:rPr sz="1800" b="0">
                <a:solidFill>
                  <a:srgbClr val="161B26"/>
                </a:solidFill>
                <a:latin typeface="Arial"/>
              </a:rPr>
              <a:t>•  By Hosts =&gt; find the server that is using the most our DB</a:t>
            </a:r>
          </a:p>
          <a:p>
            <a:pPr>
              <a:spcAft>
                <a:spcPts val="1000"/>
              </a:spcAft>
            </a:pPr>
            <a:r>
              <a:rPr sz="1800" b="0">
                <a:solidFill>
                  <a:srgbClr val="161B26"/>
                </a:solidFill>
                <a:latin typeface="Arial"/>
              </a:rPr>
              <a:t>•  By Users =&gt; find the user that is using the most our DB</a:t>
            </a:r>
          </a:p>
          <a:p>
            <a:pPr>
              <a:spcAft>
                <a:spcPts val="1000"/>
              </a:spcAft>
            </a:pPr>
            <a:r>
              <a:rPr sz="1800" b="0">
                <a:solidFill>
                  <a:srgbClr val="161B26"/>
                </a:solidFill>
                <a:latin typeface="Arial"/>
              </a:rPr>
              <a:t>•  DBLoad = the number of active sessions for the DB engine</a:t>
            </a:r>
          </a:p>
          <a:p>
            <a:pPr>
              <a:spcAft>
                <a:spcPts val="1000"/>
              </a:spcAft>
            </a:pPr>
            <a:r>
              <a:rPr sz="1800" b="0">
                <a:solidFill>
                  <a:srgbClr val="161B26"/>
                </a:solidFill>
                <a:latin typeface="Arial"/>
              </a:rPr>
              <a:t>•  You can view the SQL queries that are putting load on your database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Insights Screenshots DB Waits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03627"/>
            <a:ext cx="10479024" cy="276514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38_0.jpg"/>
          <p:cNvPicPr>
            <a:picLocks noChangeAspect="1"/>
          </p:cNvPicPr>
          <p:nvPr/>
        </p:nvPicPr>
        <p:blipFill>
          <a:blip r:embed="rId2"/>
          <a:stretch>
            <a:fillRect/>
          </a:stretch>
        </p:blipFill>
        <p:spPr>
          <a:xfrm>
            <a:off x="868680" y="2531059"/>
            <a:ext cx="10424160" cy="271028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From: https://aws.amazon.com/blogs/database/tuning-amazon-rds-for-mysql-with-performance-insights/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Insights Screenshots SQL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11266" y="1801368"/>
            <a:ext cx="853898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39_0.jpg"/>
          <p:cNvPicPr>
            <a:picLocks noChangeAspect="1"/>
          </p:cNvPicPr>
          <p:nvPr/>
        </p:nvPicPr>
        <p:blipFill>
          <a:blip r:embed="rId2"/>
          <a:stretch>
            <a:fillRect/>
          </a:stretch>
        </p:blipFill>
        <p:spPr>
          <a:xfrm>
            <a:off x="1838698" y="1828800"/>
            <a:ext cx="848412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From: https://aws.amazon.com/blogs/database/tuning-amazon-rds-for-mysql-with-performance-insights/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Insights Screenshots Users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31059" y="1801368"/>
            <a:ext cx="86994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40_0.jpg"/>
          <p:cNvPicPr>
            <a:picLocks noChangeAspect="1"/>
          </p:cNvPicPr>
          <p:nvPr/>
        </p:nvPicPr>
        <p:blipFill>
          <a:blip r:embed="rId2"/>
          <a:stretch>
            <a:fillRect/>
          </a:stretch>
        </p:blipFill>
        <p:spPr>
          <a:xfrm>
            <a:off x="1758491" y="1828800"/>
            <a:ext cx="864453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From: https://aws.amazon.com/blogs/database/tuning-amazon-rds-for-mysql-with-performance-insights/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Aurora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 is a proprietary technology from AWS (not open sourced)</a:t>
            </a:r>
          </a:p>
          <a:p>
            <a:pPr>
              <a:spcAft>
                <a:spcPts val="1000"/>
              </a:spcAft>
            </a:pPr>
            <a:r>
              <a:rPr sz="1800" b="0">
                <a:solidFill>
                  <a:srgbClr val="161B26"/>
                </a:solidFill>
                <a:latin typeface="Arial"/>
              </a:rPr>
              <a:t>•  Postgres and MySQL are both supported as Aurora DB (that means your drivers will work as if Aurora was a Postgres or MySQL database)</a:t>
            </a:r>
          </a:p>
          <a:p>
            <a:pPr>
              <a:spcAft>
                <a:spcPts val="1000"/>
              </a:spcAft>
            </a:pPr>
            <a:r>
              <a:rPr sz="1800" b="0">
                <a:solidFill>
                  <a:srgbClr val="161B26"/>
                </a:solidFill>
                <a:latin typeface="Arial"/>
              </a:rPr>
              <a:t>•  Aurora is “AWS cloud optimized” and claims 5x performance improvement over MySQL on RDS, over 3x the performance of Postgres on RDS</a:t>
            </a:r>
          </a:p>
          <a:p>
            <a:pPr>
              <a:spcAft>
                <a:spcPts val="1000"/>
              </a:spcAft>
            </a:pPr>
            <a:r>
              <a:rPr sz="1800" b="0">
                <a:solidFill>
                  <a:srgbClr val="161B26"/>
                </a:solidFill>
                <a:latin typeface="Arial"/>
              </a:rPr>
              <a:t>•  Aurora storage automatically grows in increments of 10GB, up to 128TB.</a:t>
            </a:r>
          </a:p>
          <a:p>
            <a:pPr>
              <a:spcAft>
                <a:spcPts val="1000"/>
              </a:spcAft>
            </a:pPr>
            <a:r>
              <a:rPr sz="1800" b="0">
                <a:solidFill>
                  <a:srgbClr val="161B26"/>
                </a:solidFill>
                <a:latin typeface="Arial"/>
              </a:rPr>
              <a:t>•  Aurora can have up to 15 replicas and the replication process is faster than MySQL (sub 10 ms replica lag)</a:t>
            </a:r>
          </a:p>
          <a:p>
            <a:pPr>
              <a:spcAft>
                <a:spcPts val="1000"/>
              </a:spcAft>
            </a:pPr>
            <a:r>
              <a:rPr sz="1800" b="0">
                <a:solidFill>
                  <a:srgbClr val="161B26"/>
                </a:solidFill>
                <a:latin typeface="Arial"/>
              </a:rPr>
              <a:t>•  Failover in Aurora is instantaneous. It’s HA (High Availability) native.</a:t>
            </a:r>
          </a:p>
          <a:p>
            <a:pPr>
              <a:spcAft>
                <a:spcPts val="1000"/>
              </a:spcAft>
            </a:pPr>
            <a:r>
              <a:rPr sz="1800" b="0">
                <a:solidFill>
                  <a:srgbClr val="161B26"/>
                </a:solidFill>
                <a:latin typeface="Arial"/>
              </a:rPr>
              <a:t>•  Aurora costs more than RDS (20% more) – but is more efficient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83514" y="1801368"/>
            <a:ext cx="91944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43_0.png"/>
          <p:cNvPicPr>
            <a:picLocks noChangeAspect="1"/>
          </p:cNvPicPr>
          <p:nvPr/>
        </p:nvPicPr>
        <p:blipFill>
          <a:blip r:embed="rId2"/>
          <a:stretch>
            <a:fillRect/>
          </a:stretch>
        </p:blipFill>
        <p:spPr>
          <a:xfrm>
            <a:off x="1510946" y="1828800"/>
            <a:ext cx="91396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Aurora High Availability and Read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6 copies of your data across 3 AZ:</a:t>
            </a:r>
          </a:p>
          <a:p>
            <a:pPr>
              <a:spcAft>
                <a:spcPts val="1000"/>
              </a:spcAft>
            </a:pPr>
            <a:r>
              <a:rPr sz="1800" b="0">
                <a:solidFill>
                  <a:srgbClr val="161B26"/>
                </a:solidFill>
                <a:latin typeface="Arial"/>
              </a:rPr>
              <a:t>•  4 copies out of 6 needed for writes</a:t>
            </a:r>
          </a:p>
          <a:p>
            <a:pPr>
              <a:spcAft>
                <a:spcPts val="1000"/>
              </a:spcAft>
            </a:pPr>
            <a:r>
              <a:rPr sz="1800" b="0">
                <a:solidFill>
                  <a:srgbClr val="161B26"/>
                </a:solidFill>
                <a:latin typeface="Arial"/>
              </a:rPr>
              <a:t>•  3 copies out of 6 need for reads</a:t>
            </a:r>
          </a:p>
          <a:p>
            <a:pPr>
              <a:spcAft>
                <a:spcPts val="1000"/>
              </a:spcAft>
            </a:pPr>
            <a:r>
              <a:rPr sz="1800" b="0">
                <a:solidFill>
                  <a:srgbClr val="161B26"/>
                </a:solidFill>
                <a:latin typeface="Arial"/>
              </a:rPr>
              <a:t>•  Self healing with peer-to-peer replication</a:t>
            </a:r>
          </a:p>
          <a:p>
            <a:pPr>
              <a:spcAft>
                <a:spcPts val="1000"/>
              </a:spcAft>
            </a:pPr>
            <a:r>
              <a:rPr sz="1800" b="0">
                <a:solidFill>
                  <a:srgbClr val="161B26"/>
                </a:solidFill>
                <a:latin typeface="Arial"/>
              </a:rPr>
              <a:t>•  Storage is striped across 100s of volumes</a:t>
            </a:r>
          </a:p>
          <a:p>
            <a:pPr>
              <a:spcAft>
                <a:spcPts val="1000"/>
              </a:spcAft>
            </a:pPr>
            <a:r>
              <a:rPr sz="1800" b="0">
                <a:solidFill>
                  <a:srgbClr val="161B26"/>
                </a:solidFill>
                <a:latin typeface="Arial"/>
              </a:rPr>
              <a:t>•  One Aurora Instance takes writes (master)</a:t>
            </a:r>
          </a:p>
          <a:p>
            <a:pPr>
              <a:spcAft>
                <a:spcPts val="1000"/>
              </a:spcAft>
            </a:pPr>
            <a:r>
              <a:rPr sz="1800" b="0">
                <a:solidFill>
                  <a:srgbClr val="161B26"/>
                </a:solidFill>
                <a:latin typeface="Arial"/>
              </a:rPr>
              <a:t>•  Automated failover for master in less than 30 seconds</a:t>
            </a:r>
          </a:p>
          <a:p>
            <a:pPr>
              <a:spcAft>
                <a:spcPts val="1000"/>
              </a:spcAft>
            </a:pPr>
            <a:r>
              <a:rPr sz="1800" b="0">
                <a:solidFill>
                  <a:srgbClr val="161B26"/>
                </a:solidFill>
                <a:latin typeface="Arial"/>
              </a:rPr>
              <a:t>•  Master + up to 15 Aurora Read Replicas serve reads</a:t>
            </a:r>
          </a:p>
          <a:p>
            <a:pPr>
              <a:spcAft>
                <a:spcPts val="1000"/>
              </a:spcAft>
            </a:pPr>
            <a:r>
              <a:rPr sz="1800" b="0">
                <a:solidFill>
                  <a:srgbClr val="161B26"/>
                </a:solidFill>
                <a:latin typeface="Arial"/>
              </a:rPr>
              <a:t>•  Support for Cross Region Replication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 DB Cluster</a:t>
            </a:r>
          </a:p>
          <a:p>
            <a:pPr>
              <a:spcAft>
                <a:spcPts val="1000"/>
              </a:spcAft>
            </a:pPr>
            <a:r>
              <a:rPr sz="1800" b="0">
                <a:solidFill>
                  <a:srgbClr val="161B26"/>
                </a:solidFill>
                <a:latin typeface="Arial"/>
              </a:rPr>
              <a:t>•  W</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	         R	      R</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Reader Endpoint</a:t>
            </a:r>
          </a:p>
          <a:p>
            <a:pPr>
              <a:spcAft>
                <a:spcPts val="1000"/>
              </a:spcAft>
            </a:pPr>
            <a:r>
              <a:rPr sz="1800" b="0">
                <a:solidFill>
                  <a:srgbClr val="161B26"/>
                </a:solidFill>
                <a:latin typeface="Arial"/>
              </a:rPr>
              <a:t>•  Connection Load Balancing</a:t>
            </a:r>
          </a:p>
          <a:p>
            <a:pPr>
              <a:spcAft>
                <a:spcPts val="1000"/>
              </a:spcAft>
            </a:pPr>
            <a:r>
              <a:rPr sz="1800" b="0">
                <a:solidFill>
                  <a:srgbClr val="161B26"/>
                </a:solidFill>
                <a:latin typeface="Arial"/>
              </a:rPr>
              <a:t>•  Writer Endpoint</a:t>
            </a:r>
          </a:p>
          <a:p>
            <a:pPr>
              <a:spcAft>
                <a:spcPts val="1000"/>
              </a:spcAft>
            </a:pPr>
            <a:r>
              <a:rPr sz="1800" b="0">
                <a:solidFill>
                  <a:srgbClr val="161B26"/>
                </a:solidFill>
                <a:latin typeface="Arial"/>
              </a:rPr>
              <a:t>•  Pointing to the master</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Shared storage Volume</a:t>
            </a:r>
          </a:p>
          <a:p>
            <a:pPr>
              <a:spcAft>
                <a:spcPts val="1000"/>
              </a:spcAft>
            </a:pPr>
            <a:r>
              <a:rPr sz="1800" b="0">
                <a:solidFill>
                  <a:srgbClr val="161B26"/>
                </a:solidFill>
                <a:latin typeface="Arial"/>
              </a:rPr>
              <a:t>•  Auto Expanding from 10G to 128 TB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Features of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Automatic fail-over</a:t>
            </a:r>
          </a:p>
          <a:p>
            <a:pPr>
              <a:spcAft>
                <a:spcPts val="1000"/>
              </a:spcAft>
            </a:pPr>
            <a:r>
              <a:rPr sz="1800" b="0">
                <a:solidFill>
                  <a:srgbClr val="161B26"/>
                </a:solidFill>
                <a:latin typeface="Arial"/>
              </a:rPr>
              <a:t>•  Backup and Recovery</a:t>
            </a:r>
          </a:p>
          <a:p>
            <a:pPr>
              <a:spcAft>
                <a:spcPts val="1000"/>
              </a:spcAft>
            </a:pPr>
            <a:r>
              <a:rPr sz="1800" b="0">
                <a:solidFill>
                  <a:srgbClr val="161B26"/>
                </a:solidFill>
                <a:latin typeface="Arial"/>
              </a:rPr>
              <a:t>•  Isolation and security</a:t>
            </a:r>
          </a:p>
          <a:p>
            <a:pPr>
              <a:spcAft>
                <a:spcPts val="1000"/>
              </a:spcAft>
            </a:pPr>
            <a:r>
              <a:rPr sz="1800" b="0">
                <a:solidFill>
                  <a:srgbClr val="161B26"/>
                </a:solidFill>
                <a:latin typeface="Arial"/>
              </a:rPr>
              <a:t>•  Industry compliance</a:t>
            </a:r>
          </a:p>
          <a:p>
            <a:pPr>
              <a:spcAft>
                <a:spcPts val="1000"/>
              </a:spcAft>
            </a:pPr>
            <a:r>
              <a:rPr sz="1800" b="0">
                <a:solidFill>
                  <a:srgbClr val="161B26"/>
                </a:solidFill>
                <a:latin typeface="Arial"/>
              </a:rPr>
              <a:t>•  Push-button scaling</a:t>
            </a:r>
          </a:p>
          <a:p>
            <a:pPr>
              <a:spcAft>
                <a:spcPts val="1000"/>
              </a:spcAft>
            </a:pPr>
            <a:r>
              <a:rPr sz="1800" b="0">
                <a:solidFill>
                  <a:srgbClr val="161B26"/>
                </a:solidFill>
                <a:latin typeface="Arial"/>
              </a:rPr>
              <a:t>•  Automated Patching with Zero Downtime</a:t>
            </a:r>
          </a:p>
          <a:p>
            <a:pPr>
              <a:spcAft>
                <a:spcPts val="1000"/>
              </a:spcAft>
            </a:pPr>
            <a:r>
              <a:rPr sz="1800" b="0">
                <a:solidFill>
                  <a:srgbClr val="161B26"/>
                </a:solidFill>
                <a:latin typeface="Arial"/>
              </a:rPr>
              <a:t>•  Advanced Monitoring</a:t>
            </a:r>
          </a:p>
          <a:p>
            <a:pPr>
              <a:spcAft>
                <a:spcPts val="1000"/>
              </a:spcAft>
            </a:pPr>
            <a:r>
              <a:rPr sz="1800" b="0">
                <a:solidFill>
                  <a:srgbClr val="161B26"/>
                </a:solidFill>
                <a:latin typeface="Arial"/>
              </a:rPr>
              <a:t>•  Routine Maintenance</a:t>
            </a:r>
          </a:p>
          <a:p>
            <a:pPr>
              <a:spcAft>
                <a:spcPts val="1000"/>
              </a:spcAft>
            </a:pPr>
            <a:r>
              <a:rPr sz="1800" b="0">
                <a:solidFill>
                  <a:srgbClr val="161B26"/>
                </a:solidFill>
                <a:latin typeface="Arial"/>
              </a:rPr>
              <a:t>•  Backtrack: restore data at any point of time without using backups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63682" y="1801368"/>
            <a:ext cx="80341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47_0.png"/>
          <p:cNvPicPr>
            <a:picLocks noChangeAspect="1"/>
          </p:cNvPicPr>
          <p:nvPr/>
        </p:nvPicPr>
        <p:blipFill>
          <a:blip r:embed="rId2"/>
          <a:stretch>
            <a:fillRect/>
          </a:stretch>
        </p:blipFill>
        <p:spPr>
          <a:xfrm>
            <a:off x="2091114" y="1828800"/>
            <a:ext cx="79792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Backups, Backtracking &amp; Restores in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Automatic Backups</a:t>
            </a:r>
          </a:p>
          <a:p>
            <a:pPr>
              <a:spcAft>
                <a:spcPts val="1000"/>
              </a:spcAft>
            </a:pPr>
            <a:r>
              <a:rPr sz="1800" b="0">
                <a:solidFill>
                  <a:srgbClr val="161B26"/>
                </a:solidFill>
                <a:latin typeface="Arial"/>
              </a:rPr>
              <a:t>•  Retention period 1-35 days (can’t be disabled)</a:t>
            </a:r>
          </a:p>
          <a:p>
            <a:pPr>
              <a:spcAft>
                <a:spcPts val="1000"/>
              </a:spcAft>
            </a:pPr>
            <a:r>
              <a:rPr sz="1800" b="0">
                <a:solidFill>
                  <a:srgbClr val="161B26"/>
                </a:solidFill>
                <a:latin typeface="Arial"/>
              </a:rPr>
              <a:t>•  PITR, restore your DB cluster within 5 minutes of the current time</a:t>
            </a:r>
          </a:p>
          <a:p>
            <a:pPr>
              <a:spcAft>
                <a:spcPts val="1000"/>
              </a:spcAft>
            </a:pPr>
            <a:r>
              <a:rPr sz="1800" b="0">
                <a:solidFill>
                  <a:srgbClr val="161B26"/>
                </a:solidFill>
                <a:latin typeface="Arial"/>
              </a:rPr>
              <a:t>•  Restore to a new DB cluster</a:t>
            </a:r>
          </a:p>
          <a:p>
            <a:pPr>
              <a:spcAft>
                <a:spcPts val="1000"/>
              </a:spcAft>
            </a:pPr>
            <a:r>
              <a:rPr sz="1800" b="0">
                <a:solidFill>
                  <a:srgbClr val="161B26"/>
                </a:solidFill>
                <a:latin typeface="Arial"/>
              </a:rPr>
              <a:t>•  Aurora Backtracking</a:t>
            </a:r>
          </a:p>
          <a:p>
            <a:pPr>
              <a:spcAft>
                <a:spcPts val="1000"/>
              </a:spcAft>
            </a:pPr>
            <a:r>
              <a:rPr sz="1800" b="0">
                <a:solidFill>
                  <a:srgbClr val="161B26"/>
                </a:solidFill>
                <a:latin typeface="Arial"/>
              </a:rPr>
              <a:t>•  Rewind the DB cluster back and forth in time (up to 72 hours)</a:t>
            </a:r>
          </a:p>
          <a:p>
            <a:pPr>
              <a:spcAft>
                <a:spcPts val="1000"/>
              </a:spcAft>
            </a:pPr>
            <a:r>
              <a:rPr sz="1800" b="0">
                <a:solidFill>
                  <a:srgbClr val="161B26"/>
                </a:solidFill>
                <a:latin typeface="Arial"/>
              </a:rPr>
              <a:t>•  Doesn’t create a new DB cluster (in-place restore)</a:t>
            </a:r>
          </a:p>
          <a:p>
            <a:pPr>
              <a:spcAft>
                <a:spcPts val="1000"/>
              </a:spcAft>
            </a:pPr>
            <a:r>
              <a:rPr sz="1800" b="0">
                <a:solidFill>
                  <a:srgbClr val="161B26"/>
                </a:solidFill>
                <a:latin typeface="Arial"/>
              </a:rPr>
              <a:t>•  Supports Aurora MySQL only</a:t>
            </a:r>
          </a:p>
          <a:p>
            <a:pPr>
              <a:spcAft>
                <a:spcPts val="1000"/>
              </a:spcAft>
            </a:pPr>
            <a:r>
              <a:rPr sz="1800" b="0">
                <a:solidFill>
                  <a:srgbClr val="161B26"/>
                </a:solidFill>
                <a:latin typeface="Arial"/>
              </a:rPr>
              <a:t>•  Aurora Database Cloning</a:t>
            </a:r>
          </a:p>
          <a:p>
            <a:pPr>
              <a:spcAft>
                <a:spcPts val="1000"/>
              </a:spcAft>
            </a:pPr>
            <a:r>
              <a:rPr sz="1800" b="0">
                <a:solidFill>
                  <a:srgbClr val="161B26"/>
                </a:solidFill>
                <a:latin typeface="Arial"/>
              </a:rPr>
              <a:t>•  Creates a new DB cluster that uses the same DB cluster volume as the original cluster</a:t>
            </a:r>
          </a:p>
          <a:p>
            <a:pPr>
              <a:spcAft>
                <a:spcPts val="1000"/>
              </a:spcAft>
            </a:pPr>
            <a:r>
              <a:rPr sz="1800" b="0">
                <a:solidFill>
                  <a:srgbClr val="161B26"/>
                </a:solidFill>
                <a:latin typeface="Arial"/>
              </a:rPr>
              <a:t>•  Uses copy-on-write protocol (use the original/single copy of the data and allocate storage only when changes made to the data)</a:t>
            </a:r>
          </a:p>
          <a:p>
            <a:pPr>
              <a:spcAft>
                <a:spcPts val="1000"/>
              </a:spcAft>
            </a:pPr>
            <a:r>
              <a:rPr sz="1800" b="0">
                <a:solidFill>
                  <a:srgbClr val="161B26"/>
                </a:solidFill>
                <a:latin typeface="Arial"/>
              </a:rPr>
              <a:t>•  Example: create a test environment using your production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Aurora for SysOps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 can associate a priority tier (0-15) on each Read Replica</a:t>
            </a:r>
          </a:p>
          <a:p>
            <a:pPr>
              <a:spcAft>
                <a:spcPts val="1000"/>
              </a:spcAft>
            </a:pPr>
            <a:r>
              <a:rPr sz="2000" b="0">
                <a:solidFill>
                  <a:srgbClr val="161B26"/>
                </a:solidFill>
                <a:latin typeface="Arial"/>
              </a:rPr>
              <a:t>•  Controls the failover priority</a:t>
            </a:r>
          </a:p>
          <a:p>
            <a:pPr>
              <a:spcAft>
                <a:spcPts val="1000"/>
              </a:spcAft>
            </a:pPr>
            <a:r>
              <a:rPr sz="2000" b="0">
                <a:solidFill>
                  <a:srgbClr val="161B26"/>
                </a:solidFill>
                <a:latin typeface="Arial"/>
              </a:rPr>
              <a:t>•  RDS will promote the Read Replica with the highest priority (lowest tier)</a:t>
            </a:r>
          </a:p>
          <a:p>
            <a:pPr>
              <a:spcAft>
                <a:spcPts val="1000"/>
              </a:spcAft>
            </a:pPr>
            <a:r>
              <a:rPr sz="2000" b="0">
                <a:solidFill>
                  <a:srgbClr val="161B26"/>
                </a:solidFill>
                <a:latin typeface="Arial"/>
              </a:rPr>
              <a:t>•  If replicas have the same priority, RDS promotes the largest in size</a:t>
            </a:r>
          </a:p>
          <a:p>
            <a:pPr>
              <a:spcAft>
                <a:spcPts val="1000"/>
              </a:spcAft>
            </a:pPr>
            <a:r>
              <a:rPr sz="2000" b="0">
                <a:solidFill>
                  <a:srgbClr val="161B26"/>
                </a:solidFill>
                <a:latin typeface="Arial"/>
              </a:rPr>
              <a:t>•  If replicas have the same priority and size, RDS promotes arbitrary replica</a:t>
            </a:r>
          </a:p>
          <a:p>
            <a:pPr>
              <a:spcAft>
                <a:spcPts val="1000"/>
              </a:spcAft>
            </a:pPr>
            <a:r>
              <a:rPr sz="2000" b="0">
                <a:solidFill>
                  <a:srgbClr val="161B26"/>
                </a:solidFill>
                <a:latin typeface="Arial"/>
              </a:rPr>
              <a:t>•  You can migrate an RDS MySQL snapshot to Aurora MySQL Cluster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Aurora: CloudWatch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AuroraReplicaLag: amount of lag when 	replicating updates from the primary instance</a:t>
            </a:r>
          </a:p>
          <a:p>
            <a:pPr>
              <a:spcAft>
                <a:spcPts val="1000"/>
              </a:spcAft>
            </a:pPr>
            <a:r>
              <a:rPr sz="1800" b="0">
                <a:solidFill>
                  <a:srgbClr val="161B26"/>
                </a:solidFill>
                <a:latin typeface="Arial"/>
              </a:rPr>
              <a:t>•  AuroraReplicaLagMaximum: max. amount of lag 	across all DB instances in the cluster</a:t>
            </a:r>
          </a:p>
          <a:p>
            <a:pPr>
              <a:spcAft>
                <a:spcPts val="1000"/>
              </a:spcAft>
            </a:pPr>
            <a:r>
              <a:rPr sz="1800" b="0">
                <a:solidFill>
                  <a:srgbClr val="161B26"/>
                </a:solidFill>
                <a:latin typeface="Arial"/>
              </a:rPr>
              <a:t>•  AuroraReplicaLagMinimum: min. amount of lag across all DB instances in the cluster</a:t>
            </a:r>
          </a:p>
          <a:p>
            <a:pPr>
              <a:spcAft>
                <a:spcPts val="1000"/>
              </a:spcAft>
            </a:pPr>
            <a:r>
              <a:rPr sz="1800" b="0">
                <a:solidFill>
                  <a:srgbClr val="161B26"/>
                </a:solidFill>
                <a:latin typeface="Arial"/>
              </a:rPr>
              <a:t>•  If replica lag is high, that means the users will</a:t>
            </a:r>
          </a:p>
          <a:p>
            <a:pPr>
              <a:spcAft>
                <a:spcPts val="1000"/>
              </a:spcAft>
            </a:pPr>
            <a:r>
              <a:rPr sz="1800" b="0">
                <a:solidFill>
                  <a:srgbClr val="161B26"/>
                </a:solidFill>
                <a:latin typeface="Arial"/>
              </a:rPr>
              <a:t>•  have a different experience based on which replica they get the data from (eventual consistency)</a:t>
            </a:r>
          </a:p>
          <a:p>
            <a:pPr>
              <a:spcAft>
                <a:spcPts val="1000"/>
              </a:spcAft>
            </a:pPr>
            <a:r>
              <a:rPr sz="1800" b="0">
                <a:solidFill>
                  <a:srgbClr val="161B26"/>
                </a:solidFill>
                <a:latin typeface="Arial"/>
              </a:rPr>
              <a:t>•  DatabaseConnections: current number of connections to a DB instance</a:t>
            </a:r>
          </a:p>
          <a:p>
            <a:pPr>
              <a:spcAft>
                <a:spcPts val="1000"/>
              </a:spcAft>
            </a:pPr>
            <a:r>
              <a:rPr sz="1800" b="0">
                <a:solidFill>
                  <a:srgbClr val="161B26"/>
                </a:solidFill>
                <a:latin typeface="Arial"/>
              </a:rPr>
              <a:t>•  InsertLatency: average duration of insert operations</a:t>
            </a:r>
          </a:p>
          <a:p>
            <a:pPr>
              <a:spcAft>
                <a:spcPts val="1000"/>
              </a:spcAft>
            </a:pPr>
            <a:r>
              <a:rPr sz="1800" b="0">
                <a:solidFill>
                  <a:srgbClr val="161B26"/>
                </a:solidFill>
                <a:latin typeface="Arial"/>
              </a:rPr>
              <a:t>•  AZ 1</a:t>
            </a:r>
          </a:p>
          <a:p>
            <a:pPr>
              <a:spcAft>
                <a:spcPts val="1000"/>
              </a:spcAft>
            </a:pPr>
            <a:r>
              <a:rPr sz="1800" b="0">
                <a:solidFill>
                  <a:srgbClr val="161B26"/>
                </a:solidFill>
                <a:latin typeface="Arial"/>
              </a:rPr>
              <a:t>•  AZ 2</a:t>
            </a:r>
          </a:p>
          <a:p>
            <a:pPr>
              <a:spcAft>
                <a:spcPts val="1000"/>
              </a:spcAft>
            </a:pPr>
            <a:r>
              <a:rPr sz="1800" b="0">
                <a:solidFill>
                  <a:srgbClr val="161B26"/>
                </a:solidFill>
                <a:latin typeface="Arial"/>
              </a:rPr>
              <a:t>•  AZ 3</a:t>
            </a:r>
          </a:p>
          <a:p>
            <a:pPr>
              <a:spcAft>
                <a:spcPts val="1000"/>
              </a:spcAft>
            </a:pPr>
            <a:r>
              <a:rPr sz="1800" b="0">
                <a:solidFill>
                  <a:srgbClr val="161B26"/>
                </a:solidFill>
                <a:latin typeface="Arial"/>
              </a:rPr>
              <a:t>•  W</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        R</a:t>
            </a:r>
          </a:p>
          <a:p>
            <a:pPr>
              <a:spcAft>
                <a:spcPts val="1000"/>
              </a:spcAft>
            </a:pPr>
            <a:r>
              <a:rPr sz="1800" b="0">
                <a:solidFill>
                  <a:srgbClr val="161B26"/>
                </a:solidFill>
                <a:latin typeface="Arial"/>
              </a:rPr>
              <a:t>•  Shared storage Volume</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write</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read</a:t>
            </a:r>
          </a:p>
          <a:p>
            <a:pPr>
              <a:spcAft>
                <a:spcPts val="1000"/>
              </a:spcAft>
            </a:pPr>
            <a:r>
              <a:rPr sz="1800" b="0">
                <a:solidFill>
                  <a:srgbClr val="161B26"/>
                </a:solidFill>
                <a:latin typeface="Arial"/>
              </a:rPr>
              <a:t>•  read</a:t>
            </a:r>
          </a:p>
          <a:p>
            <a:pPr>
              <a:spcAft>
                <a:spcPts val="1000"/>
              </a:spcAft>
            </a:pPr>
            <a:r>
              <a:rPr sz="1800" b="0">
                <a:solidFill>
                  <a:srgbClr val="161B26"/>
                </a:solidFill>
                <a:latin typeface="Arial"/>
              </a:rPr>
              <a:t>•  High Replica Lag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&amp; Aurora Security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At-rest encryption:</a:t>
            </a:r>
          </a:p>
          <a:p>
            <a:pPr>
              <a:spcAft>
                <a:spcPts val="1000"/>
              </a:spcAft>
            </a:pPr>
            <a:r>
              <a:rPr sz="1800" b="0">
                <a:solidFill>
                  <a:srgbClr val="161B26"/>
                </a:solidFill>
                <a:latin typeface="Arial"/>
              </a:rPr>
              <a:t>•  Database master &amp; replicas encryption using AWS KMS – must be defined as launch time</a:t>
            </a:r>
          </a:p>
          <a:p>
            <a:pPr>
              <a:spcAft>
                <a:spcPts val="1000"/>
              </a:spcAft>
            </a:pPr>
            <a:r>
              <a:rPr sz="1800" b="0">
                <a:solidFill>
                  <a:srgbClr val="161B26"/>
                </a:solidFill>
                <a:latin typeface="Arial"/>
              </a:rPr>
              <a:t>•  If the master is not encrypted, the read replicas cannot be encrypted</a:t>
            </a:r>
          </a:p>
          <a:p>
            <a:pPr>
              <a:spcAft>
                <a:spcPts val="1000"/>
              </a:spcAft>
            </a:pPr>
            <a:r>
              <a:rPr sz="1800" b="0">
                <a:solidFill>
                  <a:srgbClr val="161B26"/>
                </a:solidFill>
                <a:latin typeface="Arial"/>
              </a:rPr>
              <a:t>•  To encrypt an un-encrypted database, go through a DB snapshot &amp; restore as encrypted</a:t>
            </a:r>
          </a:p>
          <a:p>
            <a:pPr>
              <a:spcAft>
                <a:spcPts val="1000"/>
              </a:spcAft>
            </a:pPr>
            <a:r>
              <a:rPr sz="1800" b="0">
                <a:solidFill>
                  <a:srgbClr val="161B26"/>
                </a:solidFill>
                <a:latin typeface="Arial"/>
              </a:rPr>
              <a:t>•  In-flight encryption: TLS-ready by default, use the AWS TLS root certificates client-side</a:t>
            </a:r>
          </a:p>
          <a:p>
            <a:pPr>
              <a:spcAft>
                <a:spcPts val="1000"/>
              </a:spcAft>
            </a:pPr>
            <a:r>
              <a:rPr sz="1800" b="0">
                <a:solidFill>
                  <a:srgbClr val="161B26"/>
                </a:solidFill>
                <a:latin typeface="Arial"/>
              </a:rPr>
              <a:t>•  IAM Authenication: IAM roles to connect to your database (instead of username/pw)</a:t>
            </a:r>
          </a:p>
          <a:p>
            <a:pPr>
              <a:spcAft>
                <a:spcPts val="1000"/>
              </a:spcAft>
            </a:pPr>
            <a:r>
              <a:rPr sz="1800" b="0">
                <a:solidFill>
                  <a:srgbClr val="161B26"/>
                </a:solidFill>
                <a:latin typeface="Arial"/>
              </a:rPr>
              <a:t>•  Security Groups: control Network access to your RDS / Aurora DB</a:t>
            </a:r>
          </a:p>
          <a:p>
            <a:pPr>
              <a:spcAft>
                <a:spcPts val="1000"/>
              </a:spcAft>
            </a:pPr>
            <a:r>
              <a:rPr sz="1800" b="0">
                <a:solidFill>
                  <a:srgbClr val="161B26"/>
                </a:solidFill>
                <a:latin typeface="Arial"/>
              </a:rPr>
              <a:t>•  No SSH available except on RDS Custom</a:t>
            </a:r>
          </a:p>
          <a:p>
            <a:pPr>
              <a:spcAft>
                <a:spcPts val="1000"/>
              </a:spcAft>
            </a:pPr>
            <a:r>
              <a:rPr sz="1800" b="0">
                <a:solidFill>
                  <a:srgbClr val="161B26"/>
                </a:solidFill>
                <a:latin typeface="Arial"/>
              </a:rPr>
              <a:t>•  Audit Logs can be enabled and sent to CloudWatch Logs for longer retention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ElastiCache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same way RDS is to get managed Relational Databases…</a:t>
            </a:r>
          </a:p>
          <a:p>
            <a:pPr>
              <a:spcAft>
                <a:spcPts val="1000"/>
              </a:spcAft>
            </a:pPr>
            <a:r>
              <a:rPr sz="1800" b="0">
                <a:solidFill>
                  <a:srgbClr val="161B26"/>
                </a:solidFill>
                <a:latin typeface="Arial"/>
              </a:rPr>
              <a:t>•  ElastiCache is to get managed Redis or Memcached</a:t>
            </a:r>
          </a:p>
          <a:p>
            <a:pPr>
              <a:spcAft>
                <a:spcPts val="1000"/>
              </a:spcAft>
            </a:pPr>
            <a:r>
              <a:rPr sz="1800" b="0">
                <a:solidFill>
                  <a:srgbClr val="161B26"/>
                </a:solidFill>
                <a:latin typeface="Arial"/>
              </a:rPr>
              <a:t>•  Caches are in-memory databases with really high performance, low latency</a:t>
            </a:r>
          </a:p>
          <a:p>
            <a:pPr>
              <a:spcAft>
                <a:spcPts val="1000"/>
              </a:spcAft>
            </a:pPr>
            <a:r>
              <a:rPr sz="1800" b="0">
                <a:solidFill>
                  <a:srgbClr val="161B26"/>
                </a:solidFill>
                <a:latin typeface="Arial"/>
              </a:rPr>
              <a:t>•  Helps reduce load off of databases for read intensive workloads</a:t>
            </a:r>
          </a:p>
          <a:p>
            <a:pPr>
              <a:spcAft>
                <a:spcPts val="1000"/>
              </a:spcAft>
            </a:pPr>
            <a:r>
              <a:rPr sz="1800" b="0">
                <a:solidFill>
                  <a:srgbClr val="161B26"/>
                </a:solidFill>
                <a:latin typeface="Arial"/>
              </a:rPr>
              <a:t>•  Helps make your application stateless</a:t>
            </a:r>
          </a:p>
          <a:p>
            <a:pPr>
              <a:spcAft>
                <a:spcPts val="1000"/>
              </a:spcAft>
            </a:pPr>
            <a:r>
              <a:rPr sz="1800" b="0">
                <a:solidFill>
                  <a:srgbClr val="161B26"/>
                </a:solidFill>
                <a:latin typeface="Arial"/>
              </a:rPr>
              <a:t>•  AWS takes care of OS maintenance / patching, optimizations, setup, configuration, monitoring, failure recovery and backups</a:t>
            </a:r>
          </a:p>
          <a:p>
            <a:pPr>
              <a:spcAft>
                <a:spcPts val="1000"/>
              </a:spcAft>
            </a:pPr>
            <a:r>
              <a:rPr sz="1800" b="0">
                <a:solidFill>
                  <a:srgbClr val="161B26"/>
                </a:solidFill>
                <a:latin typeface="Arial"/>
              </a:rPr>
              <a:t>•  Using ElastiCache involves heavy application code changes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ElastiCache Solution Architecture - DB Cache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Applications queries ElastiCache, if not available, get from RDS and store in ElastiCache.</a:t>
            </a:r>
          </a:p>
          <a:p>
            <a:pPr>
              <a:spcAft>
                <a:spcPts val="1000"/>
              </a:spcAft>
            </a:pPr>
            <a:r>
              <a:rPr sz="1800" b="0">
                <a:solidFill>
                  <a:srgbClr val="161B26"/>
                </a:solidFill>
                <a:latin typeface="Arial"/>
              </a:rPr>
              <a:t>•  Helps relieve load in RDS</a:t>
            </a:r>
          </a:p>
          <a:p>
            <a:pPr>
              <a:spcAft>
                <a:spcPts val="1000"/>
              </a:spcAft>
            </a:pPr>
            <a:r>
              <a:rPr sz="1800" b="0">
                <a:solidFill>
                  <a:srgbClr val="161B26"/>
                </a:solidFill>
                <a:latin typeface="Arial"/>
              </a:rPr>
              <a:t>•  Cache must have an invalidation strategy to make sure only the most current data is used in there.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Cache hit</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Amazon ElastiCache</a:t>
            </a:r>
          </a:p>
          <a:p>
            <a:pPr>
              <a:spcAft>
                <a:spcPts val="1000"/>
              </a:spcAft>
            </a:pPr>
            <a:r>
              <a:rPr sz="1800" b="0">
                <a:solidFill>
                  <a:srgbClr val="161B26"/>
                </a:solidFill>
                <a:latin typeface="Arial"/>
              </a:rPr>
              <a:t>•  Cache miss</a:t>
            </a:r>
          </a:p>
          <a:p>
            <a:pPr>
              <a:spcAft>
                <a:spcPts val="1000"/>
              </a:spcAft>
            </a:pPr>
            <a:r>
              <a:rPr sz="1800" b="0">
                <a:solidFill>
                  <a:srgbClr val="161B26"/>
                </a:solidFill>
                <a:latin typeface="Arial"/>
              </a:rPr>
              <a:t>•  Read from DB</a:t>
            </a:r>
          </a:p>
          <a:p>
            <a:pPr>
              <a:spcAft>
                <a:spcPts val="1000"/>
              </a:spcAft>
            </a:pPr>
            <a:r>
              <a:rPr sz="1800" b="0">
                <a:solidFill>
                  <a:srgbClr val="161B26"/>
                </a:solidFill>
                <a:latin typeface="Arial"/>
              </a:rPr>
              <a:t>•  Write to cache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ElastiCache Solution Architecture - User Session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 logs into any of the application</a:t>
            </a:r>
          </a:p>
          <a:p>
            <a:pPr>
              <a:spcAft>
                <a:spcPts val="1000"/>
              </a:spcAft>
            </a:pPr>
            <a:r>
              <a:rPr sz="1800" b="0">
                <a:solidFill>
                  <a:srgbClr val="161B26"/>
                </a:solidFill>
                <a:latin typeface="Arial"/>
              </a:rPr>
              <a:t>•  The application writes the session data into ElastiCache</a:t>
            </a:r>
          </a:p>
          <a:p>
            <a:pPr>
              <a:spcAft>
                <a:spcPts val="1000"/>
              </a:spcAft>
            </a:pPr>
            <a:r>
              <a:rPr sz="1800" b="0">
                <a:solidFill>
                  <a:srgbClr val="161B26"/>
                </a:solidFill>
                <a:latin typeface="Arial"/>
              </a:rPr>
              <a:t>•  The user hits another instance of our application</a:t>
            </a:r>
          </a:p>
          <a:p>
            <a:pPr>
              <a:spcAft>
                <a:spcPts val="1000"/>
              </a:spcAft>
            </a:pPr>
            <a:r>
              <a:rPr sz="1800" b="0">
                <a:solidFill>
                  <a:srgbClr val="161B26"/>
                </a:solidFill>
                <a:latin typeface="Arial"/>
              </a:rPr>
              <a:t>•  The instance retrieves the data and the user is already logged in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Retrieve session</a:t>
            </a:r>
          </a:p>
          <a:p>
            <a:pPr>
              <a:spcAft>
                <a:spcPts val="1000"/>
              </a:spcAft>
            </a:pPr>
            <a:r>
              <a:rPr sz="1800" b="0">
                <a:solidFill>
                  <a:srgbClr val="161B26"/>
                </a:solidFill>
                <a:latin typeface="Arial"/>
              </a:rPr>
              <a:t>•  Amazon ElastiCache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Write session</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 - Redis vs Memcached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REDIS</a:t>
            </a:r>
          </a:p>
          <a:p>
            <a:pPr>
              <a:spcAft>
                <a:spcPts val="1000"/>
              </a:spcAft>
            </a:pPr>
            <a:r>
              <a:rPr sz="1800" b="0">
                <a:solidFill>
                  <a:srgbClr val="161B26"/>
                </a:solidFill>
                <a:latin typeface="Arial"/>
              </a:rPr>
              <a:t>•  Multi AZ with Auto-Failover</a:t>
            </a:r>
          </a:p>
          <a:p>
            <a:pPr>
              <a:spcAft>
                <a:spcPts val="1000"/>
              </a:spcAft>
            </a:pPr>
            <a:r>
              <a:rPr sz="1800" b="0">
                <a:solidFill>
                  <a:srgbClr val="161B26"/>
                </a:solidFill>
                <a:latin typeface="Arial"/>
              </a:rPr>
              <a:t>•  Read Replicas to scale reads and have high availability</a:t>
            </a:r>
          </a:p>
          <a:p>
            <a:pPr>
              <a:spcAft>
                <a:spcPts val="1000"/>
              </a:spcAft>
            </a:pPr>
            <a:r>
              <a:rPr sz="1800" b="0">
                <a:solidFill>
                  <a:srgbClr val="161B26"/>
                </a:solidFill>
                <a:latin typeface="Arial"/>
              </a:rPr>
              <a:t>•  Data Durability using AOF persistence</a:t>
            </a:r>
          </a:p>
          <a:p>
            <a:pPr>
              <a:spcAft>
                <a:spcPts val="1000"/>
              </a:spcAft>
            </a:pPr>
            <a:r>
              <a:rPr sz="1800" b="0">
                <a:solidFill>
                  <a:srgbClr val="161B26"/>
                </a:solidFill>
                <a:latin typeface="Arial"/>
              </a:rPr>
              <a:t>•  Backup and restore features</a:t>
            </a:r>
          </a:p>
          <a:p>
            <a:pPr>
              <a:spcAft>
                <a:spcPts val="1000"/>
              </a:spcAft>
            </a:pPr>
            <a:r>
              <a:rPr sz="1800" b="0">
                <a:solidFill>
                  <a:srgbClr val="161B26"/>
                </a:solidFill>
                <a:latin typeface="Arial"/>
              </a:rPr>
              <a:t>•  Supports Sets and Sorted Sets</a:t>
            </a:r>
          </a:p>
          <a:p>
            <a:pPr>
              <a:spcAft>
                <a:spcPts val="1000"/>
              </a:spcAft>
            </a:pPr>
            <a:r>
              <a:rPr sz="1800" b="0">
                <a:solidFill>
                  <a:srgbClr val="161B26"/>
                </a:solidFill>
                <a:latin typeface="Arial"/>
              </a:rPr>
              <a:t>•  MEMCACHED</a:t>
            </a:r>
          </a:p>
          <a:p>
            <a:pPr>
              <a:spcAft>
                <a:spcPts val="1000"/>
              </a:spcAft>
            </a:pPr>
            <a:r>
              <a:rPr sz="1800" b="0">
                <a:solidFill>
                  <a:srgbClr val="161B26"/>
                </a:solidFill>
                <a:latin typeface="Arial"/>
              </a:rPr>
              <a:t>•  Multi-node for partitioning of data (sharding)</a:t>
            </a:r>
          </a:p>
          <a:p>
            <a:pPr>
              <a:spcAft>
                <a:spcPts val="1000"/>
              </a:spcAft>
            </a:pPr>
            <a:r>
              <a:rPr sz="1800" b="0">
                <a:solidFill>
                  <a:srgbClr val="161B26"/>
                </a:solidFill>
                <a:latin typeface="Arial"/>
              </a:rPr>
              <a:t>•  No high availability (replication)</a:t>
            </a:r>
          </a:p>
          <a:p>
            <a:pPr>
              <a:spcAft>
                <a:spcPts val="1000"/>
              </a:spcAft>
            </a:pPr>
            <a:r>
              <a:rPr sz="1800" b="0">
                <a:solidFill>
                  <a:srgbClr val="161B26"/>
                </a:solidFill>
                <a:latin typeface="Arial"/>
              </a:rPr>
              <a:t>•  Non persistent</a:t>
            </a:r>
          </a:p>
          <a:p>
            <a:pPr>
              <a:spcAft>
                <a:spcPts val="1000"/>
              </a:spcAft>
            </a:pPr>
            <a:r>
              <a:rPr sz="1800" b="0">
                <a:solidFill>
                  <a:srgbClr val="161B26"/>
                </a:solidFill>
                <a:latin typeface="Arial"/>
              </a:rPr>
              <a:t>•  Backup and restore (Serverless)</a:t>
            </a:r>
          </a:p>
          <a:p>
            <a:pPr>
              <a:spcAft>
                <a:spcPts val="1000"/>
              </a:spcAft>
            </a:pPr>
            <a:r>
              <a:rPr sz="1800" b="0">
                <a:solidFill>
                  <a:srgbClr val="161B26"/>
                </a:solidFill>
                <a:latin typeface="Arial"/>
              </a:rPr>
              <a:t>•  Multi-threaded architecture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sharding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One primary node, up to 5 replicas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Asynchronous Replication</a:t>
            </a:r>
          </a:p>
          <a:p>
            <a:pPr>
              <a:spcAft>
                <a:spcPts val="1000"/>
              </a:spcAft>
            </a:pPr>
            <a:r>
              <a:rPr sz="1800" b="0">
                <a:solidFill>
                  <a:srgbClr val="161B26"/>
                </a:solidFill>
                <a:latin typeface="Arial"/>
              </a:rPr>
              <a:t>•  The primary node is used for read/write</a:t>
            </a:r>
          </a:p>
          <a:p>
            <a:pPr>
              <a:spcAft>
                <a:spcPts val="1000"/>
              </a:spcAft>
            </a:pPr>
            <a:r>
              <a:rPr sz="1800" b="0">
                <a:solidFill>
                  <a:srgbClr val="161B26"/>
                </a:solidFill>
                <a:latin typeface="Arial"/>
              </a:rPr>
              <a:t>•  The other nodes are read-only</a:t>
            </a:r>
          </a:p>
          <a:p>
            <a:pPr>
              <a:spcAft>
                <a:spcPts val="1000"/>
              </a:spcAft>
            </a:pPr>
            <a:r>
              <a:rPr sz="1800" b="0">
                <a:solidFill>
                  <a:srgbClr val="161B26"/>
                </a:solidFill>
                <a:latin typeface="Arial"/>
              </a:rPr>
              <a:t>•  One shard, all nodes have all the data</a:t>
            </a:r>
          </a:p>
          <a:p>
            <a:pPr>
              <a:spcAft>
                <a:spcPts val="1000"/>
              </a:spcAft>
            </a:pPr>
            <a:r>
              <a:rPr sz="1800" b="0">
                <a:solidFill>
                  <a:srgbClr val="161B26"/>
                </a:solidFill>
                <a:latin typeface="Arial"/>
              </a:rPr>
              <a:t>•  Guard against data loss if node failure</a:t>
            </a:r>
          </a:p>
          <a:p>
            <a:pPr>
              <a:spcAft>
                <a:spcPts val="1000"/>
              </a:spcAft>
            </a:pPr>
            <a:r>
              <a:rPr sz="1800" b="0">
                <a:solidFill>
                  <a:srgbClr val="161B26"/>
                </a:solidFill>
                <a:latin typeface="Arial"/>
              </a:rPr>
              <a:t>•  Multi-AZ enabled by default for failover</a:t>
            </a:r>
          </a:p>
          <a:p>
            <a:pPr>
              <a:spcAft>
                <a:spcPts val="1000"/>
              </a:spcAft>
            </a:pPr>
            <a:r>
              <a:rPr sz="1800" b="0">
                <a:solidFill>
                  <a:srgbClr val="161B26"/>
                </a:solidFill>
                <a:latin typeface="Arial"/>
              </a:rPr>
              <a:t>•  Helpful to scale read performance</a:t>
            </a:r>
          </a:p>
          <a:p>
            <a:pPr>
              <a:spcAft>
                <a:spcPts val="1000"/>
              </a:spcAft>
            </a:pPr>
            <a:r>
              <a:rPr sz="1800" b="0">
                <a:solidFill>
                  <a:srgbClr val="161B26"/>
                </a:solidFill>
                <a:latin typeface="Arial"/>
              </a:rPr>
              <a:t>•  ElastiCache Replication: Cluster Mode Disabled</a:t>
            </a:r>
          </a:p>
          <a:p>
            <a:pPr>
              <a:spcAft>
                <a:spcPts val="1000"/>
              </a:spcAft>
            </a:pPr>
            <a:r>
              <a:rPr sz="1800" b="0">
                <a:solidFill>
                  <a:srgbClr val="161B26"/>
                </a:solidFill>
                <a:latin typeface="Arial"/>
              </a:rPr>
              <a:t>•  Shard</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Redis (cluster mode disabled) Cluster with Replication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Scaling - Cluster Mode Disabled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Horizontal:</a:t>
            </a:r>
          </a:p>
          <a:p>
            <a:pPr>
              <a:spcAft>
                <a:spcPts val="1000"/>
              </a:spcAft>
            </a:pPr>
            <a:r>
              <a:rPr sz="1800" b="0">
                <a:solidFill>
                  <a:srgbClr val="161B26"/>
                </a:solidFill>
                <a:latin typeface="Arial"/>
              </a:rPr>
              <a:t>•  Scale out/in by adding/removing read replicas (max. 5 replicas)</a:t>
            </a:r>
          </a:p>
          <a:p>
            <a:pPr>
              <a:spcAft>
                <a:spcPts val="1000"/>
              </a:spcAft>
            </a:pPr>
            <a:r>
              <a:rPr sz="1800" b="0">
                <a:solidFill>
                  <a:srgbClr val="161B26"/>
                </a:solidFill>
                <a:latin typeface="Arial"/>
              </a:rPr>
              <a:t>•  Vertical:</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ElastiCache will internally create a new node group, then data replication and DNS update</a:t>
            </a:r>
          </a:p>
          <a:p>
            <a:pPr>
              <a:spcAft>
                <a:spcPts val="1000"/>
              </a:spcAft>
            </a:pPr>
            <a:r>
              <a:rPr sz="1800" b="0">
                <a:solidFill>
                  <a:srgbClr val="161B26"/>
                </a:solidFill>
                <a:latin typeface="Arial"/>
              </a:rPr>
              <a:t>•  Old Node Group	New Node Group</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DNS update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ElastiCache Replication: Cluster Mode Enabled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Data is partitioned across shards (helpful to scale writes)</a:t>
            </a:r>
          </a:p>
          <a:p>
            <a:pPr>
              <a:spcAft>
                <a:spcPts val="1000"/>
              </a:spcAft>
            </a:pPr>
            <a:r>
              <a:rPr sz="1800" b="0">
                <a:solidFill>
                  <a:srgbClr val="161B26"/>
                </a:solidFill>
                <a:latin typeface="Arial"/>
              </a:rPr>
              <a:t>•  Each shard has a primary and up to 5 replica nodes (same concept as before)</a:t>
            </a:r>
          </a:p>
          <a:p>
            <a:pPr>
              <a:spcAft>
                <a:spcPts val="1000"/>
              </a:spcAft>
            </a:pPr>
            <a:r>
              <a:rPr sz="1800" b="0">
                <a:solidFill>
                  <a:srgbClr val="161B26"/>
                </a:solidFill>
                <a:latin typeface="Arial"/>
              </a:rPr>
              <a:t>•  Multi-AZ capability</a:t>
            </a:r>
          </a:p>
          <a:p>
            <a:pPr>
              <a:spcAft>
                <a:spcPts val="1000"/>
              </a:spcAft>
            </a:pPr>
            <a:r>
              <a:rPr sz="1800" b="0">
                <a:solidFill>
                  <a:srgbClr val="161B26"/>
                </a:solidFill>
                <a:latin typeface="Arial"/>
              </a:rPr>
              <a:t>•  Up to 500 nodes per cluster:</a:t>
            </a:r>
          </a:p>
          <a:p>
            <a:pPr>
              <a:spcAft>
                <a:spcPts val="1000"/>
              </a:spcAft>
            </a:pPr>
            <a:r>
              <a:rPr sz="1800" b="0">
                <a:solidFill>
                  <a:srgbClr val="161B26"/>
                </a:solidFill>
                <a:latin typeface="Arial"/>
              </a:rPr>
              <a:t>•  500 shards with single master</a:t>
            </a:r>
          </a:p>
          <a:p>
            <a:pPr>
              <a:spcAft>
                <a:spcPts val="1000"/>
              </a:spcAft>
            </a:pPr>
            <a:r>
              <a:rPr sz="1800" b="0">
                <a:solidFill>
                  <a:srgbClr val="161B26"/>
                </a:solidFill>
                <a:latin typeface="Arial"/>
              </a:rPr>
              <a:t>•  250 shards with 1 master and 1 replica</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83 shards with one master and 5 replicas</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Redis (cluster mode enabled)</a:t>
            </a:r>
          </a:p>
          <a:p>
            <a:pPr>
              <a:spcAft>
                <a:spcPts val="1000"/>
              </a:spcAft>
            </a:pPr>
            <a:r>
              <a:rPr sz="1800" b="0">
                <a:solidFill>
                  <a:srgbClr val="161B26"/>
                </a:solidFill>
                <a:latin typeface="Arial"/>
              </a:rPr>
              <a:t>•  Cluster with Replication</a:t>
            </a:r>
          </a:p>
          <a:p>
            <a:pPr>
              <a:spcAft>
                <a:spcPts val="1000"/>
              </a:spcAft>
            </a:pPr>
            <a:r>
              <a:rPr sz="1800" b="0">
                <a:solidFill>
                  <a:srgbClr val="161B26"/>
                </a:solidFill>
                <a:latin typeface="Arial"/>
              </a:rPr>
              <a:t>•  Shard 1</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Shard N</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Availability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 Redis (Cluster Mode Enabled)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ElastiCache for Redis - Auto Scaling</a:t>
            </a:r>
          </a:p>
          <a:p>
            <a:pPr>
              <a:spcAft>
                <a:spcPts val="1000"/>
              </a:spcAft>
            </a:pPr>
            <a:r>
              <a:rPr sz="1800" b="0">
                <a:solidFill>
                  <a:srgbClr val="161B26"/>
                </a:solidFill>
                <a:latin typeface="Arial"/>
              </a:rPr>
              <a:t>•  Shard 1</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Replicas</a:t>
            </a:r>
          </a:p>
          <a:p>
            <a:pPr>
              <a:spcAft>
                <a:spcPts val="1000"/>
              </a:spcAft>
            </a:pPr>
            <a:r>
              <a:rPr sz="1800" b="0">
                <a:solidFill>
                  <a:srgbClr val="161B26"/>
                </a:solidFill>
                <a:latin typeface="Arial"/>
              </a:rPr>
              <a:t>•  Shard 2</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Replicas</a:t>
            </a:r>
          </a:p>
          <a:p>
            <a:pPr>
              <a:spcAft>
                <a:spcPts val="1000"/>
              </a:spcAft>
            </a:pPr>
            <a:r>
              <a:rPr sz="1800" b="0">
                <a:solidFill>
                  <a:srgbClr val="161B26"/>
                </a:solidFill>
                <a:latin typeface="Arial"/>
              </a:rPr>
              <a:t>•  CloudWatch Metrics</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ElastiCachePrimaryEngineCPUUtilization</a:t>
            </a:r>
          </a:p>
          <a:p>
            <a:pPr>
              <a:spcAft>
                <a:spcPts val="1000"/>
              </a:spcAft>
            </a:pPr>
            <a:r>
              <a:rPr sz="1800" b="0">
                <a:solidFill>
                  <a:srgbClr val="161B26"/>
                </a:solidFill>
                <a:latin typeface="Arial"/>
              </a:rPr>
              <a:t>•  CloudWatch Metric</a:t>
            </a:r>
          </a:p>
          <a:p>
            <a:pPr>
              <a:spcAft>
                <a:spcPts val="1000"/>
              </a:spcAft>
            </a:pPr>
            <a:r>
              <a:rPr sz="1800" b="0">
                <a:solidFill>
                  <a:srgbClr val="161B26"/>
                </a:solidFill>
                <a:latin typeface="Arial"/>
              </a:rPr>
              <a:t>•  Target Tracking Policy ElastiCachePrimaryEngineCPUUtilization = 60%</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increase desired count</a:t>
            </a:r>
          </a:p>
          <a:p>
            <a:pPr>
              <a:spcAft>
                <a:spcPts val="1000"/>
              </a:spcAft>
            </a:pPr>
            <a:r>
              <a:rPr sz="1800" b="0">
                <a:solidFill>
                  <a:srgbClr val="161B26"/>
                </a:solidFill>
                <a:latin typeface="Arial"/>
              </a:rPr>
              <a:t>•  (Shards)</a:t>
            </a:r>
          </a:p>
          <a:p>
            <a:pPr>
              <a:spcAft>
                <a:spcPts val="1000"/>
              </a:spcAft>
            </a:pPr>
            <a:r>
              <a:rPr sz="1800" b="0">
                <a:solidFill>
                  <a:srgbClr val="161B26"/>
                </a:solidFill>
                <a:latin typeface="Arial"/>
              </a:rPr>
              <a:t>•  Automatically increase/decrease the desired shards or replicas</a:t>
            </a:r>
          </a:p>
          <a:p>
            <a:pPr>
              <a:spcAft>
                <a:spcPts val="1000"/>
              </a:spcAft>
            </a:pPr>
            <a:r>
              <a:rPr sz="1800" b="0">
                <a:solidFill>
                  <a:srgbClr val="161B26"/>
                </a:solidFill>
                <a:latin typeface="Arial"/>
              </a:rPr>
              <a:t>•  Supports both Target Tracking and Scheduled Scaling Policies</a:t>
            </a:r>
          </a:p>
          <a:p>
            <a:pPr>
              <a:spcAft>
                <a:spcPts val="1000"/>
              </a:spcAft>
            </a:pPr>
            <a:r>
              <a:rPr sz="1800" b="0">
                <a:solidFill>
                  <a:srgbClr val="161B26"/>
                </a:solidFill>
                <a:latin typeface="Arial"/>
              </a:rPr>
              <a:t>•  Works only for Redis with Cluster Mode Enabled</a:t>
            </a:r>
          </a:p>
          <a:p>
            <a:pPr>
              <a:spcAft>
                <a:spcPts val="1000"/>
              </a:spcAft>
            </a:pPr>
            <a:r>
              <a:rPr sz="1800" b="0">
                <a:solidFill>
                  <a:srgbClr val="161B26"/>
                </a:solidFill>
                <a:latin typeface="Arial"/>
              </a:rPr>
              <a:t>•  Recommended: update apps to use the</a:t>
            </a:r>
          </a:p>
          <a:p>
            <a:pPr>
              <a:spcAft>
                <a:spcPts val="1000"/>
              </a:spcAft>
            </a:pPr>
            <a:r>
              <a:rPr sz="1800" b="0">
                <a:solidFill>
                  <a:srgbClr val="161B26"/>
                </a:solidFill>
                <a:latin typeface="Arial"/>
              </a:rPr>
              <a:t>•  Cluster’s Configuration Endpoint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 - Redis Connection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Standalone Node</a:t>
            </a:r>
          </a:p>
          <a:p>
            <a:pPr>
              <a:spcAft>
                <a:spcPts val="1000"/>
              </a:spcAft>
            </a:pPr>
            <a:r>
              <a:rPr sz="1800" b="0">
                <a:solidFill>
                  <a:srgbClr val="161B26"/>
                </a:solidFill>
                <a:latin typeface="Arial"/>
              </a:rPr>
              <a:t>•  One endpoint for read and write operations</a:t>
            </a:r>
          </a:p>
          <a:p>
            <a:pPr>
              <a:spcAft>
                <a:spcPts val="1000"/>
              </a:spcAft>
            </a:pPr>
            <a:r>
              <a:rPr sz="1800" b="0">
                <a:solidFill>
                  <a:srgbClr val="161B26"/>
                </a:solidFill>
                <a:latin typeface="Arial"/>
              </a:rPr>
              <a:t>•  Cluster Mode Disabled Cluster</a:t>
            </a:r>
          </a:p>
          <a:p>
            <a:pPr>
              <a:spcAft>
                <a:spcPts val="1000"/>
              </a:spcAft>
            </a:pPr>
            <a:r>
              <a:rPr sz="1800" b="0">
                <a:solidFill>
                  <a:srgbClr val="161B26"/>
                </a:solidFill>
                <a:latin typeface="Arial"/>
              </a:rPr>
              <a:t>•  Primary Endpoint - for all write operations</a:t>
            </a:r>
          </a:p>
          <a:p>
            <a:pPr>
              <a:spcAft>
                <a:spcPts val="1000"/>
              </a:spcAft>
            </a:pPr>
            <a:r>
              <a:rPr sz="1800" b="0">
                <a:solidFill>
                  <a:srgbClr val="161B26"/>
                </a:solidFill>
                <a:latin typeface="Arial"/>
              </a:rPr>
              <a:t>•  Reader Endpoint - evenly split read operations across all read replicas</a:t>
            </a:r>
          </a:p>
          <a:p>
            <a:pPr>
              <a:spcAft>
                <a:spcPts val="1000"/>
              </a:spcAft>
            </a:pPr>
            <a:r>
              <a:rPr sz="1800" b="0">
                <a:solidFill>
                  <a:srgbClr val="161B26"/>
                </a:solidFill>
                <a:latin typeface="Arial"/>
              </a:rPr>
              <a:t>•  Node Endpoint - for read operations</a:t>
            </a:r>
          </a:p>
          <a:p>
            <a:pPr>
              <a:spcAft>
                <a:spcPts val="1000"/>
              </a:spcAft>
            </a:pPr>
            <a:r>
              <a:rPr sz="1800" b="0">
                <a:solidFill>
                  <a:srgbClr val="161B26"/>
                </a:solidFill>
                <a:latin typeface="Arial"/>
              </a:rPr>
              <a:t>•  Cluster Mode EnabledCluster</a:t>
            </a:r>
          </a:p>
          <a:p>
            <a:pPr>
              <a:spcAft>
                <a:spcPts val="1000"/>
              </a:spcAft>
            </a:pPr>
            <a:r>
              <a:rPr sz="1800" b="0">
                <a:solidFill>
                  <a:srgbClr val="161B26"/>
                </a:solidFill>
                <a:latin typeface="Arial"/>
              </a:rPr>
              <a:t>•  Configuration Endpoint - for all read/write operations that support Cluster Mode Enabled commands</a:t>
            </a:r>
          </a:p>
          <a:p>
            <a:pPr>
              <a:spcAft>
                <a:spcPts val="1000"/>
              </a:spcAft>
            </a:pPr>
            <a:r>
              <a:rPr sz="1800" b="0">
                <a:solidFill>
                  <a:srgbClr val="161B26"/>
                </a:solidFill>
                <a:latin typeface="Arial"/>
              </a:rPr>
              <a:t>•  Node Endpoint - for read operations</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Read Replicas</a:t>
            </a:r>
          </a:p>
          <a:p>
            <a:pPr>
              <a:spcAft>
                <a:spcPts val="1000"/>
              </a:spcAft>
            </a:pPr>
            <a:r>
              <a:rPr sz="1800" b="0">
                <a:solidFill>
                  <a:srgbClr val="161B26"/>
                </a:solidFill>
                <a:latin typeface="Arial"/>
              </a:rPr>
              <a:t>•  Primary Endpoint</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Reader Endpoint</a:t>
            </a:r>
          </a:p>
          <a:p>
            <a:pPr>
              <a:spcAft>
                <a:spcPts val="1000"/>
              </a:spcAft>
            </a:pPr>
            <a:r>
              <a:rPr sz="1800" b="0">
                <a:solidFill>
                  <a:srgbClr val="161B26"/>
                </a:solidFill>
                <a:latin typeface="Arial"/>
              </a:rPr>
              <a:t>•  writes</a:t>
            </a:r>
          </a:p>
          <a:p>
            <a:pPr>
              <a:spcAft>
                <a:spcPts val="1000"/>
              </a:spcAft>
            </a:pPr>
            <a:r>
              <a:rPr sz="1800" b="0">
                <a:solidFill>
                  <a:srgbClr val="161B26"/>
                </a:solidFill>
                <a:latin typeface="Arial"/>
              </a:rPr>
              <a:t>•  reads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Elastic Cache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68116"/>
            <a:ext cx="10479024" cy="30019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61_0.png"/>
          <p:cNvPicPr>
            <a:picLocks noChangeAspect="1"/>
          </p:cNvPicPr>
          <p:nvPr/>
        </p:nvPicPr>
        <p:blipFill>
          <a:blip r:embed="rId2"/>
          <a:stretch>
            <a:fillRect/>
          </a:stretch>
        </p:blipFill>
        <p:spPr>
          <a:xfrm>
            <a:off x="868680" y="2595548"/>
            <a:ext cx="10424160" cy="294706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Scaling - Cluster Mode Disabled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Horizontal:</a:t>
            </a:r>
          </a:p>
          <a:p>
            <a:pPr>
              <a:spcAft>
                <a:spcPts val="1000"/>
              </a:spcAft>
            </a:pPr>
            <a:r>
              <a:rPr sz="1800" b="0">
                <a:solidFill>
                  <a:srgbClr val="161B26"/>
                </a:solidFill>
                <a:latin typeface="Arial"/>
              </a:rPr>
              <a:t>•  Scale out/in by adding/removing read replicas (max. 5 replicas)</a:t>
            </a:r>
          </a:p>
          <a:p>
            <a:pPr>
              <a:spcAft>
                <a:spcPts val="1000"/>
              </a:spcAft>
            </a:pPr>
            <a:r>
              <a:rPr sz="1800" b="0">
                <a:solidFill>
                  <a:srgbClr val="161B26"/>
                </a:solidFill>
                <a:latin typeface="Arial"/>
              </a:rPr>
              <a:t>•  Vertical:</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ElastiCache will internally create a new node group, then data replication and DNS update</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DNS update</a:t>
            </a:r>
          </a:p>
          <a:p>
            <a:pPr>
              <a:spcAft>
                <a:spcPts val="1000"/>
              </a:spcAft>
            </a:pPr>
            <a:r>
              <a:rPr sz="1800" b="0">
                <a:solidFill>
                  <a:srgbClr val="161B26"/>
                </a:solidFill>
                <a:latin typeface="Arial"/>
              </a:rPr>
              <a:t>•  Old Node Group	New Node 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Scaling - Cluster Mode Enabled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Two Modes:</a:t>
            </a:r>
          </a:p>
          <a:p>
            <a:pPr>
              <a:spcAft>
                <a:spcPts val="1000"/>
              </a:spcAft>
            </a:pPr>
            <a:r>
              <a:rPr sz="1800" b="0">
                <a:solidFill>
                  <a:srgbClr val="161B26"/>
                </a:solidFill>
                <a:latin typeface="Arial"/>
              </a:rPr>
              <a:t>•  Online Scaling: continue serving requests during the scaling process (no downtime, some degradation in performance)</a:t>
            </a:r>
          </a:p>
          <a:p>
            <a:pPr>
              <a:spcAft>
                <a:spcPts val="1000"/>
              </a:spcAft>
            </a:pPr>
            <a:r>
              <a:rPr sz="1800" b="0">
                <a:solidFill>
                  <a:srgbClr val="161B26"/>
                </a:solidFill>
                <a:latin typeface="Arial"/>
              </a:rPr>
              <a:t>•  Offline Scaling: unable to serve requests during the scaling process (backup and</a:t>
            </a:r>
          </a:p>
          <a:p>
            <a:pPr>
              <a:spcAft>
                <a:spcPts val="1000"/>
              </a:spcAft>
            </a:pPr>
            <a:r>
              <a:rPr sz="1800" b="0">
                <a:solidFill>
                  <a:srgbClr val="161B26"/>
                </a:solidFill>
                <a:latin typeface="Arial"/>
              </a:rPr>
              <a:t>•  restore). Additional configurations supported (change node type, upgrade engine version, …)</a:t>
            </a:r>
          </a:p>
          <a:p>
            <a:pPr>
              <a:spcAft>
                <a:spcPts val="1000"/>
              </a:spcAft>
            </a:pPr>
            <a:r>
              <a:rPr sz="1800" b="0">
                <a:solidFill>
                  <a:srgbClr val="161B26"/>
                </a:solidFill>
                <a:latin typeface="Arial"/>
              </a:rPr>
              <a:t>•  Horizontal: (Resharding and Shard Rebalancing)</a:t>
            </a:r>
          </a:p>
          <a:p>
            <a:pPr>
              <a:spcAft>
                <a:spcPts val="1000"/>
              </a:spcAft>
            </a:pPr>
            <a:r>
              <a:rPr sz="1800" b="0">
                <a:solidFill>
                  <a:srgbClr val="161B26"/>
                </a:solidFill>
                <a:latin typeface="Arial"/>
              </a:rPr>
              <a:t>•  Resharding: scale out/in by adding/removing shards</a:t>
            </a:r>
          </a:p>
          <a:p>
            <a:pPr>
              <a:spcAft>
                <a:spcPts val="1000"/>
              </a:spcAft>
            </a:pPr>
            <a:r>
              <a:rPr sz="1800" b="0">
                <a:solidFill>
                  <a:srgbClr val="161B26"/>
                </a:solidFill>
                <a:latin typeface="Arial"/>
              </a:rPr>
              <a:t>•  Shard Rebalancing: equally distribute the keyspaces among the shards as possible</a:t>
            </a:r>
          </a:p>
          <a:p>
            <a:pPr>
              <a:spcAft>
                <a:spcPts val="1000"/>
              </a:spcAft>
            </a:pPr>
            <a:r>
              <a:rPr sz="1800" b="0">
                <a:solidFill>
                  <a:srgbClr val="161B26"/>
                </a:solidFill>
                <a:latin typeface="Arial"/>
              </a:rPr>
              <a:t>•  Supports Online and Offline Scaling</a:t>
            </a:r>
          </a:p>
          <a:p>
            <a:pPr>
              <a:spcAft>
                <a:spcPts val="1000"/>
              </a:spcAft>
            </a:pPr>
            <a:r>
              <a:rPr sz="1800" b="0">
                <a:solidFill>
                  <a:srgbClr val="161B26"/>
                </a:solidFill>
                <a:latin typeface="Arial"/>
              </a:rPr>
              <a:t>•  Vertical: (change read/write capacity)</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Supports Online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Metrics to Monitor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Evictions: the number of non-expired items the cache evicted to allow space for new writes (memory is overfilled). Solution:</a:t>
            </a:r>
          </a:p>
          <a:p>
            <a:pPr>
              <a:spcAft>
                <a:spcPts val="1000"/>
              </a:spcAft>
            </a:pPr>
            <a:r>
              <a:rPr sz="1800" b="0">
                <a:solidFill>
                  <a:srgbClr val="161B26"/>
                </a:solidFill>
                <a:latin typeface="Arial"/>
              </a:rPr>
              <a:t>•  Choose an eviction policy to evict expired items (e.g., evict least recently used (LRU) items)</a:t>
            </a:r>
          </a:p>
          <a:p>
            <a:pPr>
              <a:spcAft>
                <a:spcPts val="1000"/>
              </a:spcAft>
            </a:pPr>
            <a:r>
              <a:rPr sz="1800" b="0">
                <a:solidFill>
                  <a:srgbClr val="161B26"/>
                </a:solidFill>
                <a:latin typeface="Arial"/>
              </a:rPr>
              <a:t>•  Scale up to larger node type (more memory) or scale out by adding more nodes</a:t>
            </a:r>
          </a:p>
          <a:p>
            <a:pPr>
              <a:spcAft>
                <a:spcPts val="1000"/>
              </a:spcAft>
            </a:pPr>
            <a:r>
              <a:rPr sz="1800" b="0">
                <a:solidFill>
                  <a:srgbClr val="161B26"/>
                </a:solidFill>
                <a:latin typeface="Arial"/>
              </a:rPr>
              <a:t>•  CPUUtilization: monitor CPU utilization for the entire host</a:t>
            </a:r>
          </a:p>
          <a:p>
            <a:pPr>
              <a:spcAft>
                <a:spcPts val="1000"/>
              </a:spcAft>
            </a:pPr>
            <a:r>
              <a:rPr sz="1800" b="0">
                <a:solidFill>
                  <a:srgbClr val="161B26"/>
                </a:solidFill>
                <a:latin typeface="Arial"/>
              </a:rPr>
              <a:t>•  Solution: scale up to larger node type (more memory) or scale out by adding more nodes</a:t>
            </a:r>
          </a:p>
          <a:p>
            <a:pPr>
              <a:spcAft>
                <a:spcPts val="1000"/>
              </a:spcAft>
            </a:pPr>
            <a:r>
              <a:rPr sz="1800" b="0">
                <a:solidFill>
                  <a:srgbClr val="161B26"/>
                </a:solidFill>
                <a:latin typeface="Arial"/>
              </a:rPr>
              <a:t>•  SwapUsage: should not exceed 50 MB</a:t>
            </a:r>
          </a:p>
          <a:p>
            <a:pPr>
              <a:spcAft>
                <a:spcPts val="1000"/>
              </a:spcAft>
            </a:pPr>
            <a:r>
              <a:rPr sz="1800" b="0">
                <a:solidFill>
                  <a:srgbClr val="161B26"/>
                </a:solidFill>
                <a:latin typeface="Arial"/>
              </a:rPr>
              <a:t>•  Solution: verify that you have configured enough reserved memory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Metrics to Monitor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CurrConnections: the number of concurrent and active connections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Solution: investigate application behavior to address the issue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DatabaseMemoryUsagePercentage: the percentage of memory utilization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NetworkBytesIn/Out &amp; NetworkPacketsIn/Out</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ReplicationBytes: the volume of data being replicated</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ReplicationLag: how far behind the replica is from the primary node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Memcached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Memcached Clusters can have 1-40 nodes (soft limit)</a:t>
            </a:r>
          </a:p>
          <a:p>
            <a:pPr>
              <a:spcAft>
                <a:spcPts val="1000"/>
              </a:spcAft>
            </a:pPr>
            <a:r>
              <a:rPr sz="1800" b="0">
                <a:solidFill>
                  <a:srgbClr val="161B26"/>
                </a:solidFill>
                <a:latin typeface="Arial"/>
              </a:rPr>
              <a:t>•  Horizontal:</a:t>
            </a:r>
          </a:p>
          <a:p>
            <a:pPr>
              <a:spcAft>
                <a:spcPts val="1000"/>
              </a:spcAft>
            </a:pPr>
            <a:r>
              <a:rPr sz="1800" b="0">
                <a:solidFill>
                  <a:srgbClr val="161B26"/>
                </a:solidFill>
                <a:latin typeface="Arial"/>
              </a:rPr>
              <a:t>•  Add/remove nodes from the cluster</a:t>
            </a:r>
          </a:p>
          <a:p>
            <a:pPr>
              <a:spcAft>
                <a:spcPts val="1000"/>
              </a:spcAft>
            </a:pPr>
            <a:r>
              <a:rPr sz="1800" b="0">
                <a:solidFill>
                  <a:srgbClr val="161B26"/>
                </a:solidFill>
                <a:latin typeface="Arial"/>
              </a:rPr>
              <a:t>•  Auto-discovery allow your app to find nodes</a:t>
            </a:r>
          </a:p>
          <a:p>
            <a:pPr>
              <a:spcAft>
                <a:spcPts val="1000"/>
              </a:spcAft>
            </a:pPr>
            <a:r>
              <a:rPr sz="1800" b="0">
                <a:solidFill>
                  <a:srgbClr val="161B26"/>
                </a:solidFill>
                <a:latin typeface="Arial"/>
              </a:rPr>
              <a:t>•  Vertical:</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Scale up process:</a:t>
            </a:r>
          </a:p>
          <a:p>
            <a:pPr>
              <a:spcAft>
                <a:spcPts val="1000"/>
              </a:spcAft>
            </a:pPr>
            <a:r>
              <a:rPr sz="1800" b="0">
                <a:solidFill>
                  <a:srgbClr val="161B26"/>
                </a:solidFill>
                <a:latin typeface="Arial"/>
              </a:rPr>
              <a:t>•  Create a new cluster with the new node type</a:t>
            </a:r>
          </a:p>
          <a:p>
            <a:pPr>
              <a:spcAft>
                <a:spcPts val="1000"/>
              </a:spcAft>
            </a:pPr>
            <a:r>
              <a:rPr sz="1800" b="0">
                <a:solidFill>
                  <a:srgbClr val="161B26"/>
                </a:solidFill>
                <a:latin typeface="Arial"/>
              </a:rPr>
              <a:t>•  Update your application to use the new cluster’s endpoints</a:t>
            </a:r>
          </a:p>
          <a:p>
            <a:pPr>
              <a:spcAft>
                <a:spcPts val="1000"/>
              </a:spcAft>
            </a:pPr>
            <a:r>
              <a:rPr sz="1800" b="0">
                <a:solidFill>
                  <a:srgbClr val="161B26"/>
                </a:solidFill>
                <a:latin typeface="Arial"/>
              </a:rPr>
              <a:t>•  Delete the old cluster</a:t>
            </a:r>
          </a:p>
          <a:p>
            <a:pPr>
              <a:spcAft>
                <a:spcPts val="1000"/>
              </a:spcAft>
            </a:pPr>
            <a:r>
              <a:rPr sz="1800" b="0">
                <a:solidFill>
                  <a:srgbClr val="161B26"/>
                </a:solidFill>
                <a:latin typeface="Arial"/>
              </a:rPr>
              <a:t>•  Memcached clusters/nodes start out empty</a:t>
            </a:r>
          </a:p>
          <a:p>
            <a:pPr>
              <a:spcAft>
                <a:spcPts val="1000"/>
              </a:spcAft>
            </a:pPr>
            <a:r>
              <a:rPr sz="1800" b="0">
                <a:solidFill>
                  <a:srgbClr val="161B26"/>
                </a:solidFill>
                <a:latin typeface="Arial"/>
              </a:rPr>
              <a:t>•  Horizontal Scaling</a:t>
            </a:r>
          </a:p>
          <a:p>
            <a:pPr>
              <a:spcAft>
                <a:spcPts val="1000"/>
              </a:spcAft>
            </a:pPr>
            <a:r>
              <a:rPr sz="1800" b="0">
                <a:solidFill>
                  <a:srgbClr val="161B26"/>
                </a:solidFill>
                <a:latin typeface="Arial"/>
              </a:rPr>
              <a:t>•  Memcached Cluster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Cache</a:t>
            </a:r>
          </a:p>
          <a:p>
            <a:pPr>
              <a:spcAft>
                <a:spcPts val="1000"/>
              </a:spcAft>
            </a:pPr>
            <a:r>
              <a:rPr sz="1800" b="0">
                <a:solidFill>
                  <a:srgbClr val="161B26"/>
                </a:solidFill>
                <a:latin typeface="Arial"/>
              </a:rPr>
              <a:t>•  Vertical Scaling</a:t>
            </a:r>
          </a:p>
          <a:p>
            <a:pPr>
              <a:spcAft>
                <a:spcPts val="1000"/>
              </a:spcAft>
            </a:pPr>
            <a:r>
              <a:rPr sz="1800" b="0">
                <a:solidFill>
                  <a:srgbClr val="161B26"/>
                </a:solidFill>
                <a:latin typeface="Arial"/>
              </a:rPr>
              <a:t>•  Memcached Cluster (Old)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Memcached Cluster (New)</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update endpoints</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populate data</a:t>
            </a:r>
          </a:p>
          <a:p>
            <a:pPr>
              <a:spcAft>
                <a:spcPts val="1000"/>
              </a:spcAft>
            </a:pPr>
            <a:r>
              <a:rPr sz="1800" b="0">
                <a:solidFill>
                  <a:srgbClr val="161B26"/>
                </a:solidFill>
                <a:latin typeface="Arial"/>
              </a:rPr>
              <a:t>•  auto-discovery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Memcached Auto Discovery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Typically you need to manually connect to individual cache nodes in the cluster using its DNS endpoints</a:t>
            </a:r>
          </a:p>
          <a:p>
            <a:pPr>
              <a:spcAft>
                <a:spcPts val="1000"/>
              </a:spcAft>
            </a:pPr>
            <a:r>
              <a:rPr sz="1800" b="0">
                <a:solidFill>
                  <a:srgbClr val="161B26"/>
                </a:solidFill>
                <a:latin typeface="Arial"/>
              </a:rPr>
              <a:t>•  Auto Discovery automatically identifies all of the nodes</a:t>
            </a:r>
          </a:p>
          <a:p>
            <a:pPr>
              <a:spcAft>
                <a:spcPts val="1000"/>
              </a:spcAft>
            </a:pPr>
            <a:r>
              <a:rPr sz="1800" b="0">
                <a:solidFill>
                  <a:srgbClr val="161B26"/>
                </a:solidFill>
                <a:latin typeface="Arial"/>
              </a:rPr>
              <a:t>•  All the cache nodes in the cluster maintain a list of metadata about all other nodes</a:t>
            </a:r>
          </a:p>
          <a:p>
            <a:pPr>
              <a:spcAft>
                <a:spcPts val="1000"/>
              </a:spcAft>
            </a:pPr>
            <a:r>
              <a:rPr sz="1800" b="0">
                <a:solidFill>
                  <a:srgbClr val="161B26"/>
                </a:solidFill>
                <a:latin typeface="Arial"/>
              </a:rPr>
              <a:t>•  This is seamless from a client perspective</a:t>
            </a:r>
          </a:p>
          <a:p>
            <a:pPr>
              <a:spcAft>
                <a:spcPts val="1000"/>
              </a:spcAft>
            </a:pPr>
            <a:r>
              <a:rPr sz="1800" b="0">
                <a:solidFill>
                  <a:srgbClr val="161B26"/>
                </a:solidFill>
                <a:latin typeface="Arial"/>
              </a:rPr>
              <a:t>•  Memcached Cluster</a:t>
            </a:r>
          </a:p>
          <a:p>
            <a:pPr>
              <a:spcAft>
                <a:spcPts val="1000"/>
              </a:spcAft>
            </a:pPr>
            <a:r>
              <a:rPr sz="1800" b="0">
                <a:solidFill>
                  <a:srgbClr val="161B26"/>
                </a:solidFill>
                <a:latin typeface="Arial"/>
              </a:rPr>
              <a:t>•  Cache Node 1</a:t>
            </a:r>
          </a:p>
          <a:p>
            <a:pPr>
              <a:spcAft>
                <a:spcPts val="1000"/>
              </a:spcAft>
            </a:pPr>
            <a:r>
              <a:rPr sz="1800" b="0">
                <a:solidFill>
                  <a:srgbClr val="161B26"/>
                </a:solidFill>
                <a:latin typeface="Arial"/>
              </a:rPr>
              <a:t>•  Cache Node 2</a:t>
            </a:r>
          </a:p>
          <a:p>
            <a:pPr>
              <a:spcAft>
                <a:spcPts val="1000"/>
              </a:spcAft>
            </a:pPr>
            <a:r>
              <a:rPr sz="1800" b="0">
                <a:solidFill>
                  <a:srgbClr val="161B26"/>
                </a:solidFill>
                <a:latin typeface="Arial"/>
              </a:rPr>
              <a:t>•  Cache Node 3</a:t>
            </a:r>
          </a:p>
          <a:p>
            <a:pPr>
              <a:spcAft>
                <a:spcPts val="1000"/>
              </a:spcAft>
            </a:pPr>
            <a:r>
              <a:rPr sz="1800" b="0">
                <a:solidFill>
                  <a:srgbClr val="161B26"/>
                </a:solidFill>
                <a:latin typeface="Arial"/>
              </a:rPr>
              <a:t>•  Cache Node 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connect to configuration endpoint</a:t>
            </a:r>
          </a:p>
          <a:p>
            <a:pPr>
              <a:spcAft>
                <a:spcPts val="1000"/>
              </a:spcAft>
            </a:pPr>
            <a:r>
              <a:rPr sz="1800" b="0">
                <a:solidFill>
                  <a:srgbClr val="161B26"/>
                </a:solidFill>
                <a:latin typeface="Arial"/>
              </a:rPr>
              <a:t>•  Cache Node 1 (IP address)</a:t>
            </a:r>
          </a:p>
          <a:p>
            <a:pPr>
              <a:spcAft>
                <a:spcPts val="1000"/>
              </a:spcAft>
            </a:pPr>
            <a:r>
              <a:rPr sz="1800" b="0">
                <a:solidFill>
                  <a:srgbClr val="161B26"/>
                </a:solidFill>
                <a:latin typeface="Arial"/>
              </a:rPr>
              <a:t>•  connect</a:t>
            </a:r>
          </a:p>
          <a:p>
            <a:pPr>
              <a:spcAft>
                <a:spcPts val="1000"/>
              </a:spcAft>
            </a:pPr>
            <a:r>
              <a:rPr sz="1800" b="0">
                <a:solidFill>
                  <a:srgbClr val="161B26"/>
                </a:solidFill>
                <a:latin typeface="Arial"/>
              </a:rPr>
              <a:t>•  Nodes’ metadata:</a:t>
            </a:r>
          </a:p>
          <a:p>
            <a:pPr>
              <a:spcAft>
                <a:spcPts val="1000"/>
              </a:spcAft>
            </a:pPr>
            <a:r>
              <a:rPr sz="1800" b="0">
                <a:solidFill>
                  <a:srgbClr val="161B26"/>
                </a:solidFill>
                <a:latin typeface="Arial"/>
              </a:rPr>
              <a:t>•  Node 1: 12.28.33.24</a:t>
            </a:r>
          </a:p>
          <a:p>
            <a:pPr>
              <a:spcAft>
                <a:spcPts val="1000"/>
              </a:spcAft>
            </a:pPr>
            <a:r>
              <a:rPr sz="1800" b="0">
                <a:solidFill>
                  <a:srgbClr val="161B26"/>
                </a:solidFill>
                <a:latin typeface="Arial"/>
              </a:rPr>
              <a:t>•  Node 2: 43.52.61.27</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Memcached Metrics to Monitor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Evictions: the number of non-expired items the cache evicted to allow space for new writes (memory is overfilled). Solution:</a:t>
            </a:r>
          </a:p>
          <a:p>
            <a:pPr>
              <a:spcAft>
                <a:spcPts val="1000"/>
              </a:spcAft>
            </a:pPr>
            <a:r>
              <a:rPr sz="1800" b="0">
                <a:solidFill>
                  <a:srgbClr val="161B26"/>
                </a:solidFill>
                <a:latin typeface="Arial"/>
              </a:rPr>
              <a:t>•  Choose an eviction policy to evict expired items (e.g., LRU items)</a:t>
            </a:r>
          </a:p>
          <a:p>
            <a:pPr>
              <a:spcAft>
                <a:spcPts val="1000"/>
              </a:spcAft>
            </a:pPr>
            <a:r>
              <a:rPr sz="1800" b="0">
                <a:solidFill>
                  <a:srgbClr val="161B26"/>
                </a:solidFill>
                <a:latin typeface="Arial"/>
              </a:rPr>
              <a:t>•  Scale up to larger node type (more memory) or scale out by adding more nodes</a:t>
            </a:r>
          </a:p>
          <a:p>
            <a:pPr>
              <a:spcAft>
                <a:spcPts val="1000"/>
              </a:spcAft>
            </a:pPr>
            <a:r>
              <a:rPr sz="1800" b="0">
                <a:solidFill>
                  <a:srgbClr val="161B26"/>
                </a:solidFill>
                <a:latin typeface="Arial"/>
              </a:rPr>
              <a:t>•  CPUUtilization</a:t>
            </a:r>
          </a:p>
          <a:p>
            <a:pPr>
              <a:spcAft>
                <a:spcPts val="1000"/>
              </a:spcAft>
            </a:pPr>
            <a:r>
              <a:rPr sz="1800" b="0">
                <a:solidFill>
                  <a:srgbClr val="161B26"/>
                </a:solidFill>
                <a:latin typeface="Arial"/>
              </a:rPr>
              <a:t>•  Solution: scale up to larger node type or scale out by adding more nodes</a:t>
            </a:r>
          </a:p>
          <a:p>
            <a:pPr>
              <a:spcAft>
                <a:spcPts val="1000"/>
              </a:spcAft>
            </a:pPr>
            <a:r>
              <a:rPr sz="1800" b="0">
                <a:solidFill>
                  <a:srgbClr val="161B26"/>
                </a:solidFill>
                <a:latin typeface="Arial"/>
              </a:rPr>
              <a:t>•  SwapUsage: should not exceed 50 MB</a:t>
            </a:r>
          </a:p>
          <a:p>
            <a:pPr>
              <a:spcAft>
                <a:spcPts val="1000"/>
              </a:spcAft>
            </a:pPr>
            <a:r>
              <a:rPr sz="1800" b="0">
                <a:solidFill>
                  <a:srgbClr val="161B26"/>
                </a:solidFill>
                <a:latin typeface="Arial"/>
              </a:rPr>
              <a:t>•  CurrConnections: the number of concurrent and active connections</a:t>
            </a:r>
          </a:p>
          <a:p>
            <a:pPr>
              <a:spcAft>
                <a:spcPts val="1000"/>
              </a:spcAft>
            </a:pPr>
            <a:r>
              <a:rPr sz="1800" b="0">
                <a:solidFill>
                  <a:srgbClr val="161B26"/>
                </a:solidFill>
                <a:latin typeface="Arial"/>
              </a:rPr>
              <a:t>•  Solution: investigate application behavior to address the issue</a:t>
            </a:r>
          </a:p>
          <a:p>
            <a:pPr>
              <a:spcAft>
                <a:spcPts val="1000"/>
              </a:spcAft>
            </a:pPr>
            <a:r>
              <a:rPr sz="1800" b="0">
                <a:solidFill>
                  <a:srgbClr val="161B26"/>
                </a:solidFill>
                <a:latin typeface="Arial"/>
              </a:rPr>
              <a:t>•  Freeable Memory: amount of free memory on the host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Manage the underlying EC2 instance, disable SSH access</a:t>
            </a:r>
          </a:p>
          <a:p>
            <a:pPr>
              <a:spcAft>
                <a:spcPts val="1000"/>
              </a:spcAft>
            </a:pPr>
            <a:r>
              <a:rPr sz="1800" b="0">
                <a:solidFill>
                  <a:srgbClr val="161B26"/>
                </a:solidFill>
                <a:latin typeface="Arial"/>
              </a:rPr>
              <a:t>•  Automated DB patching</a:t>
            </a:r>
          </a:p>
          <a:p>
            <a:pPr>
              <a:spcAft>
                <a:spcPts val="1000"/>
              </a:spcAft>
            </a:pPr>
            <a:r>
              <a:rPr sz="1800" b="0">
                <a:solidFill>
                  <a:srgbClr val="161B26"/>
                </a:solidFill>
                <a:latin typeface="Arial"/>
              </a:rPr>
              <a:t>•  Automated OS patching</a:t>
            </a:r>
          </a:p>
          <a:p>
            <a:pPr>
              <a:spcAft>
                <a:spcPts val="1000"/>
              </a:spcAft>
            </a:pPr>
            <a:r>
              <a:rPr sz="1800" b="0">
                <a:solidFill>
                  <a:srgbClr val="161B26"/>
                </a:solidFill>
                <a:latin typeface="Arial"/>
              </a:rPr>
              <a:t>•  Audit the underlying instance and disks &amp; guarantee it functions</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Check the ports / IP / security group inbound rules in DB’s SG</a:t>
            </a:r>
          </a:p>
          <a:p>
            <a:pPr>
              <a:spcAft>
                <a:spcPts val="1000"/>
              </a:spcAft>
            </a:pPr>
            <a:r>
              <a:rPr sz="1800" b="0">
                <a:solidFill>
                  <a:srgbClr val="161B26"/>
                </a:solidFill>
                <a:latin typeface="Arial"/>
              </a:rPr>
              <a:t>•  In-database user creation and permissions</a:t>
            </a:r>
          </a:p>
          <a:p>
            <a:pPr>
              <a:spcAft>
                <a:spcPts val="1000"/>
              </a:spcAft>
            </a:pPr>
            <a:r>
              <a:rPr sz="1800" b="0">
                <a:solidFill>
                  <a:srgbClr val="161B26"/>
                </a:solidFill>
                <a:latin typeface="Arial"/>
              </a:rPr>
              <a:t>•  Creating a database with or without public access</a:t>
            </a:r>
          </a:p>
          <a:p>
            <a:pPr>
              <a:spcAft>
                <a:spcPts val="1000"/>
              </a:spcAft>
            </a:pPr>
            <a:r>
              <a:rPr sz="1800" b="0">
                <a:solidFill>
                  <a:srgbClr val="161B26"/>
                </a:solidFill>
                <a:latin typeface="Arial"/>
              </a:rPr>
              <a:t>•  Ensure parameter groups or DB is configured to only allow SSL connections</a:t>
            </a:r>
          </a:p>
          <a:p>
            <a:pPr>
              <a:spcAft>
                <a:spcPts val="1000"/>
              </a:spcAft>
            </a:pPr>
            <a:r>
              <a:rPr sz="1800" b="0">
                <a:solidFill>
                  <a:srgbClr val="161B26"/>
                </a:solidFill>
                <a:latin typeface="Arial"/>
              </a:rPr>
              <a:t>•  Database encryption setting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Guarantee you get unlimited storage</a:t>
            </a:r>
          </a:p>
          <a:p>
            <a:pPr>
              <a:spcAft>
                <a:spcPts val="1000"/>
              </a:spcAft>
            </a:pPr>
            <a:r>
              <a:rPr sz="1800" b="0">
                <a:solidFill>
                  <a:srgbClr val="161B26"/>
                </a:solidFill>
                <a:latin typeface="Arial"/>
              </a:rPr>
              <a:t>•  Guarantee you get encryption</a:t>
            </a:r>
          </a:p>
          <a:p>
            <a:pPr>
              <a:spcAft>
                <a:spcPts val="1000"/>
              </a:spcAft>
            </a:pPr>
            <a:r>
              <a:rPr sz="1800" b="0">
                <a:solidFill>
                  <a:srgbClr val="161B26"/>
                </a:solidFill>
                <a:latin typeface="Arial"/>
              </a:rPr>
              <a:t>•  Ensure separation of the data between different customers</a:t>
            </a:r>
          </a:p>
          <a:p>
            <a:pPr>
              <a:spcAft>
                <a:spcPts val="1000"/>
              </a:spcAft>
            </a:pPr>
            <a:r>
              <a:rPr sz="1800" b="0">
                <a:solidFill>
                  <a:srgbClr val="161B26"/>
                </a:solidFill>
                <a:latin typeface="Arial"/>
              </a:rPr>
              <a:t>•  Ensure AWS employees can’t access your data</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Bucket configuration</a:t>
            </a:r>
          </a:p>
          <a:p>
            <a:pPr>
              <a:spcAft>
                <a:spcPts val="1000"/>
              </a:spcAft>
            </a:pPr>
            <a:r>
              <a:rPr sz="1800" b="0">
                <a:solidFill>
                  <a:srgbClr val="161B26"/>
                </a:solidFill>
                <a:latin typeface="Arial"/>
              </a:rPr>
              <a:t>•  Bucket policy / public setting</a:t>
            </a:r>
          </a:p>
          <a:p>
            <a:pPr>
              <a:spcAft>
                <a:spcPts val="1000"/>
              </a:spcAft>
            </a:pPr>
            <a:r>
              <a:rPr sz="1800" b="0">
                <a:solidFill>
                  <a:srgbClr val="161B26"/>
                </a:solidFill>
                <a:latin typeface="Arial"/>
              </a:rPr>
              <a:t>•  IAM user and roles</a:t>
            </a:r>
          </a:p>
          <a:p>
            <a:pPr>
              <a:spcAft>
                <a:spcPts val="1000"/>
              </a:spcAft>
            </a:pPr>
            <a:r>
              <a:rPr sz="1800" b="0">
                <a:solidFill>
                  <a:srgbClr val="161B26"/>
                </a:solidFill>
                <a:latin typeface="Arial"/>
              </a:rPr>
              <a:t>•  Enabling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Monitoring, Audit &amp; Performance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67111" y="1801368"/>
            <a:ext cx="842729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72_0.png"/>
          <p:cNvPicPr>
            <a:picLocks noChangeAspect="1"/>
          </p:cNvPicPr>
          <p:nvPr/>
        </p:nvPicPr>
        <p:blipFill>
          <a:blip r:embed="rId2"/>
          <a:stretch>
            <a:fillRect/>
          </a:stretch>
        </p:blipFill>
        <p:spPr>
          <a:xfrm>
            <a:off x="1894543" y="1828800"/>
            <a:ext cx="837243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73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CloudWatch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provides metrics for every services in AWS</a:t>
            </a:r>
          </a:p>
          <a:p>
            <a:pPr>
              <a:spcAft>
                <a:spcPts val="1000"/>
              </a:spcAft>
            </a:pPr>
            <a:r>
              <a:rPr sz="1800" b="0">
                <a:solidFill>
                  <a:srgbClr val="161B26"/>
                </a:solidFill>
                <a:latin typeface="Arial"/>
              </a:rPr>
              <a:t>•  Metric is a variable to monitor (CPUUtilization, NetworkIn…)</a:t>
            </a:r>
          </a:p>
          <a:p>
            <a:pPr>
              <a:spcAft>
                <a:spcPts val="1000"/>
              </a:spcAft>
            </a:pPr>
            <a:r>
              <a:rPr sz="1800" b="0">
                <a:solidFill>
                  <a:srgbClr val="161B26"/>
                </a:solidFill>
                <a:latin typeface="Arial"/>
              </a:rPr>
              <a:t>•  Metrics belong to namespaces</a:t>
            </a:r>
          </a:p>
          <a:p>
            <a:pPr>
              <a:spcAft>
                <a:spcPts val="1000"/>
              </a:spcAft>
            </a:pPr>
            <a:r>
              <a:rPr sz="1800" b="0">
                <a:solidFill>
                  <a:srgbClr val="161B26"/>
                </a:solidFill>
                <a:latin typeface="Arial"/>
              </a:rPr>
              <a:t>•  Dimension is an attribute of a metric (instance id, environment, etc…).</a:t>
            </a:r>
          </a:p>
          <a:p>
            <a:pPr>
              <a:spcAft>
                <a:spcPts val="1000"/>
              </a:spcAft>
            </a:pPr>
            <a:r>
              <a:rPr sz="1800" b="0">
                <a:solidFill>
                  <a:srgbClr val="161B26"/>
                </a:solidFill>
                <a:latin typeface="Arial"/>
              </a:rPr>
              <a:t>•  Up to 30 dimensions per metric</a:t>
            </a:r>
          </a:p>
          <a:p>
            <a:pPr>
              <a:spcAft>
                <a:spcPts val="1000"/>
              </a:spcAft>
            </a:pPr>
            <a:r>
              <a:rPr sz="1800" b="0">
                <a:solidFill>
                  <a:srgbClr val="161B26"/>
                </a:solidFill>
                <a:latin typeface="Arial"/>
              </a:rPr>
              <a:t>•  Metrics have timestamps</a:t>
            </a:r>
          </a:p>
          <a:p>
            <a:pPr>
              <a:spcAft>
                <a:spcPts val="1000"/>
              </a:spcAft>
            </a:pPr>
            <a:r>
              <a:rPr sz="1800" b="0">
                <a:solidFill>
                  <a:srgbClr val="161B26"/>
                </a:solidFill>
                <a:latin typeface="Arial"/>
              </a:rPr>
              <a:t>•  Can create CloudWatch dashboards of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Detailed monitoring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EC2 instance metrics have metrics “every 5 minutes”</a:t>
            </a:r>
          </a:p>
          <a:p>
            <a:pPr>
              <a:spcAft>
                <a:spcPts val="1000"/>
              </a:spcAft>
            </a:pPr>
            <a:r>
              <a:rPr sz="2000" b="0">
                <a:solidFill>
                  <a:srgbClr val="161B26"/>
                </a:solidFill>
                <a:latin typeface="Arial"/>
              </a:rPr>
              <a:t>•  With detailed monitoring (for a cost), you get data “every 1 minute”</a:t>
            </a:r>
          </a:p>
          <a:p>
            <a:pPr>
              <a:spcAft>
                <a:spcPts val="1000"/>
              </a:spcAft>
            </a:pPr>
            <a:r>
              <a:rPr sz="2000" b="0">
                <a:solidFill>
                  <a:srgbClr val="161B26"/>
                </a:solidFill>
                <a:latin typeface="Arial"/>
              </a:rPr>
              <a:t>•  Use detailed monitoring if you want to scale faster for your ASG!</a:t>
            </a:r>
          </a:p>
          <a:p>
            <a:pPr>
              <a:spcAft>
                <a:spcPts val="1000"/>
              </a:spcAft>
            </a:pPr>
            <a:r>
              <a:rPr sz="2000" b="0">
                <a:solidFill>
                  <a:srgbClr val="161B26"/>
                </a:solidFill>
                <a:latin typeface="Arial"/>
              </a:rPr>
              <a:t>•  The AWS Free Tier allows us to have 10 detailed monitoring metrics</a:t>
            </a:r>
          </a:p>
          <a:p>
            <a:pPr>
              <a:spcAft>
                <a:spcPts val="1000"/>
              </a:spcAft>
            </a:pPr>
            <a:r>
              <a:rPr sz="2000" b="0">
                <a:solidFill>
                  <a:srgbClr val="161B26"/>
                </a:solidFill>
                <a:latin typeface="Arial"/>
              </a:rPr>
              <a:t>•  Note: EC2 Memory usage is by default not pushed (must be pushed from inside the instance as a custom metric)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Custom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Possibility to define and send your own custom metrics to CloudWatch</a:t>
            </a:r>
          </a:p>
          <a:p>
            <a:pPr>
              <a:spcAft>
                <a:spcPts val="1000"/>
              </a:spcAft>
            </a:pPr>
            <a:r>
              <a:rPr sz="1800" b="0">
                <a:solidFill>
                  <a:srgbClr val="161B26"/>
                </a:solidFill>
                <a:latin typeface="Arial"/>
              </a:rPr>
              <a:t>•  Example: memory (RAM) usage, disk space, number of logged in users …</a:t>
            </a:r>
          </a:p>
          <a:p>
            <a:pPr>
              <a:spcAft>
                <a:spcPts val="1000"/>
              </a:spcAft>
            </a:pPr>
            <a:r>
              <a:rPr sz="1800" b="0">
                <a:solidFill>
                  <a:srgbClr val="161B26"/>
                </a:solidFill>
                <a:latin typeface="Arial"/>
              </a:rPr>
              <a:t>•  Use API call PutMetricData</a:t>
            </a:r>
          </a:p>
          <a:p>
            <a:pPr>
              <a:spcAft>
                <a:spcPts val="1000"/>
              </a:spcAft>
            </a:pPr>
            <a:r>
              <a:rPr sz="1800" b="0">
                <a:solidFill>
                  <a:srgbClr val="161B26"/>
                </a:solidFill>
                <a:latin typeface="Arial"/>
              </a:rPr>
              <a:t>•  Ability to use dimensions (attributes) to segment metrics</a:t>
            </a:r>
          </a:p>
          <a:p>
            <a:pPr>
              <a:spcAft>
                <a:spcPts val="1000"/>
              </a:spcAft>
            </a:pPr>
            <a:r>
              <a:rPr sz="1800" b="0">
                <a:solidFill>
                  <a:srgbClr val="161B26"/>
                </a:solidFill>
                <a:latin typeface="Arial"/>
              </a:rPr>
              <a:t>•  Instance.id</a:t>
            </a:r>
          </a:p>
          <a:p>
            <a:pPr>
              <a:spcAft>
                <a:spcPts val="1000"/>
              </a:spcAft>
            </a:pPr>
            <a:r>
              <a:rPr sz="1800" b="0">
                <a:solidFill>
                  <a:srgbClr val="161B26"/>
                </a:solidFill>
                <a:latin typeface="Arial"/>
              </a:rPr>
              <a:t>•  Environment.name</a:t>
            </a:r>
          </a:p>
          <a:p>
            <a:pPr>
              <a:spcAft>
                <a:spcPts val="1000"/>
              </a:spcAft>
            </a:pPr>
            <a:r>
              <a:rPr sz="1800" b="0">
                <a:solidFill>
                  <a:srgbClr val="161B26"/>
                </a:solidFill>
                <a:latin typeface="Arial"/>
              </a:rPr>
              <a:t>•  Metric resolution (StorageResolution API parameter - two possible value):</a:t>
            </a:r>
          </a:p>
          <a:p>
            <a:pPr>
              <a:spcAft>
                <a:spcPts val="1000"/>
              </a:spcAft>
            </a:pPr>
            <a:r>
              <a:rPr sz="1800" b="0">
                <a:solidFill>
                  <a:srgbClr val="161B26"/>
                </a:solidFill>
                <a:latin typeface="Arial"/>
              </a:rPr>
              <a:t>•  Standard: 1 minute (60 seconds)</a:t>
            </a:r>
          </a:p>
          <a:p>
            <a:pPr>
              <a:spcAft>
                <a:spcPts val="1000"/>
              </a:spcAft>
            </a:pPr>
            <a:r>
              <a:rPr sz="1800" b="0">
                <a:solidFill>
                  <a:srgbClr val="161B26"/>
                </a:solidFill>
                <a:latin typeface="Arial"/>
              </a:rPr>
              <a:t>•  High Resolution: 1/5/10/30 second(s) - Higher cost</a:t>
            </a:r>
          </a:p>
          <a:p>
            <a:pPr>
              <a:spcAft>
                <a:spcPts val="1000"/>
              </a:spcAft>
            </a:pPr>
            <a:r>
              <a:rPr sz="1800" b="0">
                <a:solidFill>
                  <a:srgbClr val="161B26"/>
                </a:solidFill>
                <a:latin typeface="Arial"/>
              </a:rPr>
              <a:t>•  Important: Accepts metric data points two weeks in the past and two hours in the future (make sure to configure your EC2 instance time correctly)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Dashboards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Great way to setup custom dashboards for quick access to key metrics and alarms</a:t>
            </a:r>
          </a:p>
          <a:p>
            <a:pPr>
              <a:spcAft>
                <a:spcPts val="1000"/>
              </a:spcAft>
            </a:pPr>
            <a:r>
              <a:rPr sz="1800" b="0">
                <a:solidFill>
                  <a:srgbClr val="161B26"/>
                </a:solidFill>
                <a:latin typeface="Arial"/>
              </a:rPr>
              <a:t>•  Dashboards are global</a:t>
            </a:r>
          </a:p>
          <a:p>
            <a:pPr>
              <a:spcAft>
                <a:spcPts val="1000"/>
              </a:spcAft>
            </a:pPr>
            <a:r>
              <a:rPr sz="1800" b="0">
                <a:solidFill>
                  <a:srgbClr val="161B26"/>
                </a:solidFill>
                <a:latin typeface="Arial"/>
              </a:rPr>
              <a:t>•  Dashboards can include graphs from different AWS accounts and regions</a:t>
            </a:r>
          </a:p>
          <a:p>
            <a:pPr>
              <a:spcAft>
                <a:spcPts val="1000"/>
              </a:spcAft>
            </a:pPr>
            <a:r>
              <a:rPr sz="1800" b="0">
                <a:solidFill>
                  <a:srgbClr val="161B26"/>
                </a:solidFill>
                <a:latin typeface="Arial"/>
              </a:rPr>
              <a:t>•  You can change the time zone &amp; time range of the dashboards</a:t>
            </a:r>
          </a:p>
          <a:p>
            <a:pPr>
              <a:spcAft>
                <a:spcPts val="1000"/>
              </a:spcAft>
            </a:pPr>
            <a:r>
              <a:rPr sz="1800" b="0">
                <a:solidFill>
                  <a:srgbClr val="161B26"/>
                </a:solidFill>
                <a:latin typeface="Arial"/>
              </a:rPr>
              <a:t>•  You can setup automatic refresh (10s, 1m, 2m, 5m, 15m)</a:t>
            </a:r>
          </a:p>
          <a:p>
            <a:pPr>
              <a:spcAft>
                <a:spcPts val="1000"/>
              </a:spcAft>
            </a:pPr>
            <a:r>
              <a:rPr sz="1800" b="0">
                <a:solidFill>
                  <a:srgbClr val="161B26"/>
                </a:solidFill>
                <a:latin typeface="Arial"/>
              </a:rPr>
              <a:t>•  Dashboards can be shared with people who don’t have an AWS account (public, email address, 3rd party SSO provider through Amazon Cognito)</a:t>
            </a:r>
          </a:p>
          <a:p>
            <a:pPr>
              <a:spcAft>
                <a:spcPts val="1000"/>
              </a:spcAft>
            </a:pPr>
            <a:r>
              <a:rPr sz="1800" b="0">
                <a:solidFill>
                  <a:srgbClr val="161B26"/>
                </a:solidFill>
                <a:latin typeface="Arial"/>
              </a:rPr>
              <a:t>•  Pricing:</a:t>
            </a:r>
          </a:p>
          <a:p>
            <a:pPr>
              <a:spcAft>
                <a:spcPts val="1000"/>
              </a:spcAft>
            </a:pPr>
            <a:r>
              <a:rPr sz="1800" b="0">
                <a:solidFill>
                  <a:srgbClr val="161B26"/>
                </a:solidFill>
                <a:latin typeface="Arial"/>
              </a:rPr>
              <a:t>•  3 dashboards (up to 50 metrics) for free</a:t>
            </a:r>
          </a:p>
          <a:p>
            <a:pPr>
              <a:spcAft>
                <a:spcPts val="1000"/>
              </a:spcAft>
            </a:pPr>
            <a:r>
              <a:rPr sz="1800" b="0">
                <a:solidFill>
                  <a:srgbClr val="161B26"/>
                </a:solidFill>
                <a:latin typeface="Arial"/>
              </a:rPr>
              <a:t>•  $3/dashboard/month afterwards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CloudWatch Dashboards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60785" y="1801368"/>
            <a:ext cx="94399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78_0.png"/>
          <p:cNvPicPr>
            <a:picLocks noChangeAspect="1"/>
          </p:cNvPicPr>
          <p:nvPr/>
        </p:nvPicPr>
        <p:blipFill>
          <a:blip r:embed="rId2"/>
          <a:stretch>
            <a:fillRect/>
          </a:stretch>
        </p:blipFill>
        <p:spPr>
          <a:xfrm>
            <a:off x="1388217" y="1828800"/>
            <a:ext cx="938508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Logs group: arbitrary name, usually representing an application</a:t>
            </a:r>
          </a:p>
          <a:p>
            <a:pPr>
              <a:spcAft>
                <a:spcPts val="1000"/>
              </a:spcAft>
            </a:pPr>
            <a:r>
              <a:rPr sz="1800" b="0">
                <a:solidFill>
                  <a:srgbClr val="161B26"/>
                </a:solidFill>
                <a:latin typeface="Arial"/>
              </a:rPr>
              <a:t>•  Log stream: instances within application / log files / containers</a:t>
            </a:r>
          </a:p>
          <a:p>
            <a:pPr>
              <a:spcAft>
                <a:spcPts val="1000"/>
              </a:spcAft>
            </a:pPr>
            <a:r>
              <a:rPr sz="1800" b="0">
                <a:solidFill>
                  <a:srgbClr val="161B26"/>
                </a:solidFill>
                <a:latin typeface="Arial"/>
              </a:rPr>
              <a:t>•  Can define log expiration policies (never expire, 1 day to 10 years…)</a:t>
            </a:r>
          </a:p>
          <a:p>
            <a:pPr>
              <a:spcAft>
                <a:spcPts val="1000"/>
              </a:spcAft>
            </a:pPr>
            <a:r>
              <a:rPr sz="1800" b="0">
                <a:solidFill>
                  <a:srgbClr val="161B26"/>
                </a:solidFill>
                <a:latin typeface="Arial"/>
              </a:rPr>
              <a:t>•  CloudWatch Logs can send logs to:</a:t>
            </a:r>
          </a:p>
          <a:p>
            <a:pPr>
              <a:spcAft>
                <a:spcPts val="1000"/>
              </a:spcAft>
            </a:pPr>
            <a:r>
              <a:rPr sz="1800" b="0">
                <a:solidFill>
                  <a:srgbClr val="161B26"/>
                </a:solidFill>
                <a:latin typeface="Arial"/>
              </a:rPr>
              <a:t>•  Amazon S3 (exports)</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Kinesis Data Firehose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OpenSearch</a:t>
            </a:r>
          </a:p>
          <a:p>
            <a:pPr>
              <a:spcAft>
                <a:spcPts val="1000"/>
              </a:spcAft>
            </a:pPr>
            <a:r>
              <a:rPr sz="1800" b="0">
                <a:solidFill>
                  <a:srgbClr val="161B26"/>
                </a:solidFill>
                <a:latin typeface="Arial"/>
              </a:rPr>
              <a:t>•  Logs are encrypted by default</a:t>
            </a:r>
          </a:p>
          <a:p>
            <a:pPr>
              <a:spcAft>
                <a:spcPts val="1000"/>
              </a:spcAft>
            </a:pPr>
            <a:r>
              <a:rPr sz="1800" b="0">
                <a:solidFill>
                  <a:srgbClr val="161B26"/>
                </a:solidFill>
                <a:latin typeface="Arial"/>
              </a:rPr>
              <a:t>•  Can setup KMS-based encryption with your own keys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 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SDK, CloudWatch Logs Agent, CloudWatch Unified Agent</a:t>
            </a:r>
          </a:p>
          <a:p>
            <a:pPr>
              <a:spcAft>
                <a:spcPts val="1000"/>
              </a:spcAft>
            </a:pPr>
            <a:r>
              <a:rPr sz="1800" b="0">
                <a:solidFill>
                  <a:srgbClr val="161B26"/>
                </a:solidFill>
                <a:latin typeface="Arial"/>
              </a:rPr>
              <a:t>•  Elastic Beanstalk: collection of logs from application</a:t>
            </a:r>
          </a:p>
          <a:p>
            <a:pPr>
              <a:spcAft>
                <a:spcPts val="1000"/>
              </a:spcAft>
            </a:pPr>
            <a:r>
              <a:rPr sz="1800" b="0">
                <a:solidFill>
                  <a:srgbClr val="161B26"/>
                </a:solidFill>
                <a:latin typeface="Arial"/>
              </a:rPr>
              <a:t>•  ECS: collection from containers</a:t>
            </a:r>
          </a:p>
          <a:p>
            <a:pPr>
              <a:spcAft>
                <a:spcPts val="1000"/>
              </a:spcAft>
            </a:pPr>
            <a:r>
              <a:rPr sz="1800" b="0">
                <a:solidFill>
                  <a:srgbClr val="161B26"/>
                </a:solidFill>
                <a:latin typeface="Arial"/>
              </a:rPr>
              <a:t>•  AWS Lambda: collection from function logs</a:t>
            </a:r>
          </a:p>
          <a:p>
            <a:pPr>
              <a:spcAft>
                <a:spcPts val="1000"/>
              </a:spcAft>
            </a:pPr>
            <a:r>
              <a:rPr sz="1800" b="0">
                <a:solidFill>
                  <a:srgbClr val="161B26"/>
                </a:solidFill>
                <a:latin typeface="Arial"/>
              </a:rPr>
              <a:t>•  VPC Flow Logs:VPC specific logs</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CloudTrail based on filter</a:t>
            </a:r>
          </a:p>
          <a:p>
            <a:pPr>
              <a:spcAft>
                <a:spcPts val="1000"/>
              </a:spcAft>
            </a:pPr>
            <a:r>
              <a:rPr sz="1800" b="0">
                <a:solidFill>
                  <a:srgbClr val="161B26"/>
                </a:solidFill>
                <a:latin typeface="Arial"/>
              </a:rPr>
              <a:t>•  Route53: Log DNS queries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9079" y="1801368"/>
            <a:ext cx="76633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81_0.jpg"/>
          <p:cNvPicPr>
            <a:picLocks noChangeAspect="1"/>
          </p:cNvPicPr>
          <p:nvPr/>
        </p:nvPicPr>
        <p:blipFill>
          <a:blip r:embed="rId2"/>
          <a:stretch>
            <a:fillRect/>
          </a:stretch>
        </p:blipFill>
        <p:spPr>
          <a:xfrm>
            <a:off x="2276511" y="1828800"/>
            <a:ext cx="760849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https://mng.workshop.aws/operations-2022/detect/cwlogs.html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Search and analyze log data stored in CloudWatch Logs</a:t>
            </a:r>
          </a:p>
          <a:p>
            <a:pPr>
              <a:spcAft>
                <a:spcPts val="1000"/>
              </a:spcAft>
            </a:pPr>
            <a:r>
              <a:rPr sz="1800" b="0">
                <a:solidFill>
                  <a:srgbClr val="161B26"/>
                </a:solidFill>
                <a:latin typeface="Arial"/>
              </a:rPr>
              <a:t>•  Example: find a specific IP inside a log, count occurrences of “ERROR” in your logs…</a:t>
            </a:r>
          </a:p>
          <a:p>
            <a:pPr>
              <a:spcAft>
                <a:spcPts val="1000"/>
              </a:spcAft>
            </a:pPr>
            <a:r>
              <a:rPr sz="1800" b="0">
                <a:solidFill>
                  <a:srgbClr val="161B26"/>
                </a:solidFill>
                <a:latin typeface="Arial"/>
              </a:rPr>
              <a:t>•  Provides a purpose-built query language</a:t>
            </a:r>
          </a:p>
          <a:p>
            <a:pPr>
              <a:spcAft>
                <a:spcPts val="1000"/>
              </a:spcAft>
            </a:pPr>
            <a:r>
              <a:rPr sz="1800" b="0">
                <a:solidFill>
                  <a:srgbClr val="161B26"/>
                </a:solidFill>
                <a:latin typeface="Arial"/>
              </a:rPr>
              <a:t>•  Automatically discovers fields from AWS services and JSON log events</a:t>
            </a:r>
          </a:p>
          <a:p>
            <a:pPr>
              <a:spcAft>
                <a:spcPts val="1000"/>
              </a:spcAft>
            </a:pPr>
            <a:r>
              <a:rPr sz="1800" b="0">
                <a:solidFill>
                  <a:srgbClr val="161B26"/>
                </a:solidFill>
                <a:latin typeface="Arial"/>
              </a:rPr>
              <a:t>•  Fetch desired event fields, filter based on conditions, calculate aggregate statistics, sort events, limit number of events…</a:t>
            </a:r>
          </a:p>
          <a:p>
            <a:pPr>
              <a:spcAft>
                <a:spcPts val="1000"/>
              </a:spcAft>
            </a:pPr>
            <a:r>
              <a:rPr sz="1800" b="0">
                <a:solidFill>
                  <a:srgbClr val="161B26"/>
                </a:solidFill>
                <a:latin typeface="Arial"/>
              </a:rPr>
              <a:t>•  Can save queries and add them to CloudWatch Dashboards</a:t>
            </a:r>
          </a:p>
          <a:p>
            <a:pPr>
              <a:spcAft>
                <a:spcPts val="1000"/>
              </a:spcAft>
            </a:pPr>
            <a:r>
              <a:rPr sz="1800" b="0">
                <a:solidFill>
                  <a:srgbClr val="161B26"/>
                </a:solidFill>
                <a:latin typeface="Arial"/>
              </a:rPr>
              <a:t>•  Can query multiple Log Groups in different AWS accounts</a:t>
            </a:r>
          </a:p>
          <a:p>
            <a:pPr>
              <a:spcAft>
                <a:spcPts val="1000"/>
              </a:spcAft>
            </a:pPr>
            <a:r>
              <a:rPr sz="1800" b="0">
                <a:solidFill>
                  <a:srgbClr val="161B26"/>
                </a:solidFill>
                <a:latin typeface="Arial"/>
              </a:rPr>
              <a:t>•  It’s a query engine, not a real-time engine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 S3 Export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Log data can take up to 12 hours to become available for export</a:t>
            </a:r>
          </a:p>
          <a:p>
            <a:pPr>
              <a:spcAft>
                <a:spcPts val="1000"/>
              </a:spcAft>
            </a:pPr>
            <a:r>
              <a:rPr sz="2000" b="0">
                <a:solidFill>
                  <a:srgbClr val="161B26"/>
                </a:solidFill>
                <a:latin typeface="Arial"/>
              </a:rPr>
              <a:t>•  The API call is CreateExportTaskNot near-real time or real-time… use Logs Subscriptions instead</a:t>
            </a:r>
          </a:p>
          <a:p>
            <a:pPr>
              <a:spcAft>
                <a:spcPts val="1000"/>
              </a:spcAft>
            </a:pPr>
            <a:r>
              <a:rPr sz="2000" b="0">
                <a:solidFill>
                  <a:srgbClr val="161B26"/>
                </a:solidFill>
                <a:latin typeface="Arial"/>
              </a:rPr>
              <a:t>•  CloudWatch Logs</a:t>
            </a:r>
          </a:p>
          <a:p>
            <a:pPr>
              <a:spcAft>
                <a:spcPts val="1000"/>
              </a:spcAft>
            </a:pPr>
            <a:r>
              <a:rPr sz="2000" b="0">
                <a:solidFill>
                  <a:srgbClr val="161B26"/>
                </a:solidFill>
                <a:latin typeface="Arial"/>
              </a:rPr>
              <a:t>•  Amazon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CloudWatch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80230"/>
            <a:ext cx="10479024" cy="4177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84_0.png"/>
          <p:cNvPicPr>
            <a:picLocks noChangeAspect="1"/>
          </p:cNvPicPr>
          <p:nvPr/>
        </p:nvPicPr>
        <p:blipFill>
          <a:blip r:embed="rId2"/>
          <a:stretch>
            <a:fillRect/>
          </a:stretch>
        </p:blipFill>
        <p:spPr>
          <a:xfrm>
            <a:off x="868680" y="2007662"/>
            <a:ext cx="10424160" cy="412283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Subscriptions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a real-time log events from CloudWatch Logs for processing and analysis</a:t>
            </a:r>
          </a:p>
          <a:p>
            <a:pPr>
              <a:spcAft>
                <a:spcPts val="1000"/>
              </a:spcAft>
            </a:pPr>
            <a:r>
              <a:rPr sz="1800" b="0">
                <a:solidFill>
                  <a:srgbClr val="161B26"/>
                </a:solidFill>
                <a:latin typeface="Arial"/>
              </a:rPr>
              <a:t>•  Send to Kinesis Data Streams, Kinesis Data Firehose, or Lambda</a:t>
            </a:r>
          </a:p>
          <a:p>
            <a:pPr>
              <a:spcAft>
                <a:spcPts val="1000"/>
              </a:spcAft>
            </a:pPr>
            <a:r>
              <a:rPr sz="1800" b="0">
                <a:solidFill>
                  <a:srgbClr val="161B26"/>
                </a:solidFill>
                <a:latin typeface="Arial"/>
              </a:rPr>
              <a:t>•  Subscription filter - filter which logs are events delivered to your destination</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Subscription Filter</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Kinesis Data Firehose</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OpenSearch Service</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real-time</a:t>
            </a:r>
          </a:p>
          <a:p>
            <a:pPr>
              <a:spcAft>
                <a:spcPts val="1000"/>
              </a:spcAft>
            </a:pPr>
            <a:r>
              <a:rPr sz="1800" b="0">
                <a:solidFill>
                  <a:srgbClr val="161B26"/>
                </a:solidFill>
                <a:latin typeface="Arial"/>
              </a:rPr>
              <a:t>•  near real-time</a:t>
            </a:r>
          </a:p>
          <a:p>
            <a:pPr>
              <a:spcAft>
                <a:spcPts val="1000"/>
              </a:spcAft>
            </a:pPr>
            <a:r>
              <a:rPr sz="1800" b="0">
                <a:solidFill>
                  <a:srgbClr val="161B26"/>
                </a:solidFill>
                <a:latin typeface="Arial"/>
              </a:rPr>
              <a:t>•  KDF  KDA</a:t>
            </a:r>
          </a:p>
          <a:p>
            <a:pPr>
              <a:spcAft>
                <a:spcPts val="1000"/>
              </a:spcAft>
            </a:pPr>
            <a:r>
              <a:rPr sz="1800" b="0">
                <a:solidFill>
                  <a:srgbClr val="161B26"/>
                </a:solidFill>
                <a:latin typeface="Arial"/>
              </a:rPr>
              <a:t>•  EC2  Lambda</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CloudWatch Logs Aggregation Multi-Account &amp; Multi Region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Kinesis Data Firehose</a:t>
            </a:r>
          </a:p>
          <a:p>
            <a:pPr>
              <a:spcAft>
                <a:spcPts val="1000"/>
              </a:spcAft>
            </a:pPr>
            <a:r>
              <a:rPr sz="1800" b="0">
                <a:solidFill>
                  <a:srgbClr val="161B26"/>
                </a:solidFill>
                <a:latin typeface="Arial"/>
              </a:rPr>
              <a:t>•  Near Real Time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ACCOUNT A REGION 1</a:t>
            </a:r>
          </a:p>
          <a:p>
            <a:pPr>
              <a:spcAft>
                <a:spcPts val="1000"/>
              </a:spcAft>
            </a:pPr>
            <a:r>
              <a:rPr sz="1800" b="0">
                <a:solidFill>
                  <a:srgbClr val="161B26"/>
                </a:solidFill>
                <a:latin typeface="Arial"/>
              </a:rPr>
              <a:t>•  CloudWatch Logs	Subscription Filter</a:t>
            </a:r>
          </a:p>
          <a:p>
            <a:pPr>
              <a:spcAft>
                <a:spcPts val="1000"/>
              </a:spcAft>
            </a:pPr>
            <a:r>
              <a:rPr sz="1800" b="0">
                <a:solidFill>
                  <a:srgbClr val="161B26"/>
                </a:solidFill>
                <a:latin typeface="Arial"/>
              </a:rPr>
              <a:t>•  ACCOUNT B REGION 2</a:t>
            </a:r>
          </a:p>
          <a:p>
            <a:pPr>
              <a:spcAft>
                <a:spcPts val="1000"/>
              </a:spcAft>
            </a:pPr>
            <a:r>
              <a:rPr sz="1800" b="0">
                <a:solidFill>
                  <a:srgbClr val="161B26"/>
                </a:solidFill>
                <a:latin typeface="Arial"/>
              </a:rPr>
              <a:t>•  CloudWatch Logs	Subscription Filter</a:t>
            </a:r>
          </a:p>
          <a:p>
            <a:pPr>
              <a:spcAft>
                <a:spcPts val="1000"/>
              </a:spcAft>
            </a:pPr>
            <a:r>
              <a:rPr sz="1800" b="0">
                <a:solidFill>
                  <a:srgbClr val="161B26"/>
                </a:solidFill>
                <a:latin typeface="Arial"/>
              </a:rPr>
              <a:t>•  ACCOUNT B REGION 3</a:t>
            </a:r>
          </a:p>
          <a:p>
            <a:pPr>
              <a:spcAft>
                <a:spcPts val="1000"/>
              </a:spcAft>
            </a:pPr>
            <a:r>
              <a:rPr sz="1800" b="0">
                <a:solidFill>
                  <a:srgbClr val="161B26"/>
                </a:solidFill>
                <a:latin typeface="Arial"/>
              </a:rPr>
              <a:t>•  CloudWatch Logs	Subscription Filter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Subscriptions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Cross-Account Subscription - send log events to resources in a different AWS account (KDS, KDF)</a:t>
            </a:r>
          </a:p>
          <a:p>
            <a:pPr>
              <a:spcAft>
                <a:spcPts val="1000"/>
              </a:spcAft>
            </a:pPr>
            <a:r>
              <a:rPr sz="1800" b="0">
                <a:solidFill>
                  <a:srgbClr val="161B26"/>
                </a:solidFill>
                <a:latin typeface="Arial"/>
              </a:rPr>
              <a:t>•  Account - Sender</a:t>
            </a:r>
          </a:p>
          <a:p>
            <a:pPr>
              <a:spcAft>
                <a:spcPts val="1000"/>
              </a:spcAft>
            </a:pPr>
            <a:r>
              <a:rPr sz="1800" b="0">
                <a:solidFill>
                  <a:srgbClr val="161B26"/>
                </a:solidFill>
                <a:latin typeface="Arial"/>
              </a:rPr>
              <a:t>•  (111111111111)</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Subscription</a:t>
            </a:r>
          </a:p>
          <a:p>
            <a:pPr>
              <a:spcAft>
                <a:spcPts val="1000"/>
              </a:spcAft>
            </a:pPr>
            <a:r>
              <a:rPr sz="1800" b="0">
                <a:solidFill>
                  <a:srgbClr val="161B26"/>
                </a:solidFill>
                <a:latin typeface="Arial"/>
              </a:rPr>
              <a:t>•  Filter</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Account - Recipient</a:t>
            </a:r>
          </a:p>
          <a:p>
            <a:pPr>
              <a:spcAft>
                <a:spcPts val="1000"/>
              </a:spcAft>
            </a:pPr>
            <a:r>
              <a:rPr sz="1800" b="0">
                <a:solidFill>
                  <a:srgbClr val="161B26"/>
                </a:solidFill>
                <a:latin typeface="Arial"/>
              </a:rPr>
              <a:t>•  (999999999999)</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(RecipientStream)</a:t>
            </a:r>
          </a:p>
          <a:p>
            <a:pPr>
              <a:spcAft>
                <a:spcPts val="1000"/>
              </a:spcAft>
            </a:pPr>
            <a:r>
              <a:rPr sz="1800" b="0">
                <a:solidFill>
                  <a:srgbClr val="161B26"/>
                </a:solidFill>
                <a:latin typeface="Arial"/>
              </a:rPr>
              <a:t>•  Subscription Destination</a:t>
            </a:r>
          </a:p>
          <a:p>
            <a:pPr>
              <a:spcAft>
                <a:spcPts val="1000"/>
              </a:spcAft>
            </a:pPr>
            <a:r>
              <a:rPr sz="1800" b="0">
                <a:solidFill>
                  <a:srgbClr val="161B26"/>
                </a:solidFill>
                <a:latin typeface="Arial"/>
              </a:rPr>
              <a:t>•  Destination Access Policy</a:t>
            </a:r>
          </a:p>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IAM Role (Cross-Account)</a:t>
            </a:r>
          </a:p>
          <a:p>
            <a:pPr>
              <a:spcAft>
                <a:spcPts val="1000"/>
              </a:spcAft>
            </a:pPr>
            <a:r>
              <a:rPr sz="1800" b="0">
                <a:solidFill>
                  <a:srgbClr val="161B26"/>
                </a:solidFill>
                <a:latin typeface="Arial"/>
              </a:rPr>
              <a:t>•  Destination Access Policy</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Can be assumed</a:t>
            </a:r>
          </a:p>
          <a:p>
            <a:pPr>
              <a:spcAft>
                <a:spcPts val="1000"/>
              </a:spcAft>
            </a:pPr>
            <a:r>
              <a:rPr sz="1800" b="0">
                <a:solidFill>
                  <a:srgbClr val="161B26"/>
                </a:solidFill>
                <a:latin typeface="Arial"/>
              </a:rPr>
              <a:t>•  allow PutRecord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Alarms are used to trigger notifications for any metric</a:t>
            </a:r>
          </a:p>
          <a:p>
            <a:pPr>
              <a:spcAft>
                <a:spcPts val="1000"/>
              </a:spcAft>
            </a:pPr>
            <a:r>
              <a:rPr sz="1800" b="0">
                <a:solidFill>
                  <a:srgbClr val="161B26"/>
                </a:solidFill>
                <a:latin typeface="Arial"/>
              </a:rPr>
              <a:t>•  Various options (sampling, %, max, min, etc…)</a:t>
            </a:r>
          </a:p>
          <a:p>
            <a:pPr>
              <a:spcAft>
                <a:spcPts val="1000"/>
              </a:spcAft>
            </a:pPr>
            <a:r>
              <a:rPr sz="1800" b="0">
                <a:solidFill>
                  <a:srgbClr val="161B26"/>
                </a:solidFill>
                <a:latin typeface="Arial"/>
              </a:rPr>
              <a:t>•  Alarm States:</a:t>
            </a:r>
          </a:p>
          <a:p>
            <a:pPr>
              <a:spcAft>
                <a:spcPts val="1000"/>
              </a:spcAft>
            </a:pPr>
            <a:r>
              <a:rPr sz="1800" b="0">
                <a:solidFill>
                  <a:srgbClr val="161B26"/>
                </a:solidFill>
                <a:latin typeface="Arial"/>
              </a:rPr>
              <a:t>•  OK</a:t>
            </a:r>
          </a:p>
          <a:p>
            <a:pPr>
              <a:spcAft>
                <a:spcPts val="1000"/>
              </a:spcAft>
            </a:pPr>
            <a:r>
              <a:rPr sz="1800" b="0">
                <a:solidFill>
                  <a:srgbClr val="161B26"/>
                </a:solidFill>
                <a:latin typeface="Arial"/>
              </a:rPr>
              <a:t>•  INSUFFICIENT_DATA</a:t>
            </a:r>
          </a:p>
          <a:p>
            <a:pPr>
              <a:spcAft>
                <a:spcPts val="1000"/>
              </a:spcAft>
            </a:pPr>
            <a:r>
              <a:rPr sz="1800" b="0">
                <a:solidFill>
                  <a:srgbClr val="161B26"/>
                </a:solidFill>
                <a:latin typeface="Arial"/>
              </a:rPr>
              <a:t>•  ALARM</a:t>
            </a:r>
          </a:p>
          <a:p>
            <a:pPr>
              <a:spcAft>
                <a:spcPts val="1000"/>
              </a:spcAft>
            </a:pPr>
            <a:r>
              <a:rPr sz="1800" b="0">
                <a:solidFill>
                  <a:srgbClr val="161B26"/>
                </a:solidFill>
                <a:latin typeface="Arial"/>
              </a:rPr>
              <a:t>•  Period:</a:t>
            </a:r>
          </a:p>
          <a:p>
            <a:pPr>
              <a:spcAft>
                <a:spcPts val="1000"/>
              </a:spcAft>
            </a:pPr>
            <a:r>
              <a:rPr sz="1800" b="0">
                <a:solidFill>
                  <a:srgbClr val="161B26"/>
                </a:solidFill>
                <a:latin typeface="Arial"/>
              </a:rPr>
              <a:t>•  Length of time in seconds to evaluate the metric</a:t>
            </a:r>
          </a:p>
          <a:p>
            <a:pPr>
              <a:spcAft>
                <a:spcPts val="1000"/>
              </a:spcAft>
            </a:pPr>
            <a:r>
              <a:rPr sz="1800" b="0">
                <a:solidFill>
                  <a:srgbClr val="161B26"/>
                </a:solidFill>
                <a:latin typeface="Arial"/>
              </a:rPr>
              <a:t>•  High resolution custom metrics: 10 sec, 30 sec or multiples of 60 sec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 Targets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Stop,Terminate, Reboot, or Recover an EC2 Instance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Trigger Auto Scaling Action</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Send notification to SNS (from which you can do pretty much anything)</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Amazon EC2</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Auto Scaling</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Amazon SNS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Alarms - Composite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Alarms are on a single metric</a:t>
            </a:r>
          </a:p>
          <a:p>
            <a:pPr>
              <a:spcAft>
                <a:spcPts val="1000"/>
              </a:spcAft>
            </a:pPr>
            <a:r>
              <a:rPr sz="1800" b="0">
                <a:solidFill>
                  <a:srgbClr val="161B26"/>
                </a:solidFill>
                <a:latin typeface="Arial"/>
              </a:rPr>
              <a:t>•  Composite Alarms are monitoring the states of multiple other alarms</a:t>
            </a:r>
          </a:p>
          <a:p>
            <a:pPr>
              <a:spcAft>
                <a:spcPts val="1000"/>
              </a:spcAft>
            </a:pPr>
            <a:r>
              <a:rPr sz="1800" b="0">
                <a:solidFill>
                  <a:srgbClr val="161B26"/>
                </a:solidFill>
                <a:latin typeface="Arial"/>
              </a:rPr>
              <a:t>•  AND and OR conditions</a:t>
            </a:r>
          </a:p>
          <a:p>
            <a:pPr>
              <a:spcAft>
                <a:spcPts val="1000"/>
              </a:spcAft>
            </a:pPr>
            <a:r>
              <a:rPr sz="1800" b="0">
                <a:solidFill>
                  <a:srgbClr val="161B26"/>
                </a:solidFill>
                <a:latin typeface="Arial"/>
              </a:rPr>
              <a:t>•  Helpful to reduce “alarm noise” by creating complex composite alarms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monitor CPU</a:t>
            </a:r>
          </a:p>
          <a:p>
            <a:pPr>
              <a:spcAft>
                <a:spcPts val="1000"/>
              </a:spcAft>
            </a:pPr>
            <a:r>
              <a:rPr sz="1800" b="0">
                <a:solidFill>
                  <a:srgbClr val="161B26"/>
                </a:solidFill>
                <a:latin typeface="Arial"/>
              </a:rPr>
              <a:t>•  monitor IOPS</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Composite Alarm</a:t>
            </a:r>
          </a:p>
          <a:p>
            <a:pPr>
              <a:spcAft>
                <a:spcPts val="1000"/>
              </a:spcAft>
            </a:pPr>
            <a:r>
              <a:rPr sz="1800" b="0">
                <a:solidFill>
                  <a:srgbClr val="161B26"/>
                </a:solidFill>
                <a:latin typeface="Arial"/>
              </a:rPr>
              <a:t>•  ALARM</a:t>
            </a:r>
          </a:p>
          <a:p>
            <a:pPr>
              <a:spcAft>
                <a:spcPts val="1000"/>
              </a:spcAft>
            </a:pPr>
            <a:r>
              <a:rPr sz="1800" b="0">
                <a:solidFill>
                  <a:srgbClr val="161B26"/>
                </a:solidFill>
                <a:latin typeface="Arial"/>
              </a:rPr>
              <a:t>•  CW Alarm - A</a:t>
            </a:r>
          </a:p>
          <a:p>
            <a:pPr>
              <a:spcAft>
                <a:spcPts val="1000"/>
              </a:spcAft>
            </a:pPr>
            <a:r>
              <a:rPr sz="1800" b="0">
                <a:solidFill>
                  <a:srgbClr val="161B26"/>
                </a:solidFill>
                <a:latin typeface="Arial"/>
              </a:rPr>
              <a:t>•  ALARM</a:t>
            </a:r>
          </a:p>
          <a:p>
            <a:pPr>
              <a:spcAft>
                <a:spcPts val="1000"/>
              </a:spcAft>
            </a:pPr>
            <a:r>
              <a:rPr sz="1800" b="0">
                <a:solidFill>
                  <a:srgbClr val="161B26"/>
                </a:solidFill>
                <a:latin typeface="Arial"/>
              </a:rPr>
              <a:t>•  CW Alarm - B</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CloudWatch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49690"/>
            <a:ext cx="10479024" cy="423877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91_0.png"/>
          <p:cNvPicPr>
            <a:picLocks noChangeAspect="1"/>
          </p:cNvPicPr>
          <p:nvPr/>
        </p:nvPicPr>
        <p:blipFill>
          <a:blip r:embed="rId2"/>
          <a:stretch>
            <a:fillRect/>
          </a:stretch>
        </p:blipFill>
        <p:spPr>
          <a:xfrm>
            <a:off x="868680" y="1977122"/>
            <a:ext cx="10424160" cy="418391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StatusCheckFailed_System</a:t>
            </a:r>
          </a:p>
          <a:p>
            <a:pPr>
              <a:spcAft>
                <a:spcPts val="1000"/>
              </a:spcAft>
            </a:pPr>
            <a:r>
              <a:rPr sz="1800" b="0">
                <a:solidFill>
                  <a:srgbClr val="161B26"/>
                </a:solidFill>
                <a:latin typeface="Arial"/>
              </a:rPr>
              <a:t>•  Status Check:</a:t>
            </a:r>
          </a:p>
          <a:p>
            <a:pPr>
              <a:spcAft>
                <a:spcPts val="1000"/>
              </a:spcAft>
            </a:pPr>
            <a:r>
              <a:rPr sz="1800" b="0">
                <a:solidFill>
                  <a:srgbClr val="161B26"/>
                </a:solidFill>
                <a:latin typeface="Arial"/>
              </a:rPr>
              <a:t>•  Instance status = check the EC2 VM</a:t>
            </a:r>
          </a:p>
          <a:p>
            <a:pPr>
              <a:spcAft>
                <a:spcPts val="1000"/>
              </a:spcAft>
            </a:pPr>
            <a:r>
              <a:rPr sz="1800" b="0">
                <a:solidFill>
                  <a:srgbClr val="161B26"/>
                </a:solidFill>
                <a:latin typeface="Arial"/>
              </a:rPr>
              <a:t>•  System status = check the underlying hardware</a:t>
            </a:r>
          </a:p>
          <a:p>
            <a:pPr>
              <a:spcAft>
                <a:spcPts val="1000"/>
              </a:spcAft>
            </a:pPr>
            <a:r>
              <a:rPr sz="1800" b="0">
                <a:solidFill>
                  <a:srgbClr val="161B26"/>
                </a:solidFill>
                <a:latin typeface="Arial"/>
              </a:rPr>
              <a:t>•  Attached EBS status = check attached EBS volumes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EC2 Instance Recovery</a:t>
            </a:r>
          </a:p>
          <a:p>
            <a:pPr>
              <a:spcAft>
                <a:spcPts val="1000"/>
              </a:spcAft>
            </a:pPr>
            <a:r>
              <a:rPr sz="1800" b="0">
                <a:solidFill>
                  <a:srgbClr val="161B26"/>
                </a:solidFill>
                <a:latin typeface="Arial"/>
              </a:rPr>
              <a:t>•  Recovery: same Private, Public, Elastic IP, metadata, placement group</a:t>
            </a:r>
          </a:p>
          <a:p>
            <a:pPr>
              <a:spcAft>
                <a:spcPts val="1000"/>
              </a:spcAft>
            </a:pPr>
            <a:r>
              <a:rPr sz="1800" b="0">
                <a:solidFill>
                  <a:srgbClr val="161B26"/>
                </a:solidFill>
                <a:latin typeface="Arial"/>
              </a:rPr>
              <a:t>•  SNS Topic</a:t>
            </a:r>
          </a:p>
          <a:p>
            <a:pPr>
              <a:spcAft>
                <a:spcPts val="1000"/>
              </a:spcAft>
            </a:pPr>
            <a:r>
              <a:rPr sz="1800" b="0">
                <a:solidFill>
                  <a:srgbClr val="161B26"/>
                </a:solidFill>
                <a:latin typeface="Arial"/>
              </a:rPr>
              <a:t>•  alert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Alarms can be created based on CloudWatch Logs Metrics Filters</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To test alarms and notifications, set the alarm state to Alarm using CLI</a:t>
            </a:r>
          </a:p>
          <a:p>
            <a:pPr>
              <a:spcAft>
                <a:spcPts val="1000"/>
              </a:spcAft>
            </a:pPr>
            <a:r>
              <a:rPr sz="1800" b="0">
                <a:solidFill>
                  <a:srgbClr val="161B26"/>
                </a:solidFill>
                <a:latin typeface="Arial"/>
              </a:rPr>
              <a:t>•  aws cloudwatch set-alarm-state --alarm-name "myalarm" --state-value ALARM --state-reason "testing purposes"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 Filter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Synthetics Canary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Configurable script that monitor your APIs, URLs, Websites, …</a:t>
            </a:r>
          </a:p>
          <a:p>
            <a:pPr>
              <a:spcAft>
                <a:spcPts val="1000"/>
              </a:spcAft>
            </a:pPr>
            <a:r>
              <a:rPr sz="1800" b="0">
                <a:solidFill>
                  <a:srgbClr val="161B26"/>
                </a:solidFill>
                <a:latin typeface="Arial"/>
              </a:rPr>
              <a:t>•  Reproduce what your customers do programmatically to find issues before customers are impacted</a:t>
            </a:r>
          </a:p>
          <a:p>
            <a:pPr>
              <a:spcAft>
                <a:spcPts val="1000"/>
              </a:spcAft>
            </a:pPr>
            <a:r>
              <a:rPr sz="1800" b="0">
                <a:solidFill>
                  <a:srgbClr val="161B26"/>
                </a:solidFill>
                <a:latin typeface="Arial"/>
              </a:rPr>
              <a:t>•  Checks the availability and latency of your</a:t>
            </a:r>
          </a:p>
          <a:p>
            <a:pPr>
              <a:spcAft>
                <a:spcPts val="1000"/>
              </a:spcAft>
            </a:pPr>
            <a:r>
              <a:rPr sz="1800" b="0">
                <a:solidFill>
                  <a:srgbClr val="161B26"/>
                </a:solidFill>
                <a:latin typeface="Arial"/>
              </a:rPr>
              <a:t>•  endpoints and can store load time data and screenshots of the UI</a:t>
            </a:r>
          </a:p>
          <a:p>
            <a:pPr>
              <a:spcAft>
                <a:spcPts val="1000"/>
              </a:spcAft>
            </a:pPr>
            <a:r>
              <a:rPr sz="1800" b="0">
                <a:solidFill>
                  <a:srgbClr val="161B26"/>
                </a:solidFill>
                <a:latin typeface="Arial"/>
              </a:rPr>
              <a:t>•  Integration with CloudWatch Alarms</a:t>
            </a:r>
          </a:p>
          <a:p>
            <a:pPr>
              <a:spcAft>
                <a:spcPts val="1000"/>
              </a:spcAft>
            </a:pPr>
            <a:r>
              <a:rPr sz="1800" b="0">
                <a:solidFill>
                  <a:srgbClr val="161B26"/>
                </a:solidFill>
                <a:latin typeface="Arial"/>
              </a:rPr>
              <a:t>•  Scripts written in Node.js or Python</a:t>
            </a:r>
          </a:p>
          <a:p>
            <a:pPr>
              <a:spcAft>
                <a:spcPts val="1000"/>
              </a:spcAft>
            </a:pPr>
            <a:r>
              <a:rPr sz="1800" b="0">
                <a:solidFill>
                  <a:srgbClr val="161B26"/>
                </a:solidFill>
                <a:latin typeface="Arial"/>
              </a:rPr>
              <a:t>•  Programmatic access to a headless Google Chrome 	browser</a:t>
            </a:r>
          </a:p>
          <a:p>
            <a:pPr>
              <a:spcAft>
                <a:spcPts val="1000"/>
              </a:spcAft>
            </a:pPr>
            <a:r>
              <a:rPr sz="1800" b="0">
                <a:solidFill>
                  <a:srgbClr val="161B26"/>
                </a:solidFill>
                <a:latin typeface="Arial"/>
              </a:rPr>
              <a:t>•  Can run once or on a regular schedule</a:t>
            </a:r>
          </a:p>
          <a:p>
            <a:pPr>
              <a:spcAft>
                <a:spcPts val="1000"/>
              </a:spcAft>
            </a:pPr>
            <a:r>
              <a:rPr sz="1800" b="0">
                <a:solidFill>
                  <a:srgbClr val="161B26"/>
                </a:solidFill>
                <a:latin typeface="Arial"/>
              </a:rPr>
              <a:t>•  CloudWatch Synthetics Canary</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Route 53</a:t>
            </a:r>
          </a:p>
          <a:p>
            <a:pPr>
              <a:spcAft>
                <a:spcPts val="1000"/>
              </a:spcAft>
            </a:pPr>
            <a:r>
              <a:rPr sz="1800" b="0">
                <a:solidFill>
                  <a:srgbClr val="161B26"/>
                </a:solidFill>
                <a:latin typeface="Arial"/>
              </a:rPr>
              <a:t>•  us-west-2</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update DNS record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Synthetics Canary Blueprints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Heartbeat monitor - load URL, store screenshot and an HTTP archive file</a:t>
            </a:r>
          </a:p>
          <a:p>
            <a:pPr>
              <a:spcAft>
                <a:spcPts val="1000"/>
              </a:spcAft>
            </a:pPr>
            <a:r>
              <a:rPr sz="2000" b="0">
                <a:solidFill>
                  <a:srgbClr val="161B26"/>
                </a:solidFill>
                <a:latin typeface="Arial"/>
              </a:rPr>
              <a:t>•  API canary - test basic read and write functions of REST APIs</a:t>
            </a:r>
          </a:p>
          <a:p>
            <a:pPr>
              <a:spcAft>
                <a:spcPts val="1000"/>
              </a:spcAft>
            </a:pPr>
            <a:r>
              <a:rPr sz="2000" b="0">
                <a:solidFill>
                  <a:srgbClr val="161B26"/>
                </a:solidFill>
                <a:latin typeface="Arial"/>
              </a:rPr>
              <a:t>•  Broken link checker - check all links inside the URL that you are testing</a:t>
            </a:r>
          </a:p>
          <a:p>
            <a:pPr>
              <a:spcAft>
                <a:spcPts val="1000"/>
              </a:spcAft>
            </a:pPr>
            <a:r>
              <a:rPr sz="2000" b="0">
                <a:solidFill>
                  <a:srgbClr val="161B26"/>
                </a:solidFill>
                <a:latin typeface="Arial"/>
              </a:rPr>
              <a:t>•  Visual monitoring - compare a screenshot taken during a canary run with a baseline screenshot</a:t>
            </a:r>
          </a:p>
          <a:p>
            <a:pPr>
              <a:spcAft>
                <a:spcPts val="1000"/>
              </a:spcAft>
            </a:pPr>
            <a:r>
              <a:rPr sz="2000" b="0">
                <a:solidFill>
                  <a:srgbClr val="161B26"/>
                </a:solidFill>
                <a:latin typeface="Arial"/>
              </a:rPr>
              <a:t>•  Canary recorder - used with CloudWatch Synthetics Recorder (record your 	actions on a website and automatically generates a script for that)</a:t>
            </a:r>
          </a:p>
          <a:p>
            <a:pPr>
              <a:spcAft>
                <a:spcPts val="1000"/>
              </a:spcAft>
            </a:pPr>
            <a:r>
              <a:rPr sz="2000" b="0">
                <a:solidFill>
                  <a:srgbClr val="161B26"/>
                </a:solidFill>
                <a:latin typeface="Arial"/>
              </a:rPr>
              <a:t>•  GUI flow builder - verifies that actions can be taken on your webpage (e.g., test a webpage with a login 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EventBridge (formerly CloudWatch Events)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Schedule: Cron jobs (scheduled scripts)</a:t>
            </a:r>
          </a:p>
          <a:p>
            <a:pPr>
              <a:spcAft>
                <a:spcPts val="1000"/>
              </a:spcAft>
            </a:pPr>
            <a:r>
              <a:rPr sz="1800" b="0">
                <a:solidFill>
                  <a:srgbClr val="161B26"/>
                </a:solidFill>
                <a:latin typeface="Arial"/>
              </a:rPr>
              <a:t>•  Event Pattern: Event rules to react to a service doing something</a:t>
            </a:r>
          </a:p>
          <a:p>
            <a:pPr>
              <a:spcAft>
                <a:spcPts val="1000"/>
              </a:spcAft>
            </a:pPr>
            <a:r>
              <a:rPr sz="1800" b="0">
                <a:solidFill>
                  <a:srgbClr val="161B26"/>
                </a:solidFill>
                <a:latin typeface="Arial"/>
              </a:rPr>
              <a:t>•  Trigger Lambda functions, send SQS/SNS messages…</a:t>
            </a:r>
          </a:p>
          <a:p>
            <a:pPr>
              <a:spcAft>
                <a:spcPts val="1000"/>
              </a:spcAft>
            </a:pPr>
            <a:r>
              <a:rPr sz="1800" b="0">
                <a:solidFill>
                  <a:srgbClr val="161B26"/>
                </a:solidFill>
                <a:latin typeface="Arial"/>
              </a:rPr>
              <a:t>•  IAM Root User Sign in Event</a:t>
            </a:r>
          </a:p>
          <a:p>
            <a:pPr>
              <a:spcAft>
                <a:spcPts val="1000"/>
              </a:spcAft>
            </a:pPr>
            <a:r>
              <a:rPr sz="1800" b="0">
                <a:solidFill>
                  <a:srgbClr val="161B26"/>
                </a:solidFill>
                <a:latin typeface="Arial"/>
              </a:rPr>
              <a:t>•  SNS Topic with Email Notification</a:t>
            </a:r>
          </a:p>
          <a:p>
            <a:pPr>
              <a:spcAft>
                <a:spcPts val="1000"/>
              </a:spcAft>
            </a:pPr>
            <a:r>
              <a:rPr sz="1800" b="0">
                <a:solidFill>
                  <a:srgbClr val="161B26"/>
                </a:solidFill>
                <a:latin typeface="Arial"/>
              </a:rPr>
              <a:t>•  Schedule Every hour</a:t>
            </a:r>
          </a:p>
          <a:p>
            <a:pPr>
              <a:spcAft>
                <a:spcPts val="1000"/>
              </a:spcAft>
            </a:pPr>
            <a:r>
              <a:rPr sz="1800" b="0">
                <a:solidFill>
                  <a:srgbClr val="161B26"/>
                </a:solidFill>
                <a:latin typeface="Arial"/>
              </a:rPr>
              <a:t>•  Trigger script on Lambda function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Example Source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(ex: Start Instance)</a:t>
            </a:r>
          </a:p>
          <a:p>
            <a:pPr>
              <a:spcAft>
                <a:spcPts val="1000"/>
              </a:spcAft>
            </a:pPr>
            <a:r>
              <a:rPr sz="1800" b="0">
                <a:solidFill>
                  <a:srgbClr val="161B26"/>
                </a:solidFill>
                <a:latin typeface="Arial"/>
              </a:rPr>
              <a:t>•  CodeBuild</a:t>
            </a:r>
          </a:p>
          <a:p>
            <a:pPr>
              <a:spcAft>
                <a:spcPts val="1000"/>
              </a:spcAft>
            </a:pPr>
            <a:r>
              <a:rPr sz="1800" b="0">
                <a:solidFill>
                  <a:srgbClr val="161B26"/>
                </a:solidFill>
                <a:latin typeface="Arial"/>
              </a:rPr>
              <a:t>•  (ex: failed build)</a:t>
            </a:r>
          </a:p>
          <a:p>
            <a:pPr>
              <a:spcAft>
                <a:spcPts val="1000"/>
              </a:spcAft>
            </a:pPr>
            <a:r>
              <a:rPr sz="1800" b="0">
                <a:solidFill>
                  <a:srgbClr val="161B26"/>
                </a:solidFill>
                <a:latin typeface="Arial"/>
              </a:rPr>
              <a:t>•  S3 Event</a:t>
            </a:r>
          </a:p>
          <a:p>
            <a:pPr>
              <a:spcAft>
                <a:spcPts val="1000"/>
              </a:spcAft>
            </a:pPr>
            <a:r>
              <a:rPr sz="1800" b="0">
                <a:solidFill>
                  <a:srgbClr val="161B26"/>
                </a:solidFill>
                <a:latin typeface="Arial"/>
              </a:rPr>
              <a:t>•  (ex: upload object)</a:t>
            </a:r>
          </a:p>
          <a:p>
            <a:pPr>
              <a:spcAft>
                <a:spcPts val="1000"/>
              </a:spcAft>
            </a:pPr>
            <a:r>
              <a:rPr sz="1800" b="0">
                <a:solidFill>
                  <a:srgbClr val="161B26"/>
                </a:solidFill>
                <a:latin typeface="Arial"/>
              </a:rPr>
              <a:t>•  Trusted Advisor</a:t>
            </a:r>
          </a:p>
          <a:p>
            <a:pPr>
              <a:spcAft>
                <a:spcPts val="1000"/>
              </a:spcAft>
            </a:pPr>
            <a:r>
              <a:rPr sz="1800" b="0">
                <a:solidFill>
                  <a:srgbClr val="161B26"/>
                </a:solidFill>
                <a:latin typeface="Arial"/>
              </a:rPr>
              <a:t>•  (ex: new Finding)</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(any API call)</a:t>
            </a:r>
          </a:p>
          <a:p>
            <a:pPr>
              <a:spcAft>
                <a:spcPts val="1000"/>
              </a:spcAft>
            </a:pPr>
            <a:r>
              <a:rPr sz="1800" b="0">
                <a:solidFill>
                  <a:srgbClr val="161B26"/>
                </a:solidFill>
                <a:latin typeface="Arial"/>
              </a:rPr>
              <a:t>•  Schedule or Cron</a:t>
            </a:r>
          </a:p>
          <a:p>
            <a:pPr>
              <a:spcAft>
                <a:spcPts val="1000"/>
              </a:spcAft>
            </a:pPr>
            <a:r>
              <a:rPr sz="1800" b="0">
                <a:solidFill>
                  <a:srgbClr val="161B26"/>
                </a:solidFill>
                <a:latin typeface="Arial"/>
              </a:rPr>
              <a:t>•  (ex: every 4 hours)</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Filter events (optional)</a:t>
            </a:r>
          </a:p>
          <a:p>
            <a:pPr>
              <a:spcAft>
                <a:spcPts val="1000"/>
              </a:spcAft>
            </a:pPr>
            <a:r>
              <a:rPr sz="1800" b="0">
                <a:solidFill>
                  <a:srgbClr val="161B26"/>
                </a:solidFill>
                <a:latin typeface="Arial"/>
              </a:rPr>
              <a:t>•  Example Destinations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"version": "0",</a:t>
            </a:r>
          </a:p>
          <a:p>
            <a:pPr>
              <a:spcAft>
                <a:spcPts val="1000"/>
              </a:spcAft>
            </a:pPr>
            <a:r>
              <a:rPr sz="1800" b="0">
                <a:solidFill>
                  <a:srgbClr val="161B26"/>
                </a:solidFill>
                <a:latin typeface="Arial"/>
              </a:rPr>
              <a:t>•  "id": "6a7e8feb-b491",</a:t>
            </a:r>
          </a:p>
          <a:p>
            <a:pPr>
              <a:spcAft>
                <a:spcPts val="1000"/>
              </a:spcAft>
            </a:pPr>
            <a:r>
              <a:rPr sz="1800" b="0">
                <a:solidFill>
                  <a:srgbClr val="161B26"/>
                </a:solidFill>
                <a:latin typeface="Arial"/>
              </a:rPr>
              <a:t>•  "detail-type": "EC2 Instance</a:t>
            </a:r>
          </a:p>
          <a:p>
            <a:pPr>
              <a:spcAft>
                <a:spcPts val="1000"/>
              </a:spcAft>
            </a:pPr>
            <a:r>
              <a:rPr sz="1800" b="0">
                <a:solidFill>
                  <a:srgbClr val="161B26"/>
                </a:solidFill>
                <a:latin typeface="Arial"/>
              </a:rPr>
              <a:t>•  State-change Notification",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JSON</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AWS Batch</a:t>
            </a:r>
          </a:p>
          <a:p>
            <a:pPr>
              <a:spcAft>
                <a:spcPts val="1000"/>
              </a:spcAft>
            </a:pPr>
            <a:r>
              <a:rPr sz="1800" b="0">
                <a:solidFill>
                  <a:srgbClr val="161B26"/>
                </a:solidFill>
                <a:latin typeface="Arial"/>
              </a:rPr>
              <a:t>•  ECS Task</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Step Functions</a:t>
            </a:r>
          </a:p>
          <a:p>
            <a:pPr>
              <a:spcAft>
                <a:spcPts val="1000"/>
              </a:spcAft>
            </a:pPr>
            <a:r>
              <a:rPr sz="1800" b="0">
                <a:solidFill>
                  <a:srgbClr val="161B26"/>
                </a:solidFill>
                <a:latin typeface="Arial"/>
              </a:rPr>
              <a:t>•  CodePipeline</a:t>
            </a:r>
          </a:p>
          <a:p>
            <a:pPr>
              <a:spcAft>
                <a:spcPts val="1000"/>
              </a:spcAft>
            </a:pPr>
            <a:r>
              <a:rPr sz="1800" b="0">
                <a:solidFill>
                  <a:srgbClr val="161B26"/>
                </a:solidFill>
                <a:latin typeface="Arial"/>
              </a:rPr>
              <a:t>•  CodeBuild</a:t>
            </a:r>
          </a:p>
          <a:p>
            <a:pPr>
              <a:spcAft>
                <a:spcPts val="1000"/>
              </a:spcAft>
            </a:pPr>
            <a:r>
              <a:rPr sz="1800" b="0">
                <a:solidFill>
                  <a:srgbClr val="161B26"/>
                </a:solidFill>
                <a:latin typeface="Arial"/>
              </a:rPr>
              <a:t>•  SSM</a:t>
            </a:r>
          </a:p>
          <a:p>
            <a:pPr>
              <a:spcAft>
                <a:spcPts val="1000"/>
              </a:spcAft>
            </a:pPr>
            <a:r>
              <a:rPr sz="1800" b="0">
                <a:solidFill>
                  <a:srgbClr val="161B26"/>
                </a:solidFill>
                <a:latin typeface="Arial"/>
              </a:rPr>
              <a:t>•  EC2 Actions</a:t>
            </a:r>
          </a:p>
          <a:p>
            <a:pPr>
              <a:spcAft>
                <a:spcPts val="1000"/>
              </a:spcAft>
            </a:pPr>
            <a:r>
              <a:rPr sz="1800" b="0">
                <a:solidFill>
                  <a:srgbClr val="161B26"/>
                </a:solidFill>
                <a:latin typeface="Arial"/>
              </a:rPr>
              <a:t>•  Compute</a:t>
            </a:r>
          </a:p>
          <a:p>
            <a:pPr>
              <a:spcAft>
                <a:spcPts val="1000"/>
              </a:spcAft>
            </a:pPr>
            <a:r>
              <a:rPr sz="1800" b="0">
                <a:solidFill>
                  <a:srgbClr val="161B26"/>
                </a:solidFill>
                <a:latin typeface="Arial"/>
              </a:rPr>
              <a:t>•  Integration</a:t>
            </a:r>
          </a:p>
          <a:p>
            <a:pPr>
              <a:spcAft>
                <a:spcPts val="1000"/>
              </a:spcAft>
            </a:pPr>
            <a:r>
              <a:rPr sz="1800" b="0">
                <a:solidFill>
                  <a:srgbClr val="161B26"/>
                </a:solidFill>
                <a:latin typeface="Arial"/>
              </a:rPr>
              <a:t>•  Maintenance	Orchestration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Event buses can be accessed by other AWS accounts using Resource-based Policies</a:t>
            </a:r>
          </a:p>
          <a:p>
            <a:pPr>
              <a:spcAft>
                <a:spcPts val="1000"/>
              </a:spcAft>
            </a:pPr>
            <a:r>
              <a:rPr sz="1800" b="0">
                <a:solidFill>
                  <a:srgbClr val="161B26"/>
                </a:solidFill>
                <a:latin typeface="Arial"/>
              </a:rPr>
              <a:t>•  You can archive events (all/filter) sent to an event bus (indefinitely or set period)</a:t>
            </a:r>
          </a:p>
          <a:p>
            <a:pPr>
              <a:spcAft>
                <a:spcPts val="1000"/>
              </a:spcAft>
            </a:pPr>
            <a:r>
              <a:rPr sz="1800" b="0">
                <a:solidFill>
                  <a:srgbClr val="161B26"/>
                </a:solidFill>
                <a:latin typeface="Arial"/>
              </a:rPr>
              <a:t>•  Ability to replay archived events</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Default Event Bus</a:t>
            </a:r>
          </a:p>
          <a:p>
            <a:pPr>
              <a:spcAft>
                <a:spcPts val="1000"/>
              </a:spcAft>
            </a:pPr>
            <a:r>
              <a:rPr sz="1800" b="0">
                <a:solidFill>
                  <a:srgbClr val="161B26"/>
                </a:solidFill>
                <a:latin typeface="Arial"/>
              </a:rPr>
              <a:t>•  Partner Event Bus</a:t>
            </a:r>
          </a:p>
          <a:p>
            <a:pPr>
              <a:spcAft>
                <a:spcPts val="1000"/>
              </a:spcAft>
            </a:pPr>
            <a:r>
              <a:rPr sz="1800" b="0">
                <a:solidFill>
                  <a:srgbClr val="161B26"/>
                </a:solidFill>
                <a:latin typeface="Arial"/>
              </a:rPr>
              <a:t>•  Custom Event Bus</a:t>
            </a:r>
          </a:p>
          <a:p>
            <a:pPr>
              <a:spcAft>
                <a:spcPts val="1000"/>
              </a:spcAft>
            </a:pPr>
            <a:r>
              <a:rPr sz="1800" b="0">
                <a:solidFill>
                  <a:srgbClr val="161B26"/>
                </a:solidFill>
                <a:latin typeface="Arial"/>
              </a:rPr>
              <a:t>•  AWS SaaS</a:t>
            </a:r>
          </a:p>
          <a:p>
            <a:pPr>
              <a:spcAft>
                <a:spcPts val="1000"/>
              </a:spcAft>
            </a:pPr>
            <a:r>
              <a:rPr sz="1800" b="0">
                <a:solidFill>
                  <a:srgbClr val="161B26"/>
                </a:solidFill>
                <a:latin typeface="Arial"/>
              </a:rPr>
              <a:t>•  Partners</a:t>
            </a:r>
          </a:p>
          <a:p>
            <a:pPr>
              <a:spcAft>
                <a:spcPts val="1000"/>
              </a:spcAft>
            </a:pPr>
            <a:r>
              <a:rPr sz="1800" b="0">
                <a:solidFill>
                  <a:srgbClr val="161B26"/>
                </a:solidFill>
                <a:latin typeface="Arial"/>
              </a:rPr>
              <a:t>•  Custom Apps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920" y="1801368"/>
            <a:ext cx="101496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99_0.png"/>
          <p:cNvPicPr>
            <a:picLocks noChangeAspect="1"/>
          </p:cNvPicPr>
          <p:nvPr/>
        </p:nvPicPr>
        <p:blipFill>
          <a:blip r:embed="rId2"/>
          <a:stretch>
            <a:fillRect/>
          </a:stretch>
        </p:blipFill>
        <p:spPr>
          <a:xfrm>
            <a:off x="1033352" y="1828800"/>
            <a:ext cx="1009481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Schema	Registry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70038" y="1801368"/>
            <a:ext cx="382144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00_0.jpg"/>
          <p:cNvPicPr>
            <a:picLocks noChangeAspect="1"/>
          </p:cNvPicPr>
          <p:nvPr/>
        </p:nvPicPr>
        <p:blipFill>
          <a:blip r:embed="rId2"/>
          <a:stretch>
            <a:fillRect/>
          </a:stretch>
        </p:blipFill>
        <p:spPr>
          <a:xfrm>
            <a:off x="4197470" y="1828800"/>
            <a:ext cx="376657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EventBridge can analyze the events in your bus and infer the schema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Resource-based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52815" y="1801368"/>
            <a:ext cx="825588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01_0.png"/>
          <p:cNvPicPr>
            <a:picLocks noChangeAspect="1"/>
          </p:cNvPicPr>
          <p:nvPr/>
        </p:nvPicPr>
        <p:blipFill>
          <a:blip r:embed="rId2"/>
          <a:stretch>
            <a:fillRect/>
          </a:stretch>
        </p:blipFill>
        <p:spPr>
          <a:xfrm>
            <a:off x="1980247" y="1828800"/>
            <a:ext cx="820102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Manage permissions for a specific Event Bus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Quotas CloudWatch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Service Quotas</a:t>
            </a:r>
          </a:p>
          <a:p>
            <a:pPr>
              <a:spcAft>
                <a:spcPts val="1000"/>
              </a:spcAft>
            </a:pPr>
            <a:r>
              <a:rPr sz="1800" b="0">
                <a:solidFill>
                  <a:srgbClr val="161B26"/>
                </a:solidFill>
                <a:latin typeface="Arial"/>
              </a:rPr>
              <a:t>•  Notify you when you’re close to a service quota value threshold</a:t>
            </a:r>
          </a:p>
          <a:p>
            <a:pPr>
              <a:spcAft>
                <a:spcPts val="1000"/>
              </a:spcAft>
            </a:pPr>
            <a:r>
              <a:rPr sz="1800" b="0">
                <a:solidFill>
                  <a:srgbClr val="161B26"/>
                </a:solidFill>
                <a:latin typeface="Arial"/>
              </a:rPr>
              <a:t>•  Create CloudWatch Alarms on the Service Quotas console</a:t>
            </a:r>
          </a:p>
          <a:p>
            <a:pPr>
              <a:spcAft>
                <a:spcPts val="1000"/>
              </a:spcAft>
            </a:pPr>
            <a:r>
              <a:rPr sz="1800" b="0">
                <a:solidFill>
                  <a:srgbClr val="161B26"/>
                </a:solidFill>
                <a:latin typeface="Arial"/>
              </a:rPr>
              <a:t>•  Example: Lambda concurrent executions</a:t>
            </a:r>
          </a:p>
          <a:p>
            <a:pPr>
              <a:spcAft>
                <a:spcPts val="1000"/>
              </a:spcAft>
            </a:pPr>
            <a:r>
              <a:rPr sz="1800" b="0">
                <a:solidFill>
                  <a:srgbClr val="161B26"/>
                </a:solidFill>
                <a:latin typeface="Arial"/>
              </a:rPr>
              <a:t>•  Helps you know if you need to request a quota increase or shutdown resources before limit is reached</a:t>
            </a:r>
          </a:p>
          <a:p>
            <a:pPr>
              <a:spcAft>
                <a:spcPts val="1000"/>
              </a:spcAft>
            </a:pPr>
            <a:r>
              <a:rPr sz="1800" b="0">
                <a:solidFill>
                  <a:srgbClr val="161B26"/>
                </a:solidFill>
                <a:latin typeface="Arial"/>
              </a:rPr>
              <a:t>•  AWS Lambda Quota</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Alternative:Trusted Advisor + CW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Limited number of Service Limits checks in Trusted Advisor (~50)</a:t>
            </a:r>
          </a:p>
          <a:p>
            <a:pPr>
              <a:spcAft>
                <a:spcPts val="1000"/>
              </a:spcAft>
            </a:pPr>
            <a:r>
              <a:rPr sz="1800" b="0">
                <a:solidFill>
                  <a:srgbClr val="161B26"/>
                </a:solidFill>
                <a:latin typeface="Arial"/>
              </a:rPr>
              <a:t>•  Trusted Advisor publishes its check results to CloudWatch</a:t>
            </a:r>
          </a:p>
          <a:p>
            <a:pPr>
              <a:spcAft>
                <a:spcPts val="1000"/>
              </a:spcAft>
            </a:pPr>
            <a:r>
              <a:rPr sz="1800" b="0">
                <a:solidFill>
                  <a:srgbClr val="161B26"/>
                </a:solidFill>
                <a:latin typeface="Arial"/>
              </a:rPr>
              <a:t>•  You can create CloudWatch Alarms on service quota usage (Service Limits)</a:t>
            </a:r>
          </a:p>
          <a:p>
            <a:pPr>
              <a:spcAft>
                <a:spcPts val="1000"/>
              </a:spcAft>
            </a:pPr>
            <a:r>
              <a:rPr sz="1800" b="0">
                <a:solidFill>
                  <a:srgbClr val="161B26"/>
                </a:solidFill>
                <a:latin typeface="Arial"/>
              </a:rPr>
              <a:t>•  AWS Trusted Advisor</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Service Limits</a:t>
            </a:r>
          </a:p>
          <a:p>
            <a:pPr>
              <a:spcAft>
                <a:spcPts val="1000"/>
              </a:spcAft>
            </a:pPr>
            <a:r>
              <a:rPr sz="1800" b="0">
                <a:solidFill>
                  <a:srgbClr val="161B26"/>
                </a:solidFill>
                <a:latin typeface="Arial"/>
              </a:rPr>
              <a:t>•  Lambda Concurrent Executions: 1000</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CloudTrail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Provides governance, compliance and audit for your AWS Account</a:t>
            </a:r>
          </a:p>
          <a:p>
            <a:pPr>
              <a:spcAft>
                <a:spcPts val="1000"/>
              </a:spcAft>
            </a:pPr>
            <a:r>
              <a:rPr sz="1800" b="0">
                <a:solidFill>
                  <a:srgbClr val="161B26"/>
                </a:solidFill>
                <a:latin typeface="Arial"/>
              </a:rPr>
              <a:t>•  CloudTrail is enabled by default!</a:t>
            </a:r>
          </a:p>
          <a:p>
            <a:pPr>
              <a:spcAft>
                <a:spcPts val="1000"/>
              </a:spcAft>
            </a:pPr>
            <a:r>
              <a:rPr sz="1800" b="0">
                <a:solidFill>
                  <a:srgbClr val="161B26"/>
                </a:solidFill>
                <a:latin typeface="Arial"/>
              </a:rPr>
              <a:t>•  Get a history of events / API calls made within your AWS Account by:</a:t>
            </a:r>
          </a:p>
          <a:p>
            <a:pPr>
              <a:spcAft>
                <a:spcPts val="1000"/>
              </a:spcAft>
            </a:pPr>
            <a:r>
              <a:rPr sz="1800" b="0">
                <a:solidFill>
                  <a:srgbClr val="161B26"/>
                </a:solidFill>
                <a:latin typeface="Arial"/>
              </a:rPr>
              <a:t>•  Console</a:t>
            </a:r>
          </a:p>
          <a:p>
            <a:pPr>
              <a:spcAft>
                <a:spcPts val="1000"/>
              </a:spcAft>
            </a:pPr>
            <a:r>
              <a:rPr sz="1800" b="0">
                <a:solidFill>
                  <a:srgbClr val="161B26"/>
                </a:solidFill>
                <a:latin typeface="Arial"/>
              </a:rPr>
              <a:t>•  SDK</a:t>
            </a:r>
          </a:p>
          <a:p>
            <a:pPr>
              <a:spcAft>
                <a:spcPts val="1000"/>
              </a:spcAft>
            </a:pPr>
            <a:r>
              <a:rPr sz="1800" b="0">
                <a:solidFill>
                  <a:srgbClr val="161B26"/>
                </a:solidFill>
                <a:latin typeface="Arial"/>
              </a:rPr>
              <a:t>•  CLI</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Can put logs from CloudTrail into CloudWatch Logs or S3</a:t>
            </a:r>
          </a:p>
          <a:p>
            <a:pPr>
              <a:spcAft>
                <a:spcPts val="1000"/>
              </a:spcAft>
            </a:pPr>
            <a:r>
              <a:rPr sz="1800" b="0">
                <a:solidFill>
                  <a:srgbClr val="161B26"/>
                </a:solidFill>
                <a:latin typeface="Arial"/>
              </a:rPr>
              <a:t>•  A trail can be applied to All Regions (default) or a single Region</a:t>
            </a:r>
          </a:p>
          <a:p>
            <a:pPr>
              <a:spcAft>
                <a:spcPts val="1000"/>
              </a:spcAft>
            </a:pPr>
            <a:r>
              <a:rPr sz="1800" b="0">
                <a:solidFill>
                  <a:srgbClr val="161B26"/>
                </a:solidFill>
                <a:latin typeface="Arial"/>
              </a:rPr>
              <a:t>•  If a resource is deleted in AWS, investigate CloudTrail first!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SDK</a:t>
            </a:r>
          </a:p>
          <a:p>
            <a:pPr>
              <a:spcAft>
                <a:spcPts val="1000"/>
              </a:spcAft>
            </a:pPr>
            <a:r>
              <a:rPr sz="1800" b="0">
                <a:solidFill>
                  <a:srgbClr val="161B26"/>
                </a:solidFill>
                <a:latin typeface="Arial"/>
              </a:rPr>
              <a:t>•  CLI</a:t>
            </a:r>
          </a:p>
          <a:p>
            <a:pPr>
              <a:spcAft>
                <a:spcPts val="1000"/>
              </a:spcAft>
            </a:pPr>
            <a:r>
              <a:rPr sz="1800" b="0">
                <a:solidFill>
                  <a:srgbClr val="161B26"/>
                </a:solidFill>
                <a:latin typeface="Arial"/>
              </a:rPr>
              <a:t>•  Console</a:t>
            </a:r>
          </a:p>
          <a:p>
            <a:pPr>
              <a:spcAft>
                <a:spcPts val="1000"/>
              </a:spcAft>
            </a:pPr>
            <a:r>
              <a:rPr sz="1800" b="0">
                <a:solidFill>
                  <a:srgbClr val="161B26"/>
                </a:solidFill>
                <a:latin typeface="Arial"/>
              </a:rPr>
              <a:t>•  CloudTrail Console</a:t>
            </a:r>
          </a:p>
          <a:p>
            <a:pPr>
              <a:spcAft>
                <a:spcPts val="1000"/>
              </a:spcAft>
            </a:pPr>
            <a:r>
              <a:rPr sz="1800" b="0">
                <a:solidFill>
                  <a:srgbClr val="161B26"/>
                </a:solidFill>
                <a:latin typeface="Arial"/>
              </a:rPr>
              <a:t>•  Inspect &amp; Audit</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IAM Users &amp; IAM Roles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Events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Management Events:</a:t>
            </a:r>
          </a:p>
          <a:p>
            <a:pPr>
              <a:spcAft>
                <a:spcPts val="1000"/>
              </a:spcAft>
            </a:pPr>
            <a:r>
              <a:rPr sz="1800" b="0">
                <a:solidFill>
                  <a:srgbClr val="161B26"/>
                </a:solidFill>
                <a:latin typeface="Arial"/>
              </a:rPr>
              <a:t>•  Operations that are performed on resources in your AWS account</a:t>
            </a:r>
          </a:p>
          <a:p>
            <a:pPr>
              <a:spcAft>
                <a:spcPts val="1000"/>
              </a:spcAft>
            </a:pPr>
            <a:r>
              <a:rPr sz="1800" b="0">
                <a:solidFill>
                  <a:srgbClr val="161B26"/>
                </a:solidFill>
                <a:latin typeface="Arial"/>
              </a:rPr>
              <a:t>•  Examples:</a:t>
            </a:r>
          </a:p>
          <a:p>
            <a:pPr>
              <a:spcAft>
                <a:spcPts val="1000"/>
              </a:spcAft>
            </a:pPr>
            <a:r>
              <a:rPr sz="1800" b="0">
                <a:solidFill>
                  <a:srgbClr val="161B26"/>
                </a:solidFill>
                <a:latin typeface="Arial"/>
              </a:rPr>
              <a:t>•  Configuring security (IAM AttachRolePolicy)</a:t>
            </a:r>
          </a:p>
          <a:p>
            <a:pPr>
              <a:spcAft>
                <a:spcPts val="1000"/>
              </a:spcAft>
            </a:pPr>
            <a:r>
              <a:rPr sz="1800" b="0">
                <a:solidFill>
                  <a:srgbClr val="161B26"/>
                </a:solidFill>
                <a:latin typeface="Arial"/>
              </a:rPr>
              <a:t>•  Configuring rules for routing data (Amazon EC2 CreateSubnet)</a:t>
            </a:r>
          </a:p>
          <a:p>
            <a:pPr>
              <a:spcAft>
                <a:spcPts val="1000"/>
              </a:spcAft>
            </a:pPr>
            <a:r>
              <a:rPr sz="1800" b="0">
                <a:solidFill>
                  <a:srgbClr val="161B26"/>
                </a:solidFill>
                <a:latin typeface="Arial"/>
              </a:rPr>
              <a:t>•  Setting up logging (AWS CloudTrail CreateTrail)</a:t>
            </a:r>
          </a:p>
          <a:p>
            <a:pPr>
              <a:spcAft>
                <a:spcPts val="1000"/>
              </a:spcAft>
            </a:pPr>
            <a:r>
              <a:rPr sz="1800" b="0">
                <a:solidFill>
                  <a:srgbClr val="161B26"/>
                </a:solidFill>
                <a:latin typeface="Arial"/>
              </a:rPr>
              <a:t>•  By default, trails are configured to log management events.</a:t>
            </a:r>
          </a:p>
          <a:p>
            <a:pPr>
              <a:spcAft>
                <a:spcPts val="1000"/>
              </a:spcAft>
            </a:pPr>
            <a:r>
              <a:rPr sz="1800" b="0">
                <a:solidFill>
                  <a:srgbClr val="161B26"/>
                </a:solidFill>
                <a:latin typeface="Arial"/>
              </a:rPr>
              <a:t>•  Can separate Read Events (that don’t modify resources) from Write Events (that may modify resources)</a:t>
            </a:r>
          </a:p>
          <a:p>
            <a:pPr>
              <a:spcAft>
                <a:spcPts val="1000"/>
              </a:spcAft>
            </a:pPr>
            <a:r>
              <a:rPr sz="1800" b="0">
                <a:solidFill>
                  <a:srgbClr val="161B26"/>
                </a:solidFill>
                <a:latin typeface="Arial"/>
              </a:rPr>
              <a:t>•  Data Events:</a:t>
            </a:r>
          </a:p>
          <a:p>
            <a:pPr>
              <a:spcAft>
                <a:spcPts val="1000"/>
              </a:spcAft>
            </a:pPr>
            <a:r>
              <a:rPr sz="1800" b="0">
                <a:solidFill>
                  <a:srgbClr val="161B26"/>
                </a:solidFill>
                <a:latin typeface="Arial"/>
              </a:rPr>
              <a:t>•  By default, data events are not logged (because high volume operations)</a:t>
            </a:r>
          </a:p>
          <a:p>
            <a:pPr>
              <a:spcAft>
                <a:spcPts val="1000"/>
              </a:spcAft>
            </a:pPr>
            <a:r>
              <a:rPr sz="1800" b="0">
                <a:solidFill>
                  <a:srgbClr val="161B26"/>
                </a:solidFill>
                <a:latin typeface="Arial"/>
              </a:rPr>
              <a:t>•  Amazon S3 object-level activity (ex: GetObject, DeleteObject, PutObject): can separate Read and Write Events</a:t>
            </a:r>
          </a:p>
          <a:p>
            <a:pPr>
              <a:spcAft>
                <a:spcPts val="1000"/>
              </a:spcAft>
            </a:pPr>
            <a:r>
              <a:rPr sz="1800" b="0">
                <a:solidFill>
                  <a:srgbClr val="161B26"/>
                </a:solidFill>
                <a:latin typeface="Arial"/>
              </a:rPr>
              <a:t>•  AWS Lambda function execution activity (the Invoke API)</a:t>
            </a:r>
          </a:p>
          <a:p>
            <a:pPr>
              <a:spcAft>
                <a:spcPts val="1000"/>
              </a:spcAft>
            </a:pPr>
            <a:r>
              <a:rPr sz="1800" b="0">
                <a:solidFill>
                  <a:srgbClr val="161B26"/>
                </a:solidFill>
                <a:latin typeface="Arial"/>
              </a:rPr>
              <a:t>•  CloudTrail Insights Events:</a:t>
            </a:r>
          </a:p>
          <a:p>
            <a:pPr>
              <a:spcAft>
                <a:spcPts val="1000"/>
              </a:spcAft>
            </a:pPr>
            <a:r>
              <a:rPr sz="1800" b="0">
                <a:solidFill>
                  <a:srgbClr val="161B26"/>
                </a:solidFill>
                <a:latin typeface="Arial"/>
              </a:rPr>
              <a:t>•  See next slide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Enable CloudTrail Insights to detect unusual activity in your account:</a:t>
            </a:r>
          </a:p>
          <a:p>
            <a:pPr>
              <a:spcAft>
                <a:spcPts val="1000"/>
              </a:spcAft>
            </a:pPr>
            <a:r>
              <a:rPr sz="1800" b="0">
                <a:solidFill>
                  <a:srgbClr val="161B26"/>
                </a:solidFill>
                <a:latin typeface="Arial"/>
              </a:rPr>
              <a:t>•  inaccurate resource provisioning</a:t>
            </a:r>
          </a:p>
          <a:p>
            <a:pPr>
              <a:spcAft>
                <a:spcPts val="1000"/>
              </a:spcAft>
            </a:pPr>
            <a:r>
              <a:rPr sz="1800" b="0">
                <a:solidFill>
                  <a:srgbClr val="161B26"/>
                </a:solidFill>
                <a:latin typeface="Arial"/>
              </a:rPr>
              <a:t>•  hitting service limits</a:t>
            </a:r>
          </a:p>
          <a:p>
            <a:pPr>
              <a:spcAft>
                <a:spcPts val="1000"/>
              </a:spcAft>
            </a:pPr>
            <a:r>
              <a:rPr sz="1800" b="0">
                <a:solidFill>
                  <a:srgbClr val="161B26"/>
                </a:solidFill>
                <a:latin typeface="Arial"/>
              </a:rPr>
              <a:t>•  Bursts of AWS IAM actions</a:t>
            </a:r>
          </a:p>
          <a:p>
            <a:pPr>
              <a:spcAft>
                <a:spcPts val="1000"/>
              </a:spcAft>
            </a:pPr>
            <a:r>
              <a:rPr sz="1800" b="0">
                <a:solidFill>
                  <a:srgbClr val="161B26"/>
                </a:solidFill>
                <a:latin typeface="Arial"/>
              </a:rPr>
              <a:t>•  Gaps in periodic maintenance activity</a:t>
            </a:r>
          </a:p>
          <a:p>
            <a:pPr>
              <a:spcAft>
                <a:spcPts val="1000"/>
              </a:spcAft>
            </a:pPr>
            <a:r>
              <a:rPr sz="1800" b="0">
                <a:solidFill>
                  <a:srgbClr val="161B26"/>
                </a:solidFill>
                <a:latin typeface="Arial"/>
              </a:rPr>
              <a:t>•  CloudTrail Insights analyzes normal management events to create a baseline</a:t>
            </a:r>
          </a:p>
          <a:p>
            <a:pPr>
              <a:spcAft>
                <a:spcPts val="1000"/>
              </a:spcAft>
            </a:pPr>
            <a:r>
              <a:rPr sz="1800" b="0">
                <a:solidFill>
                  <a:srgbClr val="161B26"/>
                </a:solidFill>
                <a:latin typeface="Arial"/>
              </a:rPr>
              <a:t>•  And then continuously analyzes write events to detect unusual patterns</a:t>
            </a:r>
          </a:p>
          <a:p>
            <a:pPr>
              <a:spcAft>
                <a:spcPts val="1000"/>
              </a:spcAft>
            </a:pPr>
            <a:r>
              <a:rPr sz="1800" b="0">
                <a:solidFill>
                  <a:srgbClr val="161B26"/>
                </a:solidFill>
                <a:latin typeface="Arial"/>
              </a:rPr>
              <a:t>•  Anomalies appear in the CloudTrail console</a:t>
            </a:r>
          </a:p>
          <a:p>
            <a:pPr>
              <a:spcAft>
                <a:spcPts val="1000"/>
              </a:spcAft>
            </a:pPr>
            <a:r>
              <a:rPr sz="1800" b="0">
                <a:solidFill>
                  <a:srgbClr val="161B26"/>
                </a:solidFill>
                <a:latin typeface="Arial"/>
              </a:rPr>
              <a:t>•  Event is sent to Amazon S3</a:t>
            </a:r>
          </a:p>
          <a:p>
            <a:pPr>
              <a:spcAft>
                <a:spcPts val="1000"/>
              </a:spcAft>
            </a:pPr>
            <a:r>
              <a:rPr sz="1800" b="0">
                <a:solidFill>
                  <a:srgbClr val="161B26"/>
                </a:solidFill>
                <a:latin typeface="Arial"/>
              </a:rPr>
              <a:t>•  An EventBridge event is generated (for automation needs)</a:t>
            </a:r>
          </a:p>
          <a:p>
            <a:pPr>
              <a:spcAft>
                <a:spcPts val="1000"/>
              </a:spcAft>
            </a:pPr>
            <a:r>
              <a:rPr sz="1800" b="0">
                <a:solidFill>
                  <a:srgbClr val="161B26"/>
                </a:solidFill>
                <a:latin typeface="Arial"/>
              </a:rPr>
              <a:t>•  Management Events</a:t>
            </a:r>
          </a:p>
          <a:p>
            <a:pPr>
              <a:spcAft>
                <a:spcPts val="1000"/>
              </a:spcAft>
            </a:pPr>
            <a:r>
              <a:rPr sz="1800" b="0">
                <a:solidFill>
                  <a:srgbClr val="161B26"/>
                </a:solidFill>
                <a:latin typeface="Arial"/>
              </a:rPr>
              <a:t>•  CloudTrail Insights</a:t>
            </a:r>
          </a:p>
          <a:p>
            <a:pPr>
              <a:spcAft>
                <a:spcPts val="1000"/>
              </a:spcAft>
            </a:pPr>
            <a:r>
              <a:rPr sz="1800" b="0">
                <a:solidFill>
                  <a:srgbClr val="161B26"/>
                </a:solidFill>
                <a:latin typeface="Arial"/>
              </a:rPr>
              <a:t>•  Continuous analysis</a:t>
            </a:r>
          </a:p>
          <a:p>
            <a:pPr>
              <a:spcAft>
                <a:spcPts val="1000"/>
              </a:spcAft>
            </a:pPr>
            <a:r>
              <a:rPr sz="1800" b="0">
                <a:solidFill>
                  <a:srgbClr val="161B26"/>
                </a:solidFill>
                <a:latin typeface="Arial"/>
              </a:rPr>
              <a:t>•  Insights Events</a:t>
            </a:r>
          </a:p>
          <a:p>
            <a:pPr>
              <a:spcAft>
                <a:spcPts val="1000"/>
              </a:spcAft>
            </a:pPr>
            <a:r>
              <a:rPr sz="1800" b="0">
                <a:solidFill>
                  <a:srgbClr val="161B26"/>
                </a:solidFill>
                <a:latin typeface="Arial"/>
              </a:rPr>
              <a:t>•  generate</a:t>
            </a:r>
          </a:p>
          <a:p>
            <a:pPr>
              <a:spcAft>
                <a:spcPts val="1000"/>
              </a:spcAft>
            </a:pPr>
            <a:r>
              <a:rPr sz="1800" b="0">
                <a:solidFill>
                  <a:srgbClr val="161B26"/>
                </a:solidFill>
                <a:latin typeface="Arial"/>
              </a:rPr>
              <a:t>•  CloudTrail Console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EventBridge event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Events Retention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Events are stored for 90 days in CloudTrail</a:t>
            </a:r>
          </a:p>
          <a:p>
            <a:pPr>
              <a:spcAft>
                <a:spcPts val="1000"/>
              </a:spcAft>
            </a:pPr>
            <a:r>
              <a:rPr sz="1800" b="0">
                <a:solidFill>
                  <a:srgbClr val="161B26"/>
                </a:solidFill>
                <a:latin typeface="Arial"/>
              </a:rPr>
              <a:t>•  To keep events beyond this period, log them to S3 and use Athena</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S3 Bucket Long-term retention</a:t>
            </a:r>
          </a:p>
          <a:p>
            <a:pPr>
              <a:spcAft>
                <a:spcPts val="1000"/>
              </a:spcAft>
            </a:pPr>
            <a:r>
              <a:rPr sz="1800" b="0">
                <a:solidFill>
                  <a:srgbClr val="161B26"/>
                </a:solidFill>
                <a:latin typeface="Arial"/>
              </a:rPr>
              <a:t>•  Data Events</a:t>
            </a:r>
          </a:p>
          <a:p>
            <a:pPr>
              <a:spcAft>
                <a:spcPts val="1000"/>
              </a:spcAft>
            </a:pPr>
            <a:r>
              <a:rPr sz="1800" b="0">
                <a:solidFill>
                  <a:srgbClr val="161B26"/>
                </a:solidFill>
                <a:latin typeface="Arial"/>
              </a:rPr>
              <a:t>•  Management Events</a:t>
            </a:r>
          </a:p>
          <a:p>
            <a:pPr>
              <a:spcAft>
                <a:spcPts val="1000"/>
              </a:spcAft>
            </a:pPr>
            <a:r>
              <a:rPr sz="1800" b="0">
                <a:solidFill>
                  <a:srgbClr val="161B26"/>
                </a:solidFill>
                <a:latin typeface="Arial"/>
              </a:rPr>
              <a:t>•  Insights Events</a:t>
            </a:r>
          </a:p>
          <a:p>
            <a:pPr>
              <a:spcAft>
                <a:spcPts val="1000"/>
              </a:spcAft>
            </a:pPr>
            <a:r>
              <a:rPr sz="1800" b="0">
                <a:solidFill>
                  <a:srgbClr val="161B26"/>
                </a:solidFill>
                <a:latin typeface="Arial"/>
              </a:rPr>
              <a:t>•  log</a:t>
            </a:r>
          </a:p>
          <a:p>
            <a:pPr>
              <a:spcAft>
                <a:spcPts val="1000"/>
              </a:spcAft>
            </a:pPr>
            <a:r>
              <a:rPr sz="1800" b="0">
                <a:solidFill>
                  <a:srgbClr val="161B26"/>
                </a:solidFill>
                <a:latin typeface="Arial"/>
              </a:rPr>
              <a:t>•  90 days retention</a:t>
            </a:r>
          </a:p>
          <a:p>
            <a:pPr>
              <a:spcAft>
                <a:spcPts val="1000"/>
              </a:spcAft>
            </a:pPr>
            <a:r>
              <a:rPr sz="1800" b="0">
                <a:solidFill>
                  <a:srgbClr val="161B26"/>
                </a:solidFill>
                <a:latin typeface="Arial"/>
              </a:rPr>
              <a:t>•  analyze</a:t>
            </a:r>
          </a:p>
          <a:p>
            <a:pPr>
              <a:spcAft>
                <a:spcPts val="1000"/>
              </a:spcAft>
            </a:pPr>
            <a:r>
              <a:rPr sz="1800" b="0">
                <a:solidFill>
                  <a:srgbClr val="161B26"/>
                </a:solidFill>
                <a:latin typeface="Arial"/>
              </a:rPr>
              <a:t>•  Athena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Intercept API Calls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(any API call)</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Log API call</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DeleteTable API Call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CloudTrail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AssumeRole</a:t>
            </a:r>
          </a:p>
          <a:p>
            <a:pPr>
              <a:spcAft>
                <a:spcPts val="1000"/>
              </a:spcAft>
            </a:pPr>
            <a:r>
              <a:rPr sz="1800" b="0">
                <a:solidFill>
                  <a:srgbClr val="161B26"/>
                </a:solidFill>
                <a:latin typeface="Arial"/>
              </a:rPr>
              <a:t>•  API Call logs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AuthorizeSecurityGroupIngress</a:t>
            </a:r>
          </a:p>
          <a:p>
            <a:pPr>
              <a:spcAft>
                <a:spcPts val="1000"/>
              </a:spcAft>
            </a:pPr>
            <a:r>
              <a:rPr sz="1800" b="0">
                <a:solidFill>
                  <a:srgbClr val="161B26"/>
                </a:solidFill>
                <a:latin typeface="Arial"/>
              </a:rPr>
              <a:t>•  API Call logs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edit SG Inbound Rules</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SNS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 Log	File Integrity Validation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Digest files:</a:t>
            </a:r>
          </a:p>
          <a:p>
            <a:pPr>
              <a:spcAft>
                <a:spcPts val="1000"/>
              </a:spcAft>
            </a:pPr>
            <a:r>
              <a:rPr sz="1800" b="0">
                <a:solidFill>
                  <a:srgbClr val="161B26"/>
                </a:solidFill>
                <a:latin typeface="Arial"/>
              </a:rPr>
              <a:t>•  References the log files for the last hour and contains a hash of each</a:t>
            </a:r>
          </a:p>
          <a:p>
            <a:pPr>
              <a:spcAft>
                <a:spcPts val="1000"/>
              </a:spcAft>
            </a:pPr>
            <a:r>
              <a:rPr sz="1800" b="0">
                <a:solidFill>
                  <a:srgbClr val="161B26"/>
                </a:solidFill>
                <a:latin typeface="Arial"/>
              </a:rPr>
              <a:t>•  Stored in the same S3 bucket as log files (different folder)</a:t>
            </a:r>
          </a:p>
          <a:p>
            <a:pPr>
              <a:spcAft>
                <a:spcPts val="1000"/>
              </a:spcAft>
            </a:pPr>
            <a:r>
              <a:rPr sz="1800" b="0">
                <a:solidFill>
                  <a:srgbClr val="161B26"/>
                </a:solidFill>
                <a:latin typeface="Arial"/>
              </a:rPr>
              <a:t>•  Helps you determine whether a log file was modified/deleted after CloudTrail delivered it</a:t>
            </a:r>
          </a:p>
          <a:p>
            <a:pPr>
              <a:spcAft>
                <a:spcPts val="1000"/>
              </a:spcAft>
            </a:pPr>
            <a:r>
              <a:rPr sz="1800" b="0">
                <a:solidFill>
                  <a:srgbClr val="161B26"/>
                </a:solidFill>
                <a:latin typeface="Arial"/>
              </a:rPr>
              <a:t>•  Hashing using SHA-256, Digital Signing using SHA- 256 with RSA</a:t>
            </a:r>
          </a:p>
          <a:p>
            <a:pPr>
              <a:spcAft>
                <a:spcPts val="1000"/>
              </a:spcAft>
            </a:pPr>
            <a:r>
              <a:rPr sz="1800" b="0">
                <a:solidFill>
                  <a:srgbClr val="161B26"/>
                </a:solidFill>
                <a:latin typeface="Arial"/>
              </a:rPr>
              <a:t>•  Protect the S3 bucket using bucket policy, versioning, MFA Delete protection, encryption, object lock</a:t>
            </a:r>
          </a:p>
          <a:p>
            <a:pPr>
              <a:spcAft>
                <a:spcPts val="1000"/>
              </a:spcAft>
            </a:pPr>
            <a:r>
              <a:rPr sz="1800" b="0">
                <a:solidFill>
                  <a:srgbClr val="161B26"/>
                </a:solidFill>
                <a:latin typeface="Arial"/>
              </a:rPr>
              <a:t>•  Protect CloudTrail using IAM</a:t>
            </a:r>
          </a:p>
          <a:p>
            <a:pPr>
              <a:spcAft>
                <a:spcPts val="1000"/>
              </a:spcAft>
            </a:pPr>
            <a:r>
              <a:rPr sz="1800" b="0">
                <a:solidFill>
                  <a:srgbClr val="161B26"/>
                </a:solidFill>
                <a:latin typeface="Arial"/>
              </a:rPr>
              <a:t>•  Log Files (1 hour)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reference</a:t>
            </a:r>
          </a:p>
          <a:p>
            <a:pPr>
              <a:spcAft>
                <a:spcPts val="1000"/>
              </a:spcAft>
            </a:pPr>
            <a:r>
              <a:rPr sz="1800" b="0">
                <a:solidFill>
                  <a:srgbClr val="161B26"/>
                </a:solidFill>
                <a:latin typeface="Arial"/>
              </a:rPr>
              <a:t>•  contains a hash of each log file</a:t>
            </a:r>
          </a:p>
          <a:p>
            <a:pPr>
              <a:spcAft>
                <a:spcPts val="1000"/>
              </a:spcAft>
            </a:pPr>
            <a:r>
              <a:rPr sz="1800" b="0">
                <a:solidFill>
                  <a:srgbClr val="161B26"/>
                </a:solidFill>
                <a:latin typeface="Arial"/>
              </a:rPr>
              <a:t>•  Digest File</a:t>
            </a:r>
          </a:p>
          <a:p>
            <a:pPr>
              <a:spcAft>
                <a:spcPts val="1000"/>
              </a:spcAft>
            </a:pPr>
            <a:r>
              <a:rPr sz="1800" b="0">
                <a:solidFill>
                  <a:srgbClr val="161B26"/>
                </a:solidFill>
                <a:latin typeface="Arial"/>
              </a:rPr>
              <a:t>•  Amazon EC2</a:t>
            </a:r>
          </a:p>
          <a:p>
            <a:pPr>
              <a:spcAft>
                <a:spcPts val="1000"/>
              </a:spcAft>
            </a:pPr>
            <a:r>
              <a:rPr sz="1800" b="0">
                <a:solidFill>
                  <a:srgbClr val="161B26"/>
                </a:solidFill>
                <a:latin typeface="Arial"/>
              </a:rPr>
              <a:t>•  start instance</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API calls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 Integration with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CloudTrail</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SNS SQS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Used to react to any API call being made in your account</a:t>
            </a:r>
          </a:p>
          <a:p>
            <a:pPr>
              <a:spcAft>
                <a:spcPts val="1000"/>
              </a:spcAft>
            </a:pPr>
            <a:r>
              <a:rPr sz="1800" b="0">
                <a:solidFill>
                  <a:srgbClr val="161B26"/>
                </a:solidFill>
                <a:latin typeface="Arial"/>
              </a:rPr>
              <a:t>•  CloudTrail is not “real-time”:</a:t>
            </a:r>
          </a:p>
          <a:p>
            <a:pPr>
              <a:spcAft>
                <a:spcPts val="1000"/>
              </a:spcAft>
            </a:pPr>
            <a:r>
              <a:rPr sz="1800" b="0">
                <a:solidFill>
                  <a:srgbClr val="161B26"/>
                </a:solidFill>
                <a:latin typeface="Arial"/>
              </a:rPr>
              <a:t>•  Delivers an event within 15 minutes of an API call</a:t>
            </a:r>
          </a:p>
          <a:p>
            <a:pPr>
              <a:spcAft>
                <a:spcPts val="1000"/>
              </a:spcAft>
            </a:pPr>
            <a:r>
              <a:rPr sz="1800" b="0">
                <a:solidFill>
                  <a:srgbClr val="161B26"/>
                </a:solidFill>
                <a:latin typeface="Arial"/>
              </a:rPr>
              <a:t>•  Delivers log files to an S3 bucket every 5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 Organizations Trails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trail that will log all events for all AWS accounts in an AWS Organization</a:t>
            </a:r>
          </a:p>
          <a:p>
            <a:pPr>
              <a:spcAft>
                <a:spcPts val="1000"/>
              </a:spcAft>
            </a:pPr>
            <a:r>
              <a:rPr sz="1800" b="0">
                <a:solidFill>
                  <a:srgbClr val="161B26"/>
                </a:solidFill>
                <a:latin typeface="Arial"/>
              </a:rPr>
              <a:t>•  Log events for management and member accounts</a:t>
            </a:r>
          </a:p>
          <a:p>
            <a:pPr>
              <a:spcAft>
                <a:spcPts val="1000"/>
              </a:spcAft>
            </a:pPr>
            <a:r>
              <a:rPr sz="1800" b="0">
                <a:solidFill>
                  <a:srgbClr val="161B26"/>
                </a:solidFill>
                <a:latin typeface="Arial"/>
              </a:rPr>
              <a:t>•  Trail with the same name will be created in every AWS account (IAM permissions)</a:t>
            </a:r>
          </a:p>
          <a:p>
            <a:pPr>
              <a:spcAft>
                <a:spcPts val="1000"/>
              </a:spcAft>
            </a:pPr>
            <a:r>
              <a:rPr sz="1800" b="0">
                <a:solidFill>
                  <a:srgbClr val="161B26"/>
                </a:solidFill>
                <a:latin typeface="Arial"/>
              </a:rPr>
              <a:t>•  Member accounts can’t remove or modify the organization trail (view only)</a:t>
            </a:r>
          </a:p>
          <a:p>
            <a:pPr>
              <a:spcAft>
                <a:spcPts val="1000"/>
              </a:spcAft>
            </a:pPr>
            <a:r>
              <a:rPr sz="1800" b="0">
                <a:solidFill>
                  <a:srgbClr val="161B26"/>
                </a:solidFill>
                <a:latin typeface="Arial"/>
              </a:rPr>
              <a:t>•  AWS Organization (o-exampleorgid)</a:t>
            </a:r>
          </a:p>
          <a:p>
            <a:pPr>
              <a:spcAft>
                <a:spcPts val="1000"/>
              </a:spcAft>
            </a:pPr>
            <a:r>
              <a:rPr sz="1800" b="0">
                <a:solidFill>
                  <a:srgbClr val="161B26"/>
                </a:solidFill>
                <a:latin typeface="Arial"/>
              </a:rPr>
              <a:t>•  Management Account (111111111111)</a:t>
            </a:r>
          </a:p>
          <a:p>
            <a:pPr>
              <a:spcAft>
                <a:spcPts val="1000"/>
              </a:spcAft>
            </a:pPr>
            <a:r>
              <a:rPr sz="1800" b="0">
                <a:solidFill>
                  <a:srgbClr val="161B26"/>
                </a:solidFill>
                <a:latin typeface="Arial"/>
              </a:rPr>
              <a:t>•  Member Account (222222222222)</a:t>
            </a:r>
          </a:p>
          <a:p>
            <a:pPr>
              <a:spcAft>
                <a:spcPts val="1000"/>
              </a:spcAft>
            </a:pPr>
            <a:r>
              <a:rPr sz="1800" b="0">
                <a:solidFill>
                  <a:srgbClr val="161B26"/>
                </a:solidFill>
                <a:latin typeface="Arial"/>
              </a:rPr>
              <a:t>•  Member Account (444444444444)</a:t>
            </a:r>
          </a:p>
          <a:p>
            <a:pPr>
              <a:spcAft>
                <a:spcPts val="1000"/>
              </a:spcAft>
            </a:pPr>
            <a:r>
              <a:rPr sz="1800" b="0">
                <a:solidFill>
                  <a:srgbClr val="161B26"/>
                </a:solidFill>
                <a:latin typeface="Arial"/>
              </a:rPr>
              <a:t>•  Member Account (333333333333)</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AWS CloudTrail (MyOrganizationTrail)</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(my-organization-bucket)</a:t>
            </a:r>
          </a:p>
          <a:p>
            <a:pPr>
              <a:spcAft>
                <a:spcPts val="1000"/>
              </a:spcAft>
            </a:pPr>
            <a:r>
              <a:rPr sz="1800" b="0">
                <a:solidFill>
                  <a:srgbClr val="161B26"/>
                </a:solidFill>
                <a:latin typeface="Arial"/>
              </a:rPr>
              <a:t>•  /AWSLogs/o-exampleorgid/111111111111</a:t>
            </a:r>
          </a:p>
          <a:p>
            <a:pPr>
              <a:spcAft>
                <a:spcPts val="1000"/>
              </a:spcAft>
            </a:pPr>
            <a:r>
              <a:rPr sz="1800" b="0">
                <a:solidFill>
                  <a:srgbClr val="161B26"/>
                </a:solidFill>
                <a:latin typeface="Arial"/>
              </a:rPr>
              <a:t>•  /AWSLogs/o-exampleorgid/222222222222</a:t>
            </a:r>
          </a:p>
          <a:p>
            <a:pPr>
              <a:spcAft>
                <a:spcPts val="1000"/>
              </a:spcAft>
            </a:pPr>
            <a:r>
              <a:rPr sz="1800" b="0">
                <a:solidFill>
                  <a:srgbClr val="161B26"/>
                </a:solidFill>
                <a:latin typeface="Arial"/>
              </a:rPr>
              <a:t>•  /AWSLogs/o-exampleorgid/333333333333</a:t>
            </a:r>
          </a:p>
          <a:p>
            <a:pPr>
              <a:spcAft>
                <a:spcPts val="1000"/>
              </a:spcAft>
            </a:pPr>
            <a:r>
              <a:rPr sz="1800" b="0">
                <a:solidFill>
                  <a:srgbClr val="161B26"/>
                </a:solidFill>
                <a:latin typeface="Arial"/>
              </a:rPr>
              <a:t>•  /AWSLogs/o-exampleorgid/444444444444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with auditing and recording compliance of your AWS resources</a:t>
            </a:r>
          </a:p>
          <a:p>
            <a:pPr>
              <a:spcAft>
                <a:spcPts val="1000"/>
              </a:spcAft>
            </a:pPr>
            <a:r>
              <a:rPr sz="1800" b="0">
                <a:solidFill>
                  <a:srgbClr val="161B26"/>
                </a:solidFill>
                <a:latin typeface="Arial"/>
              </a:rPr>
              <a:t>•  Helps record configurations and changes over time</a:t>
            </a:r>
          </a:p>
          <a:p>
            <a:pPr>
              <a:spcAft>
                <a:spcPts val="1000"/>
              </a:spcAft>
            </a:pPr>
            <a:r>
              <a:rPr sz="1800" b="0">
                <a:solidFill>
                  <a:srgbClr val="161B26"/>
                </a:solidFill>
                <a:latin typeface="Arial"/>
              </a:rPr>
              <a:t>•  Questions that can be solved by AWS Config:</a:t>
            </a:r>
          </a:p>
          <a:p>
            <a:pPr>
              <a:spcAft>
                <a:spcPts val="1000"/>
              </a:spcAft>
            </a:pPr>
            <a:r>
              <a:rPr sz="1800" b="0">
                <a:solidFill>
                  <a:srgbClr val="161B26"/>
                </a:solidFill>
                <a:latin typeface="Arial"/>
              </a:rPr>
              <a:t>•  Is there unrestricted SSH access to my security groups?</a:t>
            </a:r>
          </a:p>
          <a:p>
            <a:pPr>
              <a:spcAft>
                <a:spcPts val="1000"/>
              </a:spcAft>
            </a:pPr>
            <a:r>
              <a:rPr sz="1800" b="0">
                <a:solidFill>
                  <a:srgbClr val="161B26"/>
                </a:solidFill>
                <a:latin typeface="Arial"/>
              </a:rPr>
              <a:t>•  Do my buckets have any public access?</a:t>
            </a:r>
          </a:p>
          <a:p>
            <a:pPr>
              <a:spcAft>
                <a:spcPts val="1000"/>
              </a:spcAft>
            </a:pPr>
            <a:r>
              <a:rPr sz="1800" b="0">
                <a:solidFill>
                  <a:srgbClr val="161B26"/>
                </a:solidFill>
                <a:latin typeface="Arial"/>
              </a:rPr>
              <a:t>•  How has my ALB configuration changed over time?</a:t>
            </a:r>
          </a:p>
          <a:p>
            <a:pPr>
              <a:spcAft>
                <a:spcPts val="1000"/>
              </a:spcAft>
            </a:pPr>
            <a:r>
              <a:rPr sz="1800" b="0">
                <a:solidFill>
                  <a:srgbClr val="161B26"/>
                </a:solidFill>
                <a:latin typeface="Arial"/>
              </a:rPr>
              <a:t>•  You can receive alerts (SNS notifications) for any changes</a:t>
            </a:r>
          </a:p>
          <a:p>
            <a:pPr>
              <a:spcAft>
                <a:spcPts val="1000"/>
              </a:spcAft>
            </a:pPr>
            <a:r>
              <a:rPr sz="1800" b="0">
                <a:solidFill>
                  <a:srgbClr val="161B26"/>
                </a:solidFill>
                <a:latin typeface="Arial"/>
              </a:rPr>
              <a:t>•  AWS Config is a per-region service</a:t>
            </a:r>
          </a:p>
          <a:p>
            <a:pPr>
              <a:spcAft>
                <a:spcPts val="1000"/>
              </a:spcAft>
            </a:pPr>
            <a:r>
              <a:rPr sz="1800" b="0">
                <a:solidFill>
                  <a:srgbClr val="161B26"/>
                </a:solidFill>
                <a:latin typeface="Arial"/>
              </a:rPr>
              <a:t>•  Can be aggregated across regions and accounts</a:t>
            </a:r>
          </a:p>
          <a:p>
            <a:pPr>
              <a:spcAft>
                <a:spcPts val="1000"/>
              </a:spcAft>
            </a:pPr>
            <a:r>
              <a:rPr sz="1800" b="0">
                <a:solidFill>
                  <a:srgbClr val="161B26"/>
                </a:solidFill>
                <a:latin typeface="Arial"/>
              </a:rPr>
              <a:t>•  Possibility of storing the configuration data into S3 (analyzed by Athena)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Config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use AWS managed config rules (over 75)</a:t>
            </a:r>
          </a:p>
          <a:p>
            <a:pPr>
              <a:spcAft>
                <a:spcPts val="1000"/>
              </a:spcAft>
            </a:pPr>
            <a:r>
              <a:rPr sz="1800" b="0">
                <a:solidFill>
                  <a:srgbClr val="161B26"/>
                </a:solidFill>
                <a:latin typeface="Arial"/>
              </a:rPr>
              <a:t>•  Can make custom config rules (must be defined in AWS Lambda)</a:t>
            </a:r>
          </a:p>
          <a:p>
            <a:pPr>
              <a:spcAft>
                <a:spcPts val="1000"/>
              </a:spcAft>
            </a:pPr>
            <a:r>
              <a:rPr sz="1800" b="0">
                <a:solidFill>
                  <a:srgbClr val="161B26"/>
                </a:solidFill>
                <a:latin typeface="Arial"/>
              </a:rPr>
              <a:t>•  Ex: evaluate if each EBS disk is of type gp2</a:t>
            </a:r>
          </a:p>
          <a:p>
            <a:pPr>
              <a:spcAft>
                <a:spcPts val="1000"/>
              </a:spcAft>
            </a:pPr>
            <a:r>
              <a:rPr sz="1800" b="0">
                <a:solidFill>
                  <a:srgbClr val="161B26"/>
                </a:solidFill>
                <a:latin typeface="Arial"/>
              </a:rPr>
              <a:t>•  Ex: evaluate if each EC2 instance is t2.micro</a:t>
            </a:r>
          </a:p>
          <a:p>
            <a:pPr>
              <a:spcAft>
                <a:spcPts val="1000"/>
              </a:spcAft>
            </a:pPr>
            <a:r>
              <a:rPr sz="1800" b="0">
                <a:solidFill>
                  <a:srgbClr val="161B26"/>
                </a:solidFill>
                <a:latin typeface="Arial"/>
              </a:rPr>
              <a:t>•  Rules can be evaluated / triggered:</a:t>
            </a:r>
          </a:p>
          <a:p>
            <a:pPr>
              <a:spcAft>
                <a:spcPts val="1000"/>
              </a:spcAft>
            </a:pPr>
            <a:r>
              <a:rPr sz="1800" b="0">
                <a:solidFill>
                  <a:srgbClr val="161B26"/>
                </a:solidFill>
                <a:latin typeface="Arial"/>
              </a:rPr>
              <a:t>•  For each config change</a:t>
            </a:r>
          </a:p>
          <a:p>
            <a:pPr>
              <a:spcAft>
                <a:spcPts val="1000"/>
              </a:spcAft>
            </a:pPr>
            <a:r>
              <a:rPr sz="1800" b="0">
                <a:solidFill>
                  <a:srgbClr val="161B26"/>
                </a:solidFill>
                <a:latin typeface="Arial"/>
              </a:rPr>
              <a:t>•  And / or: at regular time intervals</a:t>
            </a:r>
          </a:p>
          <a:p>
            <a:pPr>
              <a:spcAft>
                <a:spcPts val="1000"/>
              </a:spcAft>
            </a:pPr>
            <a:r>
              <a:rPr sz="1800" b="0">
                <a:solidFill>
                  <a:srgbClr val="161B26"/>
                </a:solidFill>
                <a:latin typeface="Arial"/>
              </a:rPr>
              <a:t>•  AWS Config Rules does not prevent actions from happening (no deny)</a:t>
            </a:r>
          </a:p>
          <a:p>
            <a:pPr>
              <a:spcAft>
                <a:spcPts val="1000"/>
              </a:spcAft>
            </a:pPr>
            <a:r>
              <a:rPr sz="1800" b="0">
                <a:solidFill>
                  <a:srgbClr val="161B26"/>
                </a:solidFill>
                <a:latin typeface="Arial"/>
              </a:rPr>
              <a:t>•  Pricing: no free tier, $0.003 per configuration item recorded per region,</a:t>
            </a:r>
          </a:p>
          <a:p>
            <a:pPr>
              <a:spcAft>
                <a:spcPts val="1000"/>
              </a:spcAft>
            </a:pPr>
            <a:r>
              <a:rPr sz="1800" b="0">
                <a:solidFill>
                  <a:srgbClr val="161B26"/>
                </a:solidFill>
                <a:latin typeface="Arial"/>
              </a:rPr>
              <a:t>•  $0.001 per config rule evaluation per region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	Resource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View compliance of a resource over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View configuration of a resource over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View CloudTrail API calls of a resource over time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Config Rules - Remediations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remediation of non-compliant resources using SSM Automation 	Documents</a:t>
            </a:r>
          </a:p>
          <a:p>
            <a:pPr>
              <a:spcAft>
                <a:spcPts val="1000"/>
              </a:spcAft>
            </a:pPr>
            <a:r>
              <a:rPr sz="1800" b="0">
                <a:solidFill>
                  <a:srgbClr val="161B26"/>
                </a:solidFill>
                <a:latin typeface="Arial"/>
              </a:rPr>
              <a:t>•  Use AWS-Managed Automation Documents or create custom Automation 	Documents</a:t>
            </a:r>
          </a:p>
          <a:p>
            <a:pPr>
              <a:spcAft>
                <a:spcPts val="1000"/>
              </a:spcAft>
            </a:pPr>
            <a:r>
              <a:rPr sz="1800" b="0">
                <a:solidFill>
                  <a:srgbClr val="161B26"/>
                </a:solidFill>
                <a:latin typeface="Arial"/>
              </a:rPr>
              <a:t>•  Tip: you can create custom Automation Documents that invokes Lambda function</a:t>
            </a:r>
          </a:p>
          <a:p>
            <a:pPr>
              <a:spcAft>
                <a:spcPts val="1000"/>
              </a:spcAft>
            </a:pPr>
            <a:r>
              <a:rPr sz="1800" b="0">
                <a:solidFill>
                  <a:srgbClr val="161B26"/>
                </a:solidFill>
                <a:latin typeface="Arial"/>
              </a:rPr>
              <a:t>•  You can set Remediation Retries  if the resource is still non-compliant after auto-remediation</a:t>
            </a:r>
          </a:p>
          <a:p>
            <a:pPr>
              <a:spcAft>
                <a:spcPts val="1000"/>
              </a:spcAft>
            </a:pPr>
            <a:r>
              <a:rPr sz="1800" b="0">
                <a:solidFill>
                  <a:srgbClr val="161B26"/>
                </a:solidFill>
                <a:latin typeface="Arial"/>
              </a:rPr>
              <a:t>•  IAM Access Key (NON_COMPLIANT)</a:t>
            </a:r>
          </a:p>
          <a:p>
            <a:pPr>
              <a:spcAft>
                <a:spcPts val="1000"/>
              </a:spcAft>
            </a:pPr>
            <a:r>
              <a:rPr sz="1800" b="0">
                <a:solidFill>
                  <a:srgbClr val="161B26"/>
                </a:solidFill>
                <a:latin typeface="Arial"/>
              </a:rPr>
              <a:t>•  expired</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Auto-Remediation Action</a:t>
            </a:r>
          </a:p>
          <a:p>
            <a:pPr>
              <a:spcAft>
                <a:spcPts val="1000"/>
              </a:spcAft>
            </a:pPr>
            <a:r>
              <a:rPr sz="1800" b="0">
                <a:solidFill>
                  <a:srgbClr val="161B26"/>
                </a:solidFill>
                <a:latin typeface="Arial"/>
              </a:rPr>
              <a:t>•  (SSM Document: AWSConfigRemediation- RevokeUnusedIAMUserCredentials)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Retries: 5</a:t>
            </a:r>
          </a:p>
          <a:p>
            <a:pPr>
              <a:spcAft>
                <a:spcPts val="1000"/>
              </a:spcAft>
            </a:pPr>
            <a:r>
              <a:rPr sz="1800" b="0">
                <a:solidFill>
                  <a:srgbClr val="161B26"/>
                </a:solidFill>
                <a:latin typeface="Arial"/>
              </a:rPr>
              <a:t>•  deactivate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Config Rules -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EventBridge to trigger notifications when AWS resources are non- compliant</a:t>
            </a:r>
          </a:p>
          <a:p>
            <a:pPr>
              <a:spcAft>
                <a:spcPts val="1000"/>
              </a:spcAft>
            </a:pPr>
            <a:r>
              <a:rPr sz="1800" b="0">
                <a:solidFill>
                  <a:srgbClr val="161B26"/>
                </a:solidFill>
                <a:latin typeface="Arial"/>
              </a:rPr>
              <a:t>•  Ability to send configuration changes and compliance state notifications to SNS (all events – use SNS Filtering or filter at client-side)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AWS Resources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NON_COMPLIANT</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Admin</a:t>
            </a:r>
          </a:p>
          <a:p>
            <a:pPr>
              <a:spcAft>
                <a:spcPts val="1000"/>
              </a:spcAft>
            </a:pPr>
            <a:r>
              <a:rPr sz="1800" b="0">
                <a:solidFill>
                  <a:srgbClr val="161B26"/>
                </a:solidFill>
                <a:latin typeface="Arial"/>
              </a:rPr>
              <a:t>•  All events (configuration changes, compliance state…)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AWS Resources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notification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 - Aggregators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aggregator is created in one central aggregator account</a:t>
            </a:r>
          </a:p>
          <a:p>
            <a:pPr>
              <a:spcAft>
                <a:spcPts val="1000"/>
              </a:spcAft>
            </a:pPr>
            <a:r>
              <a:rPr sz="1800" b="0">
                <a:solidFill>
                  <a:srgbClr val="161B26"/>
                </a:solidFill>
                <a:latin typeface="Arial"/>
              </a:rPr>
              <a:t>•  Aggregates rules, resources, etc… across multiple accounts &amp; regions</a:t>
            </a:r>
          </a:p>
          <a:p>
            <a:pPr>
              <a:spcAft>
                <a:spcPts val="1000"/>
              </a:spcAft>
            </a:pPr>
            <a:r>
              <a:rPr sz="1800" b="0">
                <a:solidFill>
                  <a:srgbClr val="161B26"/>
                </a:solidFill>
                <a:latin typeface="Arial"/>
              </a:rPr>
              <a:t>•  If using AWS Organizations, no need for individual Authorization</a:t>
            </a:r>
          </a:p>
          <a:p>
            <a:pPr>
              <a:spcAft>
                <a:spcPts val="1000"/>
              </a:spcAft>
            </a:pPr>
            <a:r>
              <a:rPr sz="1800" b="0">
                <a:solidFill>
                  <a:srgbClr val="161B26"/>
                </a:solidFill>
                <a:latin typeface="Arial"/>
              </a:rPr>
              <a:t>•  Rules are created in each individual source AWS account</a:t>
            </a:r>
          </a:p>
          <a:p>
            <a:pPr>
              <a:spcAft>
                <a:spcPts val="1000"/>
              </a:spcAft>
            </a:pPr>
            <a:r>
              <a:rPr sz="1800" b="0">
                <a:solidFill>
                  <a:srgbClr val="161B26"/>
                </a:solidFill>
                <a:latin typeface="Arial"/>
              </a:rPr>
              <a:t>•  Can deploy rules to multiple target accounts using CloudFormation StackSets</a:t>
            </a:r>
          </a:p>
          <a:p>
            <a:pPr>
              <a:spcAft>
                <a:spcPts val="1000"/>
              </a:spcAft>
            </a:pPr>
            <a:r>
              <a:rPr sz="1800" b="0">
                <a:solidFill>
                  <a:srgbClr val="161B26"/>
                </a:solidFill>
                <a:latin typeface="Arial"/>
              </a:rPr>
              <a:t>•  AWS Account (Aggregator)</a:t>
            </a:r>
          </a:p>
          <a:p>
            <a:pPr>
              <a:spcAft>
                <a:spcPts val="1000"/>
              </a:spcAft>
            </a:pPr>
            <a:r>
              <a:rPr sz="1800" b="0">
                <a:solidFill>
                  <a:srgbClr val="161B26"/>
                </a:solidFill>
                <a:latin typeface="Arial"/>
              </a:rPr>
              <a:t>•  Aggregator</a:t>
            </a:r>
          </a:p>
          <a:p>
            <a:pPr>
              <a:spcAft>
                <a:spcPts val="1000"/>
              </a:spcAft>
            </a:pPr>
            <a:r>
              <a:rPr sz="1800" b="0">
                <a:solidFill>
                  <a:srgbClr val="161B26"/>
                </a:solidFill>
                <a:latin typeface="Arial"/>
              </a:rPr>
              <a:t>•  AWS Account – A (Source)</a:t>
            </a:r>
          </a:p>
          <a:p>
            <a:pPr>
              <a:spcAft>
                <a:spcPts val="1000"/>
              </a:spcAft>
            </a:pPr>
            <a:r>
              <a:rPr sz="1800" b="0">
                <a:solidFill>
                  <a:srgbClr val="161B26"/>
                </a:solidFill>
                <a:latin typeface="Arial"/>
              </a:rPr>
              <a:t>•  Authorization</a:t>
            </a:r>
          </a:p>
          <a:p>
            <a:pPr>
              <a:spcAft>
                <a:spcPts val="1000"/>
              </a:spcAft>
            </a:pPr>
            <a:r>
              <a:rPr sz="1800" b="0">
                <a:solidFill>
                  <a:srgbClr val="161B26"/>
                </a:solidFill>
                <a:latin typeface="Arial"/>
              </a:rPr>
              <a:t>•  AWS Account – B (Source)</a:t>
            </a:r>
          </a:p>
          <a:p>
            <a:pPr>
              <a:spcAft>
                <a:spcPts val="1000"/>
              </a:spcAft>
            </a:pPr>
            <a:r>
              <a:rPr sz="1800" b="0">
                <a:solidFill>
                  <a:srgbClr val="161B26"/>
                </a:solidFill>
                <a:latin typeface="Arial"/>
              </a:rPr>
              <a:t>•  Authorization</a:t>
            </a:r>
          </a:p>
          <a:p>
            <a:pPr>
              <a:spcAft>
                <a:spcPts val="1000"/>
              </a:spcAft>
            </a:pPr>
            <a:r>
              <a:rPr sz="1800" b="0">
                <a:solidFill>
                  <a:srgbClr val="161B26"/>
                </a:solidFill>
                <a:latin typeface="Arial"/>
              </a:rPr>
              <a:t>•  authorize Aggregator</a:t>
            </a:r>
          </a:p>
          <a:p>
            <a:pPr>
              <a:spcAft>
                <a:spcPts val="1000"/>
              </a:spcAft>
            </a:pPr>
            <a:r>
              <a:rPr sz="1800" b="0">
                <a:solidFill>
                  <a:srgbClr val="161B26"/>
                </a:solidFill>
                <a:latin typeface="Arial"/>
              </a:rPr>
              <a:t>•  to collect data</a:t>
            </a:r>
          </a:p>
          <a:p>
            <a:pPr>
              <a:spcAft>
                <a:spcPts val="1000"/>
              </a:spcAft>
            </a:pPr>
            <a:r>
              <a:rPr sz="1800" b="0">
                <a:solidFill>
                  <a:srgbClr val="161B26"/>
                </a:solidFill>
                <a:latin typeface="Arial"/>
              </a:rPr>
              <a:t>•  collect data</a:t>
            </a:r>
          </a:p>
          <a:p>
            <a:pPr>
              <a:spcAft>
                <a:spcPts val="1000"/>
              </a:spcAft>
            </a:pPr>
            <a:r>
              <a:rPr sz="1800" b="0">
                <a:solidFill>
                  <a:srgbClr val="161B26"/>
                </a:solidFill>
                <a:latin typeface="Arial"/>
              </a:rPr>
              <a:t>•  Aggregated View</a:t>
            </a:r>
          </a:p>
          <a:p>
            <a:pPr>
              <a:spcAft>
                <a:spcPts val="1000"/>
              </a:spcAft>
            </a:pPr>
            <a:r>
              <a:rPr sz="1800" b="0">
                <a:solidFill>
                  <a:srgbClr val="161B26"/>
                </a:solidFill>
                <a:latin typeface="Arial"/>
              </a:rPr>
              <a:t>•  (compliant &amp; non-compliant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618</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vs CloudTrail vs Config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Performance monitoring (metrics, CPU, network, etc…) &amp; dashboards</a:t>
            </a:r>
          </a:p>
          <a:p>
            <a:pPr>
              <a:spcAft>
                <a:spcPts val="1000"/>
              </a:spcAft>
            </a:pPr>
            <a:r>
              <a:rPr sz="1800" b="0">
                <a:solidFill>
                  <a:srgbClr val="161B26"/>
                </a:solidFill>
                <a:latin typeface="Arial"/>
              </a:rPr>
              <a:t>•  Events &amp; Alerting</a:t>
            </a:r>
          </a:p>
          <a:p>
            <a:pPr>
              <a:spcAft>
                <a:spcPts val="1000"/>
              </a:spcAft>
            </a:pPr>
            <a:r>
              <a:rPr sz="1800" b="0">
                <a:solidFill>
                  <a:srgbClr val="161B26"/>
                </a:solidFill>
                <a:latin typeface="Arial"/>
              </a:rPr>
              <a:t>•  Log Aggregation &amp; Analysis</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Record API calls made within your Account by everyone</a:t>
            </a:r>
          </a:p>
          <a:p>
            <a:pPr>
              <a:spcAft>
                <a:spcPts val="1000"/>
              </a:spcAft>
            </a:pPr>
            <a:r>
              <a:rPr sz="1800" b="0">
                <a:solidFill>
                  <a:srgbClr val="161B26"/>
                </a:solidFill>
                <a:latin typeface="Arial"/>
              </a:rPr>
              <a:t>•  Can define trails for specific resources</a:t>
            </a:r>
          </a:p>
          <a:p>
            <a:pPr>
              <a:spcAft>
                <a:spcPts val="1000"/>
              </a:spcAft>
            </a:pPr>
            <a:r>
              <a:rPr sz="1800" b="0">
                <a:solidFill>
                  <a:srgbClr val="161B26"/>
                </a:solidFill>
                <a:latin typeface="Arial"/>
              </a:rPr>
              <a:t>•  Global Service</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Record configuration changes</a:t>
            </a:r>
          </a:p>
          <a:p>
            <a:pPr>
              <a:spcAft>
                <a:spcPts val="1000"/>
              </a:spcAft>
            </a:pPr>
            <a:r>
              <a:rPr sz="1800" b="0">
                <a:solidFill>
                  <a:srgbClr val="161B26"/>
                </a:solidFill>
                <a:latin typeface="Arial"/>
              </a:rPr>
              <a:t>•  Evaluate resources against compliance rules</a:t>
            </a:r>
          </a:p>
          <a:p>
            <a:pPr>
              <a:spcAft>
                <a:spcPts val="1000"/>
              </a:spcAft>
            </a:pPr>
            <a:r>
              <a:rPr sz="1800" b="0">
                <a:solidFill>
                  <a:srgbClr val="161B26"/>
                </a:solidFill>
                <a:latin typeface="Arial"/>
              </a:rPr>
              <a:t>•  Get timeline of changes and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619</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For an Elastic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Monitoring Incoming connections metric</a:t>
            </a:r>
          </a:p>
          <a:p>
            <a:pPr>
              <a:spcAft>
                <a:spcPts val="1000"/>
              </a:spcAft>
            </a:pPr>
            <a:r>
              <a:rPr sz="1800" b="0">
                <a:solidFill>
                  <a:srgbClr val="161B26"/>
                </a:solidFill>
                <a:latin typeface="Arial"/>
              </a:rPr>
              <a:t>•  Visualize error codes as a % over time</a:t>
            </a:r>
          </a:p>
          <a:p>
            <a:pPr>
              <a:spcAft>
                <a:spcPts val="1000"/>
              </a:spcAft>
            </a:pPr>
            <a:r>
              <a:rPr sz="1800" b="0">
                <a:solidFill>
                  <a:srgbClr val="161B26"/>
                </a:solidFill>
                <a:latin typeface="Arial"/>
              </a:rPr>
              <a:t>•  Make a dashboard to get an idea of your load balancer performance</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Track security group rules for the Load Balancer</a:t>
            </a:r>
          </a:p>
          <a:p>
            <a:pPr>
              <a:spcAft>
                <a:spcPts val="1000"/>
              </a:spcAft>
            </a:pPr>
            <a:r>
              <a:rPr sz="1800" b="0">
                <a:solidFill>
                  <a:srgbClr val="161B26"/>
                </a:solidFill>
                <a:latin typeface="Arial"/>
              </a:rPr>
              <a:t>•  Track configuration changes for the Load Balancer</a:t>
            </a:r>
          </a:p>
          <a:p>
            <a:pPr>
              <a:spcAft>
                <a:spcPts val="1000"/>
              </a:spcAft>
            </a:pPr>
            <a:r>
              <a:rPr sz="1800" b="0">
                <a:solidFill>
                  <a:srgbClr val="161B26"/>
                </a:solidFill>
                <a:latin typeface="Arial"/>
              </a:rPr>
              <a:t>•  Ensure an SSL certificate is always assigned to the Load Balancer (compliance)</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Track who made any changes to the Load Balancer with API calls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620</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Account Management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621</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Service History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02372" y="1801368"/>
            <a:ext cx="655677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23_0.png"/>
          <p:cNvPicPr>
            <a:picLocks noChangeAspect="1"/>
          </p:cNvPicPr>
          <p:nvPr/>
        </p:nvPicPr>
        <p:blipFill>
          <a:blip r:embed="rId2"/>
          <a:stretch>
            <a:fillRect/>
          </a:stretch>
        </p:blipFill>
        <p:spPr>
          <a:xfrm>
            <a:off x="2829804" y="1828800"/>
            <a:ext cx="650191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Shows all regions, all services health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622</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Previously called AWS Personal Health Dashboard (PHD)</a:t>
            </a:r>
          </a:p>
          <a:p>
            <a:pPr>
              <a:spcAft>
                <a:spcPts val="1000"/>
              </a:spcAft>
            </a:pPr>
            <a:r>
              <a:rPr sz="1800" b="0">
                <a:solidFill>
                  <a:srgbClr val="161B26"/>
                </a:solidFill>
                <a:latin typeface="Arial"/>
              </a:rPr>
              <a:t>•  AWS Account Health Dashboard provides alerts and remediation guidance when AWS is experiencing events that may impact you.</a:t>
            </a:r>
          </a:p>
          <a:p>
            <a:pPr>
              <a:spcAft>
                <a:spcPts val="1000"/>
              </a:spcAft>
            </a:pPr>
            <a:r>
              <a:rPr sz="1800" b="0">
                <a:solidFill>
                  <a:srgbClr val="161B26"/>
                </a:solidFill>
                <a:latin typeface="Arial"/>
              </a:rPr>
              <a:t>•  While the Service Health Dashboard displays the general status of AWS</a:t>
            </a:r>
          </a:p>
          <a:p>
            <a:pPr>
              <a:spcAft>
                <a:spcPts val="1000"/>
              </a:spcAft>
            </a:pPr>
            <a:r>
              <a:rPr sz="1800" b="0">
                <a:solidFill>
                  <a:srgbClr val="161B26"/>
                </a:solidFill>
                <a:latin typeface="Arial"/>
              </a:rPr>
              <a:t>•  services, Account Health Dashboard gives you a personalized view into.</a:t>
            </a:r>
          </a:p>
          <a:p>
            <a:pPr>
              <a:spcAft>
                <a:spcPts val="1000"/>
              </a:spcAft>
            </a:pPr>
            <a:r>
              <a:rPr sz="1800" b="0">
                <a:solidFill>
                  <a:srgbClr val="161B26"/>
                </a:solidFill>
                <a:latin typeface="Arial"/>
              </a:rPr>
              <a:t>•  the performance and availability of the AWS services underlying your AWS resources.</a:t>
            </a:r>
          </a:p>
          <a:p>
            <a:pPr>
              <a:spcAft>
                <a:spcPts val="1000"/>
              </a:spcAft>
            </a:pPr>
            <a:r>
              <a:rPr sz="1800" b="0">
                <a:solidFill>
                  <a:srgbClr val="161B26"/>
                </a:solidFill>
                <a:latin typeface="Arial"/>
              </a:rPr>
              <a:t>•  The dashboard displays relevant and timely information to help you</a:t>
            </a:r>
          </a:p>
          <a:p>
            <a:pPr>
              <a:spcAft>
                <a:spcPts val="1000"/>
              </a:spcAft>
            </a:pPr>
            <a:r>
              <a:rPr sz="1800" b="0">
                <a:solidFill>
                  <a:srgbClr val="161B26"/>
                </a:solidFill>
                <a:latin typeface="Arial"/>
              </a:rPr>
              <a:t>•  manage events in progress and provides proactive notification to help you plan for scheduled activities.</a:t>
            </a:r>
          </a:p>
          <a:p>
            <a:pPr>
              <a:spcAft>
                <a:spcPts val="1000"/>
              </a:spcAft>
            </a:pPr>
            <a:r>
              <a:rPr sz="1800" b="0">
                <a:solidFill>
                  <a:srgbClr val="161B26"/>
                </a:solidFill>
                <a:latin typeface="Arial"/>
              </a:rPr>
              <a:t>•  Can aggregate data from an entire AWS Organization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623</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50489"/>
            <a:ext cx="10479024" cy="327142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25_0.png"/>
          <p:cNvPicPr>
            <a:picLocks noChangeAspect="1"/>
          </p:cNvPicPr>
          <p:nvPr/>
        </p:nvPicPr>
        <p:blipFill>
          <a:blip r:embed="rId2"/>
          <a:stretch>
            <a:fillRect/>
          </a:stretch>
        </p:blipFill>
        <p:spPr>
          <a:xfrm>
            <a:off x="868680" y="2277921"/>
            <a:ext cx="10424160" cy="321655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Global service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624</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Your Health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4093" y="1801368"/>
            <a:ext cx="1027333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26_0.png"/>
          <p:cNvPicPr>
            <a:picLocks noChangeAspect="1"/>
          </p:cNvPicPr>
          <p:nvPr/>
        </p:nvPicPr>
        <p:blipFill>
          <a:blip r:embed="rId2"/>
          <a:stretch>
            <a:fillRect/>
          </a:stretch>
        </p:blipFill>
        <p:spPr>
          <a:xfrm>
            <a:off x="971525" y="1828800"/>
            <a:ext cx="1021847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625</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Health Event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EventBridge to react to changes for AWS Health events in your AWS account</a:t>
            </a:r>
          </a:p>
          <a:p>
            <a:pPr>
              <a:spcAft>
                <a:spcPts val="1000"/>
              </a:spcAft>
            </a:pPr>
            <a:r>
              <a:rPr sz="1800" b="0">
                <a:solidFill>
                  <a:srgbClr val="161B26"/>
                </a:solidFill>
                <a:latin typeface="Arial"/>
              </a:rPr>
              <a:t>•  Example: receive email notifications when EC2 instances in your AWS account are scheduled for updates</a:t>
            </a:r>
          </a:p>
          <a:p>
            <a:pPr>
              <a:spcAft>
                <a:spcPts val="1000"/>
              </a:spcAft>
            </a:pPr>
            <a:r>
              <a:rPr sz="1800" b="0">
                <a:solidFill>
                  <a:srgbClr val="161B26"/>
                </a:solidFill>
                <a:latin typeface="Arial"/>
              </a:rPr>
              <a:t>•  This is possible for Account events (resources that are affected in your account) and Public Events (Regional availability of a service)</a:t>
            </a:r>
          </a:p>
          <a:p>
            <a:pPr>
              <a:spcAft>
                <a:spcPts val="1000"/>
              </a:spcAft>
            </a:pPr>
            <a:r>
              <a:rPr sz="1800" b="0">
                <a:solidFill>
                  <a:srgbClr val="161B26"/>
                </a:solidFill>
                <a:latin typeface="Arial"/>
              </a:rPr>
              <a:t>•  Use cases: send notifications, capture event information, take corrective action...</a:t>
            </a:r>
          </a:p>
          <a:p>
            <a:pPr>
              <a:spcAft>
                <a:spcPts val="1000"/>
              </a:spcAft>
            </a:pPr>
            <a:r>
              <a:rPr sz="1800" b="0">
                <a:solidFill>
                  <a:srgbClr val="161B26"/>
                </a:solidFill>
                <a:latin typeface="Arial"/>
              </a:rPr>
              <a:t>•  AWS Health Dashboard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Lambda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invoke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626</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Health Dashboard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Exposed Access Keys</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Delete Access Keys</a:t>
            </a:r>
          </a:p>
          <a:p>
            <a:pPr>
              <a:spcAft>
                <a:spcPts val="1000"/>
              </a:spcAft>
            </a:pPr>
            <a:r>
              <a:rPr sz="1800" b="0">
                <a:solidFill>
                  <a:srgbClr val="161B26"/>
                </a:solidFill>
                <a:latin typeface="Arial"/>
              </a:rPr>
              <a:t>•  Remediating Exposed IAM Access Keys</a:t>
            </a:r>
          </a:p>
          <a:p>
            <a:pPr>
              <a:spcAft>
                <a:spcPts val="1000"/>
              </a:spcAft>
            </a:pPr>
            <a:r>
              <a:rPr sz="1800" b="0">
                <a:solidFill>
                  <a:srgbClr val="161B26"/>
                </a:solidFill>
                <a:latin typeface="Arial"/>
              </a:rPr>
              <a:t>•  AWS Health Dashboard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Instance Scheduled for Retirement</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Restart Instance</a:t>
            </a:r>
          </a:p>
          <a:p>
            <a:pPr>
              <a:spcAft>
                <a:spcPts val="1000"/>
              </a:spcAft>
            </a:pPr>
            <a:r>
              <a:rPr sz="1800" b="0">
                <a:solidFill>
                  <a:srgbClr val="161B26"/>
                </a:solidFill>
                <a:latin typeface="Arial"/>
              </a:rPr>
              <a:t>•  Restarting Instances That are Scheduled for Retirement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627</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service</a:t>
            </a:r>
          </a:p>
          <a:p>
            <a:pPr>
              <a:spcAft>
                <a:spcPts val="1000"/>
              </a:spcAft>
            </a:pPr>
            <a:r>
              <a:rPr sz="1800" b="0">
                <a:solidFill>
                  <a:srgbClr val="161B26"/>
                </a:solidFill>
                <a:latin typeface="Arial"/>
              </a:rPr>
              <a:t>•  Allows to manage multiple AWS accounts</a:t>
            </a:r>
          </a:p>
          <a:p>
            <a:pPr>
              <a:spcAft>
                <a:spcPts val="1000"/>
              </a:spcAft>
            </a:pPr>
            <a:r>
              <a:rPr sz="1800" b="0">
                <a:solidFill>
                  <a:srgbClr val="161B26"/>
                </a:solidFill>
                <a:latin typeface="Arial"/>
              </a:rPr>
              <a:t>•  The main account is the management account</a:t>
            </a:r>
          </a:p>
          <a:p>
            <a:pPr>
              <a:spcAft>
                <a:spcPts val="1000"/>
              </a:spcAft>
            </a:pPr>
            <a:r>
              <a:rPr sz="1800" b="0">
                <a:solidFill>
                  <a:srgbClr val="161B26"/>
                </a:solidFill>
                <a:latin typeface="Arial"/>
              </a:rPr>
              <a:t>•  Other accounts are member accounts</a:t>
            </a:r>
          </a:p>
          <a:p>
            <a:pPr>
              <a:spcAft>
                <a:spcPts val="1000"/>
              </a:spcAft>
            </a:pPr>
            <a:r>
              <a:rPr sz="1800" b="0">
                <a:solidFill>
                  <a:srgbClr val="161B26"/>
                </a:solidFill>
                <a:latin typeface="Arial"/>
              </a:rPr>
              <a:t>•  Member accounts can only be part of one organization</a:t>
            </a:r>
          </a:p>
          <a:p>
            <a:pPr>
              <a:spcAft>
                <a:spcPts val="1000"/>
              </a:spcAft>
            </a:pPr>
            <a:r>
              <a:rPr sz="1800" b="0">
                <a:solidFill>
                  <a:srgbClr val="161B26"/>
                </a:solidFill>
                <a:latin typeface="Arial"/>
              </a:rPr>
              <a:t>•  Consolidated Billing across all accounts - single payment method</a:t>
            </a:r>
          </a:p>
          <a:p>
            <a:pPr>
              <a:spcAft>
                <a:spcPts val="1000"/>
              </a:spcAft>
            </a:pPr>
            <a:r>
              <a:rPr sz="1800" b="0">
                <a:solidFill>
                  <a:srgbClr val="161B26"/>
                </a:solidFill>
                <a:latin typeface="Arial"/>
              </a:rPr>
              <a:t>•  Pricing benefits from aggregated usage (volume discount for EC2, S3…)</a:t>
            </a:r>
          </a:p>
          <a:p>
            <a:pPr>
              <a:spcAft>
                <a:spcPts val="1000"/>
              </a:spcAft>
            </a:pPr>
            <a:r>
              <a:rPr sz="1800" b="0">
                <a:solidFill>
                  <a:srgbClr val="161B26"/>
                </a:solidFill>
                <a:latin typeface="Arial"/>
              </a:rPr>
              <a:t>•  Shared reserved instances and Savings Plans discounts across accounts</a:t>
            </a:r>
          </a:p>
          <a:p>
            <a:pPr>
              <a:spcAft>
                <a:spcPts val="1000"/>
              </a:spcAft>
            </a:pPr>
            <a:r>
              <a:rPr sz="1800" b="0">
                <a:solidFill>
                  <a:srgbClr val="161B26"/>
                </a:solidFill>
                <a:latin typeface="Arial"/>
              </a:rPr>
              <a:t>•  API is available to automate AWS account creation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628</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Root Organizational Unit (OU)</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OU (Dev)</a:t>
            </a:r>
          </a:p>
          <a:p>
            <a:pPr>
              <a:spcAft>
                <a:spcPts val="1000"/>
              </a:spcAft>
            </a:pPr>
            <a:r>
              <a:rPr sz="1800" b="0">
                <a:solidFill>
                  <a:srgbClr val="161B26"/>
                </a:solidFill>
                <a:latin typeface="Arial"/>
              </a:rPr>
              <a:t>•  Member Accounts</a:t>
            </a:r>
          </a:p>
          <a:p>
            <a:pPr>
              <a:spcAft>
                <a:spcPts val="1000"/>
              </a:spcAft>
            </a:pPr>
            <a:r>
              <a:rPr sz="1800" b="0">
                <a:solidFill>
                  <a:srgbClr val="161B26"/>
                </a:solidFill>
                <a:latin typeface="Arial"/>
              </a:rPr>
              <a:t>•  OU (Prod)</a:t>
            </a:r>
          </a:p>
          <a:p>
            <a:pPr>
              <a:spcAft>
                <a:spcPts val="1000"/>
              </a:spcAft>
            </a:pPr>
            <a:r>
              <a:rPr sz="1800" b="0">
                <a:solidFill>
                  <a:srgbClr val="161B26"/>
                </a:solidFill>
                <a:latin typeface="Arial"/>
              </a:rPr>
              <a:t>•  OU (HR)</a:t>
            </a:r>
          </a:p>
          <a:p>
            <a:pPr>
              <a:spcAft>
                <a:spcPts val="1000"/>
              </a:spcAft>
            </a:pPr>
            <a:r>
              <a:rPr sz="1800" b="0">
                <a:solidFill>
                  <a:srgbClr val="161B26"/>
                </a:solidFill>
                <a:latin typeface="Arial"/>
              </a:rPr>
              <a:t>•  OU (Finance)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629</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42757" y="1801368"/>
            <a:ext cx="807600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31_0.png"/>
          <p:cNvPicPr>
            <a:picLocks noChangeAspect="1"/>
          </p:cNvPicPr>
          <p:nvPr/>
        </p:nvPicPr>
        <p:blipFill>
          <a:blip r:embed="rId2"/>
          <a:stretch>
            <a:fillRect/>
          </a:stretch>
        </p:blipFill>
        <p:spPr>
          <a:xfrm>
            <a:off x="2070189" y="1828800"/>
            <a:ext cx="802114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630</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 (OU) -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Business Unit	     Environmental Lifecycle</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Sales OU</a:t>
            </a:r>
          </a:p>
          <a:p>
            <a:pPr>
              <a:spcAft>
                <a:spcPts val="1000"/>
              </a:spcAft>
            </a:pPr>
            <a:r>
              <a:rPr sz="1800" b="0">
                <a:solidFill>
                  <a:srgbClr val="161B26"/>
                </a:solidFill>
                <a:latin typeface="Arial"/>
              </a:rPr>
              <a:t>•  Retail OU</a:t>
            </a:r>
          </a:p>
          <a:p>
            <a:pPr>
              <a:spcAft>
                <a:spcPts val="1000"/>
              </a:spcAft>
            </a:pPr>
            <a:r>
              <a:rPr sz="1800" b="0">
                <a:solidFill>
                  <a:srgbClr val="161B26"/>
                </a:solidFill>
                <a:latin typeface="Arial"/>
              </a:rPr>
              <a:t>•  Finance OU</a:t>
            </a:r>
          </a:p>
          <a:p>
            <a:pPr>
              <a:spcAft>
                <a:spcPts val="1000"/>
              </a:spcAft>
            </a:pPr>
            <a:r>
              <a:rPr sz="1800" b="0">
                <a:solidFill>
                  <a:srgbClr val="161B26"/>
                </a:solidFill>
                <a:latin typeface="Arial"/>
              </a:rPr>
              <a:t>•  Sales Account 1</a:t>
            </a:r>
          </a:p>
          <a:p>
            <a:pPr>
              <a:spcAft>
                <a:spcPts val="1000"/>
              </a:spcAft>
            </a:pPr>
            <a:r>
              <a:rPr sz="1800" b="0">
                <a:solidFill>
                  <a:srgbClr val="161B26"/>
                </a:solidFill>
                <a:latin typeface="Arial"/>
              </a:rPr>
              <a:t>•  Sales Account 2</a:t>
            </a:r>
          </a:p>
          <a:p>
            <a:pPr>
              <a:spcAft>
                <a:spcPts val="1000"/>
              </a:spcAft>
            </a:pPr>
            <a:r>
              <a:rPr sz="1800" b="0">
                <a:solidFill>
                  <a:srgbClr val="161B26"/>
                </a:solidFill>
                <a:latin typeface="Arial"/>
              </a:rPr>
              <a:t>•  Retail Account 1</a:t>
            </a:r>
          </a:p>
          <a:p>
            <a:pPr>
              <a:spcAft>
                <a:spcPts val="1000"/>
              </a:spcAft>
            </a:pPr>
            <a:r>
              <a:rPr sz="1800" b="0">
                <a:solidFill>
                  <a:srgbClr val="161B26"/>
                </a:solidFill>
                <a:latin typeface="Arial"/>
              </a:rPr>
              <a:t>•  Retail Account 2</a:t>
            </a:r>
          </a:p>
          <a:p>
            <a:pPr>
              <a:spcAft>
                <a:spcPts val="1000"/>
              </a:spcAft>
            </a:pPr>
            <a:r>
              <a:rPr sz="1800" b="0">
                <a:solidFill>
                  <a:srgbClr val="161B26"/>
                </a:solidFill>
                <a:latin typeface="Arial"/>
              </a:rPr>
              <a:t>•  Finance Account 1</a:t>
            </a:r>
          </a:p>
          <a:p>
            <a:pPr>
              <a:spcAft>
                <a:spcPts val="1000"/>
              </a:spcAft>
            </a:pPr>
            <a:r>
              <a:rPr sz="1800" b="0">
                <a:solidFill>
                  <a:srgbClr val="161B26"/>
                </a:solidFill>
                <a:latin typeface="Arial"/>
              </a:rPr>
              <a:t>•  Finance Account 2</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Prod OU</a:t>
            </a:r>
          </a:p>
          <a:p>
            <a:pPr>
              <a:spcAft>
                <a:spcPts val="1000"/>
              </a:spcAft>
            </a:pPr>
            <a:r>
              <a:rPr sz="1800" b="0">
                <a:solidFill>
                  <a:srgbClr val="161B26"/>
                </a:solidFill>
                <a:latin typeface="Arial"/>
              </a:rPr>
              <a:t>•  Dev OU</a:t>
            </a:r>
          </a:p>
          <a:p>
            <a:pPr>
              <a:spcAft>
                <a:spcPts val="1000"/>
              </a:spcAft>
            </a:pPr>
            <a:r>
              <a:rPr sz="1800" b="0">
                <a:solidFill>
                  <a:srgbClr val="161B26"/>
                </a:solidFill>
                <a:latin typeface="Arial"/>
              </a:rPr>
              <a:t>•  Test OU</a:t>
            </a:r>
          </a:p>
          <a:p>
            <a:pPr>
              <a:spcAft>
                <a:spcPts val="1000"/>
              </a:spcAft>
            </a:pPr>
            <a:r>
              <a:rPr sz="1800" b="0">
                <a:solidFill>
                  <a:srgbClr val="161B26"/>
                </a:solidFill>
                <a:latin typeface="Arial"/>
              </a:rPr>
              <a:t>•  Prod Account 1</a:t>
            </a:r>
          </a:p>
          <a:p>
            <a:pPr>
              <a:spcAft>
                <a:spcPts val="1000"/>
              </a:spcAft>
            </a:pPr>
            <a:r>
              <a:rPr sz="1800" b="0">
                <a:solidFill>
                  <a:srgbClr val="161B26"/>
                </a:solidFill>
                <a:latin typeface="Arial"/>
              </a:rPr>
              <a:t>•  Prod Account 2</a:t>
            </a:r>
          </a:p>
          <a:p>
            <a:pPr>
              <a:spcAft>
                <a:spcPts val="1000"/>
              </a:spcAft>
            </a:pPr>
            <a:r>
              <a:rPr sz="1800" b="0">
                <a:solidFill>
                  <a:srgbClr val="161B26"/>
                </a:solidFill>
                <a:latin typeface="Arial"/>
              </a:rPr>
              <a:t>•  Dev Account 1</a:t>
            </a:r>
          </a:p>
          <a:p>
            <a:pPr>
              <a:spcAft>
                <a:spcPts val="1000"/>
              </a:spcAft>
            </a:pPr>
            <a:r>
              <a:rPr sz="1800" b="0">
                <a:solidFill>
                  <a:srgbClr val="161B26"/>
                </a:solidFill>
                <a:latin typeface="Arial"/>
              </a:rPr>
              <a:t>•  Dev Account 2</a:t>
            </a:r>
          </a:p>
          <a:p>
            <a:pPr>
              <a:spcAft>
                <a:spcPts val="1000"/>
              </a:spcAft>
            </a:pPr>
            <a:r>
              <a:rPr sz="1800" b="0">
                <a:solidFill>
                  <a:srgbClr val="161B26"/>
                </a:solidFill>
                <a:latin typeface="Arial"/>
              </a:rPr>
              <a:t>•  Test Account 1</a:t>
            </a:r>
          </a:p>
          <a:p>
            <a:pPr>
              <a:spcAft>
                <a:spcPts val="1000"/>
              </a:spcAft>
            </a:pPr>
            <a:r>
              <a:rPr sz="1800" b="0">
                <a:solidFill>
                  <a:srgbClr val="161B26"/>
                </a:solidFill>
                <a:latin typeface="Arial"/>
              </a:rPr>
              <a:t>•  Test Account 2</a:t>
            </a:r>
          </a:p>
          <a:p>
            <a:pPr>
              <a:spcAft>
                <a:spcPts val="1000"/>
              </a:spcAft>
            </a:pPr>
            <a:r>
              <a:rPr sz="1800" b="0">
                <a:solidFill>
                  <a:srgbClr val="161B26"/>
                </a:solidFill>
                <a:latin typeface="Arial"/>
              </a:rPr>
              <a:t>•  Project-Based</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Project 1 OU</a:t>
            </a:r>
          </a:p>
          <a:p>
            <a:pPr>
              <a:spcAft>
                <a:spcPts val="1000"/>
              </a:spcAft>
            </a:pPr>
            <a:r>
              <a:rPr sz="1800" b="0">
                <a:solidFill>
                  <a:srgbClr val="161B26"/>
                </a:solidFill>
                <a:latin typeface="Arial"/>
              </a:rPr>
              <a:t>•  Project 2 OU</a:t>
            </a:r>
          </a:p>
          <a:p>
            <a:pPr>
              <a:spcAft>
                <a:spcPts val="1000"/>
              </a:spcAft>
            </a:pPr>
            <a:r>
              <a:rPr sz="1800" b="0">
                <a:solidFill>
                  <a:srgbClr val="161B26"/>
                </a:solidFill>
                <a:latin typeface="Arial"/>
              </a:rPr>
              <a:t>•  Project 3 OU</a:t>
            </a:r>
          </a:p>
          <a:p>
            <a:pPr>
              <a:spcAft>
                <a:spcPts val="1000"/>
              </a:spcAft>
            </a:pPr>
            <a:r>
              <a:rPr sz="1800" b="0">
                <a:solidFill>
                  <a:srgbClr val="161B26"/>
                </a:solidFill>
                <a:latin typeface="Arial"/>
              </a:rPr>
              <a:t>•  Project 1</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Project 1</a:t>
            </a:r>
          </a:p>
          <a:p>
            <a:pPr>
              <a:spcAft>
                <a:spcPts val="1000"/>
              </a:spcAft>
            </a:pPr>
            <a:r>
              <a:rPr sz="1800" b="0">
                <a:solidFill>
                  <a:srgbClr val="161B26"/>
                </a:solidFill>
                <a:latin typeface="Arial"/>
              </a:rPr>
              <a:t>•  Account 2</a:t>
            </a:r>
          </a:p>
          <a:p>
            <a:pPr>
              <a:spcAft>
                <a:spcPts val="1000"/>
              </a:spcAft>
            </a:pPr>
            <a:r>
              <a:rPr sz="1800" b="0">
                <a:solidFill>
                  <a:srgbClr val="161B26"/>
                </a:solidFill>
                <a:latin typeface="Arial"/>
              </a:rPr>
              <a:t>•  Project 2</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Project 2</a:t>
            </a:r>
          </a:p>
          <a:p>
            <a:pPr>
              <a:spcAft>
                <a:spcPts val="1000"/>
              </a:spcAft>
            </a:pPr>
            <a:r>
              <a:rPr sz="1800" b="0">
                <a:solidFill>
                  <a:srgbClr val="161B26"/>
                </a:solidFill>
                <a:latin typeface="Arial"/>
              </a:rPr>
              <a:t>•  Account 2</a:t>
            </a:r>
          </a:p>
          <a:p>
            <a:pPr>
              <a:spcAft>
                <a:spcPts val="1000"/>
              </a:spcAft>
            </a:pPr>
            <a:r>
              <a:rPr sz="1800" b="0">
                <a:solidFill>
                  <a:srgbClr val="161B26"/>
                </a:solidFill>
                <a:latin typeface="Arial"/>
              </a:rPr>
              <a:t>•  Project 3</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Project 3</a:t>
            </a:r>
          </a:p>
          <a:p>
            <a:pPr>
              <a:spcAft>
                <a:spcPts val="1000"/>
              </a:spcAft>
            </a:pPr>
            <a:r>
              <a:rPr sz="1800" b="0">
                <a:solidFill>
                  <a:srgbClr val="161B26"/>
                </a:solidFill>
                <a:latin typeface="Arial"/>
              </a:rPr>
              <a:t>•  Account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631</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Advantages</a:t>
            </a:r>
          </a:p>
          <a:p>
            <a:pPr>
              <a:spcAft>
                <a:spcPts val="1000"/>
              </a:spcAft>
            </a:pPr>
            <a:r>
              <a:rPr sz="1800" b="0">
                <a:solidFill>
                  <a:srgbClr val="161B26"/>
                </a:solidFill>
                <a:latin typeface="Arial"/>
              </a:rPr>
              <a:t>•  Multi Account vs One Account Multi VPC</a:t>
            </a:r>
          </a:p>
          <a:p>
            <a:pPr>
              <a:spcAft>
                <a:spcPts val="1000"/>
              </a:spcAft>
            </a:pPr>
            <a:r>
              <a:rPr sz="1800" b="0">
                <a:solidFill>
                  <a:srgbClr val="161B26"/>
                </a:solidFill>
                <a:latin typeface="Arial"/>
              </a:rPr>
              <a:t>•  Use tagging standards for billing purposes</a:t>
            </a:r>
          </a:p>
          <a:p>
            <a:pPr>
              <a:spcAft>
                <a:spcPts val="1000"/>
              </a:spcAft>
            </a:pPr>
            <a:r>
              <a:rPr sz="1800" b="0">
                <a:solidFill>
                  <a:srgbClr val="161B26"/>
                </a:solidFill>
                <a:latin typeface="Arial"/>
              </a:rPr>
              <a:t>•  Enable CloudTrail on all accounts, send logs to central S3 account</a:t>
            </a:r>
          </a:p>
          <a:p>
            <a:pPr>
              <a:spcAft>
                <a:spcPts val="1000"/>
              </a:spcAft>
            </a:pPr>
            <a:r>
              <a:rPr sz="1800" b="0">
                <a:solidFill>
                  <a:srgbClr val="161B26"/>
                </a:solidFill>
                <a:latin typeface="Arial"/>
              </a:rPr>
              <a:t>•  Send CloudWatch Logs to central logging account</a:t>
            </a:r>
          </a:p>
          <a:p>
            <a:pPr>
              <a:spcAft>
                <a:spcPts val="1000"/>
              </a:spcAft>
            </a:pPr>
            <a:r>
              <a:rPr sz="1800" b="0">
                <a:solidFill>
                  <a:srgbClr val="161B26"/>
                </a:solidFill>
                <a:latin typeface="Arial"/>
              </a:rPr>
              <a:t>•  Establish Cross Account Roles for Admin purposes</a:t>
            </a:r>
          </a:p>
          <a:p>
            <a:pPr>
              <a:spcAft>
                <a:spcPts val="1000"/>
              </a:spcAft>
            </a:pPr>
            <a:r>
              <a:rPr sz="1800" b="0">
                <a:solidFill>
                  <a:srgbClr val="161B26"/>
                </a:solidFill>
                <a:latin typeface="Arial"/>
              </a:rPr>
              <a:t>•  Security: Service Control Policies (SCP)</a:t>
            </a:r>
          </a:p>
          <a:p>
            <a:pPr>
              <a:spcAft>
                <a:spcPts val="1000"/>
              </a:spcAft>
            </a:pPr>
            <a:r>
              <a:rPr sz="1800" b="0">
                <a:solidFill>
                  <a:srgbClr val="161B26"/>
                </a:solidFill>
                <a:latin typeface="Arial"/>
              </a:rPr>
              <a:t>•  IAM policies applied to OU or Accounts to restrict Users and Roles</a:t>
            </a:r>
          </a:p>
          <a:p>
            <a:pPr>
              <a:spcAft>
                <a:spcPts val="1000"/>
              </a:spcAft>
            </a:pPr>
            <a:r>
              <a:rPr sz="1800" b="0">
                <a:solidFill>
                  <a:srgbClr val="161B26"/>
                </a:solidFill>
                <a:latin typeface="Arial"/>
              </a:rPr>
              <a:t>•  They do not apply to the management account (full admin power)</a:t>
            </a:r>
          </a:p>
          <a:p>
            <a:pPr>
              <a:spcAft>
                <a:spcPts val="1000"/>
              </a:spcAft>
            </a:pPr>
            <a:r>
              <a:rPr sz="1800" b="0">
                <a:solidFill>
                  <a:srgbClr val="161B26"/>
                </a:solidFill>
                <a:latin typeface="Arial"/>
              </a:rPr>
              <a:t>•  Must have an explicit allow from the root through each OU in the direct path 	to the target account (does not allow anything by default – like IAM)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632</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OU (Root)</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OU (Sandbox)</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OU (Test)</a:t>
            </a:r>
          </a:p>
          <a:p>
            <a:pPr>
              <a:spcAft>
                <a:spcPts val="1000"/>
              </a:spcAft>
            </a:pPr>
            <a:r>
              <a:rPr sz="1800" b="0">
                <a:solidFill>
                  <a:srgbClr val="161B26"/>
                </a:solidFill>
                <a:latin typeface="Arial"/>
              </a:rPr>
              <a:t>•  Account D</a:t>
            </a:r>
          </a:p>
          <a:p>
            <a:pPr>
              <a:spcAft>
                <a:spcPts val="1000"/>
              </a:spcAft>
            </a:pPr>
            <a:r>
              <a:rPr sz="1800" b="0">
                <a:solidFill>
                  <a:srgbClr val="161B26"/>
                </a:solidFill>
                <a:latin typeface="Arial"/>
              </a:rPr>
              <a:t>•  FullAWSAccess</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Can do anything (no SCP apply)</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Can do anything</a:t>
            </a:r>
          </a:p>
          <a:p>
            <a:pPr>
              <a:spcAft>
                <a:spcPts val="1000"/>
              </a:spcAft>
            </a:pPr>
            <a:r>
              <a:rPr sz="1800" b="0">
                <a:solidFill>
                  <a:srgbClr val="161B26"/>
                </a:solidFill>
                <a:latin typeface="Arial"/>
              </a:rPr>
              <a:t>•  EXCEPT S3 (explicit Deny from Sandbox OU)</a:t>
            </a:r>
          </a:p>
          <a:p>
            <a:pPr>
              <a:spcAft>
                <a:spcPts val="1000"/>
              </a:spcAft>
            </a:pPr>
            <a:r>
              <a:rPr sz="1800" b="0">
                <a:solidFill>
                  <a:srgbClr val="161B26"/>
                </a:solidFill>
                <a:latin typeface="Arial"/>
              </a:rPr>
              <a:t>•  EXCEPT EC2 (explicit Deny)</a:t>
            </a:r>
          </a:p>
          <a:p>
            <a:pPr>
              <a:spcAft>
                <a:spcPts val="1000"/>
              </a:spcAft>
            </a:pPr>
            <a:r>
              <a:rPr sz="1800" b="0">
                <a:solidFill>
                  <a:srgbClr val="161B26"/>
                </a:solidFill>
                <a:latin typeface="Arial"/>
              </a:rPr>
              <a:t>•  Account B &amp; C</a:t>
            </a:r>
          </a:p>
          <a:p>
            <a:pPr>
              <a:spcAft>
                <a:spcPts val="1000"/>
              </a:spcAft>
            </a:pPr>
            <a:r>
              <a:rPr sz="1800" b="0">
                <a:solidFill>
                  <a:srgbClr val="161B26"/>
                </a:solidFill>
                <a:latin typeface="Arial"/>
              </a:rPr>
              <a:t>•  Can do anything</a:t>
            </a:r>
          </a:p>
          <a:p>
            <a:pPr>
              <a:spcAft>
                <a:spcPts val="1000"/>
              </a:spcAft>
            </a:pPr>
            <a:r>
              <a:rPr sz="1800" b="0">
                <a:solidFill>
                  <a:srgbClr val="161B26"/>
                </a:solidFill>
                <a:latin typeface="Arial"/>
              </a:rPr>
              <a:t>•  EXCEPT S3 (explicit Deny from Sandbox OU)</a:t>
            </a:r>
          </a:p>
          <a:p>
            <a:pPr>
              <a:spcAft>
                <a:spcPts val="1000"/>
              </a:spcAft>
            </a:pPr>
            <a:r>
              <a:rPr sz="1800" b="0">
                <a:solidFill>
                  <a:srgbClr val="161B26"/>
                </a:solidFill>
                <a:latin typeface="Arial"/>
              </a:rPr>
              <a:t>•  Account D</a:t>
            </a:r>
          </a:p>
          <a:p>
            <a:pPr>
              <a:spcAft>
                <a:spcPts val="1000"/>
              </a:spcAft>
            </a:pPr>
            <a:r>
              <a:rPr sz="1800" b="0">
                <a:solidFill>
                  <a:srgbClr val="161B26"/>
                </a:solidFill>
                <a:latin typeface="Arial"/>
              </a:rPr>
              <a:t>•  Can access EC2</a:t>
            </a:r>
          </a:p>
          <a:p>
            <a:pPr>
              <a:spcAft>
                <a:spcPts val="1000"/>
              </a:spcAft>
            </a:pPr>
            <a:r>
              <a:rPr sz="1800" b="0">
                <a:solidFill>
                  <a:srgbClr val="161B26"/>
                </a:solidFill>
                <a:latin typeface="Arial"/>
              </a:rPr>
              <a:t>•  Prod OU &amp; Account E &amp; F</a:t>
            </a:r>
          </a:p>
          <a:p>
            <a:pPr>
              <a:spcAft>
                <a:spcPts val="1000"/>
              </a:spcAft>
            </a:pPr>
            <a:r>
              <a:rPr sz="1800" b="0">
                <a:solidFill>
                  <a:srgbClr val="161B26"/>
                </a:solidFill>
                <a:latin typeface="Arial"/>
              </a:rPr>
              <a:t>•  Can do anything</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Account C</a:t>
            </a:r>
          </a:p>
          <a:p>
            <a:pPr>
              <a:spcAft>
                <a:spcPts val="1000"/>
              </a:spcAft>
            </a:pPr>
            <a:r>
              <a:rPr sz="1800" b="0">
                <a:solidFill>
                  <a:srgbClr val="161B26"/>
                </a:solidFill>
                <a:latin typeface="Arial"/>
              </a:rPr>
              <a:t>•  OU (Workloads)</a:t>
            </a:r>
          </a:p>
          <a:p>
            <a:pPr>
              <a:spcAft>
                <a:spcPts val="1000"/>
              </a:spcAft>
            </a:pPr>
            <a:r>
              <a:rPr sz="1800" b="0">
                <a:solidFill>
                  <a:srgbClr val="161B26"/>
                </a:solidFill>
                <a:latin typeface="Arial"/>
              </a:rPr>
              <a:t>•  OU (Prod)</a:t>
            </a:r>
          </a:p>
          <a:p>
            <a:pPr>
              <a:spcAft>
                <a:spcPts val="1000"/>
              </a:spcAft>
            </a:pPr>
            <a:r>
              <a:rPr sz="1800" b="0">
                <a:solidFill>
                  <a:srgbClr val="161B26"/>
                </a:solidFill>
                <a:latin typeface="Arial"/>
              </a:rPr>
              <a:t>•  Account E</a:t>
            </a:r>
          </a:p>
          <a:p>
            <a:pPr>
              <a:spcAft>
                <a:spcPts val="1000"/>
              </a:spcAft>
            </a:pPr>
            <a:r>
              <a:rPr sz="1800" b="0">
                <a:solidFill>
                  <a:srgbClr val="161B26"/>
                </a:solidFill>
                <a:latin typeface="Arial"/>
              </a:rPr>
              <a:t>•  Account F</a:t>
            </a:r>
          </a:p>
          <a:p>
            <a:pPr>
              <a:spcAft>
                <a:spcPts val="1000"/>
              </a:spcAft>
            </a:pPr>
            <a:r>
              <a:rPr sz="1800" b="0">
                <a:solidFill>
                  <a:srgbClr val="161B26"/>
                </a:solidFill>
                <a:latin typeface="Arial"/>
              </a:rPr>
              <a:t>•  Deny Athena FullAWSAccess</a:t>
            </a:r>
          </a:p>
          <a:p>
            <a:pPr>
              <a:spcAft>
                <a:spcPts val="1000"/>
              </a:spcAft>
            </a:pPr>
            <a:r>
              <a:rPr sz="1800" b="0">
                <a:solidFill>
                  <a:srgbClr val="161B26"/>
                </a:solidFill>
                <a:latin typeface="Arial"/>
              </a:rPr>
              <a:t>•  FullAWSAccess + Deny S3</a:t>
            </a:r>
          </a:p>
          <a:p>
            <a:pPr>
              <a:spcAft>
                <a:spcPts val="1000"/>
              </a:spcAft>
            </a:pPr>
            <a:r>
              <a:rPr sz="1800" b="0">
                <a:solidFill>
                  <a:srgbClr val="161B26"/>
                </a:solidFill>
                <a:latin typeface="Arial"/>
              </a:rPr>
              <a:t>•  Allow EC2</a:t>
            </a:r>
          </a:p>
          <a:p>
            <a:pPr>
              <a:spcAft>
                <a:spcPts val="1000"/>
              </a:spcAft>
            </a:pPr>
            <a:r>
              <a:rPr sz="1800" b="0">
                <a:solidFill>
                  <a:srgbClr val="161B26"/>
                </a:solidFill>
                <a:latin typeface="Arial"/>
              </a:rPr>
              <a:t>•  FullAWSAccess + Deny EC2</a:t>
            </a:r>
          </a:p>
          <a:p>
            <a:pPr>
              <a:spcAft>
                <a:spcPts val="1000"/>
              </a:spcAft>
            </a:pPr>
            <a:r>
              <a:rPr sz="1800" b="0">
                <a:solidFill>
                  <a:srgbClr val="161B26"/>
                </a:solidFill>
                <a:latin typeface="Arial"/>
              </a:rPr>
              <a:t>•  FullAWSAccess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633</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Organization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04424" y="1801368"/>
            <a:ext cx="875267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35_0.png"/>
          <p:cNvPicPr>
            <a:picLocks noChangeAspect="1"/>
          </p:cNvPicPr>
          <p:nvPr/>
        </p:nvPicPr>
        <p:blipFill>
          <a:blip r:embed="rId2"/>
          <a:stretch>
            <a:fillRect/>
          </a:stretch>
        </p:blipFill>
        <p:spPr>
          <a:xfrm>
            <a:off x="1731856" y="1828800"/>
            <a:ext cx="869780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634</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08379" y="1801368"/>
            <a:ext cx="434476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36_0.jpg"/>
          <p:cNvPicPr>
            <a:picLocks noChangeAspect="1"/>
          </p:cNvPicPr>
          <p:nvPr/>
        </p:nvPicPr>
        <p:blipFill>
          <a:blip r:embed="rId2"/>
          <a:stretch>
            <a:fillRect/>
          </a:stretch>
        </p:blipFill>
        <p:spPr>
          <a:xfrm>
            <a:off x="3935811" y="1828800"/>
            <a:ext cx="428989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Blocklist and Allowlist strategies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635</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 - Reserved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For billing purposes, the consolidated billing feature of AWS Organizations treats all the accounts in the organization as one account.</a:t>
            </a:r>
          </a:p>
          <a:p>
            <a:pPr>
              <a:spcAft>
                <a:spcPts val="1000"/>
              </a:spcAft>
            </a:pPr>
            <a:r>
              <a:rPr sz="2000" b="0">
                <a:solidFill>
                  <a:srgbClr val="161B26"/>
                </a:solidFill>
                <a:latin typeface="Arial"/>
              </a:rPr>
              <a:t>•  This means that all accounts in the organization can receive the hourly cost benefit of Reserved Instances that are purchased by any other account.</a:t>
            </a:r>
          </a:p>
          <a:p>
            <a:pPr>
              <a:spcAft>
                <a:spcPts val="1000"/>
              </a:spcAft>
            </a:pPr>
            <a:r>
              <a:rPr sz="2000" b="0">
                <a:solidFill>
                  <a:srgbClr val="161B26"/>
                </a:solidFill>
                <a:latin typeface="Arial"/>
              </a:rPr>
              <a:t>•  The payer account (master account) of an organization can turn off</a:t>
            </a:r>
          </a:p>
          <a:p>
            <a:pPr>
              <a:spcAft>
                <a:spcPts val="1000"/>
              </a:spcAft>
            </a:pPr>
            <a:r>
              <a:rPr sz="2000" b="0">
                <a:solidFill>
                  <a:srgbClr val="161B26"/>
                </a:solidFill>
                <a:latin typeface="Arial"/>
              </a:rPr>
              <a:t>•  Reserved Instance (RI) discount and Savings Plans discount sharing for any accounts in that organization, including the payer account</a:t>
            </a:r>
          </a:p>
          <a:p>
            <a:pPr>
              <a:spcAft>
                <a:spcPts val="1000"/>
              </a:spcAft>
            </a:pPr>
            <a:r>
              <a:rPr sz="2000" b="0">
                <a:solidFill>
                  <a:srgbClr val="161B26"/>
                </a:solidFill>
                <a:latin typeface="Arial"/>
              </a:rPr>
              <a:t>•  This means that RIs and Savings Plans discounts aren't shared between any accounts that have sharing turned off.</a:t>
            </a:r>
          </a:p>
          <a:p>
            <a:pPr>
              <a:spcAft>
                <a:spcPts val="1000"/>
              </a:spcAft>
            </a:pPr>
            <a:r>
              <a:rPr sz="2000" b="0">
                <a:solidFill>
                  <a:srgbClr val="161B26"/>
                </a:solidFill>
                <a:latin typeface="Arial"/>
              </a:rPr>
              <a:t>•  To share an RI or Savings Plans discount with an account, both accounts must have sharing turned 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636</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 - IAM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AWS:PrincipalOrgID condition key in your resource-based policies to restrict access to IAM principals from accounts in an AWS Organization</a:t>
            </a:r>
          </a:p>
          <a:p>
            <a:pPr>
              <a:spcAft>
                <a:spcPts val="1000"/>
              </a:spcAft>
            </a:pPr>
            <a:r>
              <a:rPr sz="1800" b="0">
                <a:solidFill>
                  <a:srgbClr val="161B26"/>
                </a:solidFill>
                <a:latin typeface="Arial"/>
              </a:rPr>
              <a:t>•  AWS Organization (o-exampleorgid)</a:t>
            </a:r>
          </a:p>
          <a:p>
            <a:pPr>
              <a:spcAft>
                <a:spcPts val="1000"/>
              </a:spcAft>
            </a:pPr>
            <a:r>
              <a:rPr sz="1800" b="0">
                <a:solidFill>
                  <a:srgbClr val="161B26"/>
                </a:solidFill>
                <a:latin typeface="Arial"/>
              </a:rPr>
              <a:t>•  Management Account (111111111111)</a:t>
            </a:r>
          </a:p>
          <a:p>
            <a:pPr>
              <a:spcAft>
                <a:spcPts val="1000"/>
              </a:spcAft>
            </a:pPr>
            <a:r>
              <a:rPr sz="1800" b="0">
                <a:solidFill>
                  <a:srgbClr val="161B26"/>
                </a:solidFill>
                <a:latin typeface="Arial"/>
              </a:rPr>
              <a:t>•  Member Account (123456789012)</a:t>
            </a:r>
          </a:p>
          <a:p>
            <a:pPr>
              <a:spcAft>
                <a:spcPts val="1000"/>
              </a:spcAft>
            </a:pPr>
            <a:r>
              <a:rPr sz="1800" b="0">
                <a:solidFill>
                  <a:srgbClr val="161B26"/>
                </a:solidFill>
                <a:latin typeface="Arial"/>
              </a:rPr>
              <a:t>•  IAM User (stephane)</a:t>
            </a:r>
          </a:p>
          <a:p>
            <a:pPr>
              <a:spcAft>
                <a:spcPts val="1000"/>
              </a:spcAft>
            </a:pPr>
            <a:r>
              <a:rPr sz="1800" b="0">
                <a:solidFill>
                  <a:srgbClr val="161B26"/>
                </a:solidFill>
                <a:latin typeface="Arial"/>
              </a:rPr>
              <a:t>•  Member Account (222222222222)</a:t>
            </a:r>
          </a:p>
          <a:p>
            <a:pPr>
              <a:spcAft>
                <a:spcPts val="1000"/>
              </a:spcAft>
            </a:pPr>
            <a:r>
              <a:rPr sz="1800" b="0">
                <a:solidFill>
                  <a:srgbClr val="161B26"/>
                </a:solidFill>
                <a:latin typeface="Arial"/>
              </a:rPr>
              <a:t>•  IAM User (Olivia)</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(financial-data-2021)</a:t>
            </a:r>
          </a:p>
          <a:p>
            <a:pPr>
              <a:spcAft>
                <a:spcPts val="1000"/>
              </a:spcAft>
            </a:pPr>
            <a:r>
              <a:rPr sz="1800" b="0">
                <a:solidFill>
                  <a:srgbClr val="161B26"/>
                </a:solidFill>
                <a:latin typeface="Arial"/>
              </a:rPr>
              <a:t>•  Use the aws:PrincipalOrgID condition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637</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 - Tag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21497" y="1801368"/>
            <a:ext cx="531852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39_0.png"/>
          <p:cNvPicPr>
            <a:picLocks noChangeAspect="1"/>
          </p:cNvPicPr>
          <p:nvPr/>
        </p:nvPicPr>
        <p:blipFill>
          <a:blip r:embed="rId2"/>
          <a:stretch>
            <a:fillRect/>
          </a:stretch>
        </p:blipFill>
        <p:spPr>
          <a:xfrm>
            <a:off x="3448929" y="1828800"/>
            <a:ext cx="526366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Helps you standardize tags across resources in an AWS Organization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638</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Control Tower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way to set up and govern a secure and compliant mutli-account AWS environment based on best practices</a:t>
            </a:r>
          </a:p>
          <a:p>
            <a:pPr>
              <a:spcAft>
                <a:spcPts val="1000"/>
              </a:spcAft>
            </a:pPr>
            <a:r>
              <a:rPr sz="1800" b="0">
                <a:solidFill>
                  <a:srgbClr val="161B26"/>
                </a:solidFill>
                <a:latin typeface="Arial"/>
              </a:rPr>
              <a:t>•  Benefits:</a:t>
            </a:r>
          </a:p>
          <a:p>
            <a:pPr>
              <a:spcAft>
                <a:spcPts val="1000"/>
              </a:spcAft>
            </a:pPr>
            <a:r>
              <a:rPr sz="1800" b="0">
                <a:solidFill>
                  <a:srgbClr val="161B26"/>
                </a:solidFill>
                <a:latin typeface="Arial"/>
              </a:rPr>
              <a:t>•  Automate the set up of your environment in a few clicks</a:t>
            </a:r>
          </a:p>
          <a:p>
            <a:pPr>
              <a:spcAft>
                <a:spcPts val="1000"/>
              </a:spcAft>
            </a:pPr>
            <a:r>
              <a:rPr sz="1800" b="0">
                <a:solidFill>
                  <a:srgbClr val="161B26"/>
                </a:solidFill>
                <a:latin typeface="Arial"/>
              </a:rPr>
              <a:t>•  Automate ongoing policy management using guardrails</a:t>
            </a:r>
          </a:p>
          <a:p>
            <a:pPr>
              <a:spcAft>
                <a:spcPts val="1000"/>
              </a:spcAft>
            </a:pPr>
            <a:r>
              <a:rPr sz="1800" b="0">
                <a:solidFill>
                  <a:srgbClr val="161B26"/>
                </a:solidFill>
                <a:latin typeface="Arial"/>
              </a:rPr>
              <a:t>•  Detect policy violations and remediate them</a:t>
            </a:r>
          </a:p>
          <a:p>
            <a:pPr>
              <a:spcAft>
                <a:spcPts val="1000"/>
              </a:spcAft>
            </a:pPr>
            <a:r>
              <a:rPr sz="1800" b="0">
                <a:solidFill>
                  <a:srgbClr val="161B26"/>
                </a:solidFill>
                <a:latin typeface="Arial"/>
              </a:rPr>
              <a:t>•  Monitor compliance through an interactive dashboard</a:t>
            </a:r>
          </a:p>
          <a:p>
            <a:pPr>
              <a:spcAft>
                <a:spcPts val="1000"/>
              </a:spcAft>
            </a:pPr>
            <a:r>
              <a:rPr sz="1800" b="0">
                <a:solidFill>
                  <a:srgbClr val="161B26"/>
                </a:solidFill>
                <a:latin typeface="Arial"/>
              </a:rPr>
              <a:t>•  AWS Control Tower runs on top of AWS Organizations:</a:t>
            </a:r>
          </a:p>
          <a:p>
            <a:pPr>
              <a:spcAft>
                <a:spcPts val="1000"/>
              </a:spcAft>
            </a:pPr>
            <a:r>
              <a:rPr sz="1800" b="0">
                <a:solidFill>
                  <a:srgbClr val="161B26"/>
                </a:solidFill>
                <a:latin typeface="Arial"/>
              </a:rPr>
              <a:t>•  It automatically sets up AWS Organizations to organize accounts and implement SCPs (Service Control Policies)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639</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Users that are new to AWS have too many options, and may create stacks that are not compliant / in line with the rest of the organization</a:t>
            </a:r>
          </a:p>
          <a:p>
            <a:pPr>
              <a:spcAft>
                <a:spcPts val="1000"/>
              </a:spcAft>
            </a:pPr>
            <a:r>
              <a:rPr sz="2000" b="0">
                <a:solidFill>
                  <a:srgbClr val="161B26"/>
                </a:solidFill>
                <a:latin typeface="Arial"/>
              </a:rPr>
              <a:t>•  Some users just want a quick self-service portal to launch a set of</a:t>
            </a:r>
          </a:p>
          <a:p>
            <a:pPr>
              <a:spcAft>
                <a:spcPts val="1000"/>
              </a:spcAft>
            </a:pPr>
            <a:r>
              <a:rPr sz="2000" b="0">
                <a:solidFill>
                  <a:srgbClr val="161B26"/>
                </a:solidFill>
                <a:latin typeface="Arial"/>
              </a:rPr>
              <a:t>•  authorized products pre-defined by admins</a:t>
            </a:r>
          </a:p>
          <a:p>
            <a:pPr>
              <a:spcAft>
                <a:spcPts val="1000"/>
              </a:spcAft>
            </a:pPr>
            <a:r>
              <a:rPr sz="2000" b="0">
                <a:solidFill>
                  <a:srgbClr val="161B26"/>
                </a:solidFill>
                <a:latin typeface="Arial"/>
              </a:rPr>
              <a:t>•  Includes: virtual machines, databases, storage options, etc…</a:t>
            </a:r>
          </a:p>
          <a:p>
            <a:pPr>
              <a:spcAft>
                <a:spcPts val="1000"/>
              </a:spcAft>
            </a:pPr>
            <a:r>
              <a:rPr sz="2000" b="0">
                <a:solidFill>
                  <a:srgbClr val="161B26"/>
                </a:solidFill>
                <a:latin typeface="Arial"/>
              </a:rPr>
              <a:t>•  Enter AWS Service Catalog!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640</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94539" y="1801368"/>
            <a:ext cx="897244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42_0.png"/>
          <p:cNvPicPr>
            <a:picLocks noChangeAspect="1"/>
          </p:cNvPicPr>
          <p:nvPr/>
        </p:nvPicPr>
        <p:blipFill>
          <a:blip r:embed="rId2"/>
          <a:stretch>
            <a:fillRect/>
          </a:stretch>
        </p:blipFill>
        <p:spPr>
          <a:xfrm>
            <a:off x="1621971" y="1828800"/>
            <a:ext cx="891757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641</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Catalog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Product	Portfolio</a:t>
            </a:r>
          </a:p>
          <a:p>
            <a:pPr>
              <a:spcAft>
                <a:spcPts val="1000"/>
              </a:spcAft>
            </a:pPr>
            <a:r>
              <a:rPr sz="1800" b="0">
                <a:solidFill>
                  <a:srgbClr val="161B26"/>
                </a:solidFill>
                <a:latin typeface="Arial"/>
              </a:rPr>
              <a:t>•  CloudFormation Templates</a:t>
            </a:r>
          </a:p>
          <a:p>
            <a:pPr>
              <a:spcAft>
                <a:spcPts val="1000"/>
              </a:spcAft>
            </a:pPr>
            <a:r>
              <a:rPr sz="1800" b="0">
                <a:solidFill>
                  <a:srgbClr val="161B26"/>
                </a:solidFill>
                <a:latin typeface="Arial"/>
              </a:rPr>
              <a:t>•  Collection of Products</a:t>
            </a:r>
          </a:p>
          <a:p>
            <a:pPr>
              <a:spcAft>
                <a:spcPts val="1000"/>
              </a:spcAft>
            </a:pPr>
            <a:r>
              <a:rPr sz="1800" b="0">
                <a:solidFill>
                  <a:srgbClr val="161B26"/>
                </a:solidFill>
                <a:latin typeface="Arial"/>
              </a:rPr>
              <a:t>•  ADMIN TASKS</a:t>
            </a:r>
          </a:p>
          <a:p>
            <a:pPr>
              <a:spcAft>
                <a:spcPts val="1000"/>
              </a:spcAft>
            </a:pPr>
            <a:r>
              <a:rPr sz="1800" b="0">
                <a:solidFill>
                  <a:srgbClr val="161B26"/>
                </a:solidFill>
                <a:latin typeface="Arial"/>
              </a:rPr>
              <a:t>•  IAM Permissions to Access Portfolios</a:t>
            </a:r>
          </a:p>
          <a:p>
            <a:pPr>
              <a:spcAft>
                <a:spcPts val="1000"/>
              </a:spcAft>
            </a:pPr>
            <a:r>
              <a:rPr sz="1800" b="0">
                <a:solidFill>
                  <a:srgbClr val="161B26"/>
                </a:solidFill>
                <a:latin typeface="Arial"/>
              </a:rPr>
              <a:t>•  Control</a:t>
            </a:r>
          </a:p>
          <a:p>
            <a:pPr>
              <a:spcAft>
                <a:spcPts val="1000"/>
              </a:spcAft>
            </a:pPr>
            <a:r>
              <a:rPr sz="1800" b="0">
                <a:solidFill>
                  <a:srgbClr val="161B26"/>
                </a:solidFill>
                <a:latin typeface="Arial"/>
              </a:rPr>
              <a:t>•  Product List</a:t>
            </a:r>
          </a:p>
          <a:p>
            <a:pPr>
              <a:spcAft>
                <a:spcPts val="1000"/>
              </a:spcAft>
            </a:pPr>
            <a:r>
              <a:rPr sz="1800" b="0">
                <a:solidFill>
                  <a:srgbClr val="161B26"/>
                </a:solidFill>
                <a:latin typeface="Arial"/>
              </a:rPr>
              <a:t>•  USER TASKS</a:t>
            </a:r>
          </a:p>
          <a:p>
            <a:pPr>
              <a:spcAft>
                <a:spcPts val="1000"/>
              </a:spcAft>
            </a:pPr>
            <a:r>
              <a:rPr sz="1800" b="0">
                <a:solidFill>
                  <a:srgbClr val="161B26"/>
                </a:solidFill>
                <a:latin typeface="Arial"/>
              </a:rPr>
              <a:t>•  Authorized by IAM</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Provisioned Products</a:t>
            </a:r>
          </a:p>
          <a:p>
            <a:pPr>
              <a:spcAft>
                <a:spcPts val="1000"/>
              </a:spcAft>
            </a:pPr>
            <a:r>
              <a:rPr sz="1800" b="0">
                <a:solidFill>
                  <a:srgbClr val="161B26"/>
                </a:solidFill>
                <a:latin typeface="Arial"/>
              </a:rPr>
              <a:t>•  Ready to use Properly Configured Properly Tagged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642</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 - Sharing Catalogs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Share portfolios with individual AWS accounts or AWS Organizations</a:t>
            </a:r>
          </a:p>
          <a:p>
            <a:pPr>
              <a:spcAft>
                <a:spcPts val="1000"/>
              </a:spcAft>
            </a:pPr>
            <a:r>
              <a:rPr sz="1800" b="0">
                <a:solidFill>
                  <a:srgbClr val="161B26"/>
                </a:solidFill>
                <a:latin typeface="Arial"/>
              </a:rPr>
              <a:t>•  Sharing options:</a:t>
            </a:r>
          </a:p>
          <a:p>
            <a:pPr>
              <a:spcAft>
                <a:spcPts val="1000"/>
              </a:spcAft>
            </a:pPr>
            <a:r>
              <a:rPr sz="1800" b="0">
                <a:solidFill>
                  <a:srgbClr val="161B26"/>
                </a:solidFill>
                <a:latin typeface="Arial"/>
              </a:rPr>
              <a:t>•  Share a reference of the portfolio, then import the shared portfolio in the recipient account (stays in-sync with the original portfolio)</a:t>
            </a:r>
          </a:p>
          <a:p>
            <a:pPr>
              <a:spcAft>
                <a:spcPts val="1000"/>
              </a:spcAft>
            </a:pPr>
            <a:r>
              <a:rPr sz="1800" b="0">
                <a:solidFill>
                  <a:srgbClr val="161B26"/>
                </a:solidFill>
                <a:latin typeface="Arial"/>
              </a:rPr>
              <a:t>•  Deploy a copy of the portfolio into the 	recipient account (must re-deploy any updates)</a:t>
            </a:r>
          </a:p>
          <a:p>
            <a:pPr>
              <a:spcAft>
                <a:spcPts val="1000"/>
              </a:spcAft>
            </a:pPr>
            <a:r>
              <a:rPr sz="1800" b="0">
                <a:solidFill>
                  <a:srgbClr val="161B26"/>
                </a:solidFill>
                <a:latin typeface="Arial"/>
              </a:rPr>
              <a:t>•  Ability to add products from the</a:t>
            </a:r>
          </a:p>
          <a:p>
            <a:pPr>
              <a:spcAft>
                <a:spcPts val="1000"/>
              </a:spcAft>
            </a:pPr>
            <a:r>
              <a:rPr sz="1800" b="0">
                <a:solidFill>
                  <a:srgbClr val="161B26"/>
                </a:solidFill>
                <a:latin typeface="Arial"/>
              </a:rPr>
              <a:t>•  imported portfolio to the local portfolio</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Portfolio A (port-xxxxxxxxxx)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Product 1 Product 2	Product 3</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share (in-sync)</a:t>
            </a:r>
          </a:p>
          <a:p>
            <a:pPr>
              <a:spcAft>
                <a:spcPts val="1000"/>
              </a:spcAft>
            </a:pPr>
            <a:r>
              <a:rPr sz="1800" b="0">
                <a:solidFill>
                  <a:srgbClr val="161B26"/>
                </a:solidFill>
                <a:latin typeface="Arial"/>
              </a:rPr>
              <a:t>•  copy</a:t>
            </a:r>
          </a:p>
          <a:p>
            <a:pPr>
              <a:spcAft>
                <a:spcPts val="1000"/>
              </a:spcAft>
            </a:pPr>
            <a:r>
              <a:rPr sz="1800" b="0">
                <a:solidFill>
                  <a:srgbClr val="161B26"/>
                </a:solidFill>
                <a:latin typeface="Arial"/>
              </a:rPr>
              <a:t>•  (re-deploy updates)</a:t>
            </a:r>
          </a:p>
          <a:p>
            <a:pPr>
              <a:spcAft>
                <a:spcPts val="1000"/>
              </a:spcAft>
            </a:pPr>
            <a:r>
              <a:rPr sz="1800" b="0">
                <a:solidFill>
                  <a:srgbClr val="161B26"/>
                </a:solidFill>
                <a:latin typeface="Arial"/>
              </a:rPr>
              <a:t>•  Admin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import portfolio &amp; launch products</a:t>
            </a:r>
          </a:p>
          <a:p>
            <a:pPr>
              <a:spcAft>
                <a:spcPts val="1000"/>
              </a:spcAft>
            </a:pPr>
            <a:r>
              <a:rPr sz="1800" b="0">
                <a:solidFill>
                  <a:srgbClr val="161B26"/>
                </a:solidFill>
                <a:latin typeface="Arial"/>
              </a:rPr>
              <a:t>•  Portfolio A - Copy (port-yyyyyyyyyy)</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Launched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643</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 - TagOptions Library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Easily manage tags on provisioned products</a:t>
            </a:r>
          </a:p>
          <a:p>
            <a:pPr>
              <a:spcAft>
                <a:spcPts val="1000"/>
              </a:spcAft>
            </a:pPr>
            <a:r>
              <a:rPr sz="1800" b="0">
                <a:solidFill>
                  <a:srgbClr val="161B26"/>
                </a:solidFill>
                <a:latin typeface="Arial"/>
              </a:rPr>
              <a:t>•  TagOption:</a:t>
            </a:r>
          </a:p>
          <a:p>
            <a:pPr>
              <a:spcAft>
                <a:spcPts val="1000"/>
              </a:spcAft>
            </a:pPr>
            <a:r>
              <a:rPr sz="1800" b="0">
                <a:solidFill>
                  <a:srgbClr val="161B26"/>
                </a:solidFill>
                <a:latin typeface="Arial"/>
              </a:rPr>
              <a:t>•  Key-value pair managed in AWS Service Catalog</a:t>
            </a:r>
          </a:p>
          <a:p>
            <a:pPr>
              <a:spcAft>
                <a:spcPts val="1000"/>
              </a:spcAft>
            </a:pPr>
            <a:r>
              <a:rPr sz="1800" b="0">
                <a:solidFill>
                  <a:srgbClr val="161B26"/>
                </a:solidFill>
                <a:latin typeface="Arial"/>
              </a:rPr>
              <a:t>•  Used to create an AWS Tag</a:t>
            </a:r>
          </a:p>
          <a:p>
            <a:pPr>
              <a:spcAft>
                <a:spcPts val="1000"/>
              </a:spcAft>
            </a:pPr>
            <a:r>
              <a:rPr sz="1800" b="0">
                <a:solidFill>
                  <a:srgbClr val="161B26"/>
                </a:solidFill>
                <a:latin typeface="Arial"/>
              </a:rPr>
              <a:t>•  Can be associated with Portfolios and Products</a:t>
            </a:r>
          </a:p>
          <a:p>
            <a:pPr>
              <a:spcAft>
                <a:spcPts val="1000"/>
              </a:spcAft>
            </a:pPr>
            <a:r>
              <a:rPr sz="1800" b="0">
                <a:solidFill>
                  <a:srgbClr val="161B26"/>
                </a:solidFill>
                <a:latin typeface="Arial"/>
              </a:rPr>
              <a:t>•  Use cases: proper resources tagging, defined allowed tags, …</a:t>
            </a:r>
          </a:p>
          <a:p>
            <a:pPr>
              <a:spcAft>
                <a:spcPts val="1000"/>
              </a:spcAft>
            </a:pPr>
            <a:r>
              <a:rPr sz="1800" b="0">
                <a:solidFill>
                  <a:srgbClr val="161B26"/>
                </a:solidFill>
                <a:latin typeface="Arial"/>
              </a:rPr>
              <a:t>•  Can be shared with other AWS accounts and AWS Organizations</a:t>
            </a:r>
          </a:p>
          <a:p>
            <a:pPr>
              <a:spcAft>
                <a:spcPts val="1000"/>
              </a:spcAft>
            </a:pPr>
            <a:r>
              <a:rPr sz="1800" b="0">
                <a:solidFill>
                  <a:srgbClr val="161B26"/>
                </a:solidFill>
                <a:latin typeface="Arial"/>
              </a:rPr>
              <a:t>•  Portfolio A (port-xxxxxxxxxx)</a:t>
            </a:r>
          </a:p>
          <a:p>
            <a:pPr>
              <a:spcAft>
                <a:spcPts val="1000"/>
              </a:spcAft>
            </a:pPr>
            <a:r>
              <a:rPr sz="1800" b="0">
                <a:solidFill>
                  <a:srgbClr val="161B26"/>
                </a:solidFill>
                <a:latin typeface="Arial"/>
              </a:rPr>
              <a:t>•  Product 1   Product 2	Product 3</a:t>
            </a:r>
          </a:p>
          <a:p>
            <a:pPr>
              <a:spcAft>
                <a:spcPts val="1000"/>
              </a:spcAft>
            </a:pPr>
            <a:r>
              <a:rPr sz="1800" b="0">
                <a:solidFill>
                  <a:srgbClr val="161B26"/>
                </a:solidFill>
                <a:latin typeface="Arial"/>
              </a:rPr>
              <a:t>•  TagOption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Stack 1</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Tags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644</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89301" y="1801368"/>
            <a:ext cx="85829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46_0.png"/>
          <p:cNvPicPr>
            <a:picLocks noChangeAspect="1"/>
          </p:cNvPicPr>
          <p:nvPr/>
        </p:nvPicPr>
        <p:blipFill>
          <a:blip r:embed="rId2"/>
          <a:stretch>
            <a:fillRect/>
          </a:stretch>
        </p:blipFill>
        <p:spPr>
          <a:xfrm>
            <a:off x="1816733" y="1828800"/>
            <a:ext cx="85280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645</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Billing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Billing data metric is stored in CloudWatch us-east-1</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Billing data are for overall worldwide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AWS costs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It’s for actual cost, project costs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Let’s create a billing alarm together!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646</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Visualize, understand, and manage your AWS costs and usage over time</a:t>
            </a:r>
          </a:p>
          <a:p>
            <a:pPr>
              <a:spcAft>
                <a:spcPts val="1000"/>
              </a:spcAft>
            </a:pPr>
            <a:r>
              <a:rPr sz="2000" b="0">
                <a:solidFill>
                  <a:srgbClr val="161B26"/>
                </a:solidFill>
                <a:latin typeface="Arial"/>
              </a:rPr>
              <a:t>•  Create custom reports that analyze cost and usage data.</a:t>
            </a:r>
          </a:p>
          <a:p>
            <a:pPr>
              <a:spcAft>
                <a:spcPts val="1000"/>
              </a:spcAft>
            </a:pPr>
            <a:r>
              <a:rPr sz="2000" b="0">
                <a:solidFill>
                  <a:srgbClr val="161B26"/>
                </a:solidFill>
                <a:latin typeface="Arial"/>
              </a:rPr>
              <a:t>•  Analyze your data at a high level: total costs and usage across all accounts</a:t>
            </a:r>
          </a:p>
          <a:p>
            <a:pPr>
              <a:spcAft>
                <a:spcPts val="1000"/>
              </a:spcAft>
            </a:pPr>
            <a:r>
              <a:rPr sz="2000" b="0">
                <a:solidFill>
                  <a:srgbClr val="161B26"/>
                </a:solidFill>
                <a:latin typeface="Arial"/>
              </a:rPr>
              <a:t>•  Or Monthly, hourly, resource level granularity</a:t>
            </a:r>
          </a:p>
          <a:p>
            <a:pPr>
              <a:spcAft>
                <a:spcPts val="1000"/>
              </a:spcAft>
            </a:pPr>
            <a:r>
              <a:rPr sz="2000" b="0">
                <a:solidFill>
                  <a:srgbClr val="161B26"/>
                </a:solidFill>
                <a:latin typeface="Arial"/>
              </a:rPr>
              <a:t>•  Choose an optimal Savings Plan(to lower prices on your bill)</a:t>
            </a:r>
          </a:p>
          <a:p>
            <a:pPr>
              <a:spcAft>
                <a:spcPts val="1000"/>
              </a:spcAft>
            </a:pPr>
            <a:r>
              <a:rPr sz="2000" b="0">
                <a:solidFill>
                  <a:srgbClr val="161B26"/>
                </a:solidFill>
                <a:latin typeface="Arial"/>
              </a:rPr>
              <a:t>•  Forecast usage up to 12 months based on previous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647</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Cost Explorer - Monthly Cost by AWS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00593" y="1801368"/>
            <a:ext cx="79603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49_0.jpg"/>
          <p:cNvPicPr>
            <a:picLocks noChangeAspect="1"/>
          </p:cNvPicPr>
          <p:nvPr/>
        </p:nvPicPr>
        <p:blipFill>
          <a:blip r:embed="rId2"/>
          <a:stretch>
            <a:fillRect/>
          </a:stretch>
        </p:blipFill>
        <p:spPr>
          <a:xfrm>
            <a:off x="2128025" y="1828800"/>
            <a:ext cx="79054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648</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Hourly &amp; Resource Level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11378" y="1801368"/>
            <a:ext cx="853876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0_0.png"/>
          <p:cNvPicPr>
            <a:picLocks noChangeAspect="1"/>
          </p:cNvPicPr>
          <p:nvPr/>
        </p:nvPicPr>
        <p:blipFill>
          <a:blip r:embed="rId2"/>
          <a:stretch>
            <a:fillRect/>
          </a:stretch>
        </p:blipFill>
        <p:spPr>
          <a:xfrm>
            <a:off x="1838810" y="1828800"/>
            <a:ext cx="848390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649</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Cost Explorer - Savings Plan Alternative to Reserved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6482" y="1801368"/>
            <a:ext cx="42685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1_0.png"/>
          <p:cNvPicPr>
            <a:picLocks noChangeAspect="1"/>
          </p:cNvPicPr>
          <p:nvPr/>
        </p:nvPicPr>
        <p:blipFill>
          <a:blip r:embed="rId2"/>
          <a:stretch>
            <a:fillRect/>
          </a:stretch>
        </p:blipFill>
        <p:spPr>
          <a:xfrm>
            <a:off x="3973914" y="1828800"/>
            <a:ext cx="42136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650</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Forecast Usage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6290" y="1801368"/>
            <a:ext cx="774894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2_0.jpg"/>
          <p:cNvPicPr>
            <a:picLocks noChangeAspect="1"/>
          </p:cNvPicPr>
          <p:nvPr/>
        </p:nvPicPr>
        <p:blipFill>
          <a:blip r:embed="rId2"/>
          <a:stretch>
            <a:fillRect/>
          </a:stretch>
        </p:blipFill>
        <p:spPr>
          <a:xfrm>
            <a:off x="2233722" y="1828800"/>
            <a:ext cx="769407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651</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Budgets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budget and send alarms when costs exceeds the budget</a:t>
            </a:r>
          </a:p>
          <a:p>
            <a:pPr>
              <a:spcAft>
                <a:spcPts val="1000"/>
              </a:spcAft>
            </a:pPr>
            <a:r>
              <a:rPr sz="1800" b="0">
                <a:solidFill>
                  <a:srgbClr val="161B26"/>
                </a:solidFill>
                <a:latin typeface="Arial"/>
              </a:rPr>
              <a:t>•  4 types of budgets: Usage, Cost, Reservation, Savings Plans</a:t>
            </a:r>
          </a:p>
          <a:p>
            <a:pPr>
              <a:spcAft>
                <a:spcPts val="1000"/>
              </a:spcAft>
            </a:pPr>
            <a:r>
              <a:rPr sz="1800" b="0">
                <a:solidFill>
                  <a:srgbClr val="161B26"/>
                </a:solidFill>
                <a:latin typeface="Arial"/>
              </a:rPr>
              <a:t>•  For Reserved Instances (RI)</a:t>
            </a:r>
          </a:p>
          <a:p>
            <a:pPr>
              <a:spcAft>
                <a:spcPts val="1000"/>
              </a:spcAft>
            </a:pPr>
            <a:r>
              <a:rPr sz="1800" b="0">
                <a:solidFill>
                  <a:srgbClr val="161B26"/>
                </a:solidFill>
                <a:latin typeface="Arial"/>
              </a:rPr>
              <a:t>•  Track utilization</a:t>
            </a:r>
          </a:p>
          <a:p>
            <a:pPr>
              <a:spcAft>
                <a:spcPts val="1000"/>
              </a:spcAft>
            </a:pPr>
            <a:r>
              <a:rPr sz="1800" b="0">
                <a:solidFill>
                  <a:srgbClr val="161B26"/>
                </a:solidFill>
                <a:latin typeface="Arial"/>
              </a:rPr>
              <a:t>•  Supports EC2, ElastiCache, RDS, Redshift</a:t>
            </a:r>
          </a:p>
          <a:p>
            <a:pPr>
              <a:spcAft>
                <a:spcPts val="1000"/>
              </a:spcAft>
            </a:pPr>
            <a:r>
              <a:rPr sz="1800" b="0">
                <a:solidFill>
                  <a:srgbClr val="161B26"/>
                </a:solidFill>
                <a:latin typeface="Arial"/>
              </a:rPr>
              <a:t>•  Up to 5 SNS notifications per budget</a:t>
            </a:r>
          </a:p>
          <a:p>
            <a:pPr>
              <a:spcAft>
                <a:spcPts val="1000"/>
              </a:spcAft>
            </a:pPr>
            <a:r>
              <a:rPr sz="1800" b="0">
                <a:solidFill>
                  <a:srgbClr val="161B26"/>
                </a:solidFill>
                <a:latin typeface="Arial"/>
              </a:rPr>
              <a:t>•  Can filter by: Service, Linked Account,Tag, Purchase Option, Instance Type, Region, Availability Zone, API Operation, etc…</a:t>
            </a:r>
          </a:p>
          <a:p>
            <a:pPr>
              <a:spcAft>
                <a:spcPts val="1000"/>
              </a:spcAft>
            </a:pPr>
            <a:r>
              <a:rPr sz="1800" b="0">
                <a:solidFill>
                  <a:srgbClr val="161B26"/>
                </a:solidFill>
                <a:latin typeface="Arial"/>
              </a:rPr>
              <a:t>•  Same options as AWS Cost Explorer!</a:t>
            </a:r>
          </a:p>
          <a:p>
            <a:pPr>
              <a:spcAft>
                <a:spcPts val="1000"/>
              </a:spcAft>
            </a:pPr>
            <a:r>
              <a:rPr sz="1800" b="0">
                <a:solidFill>
                  <a:srgbClr val="161B26"/>
                </a:solidFill>
                <a:latin typeface="Arial"/>
              </a:rPr>
              <a:t>•  2 budgets are free, then $0.02/day/budget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652</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Allocation Tags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28654"/>
            <a:ext cx="10479024" cy="371509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4_0.png"/>
          <p:cNvPicPr>
            <a:picLocks noChangeAspect="1"/>
          </p:cNvPicPr>
          <p:nvPr/>
        </p:nvPicPr>
        <p:blipFill>
          <a:blip r:embed="rId2"/>
          <a:stretch>
            <a:fillRect/>
          </a:stretch>
        </p:blipFill>
        <p:spPr>
          <a:xfrm>
            <a:off x="868680" y="2056086"/>
            <a:ext cx="10424160" cy="366022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cost allocation tags to track your AWS costs on a detailed level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653</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Dive deeper into your AWS costs and usage</a:t>
            </a:r>
          </a:p>
          <a:p>
            <a:pPr>
              <a:spcAft>
                <a:spcPts val="1000"/>
              </a:spcAft>
            </a:pPr>
            <a:r>
              <a:rPr sz="1800" b="0">
                <a:solidFill>
                  <a:srgbClr val="161B26"/>
                </a:solidFill>
                <a:latin typeface="Arial"/>
              </a:rPr>
              <a:t>•  The AWS Cost &amp; Usage Report contains the most comprehensive set of AWS cost and usage data available</a:t>
            </a:r>
          </a:p>
          <a:p>
            <a:pPr>
              <a:spcAft>
                <a:spcPts val="1000"/>
              </a:spcAft>
            </a:pPr>
            <a:r>
              <a:rPr sz="1800" b="0">
                <a:solidFill>
                  <a:srgbClr val="161B26"/>
                </a:solidFill>
                <a:latin typeface="Arial"/>
              </a:rPr>
              <a:t>•  Includes additional metadata about AWS services, pricing, and reservations (e.g.  Amazon EC2 Reserved Instances (RIs))</a:t>
            </a:r>
          </a:p>
          <a:p>
            <a:pPr>
              <a:spcAft>
                <a:spcPts val="1000"/>
              </a:spcAft>
            </a:pPr>
            <a:r>
              <a:rPr sz="1800" b="0">
                <a:solidFill>
                  <a:srgbClr val="161B26"/>
                </a:solidFill>
                <a:latin typeface="Arial"/>
              </a:rPr>
              <a:t>•  The AWS Cost &amp; Usage Report lists AWS usage for each:</a:t>
            </a:r>
          </a:p>
          <a:p>
            <a:pPr>
              <a:spcAft>
                <a:spcPts val="1000"/>
              </a:spcAft>
            </a:pPr>
            <a:r>
              <a:rPr sz="1800" b="0">
                <a:solidFill>
                  <a:srgbClr val="161B26"/>
                </a:solidFill>
                <a:latin typeface="Arial"/>
              </a:rPr>
              <a:t>•  service category used by an account</a:t>
            </a:r>
          </a:p>
          <a:p>
            <a:pPr>
              <a:spcAft>
                <a:spcPts val="1000"/>
              </a:spcAft>
            </a:pPr>
            <a:r>
              <a:rPr sz="1800" b="0">
                <a:solidFill>
                  <a:srgbClr val="161B26"/>
                </a:solidFill>
                <a:latin typeface="Arial"/>
              </a:rPr>
              <a:t>•  in hourly or daily line items</a:t>
            </a:r>
          </a:p>
          <a:p>
            <a:pPr>
              <a:spcAft>
                <a:spcPts val="1000"/>
              </a:spcAft>
            </a:pPr>
            <a:r>
              <a:rPr sz="1800" b="0">
                <a:solidFill>
                  <a:srgbClr val="161B26"/>
                </a:solidFill>
                <a:latin typeface="Arial"/>
              </a:rPr>
              <a:t>•  any tags that you have activated for cost allocation purposes</a:t>
            </a:r>
          </a:p>
          <a:p>
            <a:pPr>
              <a:spcAft>
                <a:spcPts val="1000"/>
              </a:spcAft>
            </a:pPr>
            <a:r>
              <a:rPr sz="1800" b="0">
                <a:solidFill>
                  <a:srgbClr val="161B26"/>
                </a:solidFill>
                <a:latin typeface="Arial"/>
              </a:rPr>
              <a:t>•  Can be configured for daily exports to S3</a:t>
            </a:r>
          </a:p>
          <a:p>
            <a:pPr>
              <a:spcAft>
                <a:spcPts val="1000"/>
              </a:spcAft>
            </a:pPr>
            <a:r>
              <a:rPr sz="1800" b="0">
                <a:solidFill>
                  <a:srgbClr val="161B26"/>
                </a:solidFill>
                <a:latin typeface="Arial"/>
              </a:rPr>
              <a:t>•  Can be integrated with Athena, Redshift or QuickSight</a:t>
            </a:r>
          </a:p>
          <a:p>
            <a:pPr>
              <a:spcAft>
                <a:spcPts val="1000"/>
              </a:spcAft>
            </a:pPr>
            <a:r>
              <a:rPr sz="1800" b="0">
                <a:solidFill>
                  <a:srgbClr val="161B26"/>
                </a:solidFill>
                <a:latin typeface="Arial"/>
              </a:rPr>
              <a:t>•  AWS Cost &amp; Usage Report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daily</a:t>
            </a:r>
          </a:p>
          <a:p>
            <a:pPr>
              <a:spcAft>
                <a:spcPts val="1000"/>
              </a:spcAft>
            </a:pPr>
            <a:r>
              <a:rPr sz="1800" b="0">
                <a:solidFill>
                  <a:srgbClr val="161B26"/>
                </a:solidFill>
                <a:latin typeface="Arial"/>
              </a:rPr>
              <a:t>•  report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654</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Compute Optimizer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3612" y="1801368"/>
            <a:ext cx="68742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6_0.jpg"/>
          <p:cNvPicPr>
            <a:picLocks noChangeAspect="1"/>
          </p:cNvPicPr>
          <p:nvPr/>
        </p:nvPicPr>
        <p:blipFill>
          <a:blip r:embed="rId2"/>
          <a:stretch>
            <a:fillRect/>
          </a:stretch>
        </p:blipFill>
        <p:spPr>
          <a:xfrm>
            <a:off x="2671044" y="1828800"/>
            <a:ext cx="681943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Reduce costs and improve performance by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655</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8971"/>
            <a:ext cx="10479024" cy="432021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7_0.png"/>
          <p:cNvPicPr>
            <a:picLocks noChangeAspect="1"/>
          </p:cNvPicPr>
          <p:nvPr/>
        </p:nvPicPr>
        <p:blipFill>
          <a:blip r:embed="rId2"/>
          <a:stretch>
            <a:fillRect/>
          </a:stretch>
        </p:blipFill>
        <p:spPr>
          <a:xfrm>
            <a:off x="868680" y="1936403"/>
            <a:ext cx="10424160" cy="426535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656</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Budgets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1022" y="1801368"/>
            <a:ext cx="987947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58_0.png"/>
          <p:cNvPicPr>
            <a:picLocks noChangeAspect="1"/>
          </p:cNvPicPr>
          <p:nvPr/>
        </p:nvPicPr>
        <p:blipFill>
          <a:blip r:embed="rId2"/>
          <a:stretch>
            <a:fillRect/>
          </a:stretch>
        </p:blipFill>
        <p:spPr>
          <a:xfrm>
            <a:off x="1168454" y="1828800"/>
            <a:ext cx="982461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657</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Disaster Recovery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658</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Move large amount of data to and from</a:t>
            </a:r>
          </a:p>
          <a:p>
            <a:pPr>
              <a:spcAft>
                <a:spcPts val="1000"/>
              </a:spcAft>
            </a:pPr>
            <a:r>
              <a:rPr sz="1800" b="0">
                <a:solidFill>
                  <a:srgbClr val="161B26"/>
                </a:solidFill>
                <a:latin typeface="Arial"/>
              </a:rPr>
              <a:t>•  On-premises / other cloud to AWS (NFS, SMB, HDFS, S3 API…) - needs agent</a:t>
            </a:r>
          </a:p>
          <a:p>
            <a:pPr>
              <a:spcAft>
                <a:spcPts val="1000"/>
              </a:spcAft>
            </a:pPr>
            <a:r>
              <a:rPr sz="1800" b="0">
                <a:solidFill>
                  <a:srgbClr val="161B26"/>
                </a:solidFill>
                <a:latin typeface="Arial"/>
              </a:rPr>
              <a:t>•  AWS to AWS (different storage services) – no agent needed</a:t>
            </a:r>
          </a:p>
          <a:p>
            <a:pPr>
              <a:spcAft>
                <a:spcPts val="1000"/>
              </a:spcAft>
            </a:pPr>
            <a:r>
              <a:rPr sz="1800" b="0">
                <a:solidFill>
                  <a:srgbClr val="161B26"/>
                </a:solidFill>
                <a:latin typeface="Arial"/>
              </a:rPr>
              <a:t>•  Can synchronize to:</a:t>
            </a:r>
          </a:p>
          <a:p>
            <a:pPr>
              <a:spcAft>
                <a:spcPts val="1000"/>
              </a:spcAft>
            </a:pPr>
            <a:r>
              <a:rPr sz="1800" b="0">
                <a:solidFill>
                  <a:srgbClr val="161B26"/>
                </a:solidFill>
                <a:latin typeface="Arial"/>
              </a:rPr>
              <a:t>•  Amazon S3 (any storage classes – including Glacier)</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 (Windows, Lustre, NetApp, OpenZFS...)</a:t>
            </a:r>
          </a:p>
          <a:p>
            <a:pPr>
              <a:spcAft>
                <a:spcPts val="1000"/>
              </a:spcAft>
            </a:pPr>
            <a:r>
              <a:rPr sz="1800" b="0">
                <a:solidFill>
                  <a:srgbClr val="161B26"/>
                </a:solidFill>
                <a:latin typeface="Arial"/>
              </a:rPr>
              <a:t>•  Replication tasks can be scheduled hourly, daily, weekly</a:t>
            </a:r>
          </a:p>
          <a:p>
            <a:pPr>
              <a:spcAft>
                <a:spcPts val="1000"/>
              </a:spcAft>
            </a:pPr>
            <a:r>
              <a:rPr sz="1800" b="0">
                <a:solidFill>
                  <a:srgbClr val="161B26"/>
                </a:solidFill>
                <a:latin typeface="Arial"/>
              </a:rPr>
              <a:t>•  File permissions and metadata are preserved (NFS POSIX, SMB…)</a:t>
            </a:r>
          </a:p>
          <a:p>
            <a:pPr>
              <a:spcAft>
                <a:spcPts val="1000"/>
              </a:spcAft>
            </a:pPr>
            <a:r>
              <a:rPr sz="1800" b="0">
                <a:solidFill>
                  <a:srgbClr val="161B26"/>
                </a:solidFill>
                <a:latin typeface="Arial"/>
              </a:rPr>
              <a:t>•  One agent task can use 10 Gbps, can setup a bandwidth limit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659</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56234" y="1801368"/>
            <a:ext cx="744905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61_0.png"/>
          <p:cNvPicPr>
            <a:picLocks noChangeAspect="1"/>
          </p:cNvPicPr>
          <p:nvPr/>
        </p:nvPicPr>
        <p:blipFill>
          <a:blip r:embed="rId2"/>
          <a:stretch>
            <a:fillRect/>
          </a:stretch>
        </p:blipFill>
        <p:spPr>
          <a:xfrm>
            <a:off x="2383666" y="1828800"/>
            <a:ext cx="739418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660</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NFS / SMB to AWS (S3, EFS, FSx…)</a:t>
            </a:r>
          </a:p>
          <a:p>
            <a:pPr>
              <a:spcAft>
                <a:spcPts val="1000"/>
              </a:spcAft>
            </a:pPr>
            <a:r>
              <a:rPr sz="1800" b="0">
                <a:solidFill>
                  <a:srgbClr val="161B26"/>
                </a:solidFill>
                <a:latin typeface="Arial"/>
              </a:rPr>
              <a:t>•  On-Premises</a:t>
            </a:r>
          </a:p>
          <a:p>
            <a:pPr>
              <a:spcAft>
                <a:spcPts val="1000"/>
              </a:spcAft>
            </a:pPr>
            <a:r>
              <a:rPr sz="1800" b="0">
                <a:solidFill>
                  <a:srgbClr val="161B26"/>
                </a:solidFill>
                <a:latin typeface="Arial"/>
              </a:rPr>
              <a:t>•  NFS or SMB</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AWS DataSync Agent</a:t>
            </a:r>
          </a:p>
          <a:p>
            <a:pPr>
              <a:spcAft>
                <a:spcPts val="1000"/>
              </a:spcAft>
            </a:pPr>
            <a:r>
              <a:rPr sz="1800" b="0">
                <a:solidFill>
                  <a:srgbClr val="161B26"/>
                </a:solidFill>
                <a:latin typeface="Arial"/>
              </a:rPr>
              <a:t>•  NFS or SMB</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DataSync</a:t>
            </a:r>
          </a:p>
          <a:p>
            <a:pPr>
              <a:spcAft>
                <a:spcPts val="1000"/>
              </a:spcAft>
            </a:pPr>
            <a:r>
              <a:rPr sz="1800" b="0">
                <a:solidFill>
                  <a:srgbClr val="161B26"/>
                </a:solidFill>
                <a:latin typeface="Arial"/>
              </a:rPr>
              <a:t>•  AWS Storage Resources</a:t>
            </a:r>
          </a:p>
          <a:p>
            <a:pPr>
              <a:spcAft>
                <a:spcPts val="1000"/>
              </a:spcAft>
            </a:pPr>
            <a:r>
              <a:rPr sz="1800" b="0">
                <a:solidFill>
                  <a:srgbClr val="161B26"/>
                </a:solidFill>
                <a:latin typeface="Arial"/>
              </a:rPr>
              <a:t>•  S3 Standard</a:t>
            </a:r>
          </a:p>
          <a:p>
            <a:pPr>
              <a:spcAft>
                <a:spcPts val="1000"/>
              </a:spcAft>
            </a:pPr>
            <a:r>
              <a:rPr sz="1800" b="0">
                <a:solidFill>
                  <a:srgbClr val="161B26"/>
                </a:solidFill>
                <a:latin typeface="Arial"/>
              </a:rPr>
              <a:t>•  S3 Intelligent- Tiering</a:t>
            </a:r>
          </a:p>
          <a:p>
            <a:pPr>
              <a:spcAft>
                <a:spcPts val="1000"/>
              </a:spcAft>
            </a:pPr>
            <a:r>
              <a:rPr sz="1800" b="0">
                <a:solidFill>
                  <a:srgbClr val="161B26"/>
                </a:solidFill>
                <a:latin typeface="Arial"/>
              </a:rPr>
              <a:t>•  S3 Standard-IA</a:t>
            </a:r>
          </a:p>
          <a:p>
            <a:pPr>
              <a:spcAft>
                <a:spcPts val="1000"/>
              </a:spcAft>
            </a:pPr>
            <a:r>
              <a:rPr sz="1800" b="0">
                <a:solidFill>
                  <a:srgbClr val="161B26"/>
                </a:solidFill>
                <a:latin typeface="Arial"/>
              </a:rPr>
              <a:t>•  S3 One Zone-IA</a:t>
            </a:r>
          </a:p>
          <a:p>
            <a:pPr>
              <a:spcAft>
                <a:spcPts val="1000"/>
              </a:spcAft>
            </a:pPr>
            <a:r>
              <a:rPr sz="1800" b="0">
                <a:solidFill>
                  <a:srgbClr val="161B26"/>
                </a:solidFill>
                <a:latin typeface="Arial"/>
              </a:rPr>
              <a:t>•  S3 Glacier</a:t>
            </a:r>
          </a:p>
          <a:p>
            <a:pPr>
              <a:spcAft>
                <a:spcPts val="1000"/>
              </a:spcAft>
            </a:pPr>
            <a:r>
              <a:rPr sz="1800" b="0">
                <a:solidFill>
                  <a:srgbClr val="161B26"/>
                </a:solidFill>
                <a:latin typeface="Arial"/>
              </a:rPr>
              <a:t>•  S3 Glacier Deep Archive</a:t>
            </a:r>
          </a:p>
          <a:p>
            <a:pPr>
              <a:spcAft>
                <a:spcPts val="1000"/>
              </a:spcAft>
            </a:pPr>
            <a:r>
              <a:rPr sz="1800" b="0">
                <a:solidFill>
                  <a:srgbClr val="161B26"/>
                </a:solidFill>
                <a:latin typeface="Arial"/>
              </a:rPr>
              <a:t>•  AWS EFS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TLS</a:t>
            </a:r>
          </a:p>
          <a:p>
            <a:pPr>
              <a:spcAft>
                <a:spcPts val="1000"/>
              </a:spcAft>
            </a:pPr>
            <a:r>
              <a:rPr sz="1800" b="0">
                <a:solidFill>
                  <a:srgbClr val="161B26"/>
                </a:solidFill>
                <a:latin typeface="Arial"/>
              </a:rPr>
              <a:t>•  AWS Snowcone (agent pre-installed)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661</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Transfer between AWS storage services</a:t>
            </a:r>
          </a:p>
          <a:p>
            <a:pPr>
              <a:spcAft>
                <a:spcPts val="1000"/>
              </a:spcAft>
            </a:pPr>
            <a:r>
              <a:rPr sz="1800" b="0">
                <a:solidFill>
                  <a:srgbClr val="161B26"/>
                </a:solidFill>
                <a:latin typeface="Arial"/>
              </a:rPr>
              <a:t>•  AWS DataSync</a:t>
            </a:r>
          </a:p>
          <a:p>
            <a:pPr>
              <a:spcAft>
                <a:spcPts val="1000"/>
              </a:spcAft>
            </a:pPr>
            <a:r>
              <a:rPr sz="1800" b="0">
                <a:solidFill>
                  <a:srgbClr val="161B26"/>
                </a:solidFill>
                <a:latin typeface="Arial"/>
              </a:rPr>
              <a:t>•  copy data and metadata between AWS Storage Services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662</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5485" y="1801368"/>
            <a:ext cx="1033054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64_0.png"/>
          <p:cNvPicPr>
            <a:picLocks noChangeAspect="1"/>
          </p:cNvPicPr>
          <p:nvPr/>
        </p:nvPicPr>
        <p:blipFill>
          <a:blip r:embed="rId2"/>
          <a:stretch>
            <a:fillRect/>
          </a:stretch>
        </p:blipFill>
        <p:spPr>
          <a:xfrm>
            <a:off x="942917" y="1828800"/>
            <a:ext cx="1027568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663</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Fully managed service</a:t>
            </a:r>
          </a:p>
          <a:p>
            <a:pPr>
              <a:spcAft>
                <a:spcPts val="1000"/>
              </a:spcAft>
            </a:pPr>
            <a:r>
              <a:rPr sz="1800" b="0">
                <a:solidFill>
                  <a:srgbClr val="161B26"/>
                </a:solidFill>
                <a:latin typeface="Arial"/>
              </a:rPr>
              <a:t>•  Centrally manage and automate backups across AWS services</a:t>
            </a:r>
          </a:p>
          <a:p>
            <a:pPr>
              <a:spcAft>
                <a:spcPts val="1000"/>
              </a:spcAft>
            </a:pPr>
            <a:r>
              <a:rPr sz="1800" b="0">
                <a:solidFill>
                  <a:srgbClr val="161B26"/>
                </a:solidFill>
                <a:latin typeface="Arial"/>
              </a:rPr>
              <a:t>•  No need to create custom scripts and manual processes</a:t>
            </a:r>
          </a:p>
          <a:p>
            <a:pPr>
              <a:spcAft>
                <a:spcPts val="1000"/>
              </a:spcAft>
            </a:pPr>
            <a:r>
              <a:rPr sz="1800" b="0">
                <a:solidFill>
                  <a:srgbClr val="161B26"/>
                </a:solidFill>
                <a:latin typeface="Arial"/>
              </a:rPr>
              <a:t>•  Supported services:</a:t>
            </a:r>
          </a:p>
          <a:p>
            <a:pPr>
              <a:spcAft>
                <a:spcPts val="1000"/>
              </a:spcAft>
            </a:pPr>
            <a:r>
              <a:rPr sz="1800" b="0">
                <a:solidFill>
                  <a:srgbClr val="161B26"/>
                </a:solidFill>
                <a:latin typeface="Arial"/>
              </a:rPr>
              <a:t>•  Amazon EC2 / Amazon EBS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RDS (all DBs engines) / Amazon Aurora / Amazon DynamoDB</a:t>
            </a:r>
          </a:p>
          <a:p>
            <a:pPr>
              <a:spcAft>
                <a:spcPts val="1000"/>
              </a:spcAft>
            </a:pPr>
            <a:r>
              <a:rPr sz="1800" b="0">
                <a:solidFill>
                  <a:srgbClr val="161B26"/>
                </a:solidFill>
                <a:latin typeface="Arial"/>
              </a:rPr>
              <a:t>•  Amazon DocumentDB / Amazon Neptune</a:t>
            </a:r>
          </a:p>
          <a:p>
            <a:pPr>
              <a:spcAft>
                <a:spcPts val="1000"/>
              </a:spcAft>
            </a:pPr>
            <a:r>
              <a:rPr sz="1800" b="0">
                <a:solidFill>
                  <a:srgbClr val="161B26"/>
                </a:solidFill>
                <a:latin typeface="Arial"/>
              </a:rPr>
              <a:t>•  Amazon EFS / Amazon FSx (Lustre &amp; Windows File Server)</a:t>
            </a:r>
          </a:p>
          <a:p>
            <a:pPr>
              <a:spcAft>
                <a:spcPts val="1000"/>
              </a:spcAft>
            </a:pPr>
            <a:r>
              <a:rPr sz="1800" b="0">
                <a:solidFill>
                  <a:srgbClr val="161B26"/>
                </a:solidFill>
                <a:latin typeface="Arial"/>
              </a:rPr>
              <a:t>•  AWS Storage Gateway (Volume Gateway)</a:t>
            </a:r>
          </a:p>
          <a:p>
            <a:pPr>
              <a:spcAft>
                <a:spcPts val="1000"/>
              </a:spcAft>
            </a:pPr>
            <a:r>
              <a:rPr sz="1800" b="0">
                <a:solidFill>
                  <a:srgbClr val="161B26"/>
                </a:solidFill>
                <a:latin typeface="Arial"/>
              </a:rPr>
              <a:t>•  Supports cross-region backups</a:t>
            </a:r>
          </a:p>
          <a:p>
            <a:pPr>
              <a:spcAft>
                <a:spcPts val="1000"/>
              </a:spcAft>
            </a:pPr>
            <a:r>
              <a:rPr sz="1800" b="0">
                <a:solidFill>
                  <a:srgbClr val="161B26"/>
                </a:solidFill>
                <a:latin typeface="Arial"/>
              </a:rPr>
              <a:t>•  Supports cross-account backups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664</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96658" y="1801368"/>
            <a:ext cx="816820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66_0.png"/>
          <p:cNvPicPr>
            <a:picLocks noChangeAspect="1"/>
          </p:cNvPicPr>
          <p:nvPr/>
        </p:nvPicPr>
        <p:blipFill>
          <a:blip r:embed="rId2"/>
          <a:stretch>
            <a:fillRect/>
          </a:stretch>
        </p:blipFill>
        <p:spPr>
          <a:xfrm>
            <a:off x="2024090" y="1828800"/>
            <a:ext cx="811333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665</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Supports PITR for supported services</a:t>
            </a:r>
          </a:p>
          <a:p>
            <a:pPr>
              <a:spcAft>
                <a:spcPts val="1000"/>
              </a:spcAft>
            </a:pPr>
            <a:r>
              <a:rPr sz="1800" b="0">
                <a:solidFill>
                  <a:srgbClr val="161B26"/>
                </a:solidFill>
                <a:latin typeface="Arial"/>
              </a:rPr>
              <a:t>•  On-Demand and Scheduled backups</a:t>
            </a:r>
          </a:p>
          <a:p>
            <a:pPr>
              <a:spcAft>
                <a:spcPts val="1000"/>
              </a:spcAft>
            </a:pPr>
            <a:r>
              <a:rPr sz="1800" b="0">
                <a:solidFill>
                  <a:srgbClr val="161B26"/>
                </a:solidFill>
                <a:latin typeface="Arial"/>
              </a:rPr>
              <a:t>•  Tag-based backup policies</a:t>
            </a:r>
          </a:p>
          <a:p>
            <a:pPr>
              <a:spcAft>
                <a:spcPts val="1000"/>
              </a:spcAft>
            </a:pPr>
            <a:r>
              <a:rPr sz="1800" b="0">
                <a:solidFill>
                  <a:srgbClr val="161B26"/>
                </a:solidFill>
                <a:latin typeface="Arial"/>
              </a:rPr>
              <a:t>•  You create backup policies known as Backup Plans</a:t>
            </a:r>
          </a:p>
          <a:p>
            <a:pPr>
              <a:spcAft>
                <a:spcPts val="1000"/>
              </a:spcAft>
            </a:pPr>
            <a:r>
              <a:rPr sz="1800" b="0">
                <a:solidFill>
                  <a:srgbClr val="161B26"/>
                </a:solidFill>
                <a:latin typeface="Arial"/>
              </a:rPr>
              <a:t>•  Backup frequency (every 12 hours, daily, weekly, monthly, cron expression)</a:t>
            </a:r>
          </a:p>
          <a:p>
            <a:pPr>
              <a:spcAft>
                <a:spcPts val="1000"/>
              </a:spcAft>
            </a:pPr>
            <a:r>
              <a:rPr sz="1800" b="0">
                <a:solidFill>
                  <a:srgbClr val="161B26"/>
                </a:solidFill>
                <a:latin typeface="Arial"/>
              </a:rPr>
              <a:t>•  Backup window</a:t>
            </a:r>
          </a:p>
          <a:p>
            <a:pPr>
              <a:spcAft>
                <a:spcPts val="1000"/>
              </a:spcAft>
            </a:pPr>
            <a:r>
              <a:rPr sz="1800" b="0">
                <a:solidFill>
                  <a:srgbClr val="161B26"/>
                </a:solidFill>
                <a:latin typeface="Arial"/>
              </a:rPr>
              <a:t>•  Transition to Cold Storage (Never, Days, Weeks, Months,Years)</a:t>
            </a:r>
          </a:p>
          <a:p>
            <a:pPr>
              <a:spcAft>
                <a:spcPts val="1000"/>
              </a:spcAft>
            </a:pPr>
            <a:r>
              <a:rPr sz="1800" b="0">
                <a:solidFill>
                  <a:srgbClr val="161B26"/>
                </a:solidFill>
                <a:latin typeface="Arial"/>
              </a:rPr>
              <a:t>•  Retention Period (Always, Days, Weeks, Months,Years)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666</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Backup</a:t>
            </a:r>
          </a:p>
          <a:p>
            <a:pPr>
              <a:spcAft>
                <a:spcPts val="1000"/>
              </a:spcAft>
            </a:pPr>
            <a:r>
              <a:rPr sz="1800" b="0">
                <a:solidFill>
                  <a:srgbClr val="161B26"/>
                </a:solidFill>
                <a:latin typeface="Arial"/>
              </a:rPr>
              <a:t>•  Create Backup Plan</a:t>
            </a:r>
          </a:p>
          <a:p>
            <a:pPr>
              <a:spcAft>
                <a:spcPts val="1000"/>
              </a:spcAft>
            </a:pPr>
            <a:r>
              <a:rPr sz="1800" b="0">
                <a:solidFill>
                  <a:srgbClr val="161B26"/>
                </a:solidFill>
                <a:latin typeface="Arial"/>
              </a:rPr>
              <a:t>•  (frequency, retention policy)</a:t>
            </a:r>
          </a:p>
          <a:p>
            <a:pPr>
              <a:spcAft>
                <a:spcPts val="1000"/>
              </a:spcAft>
            </a:pPr>
            <a:r>
              <a:rPr sz="1800" b="0">
                <a:solidFill>
                  <a:srgbClr val="161B26"/>
                </a:solidFill>
                <a:latin typeface="Arial"/>
              </a:rPr>
              <a:t>•  Assign AWS Resources</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RDS</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Aurora</a:t>
            </a:r>
          </a:p>
          <a:p>
            <a:pPr>
              <a:spcAft>
                <a:spcPts val="1000"/>
              </a:spcAft>
            </a:pPr>
            <a:r>
              <a:rPr sz="1800" b="0">
                <a:solidFill>
                  <a:srgbClr val="161B26"/>
                </a:solidFill>
                <a:latin typeface="Arial"/>
              </a:rPr>
              <a:t>•  FSx</a:t>
            </a:r>
          </a:p>
          <a:p>
            <a:pPr>
              <a:spcAft>
                <a:spcPts val="1000"/>
              </a:spcAft>
            </a:pPr>
            <a:r>
              <a:rPr sz="1800" b="0">
                <a:solidFill>
                  <a:srgbClr val="161B26"/>
                </a:solidFill>
                <a:latin typeface="Arial"/>
              </a:rPr>
              <a:t>•  Storage Gateway</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Automatically backed up to</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DynamoDB DocumentDB</a:t>
            </a:r>
          </a:p>
          <a:p>
            <a:pPr>
              <a:spcAft>
                <a:spcPts val="1000"/>
              </a:spcAft>
            </a:pPr>
            <a:r>
              <a:rPr sz="1800" b="0">
                <a:solidFill>
                  <a:srgbClr val="161B26"/>
                </a:solidFill>
                <a:latin typeface="Arial"/>
              </a:rPr>
              <a:t>•  Neptune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667</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 Vault	Lock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Enforce a WORM (Write Once Read Many) state for all the backups that you store in your AWS Backup Vault</a:t>
            </a:r>
          </a:p>
          <a:p>
            <a:pPr>
              <a:spcAft>
                <a:spcPts val="1000"/>
              </a:spcAft>
            </a:pPr>
            <a:r>
              <a:rPr sz="1800" b="0">
                <a:solidFill>
                  <a:srgbClr val="161B26"/>
                </a:solidFill>
                <a:latin typeface="Arial"/>
              </a:rPr>
              <a:t>•  Additional layer of defense to protect your backups against:</a:t>
            </a:r>
          </a:p>
          <a:p>
            <a:pPr>
              <a:spcAft>
                <a:spcPts val="1000"/>
              </a:spcAft>
            </a:pPr>
            <a:r>
              <a:rPr sz="1800" b="0">
                <a:solidFill>
                  <a:srgbClr val="161B26"/>
                </a:solidFill>
                <a:latin typeface="Arial"/>
              </a:rPr>
              <a:t>•  Inadvertent or malicious delete operations</a:t>
            </a:r>
          </a:p>
          <a:p>
            <a:pPr>
              <a:spcAft>
                <a:spcPts val="1000"/>
              </a:spcAft>
            </a:pPr>
            <a:r>
              <a:rPr sz="1800" b="0">
                <a:solidFill>
                  <a:srgbClr val="161B26"/>
                </a:solidFill>
                <a:latin typeface="Arial"/>
              </a:rPr>
              <a:t>•  Updates that shorten or alter retention periods</a:t>
            </a:r>
          </a:p>
          <a:p>
            <a:pPr>
              <a:spcAft>
                <a:spcPts val="1000"/>
              </a:spcAft>
            </a:pPr>
            <a:r>
              <a:rPr sz="1800" b="0">
                <a:solidFill>
                  <a:srgbClr val="161B26"/>
                </a:solidFill>
                <a:latin typeface="Arial"/>
              </a:rPr>
              <a:t>•  Even the root user cannot delete backups when enabled</a:t>
            </a:r>
          </a:p>
          <a:p>
            <a:pPr>
              <a:spcAft>
                <a:spcPts val="1000"/>
              </a:spcAft>
            </a:pPr>
            <a:r>
              <a:rPr sz="1800" b="0">
                <a:solidFill>
                  <a:srgbClr val="161B26"/>
                </a:solidFill>
                <a:latin typeface="Arial"/>
              </a:rPr>
              <a:t>•  backup</a:t>
            </a:r>
          </a:p>
          <a:p>
            <a:pPr>
              <a:spcAft>
                <a:spcPts val="1000"/>
              </a:spcAft>
            </a:pPr>
            <a:r>
              <a:rPr sz="1800" b="0">
                <a:solidFill>
                  <a:srgbClr val="161B26"/>
                </a:solidFill>
                <a:latin typeface="Arial"/>
              </a:rPr>
              <a:t>•  Backup Vault Lock Policy</a:t>
            </a:r>
          </a:p>
          <a:p>
            <a:pPr>
              <a:spcAft>
                <a:spcPts val="1000"/>
              </a:spcAft>
            </a:pPr>
            <a:r>
              <a:rPr sz="1800" b="0">
                <a:solidFill>
                  <a:srgbClr val="161B26"/>
                </a:solidFill>
                <a:latin typeface="Arial"/>
              </a:rPr>
              <a:t>•  Backups can’t be deleted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668</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58379" y="1801368"/>
            <a:ext cx="764476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70_0.png"/>
          <p:cNvPicPr>
            <a:picLocks noChangeAspect="1"/>
          </p:cNvPicPr>
          <p:nvPr/>
        </p:nvPicPr>
        <p:blipFill>
          <a:blip r:embed="rId2"/>
          <a:stretch>
            <a:fillRect/>
          </a:stretch>
        </p:blipFill>
        <p:spPr>
          <a:xfrm>
            <a:off x="2285811" y="1828800"/>
            <a:ext cx="758989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669</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&amp; Compliance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670</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2297" y="1801368"/>
            <a:ext cx="775692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72_0.jpg"/>
          <p:cNvPicPr>
            <a:picLocks noChangeAspect="1"/>
          </p:cNvPicPr>
          <p:nvPr/>
        </p:nvPicPr>
        <p:blipFill>
          <a:blip r:embed="rId2"/>
          <a:stretch>
            <a:fillRect/>
          </a:stretch>
        </p:blipFill>
        <p:spPr>
          <a:xfrm>
            <a:off x="2229729" y="1828800"/>
            <a:ext cx="770206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https://aws.amazon.com/compliance/shared-responsibility-model/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671</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 - Security of the Cloud</a:t>
            </a:r>
          </a:p>
          <a:p>
            <a:pPr>
              <a:spcAft>
                <a:spcPts val="1000"/>
              </a:spcAft>
            </a:pPr>
            <a:r>
              <a:rPr sz="1800" b="0">
                <a:solidFill>
                  <a:srgbClr val="161B26"/>
                </a:solidFill>
                <a:latin typeface="Arial"/>
              </a:rPr>
              <a:t>•  Protecting infrastructure (hardware, software, facilities, and networking) that runs all the AWS services</a:t>
            </a:r>
          </a:p>
          <a:p>
            <a:pPr>
              <a:spcAft>
                <a:spcPts val="1000"/>
              </a:spcAft>
            </a:pPr>
            <a:r>
              <a:rPr sz="1800" b="0">
                <a:solidFill>
                  <a:srgbClr val="161B26"/>
                </a:solidFill>
                <a:latin typeface="Arial"/>
              </a:rPr>
              <a:t>•  Managed services like S3, DynamoDB, RDS, etc.</a:t>
            </a:r>
          </a:p>
          <a:p>
            <a:pPr>
              <a:spcAft>
                <a:spcPts val="1000"/>
              </a:spcAft>
            </a:pPr>
            <a:r>
              <a:rPr sz="1800" b="0">
                <a:solidFill>
                  <a:srgbClr val="161B26"/>
                </a:solidFill>
                <a:latin typeface="Arial"/>
              </a:rPr>
              <a:t>•  Customer responsibility - Security in the Cloud</a:t>
            </a:r>
          </a:p>
          <a:p>
            <a:pPr>
              <a:spcAft>
                <a:spcPts val="1000"/>
              </a:spcAft>
            </a:pPr>
            <a:r>
              <a:rPr sz="1800" b="0">
                <a:solidFill>
                  <a:srgbClr val="161B26"/>
                </a:solidFill>
                <a:latin typeface="Arial"/>
              </a:rPr>
              <a:t>•  For EC2 instance, customer is responsible for management of the guest OS 	(including security patches and updates), firewall &amp; network configuration, IAM</a:t>
            </a:r>
          </a:p>
          <a:p>
            <a:pPr>
              <a:spcAft>
                <a:spcPts val="1000"/>
              </a:spcAft>
            </a:pPr>
            <a:r>
              <a:rPr sz="1800" b="0">
                <a:solidFill>
                  <a:srgbClr val="161B26"/>
                </a:solidFill>
                <a:latin typeface="Arial"/>
              </a:rPr>
              <a:t>•  Encrypting application data</a:t>
            </a:r>
          </a:p>
          <a:p>
            <a:pPr>
              <a:spcAft>
                <a:spcPts val="1000"/>
              </a:spcAft>
            </a:pPr>
            <a:r>
              <a:rPr sz="1800" b="0">
                <a:solidFill>
                  <a:srgbClr val="161B26"/>
                </a:solidFill>
                <a:latin typeface="Arial"/>
              </a:rPr>
              <a:t>•  Shared controls:</a:t>
            </a:r>
          </a:p>
          <a:p>
            <a:pPr>
              <a:spcAft>
                <a:spcPts val="1000"/>
              </a:spcAft>
            </a:pPr>
            <a:r>
              <a:rPr sz="1800" b="0">
                <a:solidFill>
                  <a:srgbClr val="161B26"/>
                </a:solidFill>
                <a:latin typeface="Arial"/>
              </a:rPr>
              <a:t>•  Patch Management, Configuration Management, Awareness &amp; Training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672</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attacker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masters</a:t>
            </a:r>
          </a:p>
          <a:p>
            <a:pPr>
              <a:spcAft>
                <a:spcPts val="1000"/>
              </a:spcAft>
            </a:pPr>
            <a:r>
              <a:rPr sz="1800" b="0">
                <a:solidFill>
                  <a:srgbClr val="161B26"/>
                </a:solidFill>
                <a:latin typeface="Arial"/>
              </a:rPr>
              <a:t>•  bots</a:t>
            </a:r>
          </a:p>
          <a:p>
            <a:pPr>
              <a:spcAft>
                <a:spcPts val="1000"/>
              </a:spcAft>
            </a:pPr>
            <a:r>
              <a:rPr sz="1800" b="0">
                <a:solidFill>
                  <a:srgbClr val="161B26"/>
                </a:solidFill>
                <a:latin typeface="Arial"/>
              </a:rPr>
              <a:t>•  normal users</a:t>
            </a:r>
          </a:p>
          <a:p>
            <a:pPr>
              <a:spcAft>
                <a:spcPts val="1000"/>
              </a:spcAft>
            </a:pPr>
            <a:r>
              <a:rPr sz="1800" b="0">
                <a:solidFill>
                  <a:srgbClr val="161B26"/>
                </a:solidFill>
                <a:latin typeface="Arial"/>
              </a:rPr>
              <a:t>•  Not accessible Not responsive</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What’s a DDOS* Attack?</a:t>
            </a:r>
          </a:p>
          <a:p>
            <a:pPr>
              <a:spcAft>
                <a:spcPts val="1000"/>
              </a:spcAft>
            </a:pPr>
            <a:r>
              <a:rPr sz="1800" b="0">
                <a:solidFill>
                  <a:srgbClr val="161B26"/>
                </a:solidFill>
                <a:latin typeface="Arial"/>
              </a:rPr>
              <a:t>•  *Distributed Denial-of-Service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673</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DDoS Protection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Shield Standard: protects against DDoS attack for your website and applications, for all customers at no additional costs</a:t>
            </a:r>
          </a:p>
          <a:p>
            <a:pPr>
              <a:spcAft>
                <a:spcPts val="1000"/>
              </a:spcAft>
            </a:pPr>
            <a:r>
              <a:rPr sz="1800" b="0">
                <a:solidFill>
                  <a:srgbClr val="161B26"/>
                </a:solidFill>
                <a:latin typeface="Arial"/>
              </a:rPr>
              <a:t>•  AWS Shield Advanced: 24/7 premium DDoS protection</a:t>
            </a:r>
          </a:p>
          <a:p>
            <a:pPr>
              <a:spcAft>
                <a:spcPts val="1000"/>
              </a:spcAft>
            </a:pPr>
            <a:r>
              <a:rPr sz="1800" b="0">
                <a:solidFill>
                  <a:srgbClr val="161B26"/>
                </a:solidFill>
                <a:latin typeface="Arial"/>
              </a:rPr>
              <a:t>•  AWS WAF: filter specific requests based on rules</a:t>
            </a:r>
          </a:p>
          <a:p>
            <a:pPr>
              <a:spcAft>
                <a:spcPts val="1000"/>
              </a:spcAft>
            </a:pPr>
            <a:r>
              <a:rPr sz="1800" b="0">
                <a:solidFill>
                  <a:srgbClr val="161B26"/>
                </a:solidFill>
                <a:latin typeface="Arial"/>
              </a:rPr>
              <a:t>•  CloudFront and Route 53:</a:t>
            </a:r>
          </a:p>
          <a:p>
            <a:pPr>
              <a:spcAft>
                <a:spcPts val="1000"/>
              </a:spcAft>
            </a:pPr>
            <a:r>
              <a:rPr sz="1800" b="0">
                <a:solidFill>
                  <a:srgbClr val="161B26"/>
                </a:solidFill>
                <a:latin typeface="Arial"/>
              </a:rPr>
              <a:t>•  Availability protection using global edge network</a:t>
            </a:r>
          </a:p>
          <a:p>
            <a:pPr>
              <a:spcAft>
                <a:spcPts val="1000"/>
              </a:spcAft>
            </a:pPr>
            <a:r>
              <a:rPr sz="1800" b="0">
                <a:solidFill>
                  <a:srgbClr val="161B26"/>
                </a:solidFill>
                <a:latin typeface="Arial"/>
              </a:rPr>
              <a:t>•  Combined with AWS Shield, provides attack mitigation at the edge</a:t>
            </a:r>
          </a:p>
          <a:p>
            <a:pPr>
              <a:spcAft>
                <a:spcPts val="1000"/>
              </a:spcAft>
            </a:pPr>
            <a:r>
              <a:rPr sz="1800" b="0">
                <a:solidFill>
                  <a:srgbClr val="161B26"/>
                </a:solidFill>
                <a:latin typeface="Arial"/>
              </a:rPr>
              <a:t>•  Be ready to scale - leverage AWS Auto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674</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Sample Reference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13343"/>
            <a:ext cx="10479024" cy="374571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76_0.jpg"/>
          <p:cNvPicPr>
            <a:picLocks noChangeAspect="1"/>
          </p:cNvPicPr>
          <p:nvPr/>
        </p:nvPicPr>
        <p:blipFill>
          <a:blip r:embed="rId2"/>
          <a:stretch>
            <a:fillRect/>
          </a:stretch>
        </p:blipFill>
        <p:spPr>
          <a:xfrm>
            <a:off x="868680" y="2040775"/>
            <a:ext cx="10424160" cy="369085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https://aws.amazon.com/answers/networking/aws-ddos-attack-mitigation/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675</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Shield Standard:</a:t>
            </a:r>
          </a:p>
          <a:p>
            <a:pPr>
              <a:spcAft>
                <a:spcPts val="1000"/>
              </a:spcAft>
            </a:pPr>
            <a:r>
              <a:rPr sz="1800" b="0">
                <a:solidFill>
                  <a:srgbClr val="161B26"/>
                </a:solidFill>
                <a:latin typeface="Arial"/>
              </a:rPr>
              <a:t>•  Free service that is activated for every AWS customer</a:t>
            </a:r>
          </a:p>
          <a:p>
            <a:pPr>
              <a:spcAft>
                <a:spcPts val="1000"/>
              </a:spcAft>
            </a:pPr>
            <a:r>
              <a:rPr sz="1800" b="0">
                <a:solidFill>
                  <a:srgbClr val="161B26"/>
                </a:solidFill>
                <a:latin typeface="Arial"/>
              </a:rPr>
              <a:t>•  Provides protection from attacks such as SYN/UDP Floods, Reflection attacks and other layer 3/layer 4 attacks</a:t>
            </a:r>
          </a:p>
          <a:p>
            <a:pPr>
              <a:spcAft>
                <a:spcPts val="1000"/>
              </a:spcAft>
            </a:pPr>
            <a:r>
              <a:rPr sz="1800" b="0">
                <a:solidFill>
                  <a:srgbClr val="161B26"/>
                </a:solidFill>
                <a:latin typeface="Arial"/>
              </a:rPr>
              <a:t>•  AWS Shield Advanced:</a:t>
            </a:r>
          </a:p>
          <a:p>
            <a:pPr>
              <a:spcAft>
                <a:spcPts val="1000"/>
              </a:spcAft>
            </a:pPr>
            <a:r>
              <a:rPr sz="1800" b="0">
                <a:solidFill>
                  <a:srgbClr val="161B26"/>
                </a:solidFill>
                <a:latin typeface="Arial"/>
              </a:rPr>
              <a:t>•  Optional DDoS mitigation service ($3,000 per month per organization)</a:t>
            </a:r>
          </a:p>
          <a:p>
            <a:pPr>
              <a:spcAft>
                <a:spcPts val="1000"/>
              </a:spcAft>
            </a:pPr>
            <a:r>
              <a:rPr sz="1800" b="0">
                <a:solidFill>
                  <a:srgbClr val="161B26"/>
                </a:solidFill>
                <a:latin typeface="Arial"/>
              </a:rPr>
              <a:t>•  Protect against more sophisticated attack on Amazon EC2, Elastic Load Balancing (ELB), Amazon CloudFront, AWS Global Accelerator, and Route 53</a:t>
            </a:r>
          </a:p>
          <a:p>
            <a:pPr>
              <a:spcAft>
                <a:spcPts val="1000"/>
              </a:spcAft>
            </a:pPr>
            <a:r>
              <a:rPr sz="1800" b="0">
                <a:solidFill>
                  <a:srgbClr val="161B26"/>
                </a:solidFill>
                <a:latin typeface="Arial"/>
              </a:rPr>
              <a:t>•  24/7 access to AWS DDoS response team (DRP)</a:t>
            </a:r>
          </a:p>
          <a:p>
            <a:pPr>
              <a:spcAft>
                <a:spcPts val="1000"/>
              </a:spcAft>
            </a:pPr>
            <a:r>
              <a:rPr sz="1800" b="0">
                <a:solidFill>
                  <a:srgbClr val="161B26"/>
                </a:solidFill>
                <a:latin typeface="Arial"/>
              </a:rPr>
              <a:t>•  Protect against higher fees during usage spikes due to DDoS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676</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16533" y="1801368"/>
            <a:ext cx="672845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78_0.png"/>
          <p:cNvPicPr>
            <a:picLocks noChangeAspect="1"/>
          </p:cNvPicPr>
          <p:nvPr/>
        </p:nvPicPr>
        <p:blipFill>
          <a:blip r:embed="rId2"/>
          <a:stretch>
            <a:fillRect/>
          </a:stretch>
        </p:blipFill>
        <p:spPr>
          <a:xfrm>
            <a:off x="2743965" y="1828800"/>
            <a:ext cx="667359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677</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79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678</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Protects your web applications from common web exploits (Layer 7)</a:t>
            </a:r>
          </a:p>
          <a:p>
            <a:pPr>
              <a:spcAft>
                <a:spcPts val="1000"/>
              </a:spcAft>
            </a:pPr>
            <a:r>
              <a:rPr sz="1800" b="0">
                <a:solidFill>
                  <a:srgbClr val="161B26"/>
                </a:solidFill>
                <a:latin typeface="Arial"/>
              </a:rPr>
              <a:t>•  Layer 7 is HTTP (vs Layer 4 is TCP)</a:t>
            </a:r>
          </a:p>
          <a:p>
            <a:pPr>
              <a:spcAft>
                <a:spcPts val="1000"/>
              </a:spcAft>
            </a:pPr>
            <a:r>
              <a:rPr sz="1800" b="0">
                <a:solidFill>
                  <a:srgbClr val="161B26"/>
                </a:solidFill>
                <a:latin typeface="Arial"/>
              </a:rPr>
              <a:t>•  Deploy on Application Load Balancer, API Gateway, CloudFront</a:t>
            </a:r>
          </a:p>
          <a:p>
            <a:pPr>
              <a:spcAft>
                <a:spcPts val="1000"/>
              </a:spcAft>
            </a:pPr>
            <a:r>
              <a:rPr sz="1800" b="0">
                <a:solidFill>
                  <a:srgbClr val="161B26"/>
                </a:solidFill>
                <a:latin typeface="Arial"/>
              </a:rPr>
              <a:t>•  Define Web ACL (Web Access Control List):</a:t>
            </a:r>
          </a:p>
          <a:p>
            <a:pPr>
              <a:spcAft>
                <a:spcPts val="1000"/>
              </a:spcAft>
            </a:pPr>
            <a:r>
              <a:rPr sz="1800" b="0">
                <a:solidFill>
                  <a:srgbClr val="161B26"/>
                </a:solidFill>
                <a:latin typeface="Arial"/>
              </a:rPr>
              <a:t>•  Rules can include: IP addresses, HTTP headers, HTTP body, or URI strings</a:t>
            </a:r>
          </a:p>
          <a:p>
            <a:pPr>
              <a:spcAft>
                <a:spcPts val="1000"/>
              </a:spcAft>
            </a:pPr>
            <a:r>
              <a:rPr sz="1800" b="0">
                <a:solidFill>
                  <a:srgbClr val="161B26"/>
                </a:solidFill>
                <a:latin typeface="Arial"/>
              </a:rPr>
              <a:t>•  Protects from common attack - SQL injection and Cross-Site (XSS)</a:t>
            </a:r>
          </a:p>
          <a:p>
            <a:pPr>
              <a:spcAft>
                <a:spcPts val="1000"/>
              </a:spcAft>
            </a:pPr>
            <a:r>
              <a:rPr sz="1800" b="0">
                <a:solidFill>
                  <a:srgbClr val="161B26"/>
                </a:solidFill>
                <a:latin typeface="Arial"/>
              </a:rPr>
              <a:t>•  Size constraints, geo-match (block countries)</a:t>
            </a:r>
          </a:p>
          <a:p>
            <a:pPr>
              <a:spcAft>
                <a:spcPts val="1000"/>
              </a:spcAft>
            </a:pPr>
            <a:r>
              <a:rPr sz="1800" b="0">
                <a:solidFill>
                  <a:srgbClr val="161B26"/>
                </a:solidFill>
                <a:latin typeface="Arial"/>
              </a:rPr>
              <a:t>•  Rate-based rules (to count occurrences of events) - for DDOS protection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679</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96713" y="1801368"/>
            <a:ext cx="636809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81_0.png"/>
          <p:cNvPicPr>
            <a:picLocks noChangeAspect="1"/>
          </p:cNvPicPr>
          <p:nvPr/>
        </p:nvPicPr>
        <p:blipFill>
          <a:blip r:embed="rId2"/>
          <a:stretch>
            <a:fillRect/>
          </a:stretch>
        </p:blipFill>
        <p:spPr>
          <a:xfrm>
            <a:off x="2924145" y="1828800"/>
            <a:ext cx="631322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680</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82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681</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customers are welcome to carry out security assessments or penetration tests against their AWS infrastructures without prior approval for 8 services:</a:t>
            </a:r>
          </a:p>
          <a:p>
            <a:pPr>
              <a:spcAft>
                <a:spcPts val="1000"/>
              </a:spcAft>
            </a:pPr>
            <a:r>
              <a:rPr sz="1800" b="0">
                <a:solidFill>
                  <a:srgbClr val="161B26"/>
                </a:solidFill>
                <a:latin typeface="Arial"/>
              </a:rPr>
              <a:t>•  Amazon EC2 instances, NAT Gateways, and Elastic Load Balancers</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Amazon Aurora</a:t>
            </a:r>
          </a:p>
          <a:p>
            <a:pPr>
              <a:spcAft>
                <a:spcPts val="1000"/>
              </a:spcAft>
            </a:pPr>
            <a:r>
              <a:rPr sz="1800" b="0">
                <a:solidFill>
                  <a:srgbClr val="161B26"/>
                </a:solidFill>
                <a:latin typeface="Arial"/>
              </a:rPr>
              <a:t>•  Amazon API Gateways</a:t>
            </a:r>
          </a:p>
          <a:p>
            <a:pPr>
              <a:spcAft>
                <a:spcPts val="1000"/>
              </a:spcAft>
            </a:pPr>
            <a:r>
              <a:rPr sz="1800" b="0">
                <a:solidFill>
                  <a:srgbClr val="161B26"/>
                </a:solidFill>
                <a:latin typeface="Arial"/>
              </a:rPr>
              <a:t>•  AWS Lambda and Lambda Edge functions</a:t>
            </a:r>
          </a:p>
          <a:p>
            <a:pPr>
              <a:spcAft>
                <a:spcPts val="1000"/>
              </a:spcAft>
            </a:pPr>
            <a:r>
              <a:rPr sz="1800" b="0">
                <a:solidFill>
                  <a:srgbClr val="161B26"/>
                </a:solidFill>
                <a:latin typeface="Arial"/>
              </a:rPr>
              <a:t>•  Amazon Lightsail resources</a:t>
            </a:r>
          </a:p>
          <a:p>
            <a:pPr>
              <a:spcAft>
                <a:spcPts val="1000"/>
              </a:spcAft>
            </a:pPr>
            <a:r>
              <a:rPr sz="1800" b="0">
                <a:solidFill>
                  <a:srgbClr val="161B26"/>
                </a:solidFill>
                <a:latin typeface="Arial"/>
              </a:rPr>
              <a:t>•  Amazon Elastic Beanstalk environments</a:t>
            </a:r>
          </a:p>
          <a:p>
            <a:pPr>
              <a:spcAft>
                <a:spcPts val="1000"/>
              </a:spcAft>
            </a:pPr>
            <a:r>
              <a:rPr sz="1800" b="0">
                <a:solidFill>
                  <a:srgbClr val="161B26"/>
                </a:solidFill>
                <a:latin typeface="Arial"/>
              </a:rPr>
              <a:t>•  List can increase over time (you won’t be tested on that at the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682</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your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Prohibited Activities</a:t>
            </a:r>
          </a:p>
          <a:p>
            <a:pPr>
              <a:spcAft>
                <a:spcPts val="1000"/>
              </a:spcAft>
            </a:pPr>
            <a:r>
              <a:rPr sz="1800" b="0">
                <a:solidFill>
                  <a:srgbClr val="161B26"/>
                </a:solidFill>
                <a:latin typeface="Arial"/>
              </a:rPr>
              <a:t>•  DNS zone walking via Amazon Route 53 Hosted Zones</a:t>
            </a:r>
          </a:p>
          <a:p>
            <a:pPr>
              <a:spcAft>
                <a:spcPts val="1000"/>
              </a:spcAft>
            </a:pPr>
            <a:r>
              <a:rPr sz="1800" b="0">
                <a:solidFill>
                  <a:srgbClr val="161B26"/>
                </a:solidFill>
                <a:latin typeface="Arial"/>
              </a:rPr>
              <a:t>•  Denial of Service (DoS), Distributed Denial of Service (DDoS), Simulated DoS, Simulated DDoS</a:t>
            </a:r>
          </a:p>
          <a:p>
            <a:pPr>
              <a:spcAft>
                <a:spcPts val="1000"/>
              </a:spcAft>
            </a:pPr>
            <a:r>
              <a:rPr sz="1800" b="0">
                <a:solidFill>
                  <a:srgbClr val="161B26"/>
                </a:solidFill>
                <a:latin typeface="Arial"/>
              </a:rPr>
              <a:t>•  Port flooding</a:t>
            </a:r>
          </a:p>
          <a:p>
            <a:pPr>
              <a:spcAft>
                <a:spcPts val="1000"/>
              </a:spcAft>
            </a:pPr>
            <a:r>
              <a:rPr sz="1800" b="0">
                <a:solidFill>
                  <a:srgbClr val="161B26"/>
                </a:solidFill>
                <a:latin typeface="Arial"/>
              </a:rPr>
              <a:t>•  Protocol flooding</a:t>
            </a:r>
          </a:p>
          <a:p>
            <a:pPr>
              <a:spcAft>
                <a:spcPts val="1000"/>
              </a:spcAft>
            </a:pPr>
            <a:r>
              <a:rPr sz="1800" b="0">
                <a:solidFill>
                  <a:srgbClr val="161B26"/>
                </a:solidFill>
                <a:latin typeface="Arial"/>
              </a:rPr>
              <a:t>•  Request flooding (login request flooding, API request flooding)</a:t>
            </a:r>
          </a:p>
          <a:p>
            <a:pPr>
              <a:spcAft>
                <a:spcPts val="1000"/>
              </a:spcAft>
            </a:pPr>
            <a:r>
              <a:rPr sz="1800" b="0">
                <a:solidFill>
                  <a:srgbClr val="161B26"/>
                </a:solidFill>
                <a:latin typeface="Arial"/>
              </a:rPr>
              <a:t>•  For any other simulated events, contact aws-security-simulated-event@amazon.com</a:t>
            </a:r>
          </a:p>
          <a:p>
            <a:pPr>
              <a:spcAft>
                <a:spcPts val="1000"/>
              </a:spcAft>
            </a:pPr>
            <a:r>
              <a:rPr sz="1800" b="0">
                <a:solidFill>
                  <a:srgbClr val="161B26"/>
                </a:solidFill>
                <a:latin typeface="Arial"/>
              </a:rPr>
              <a:t>•  Read more: https://aws.amazon.com/security/penetration-testing/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683</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Automated Security Assessments</a:t>
            </a:r>
          </a:p>
          <a:p>
            <a:pPr>
              <a:spcAft>
                <a:spcPts val="1000"/>
              </a:spcAft>
            </a:pPr>
            <a:r>
              <a:rPr sz="1800" b="0">
                <a:solidFill>
                  <a:srgbClr val="161B26"/>
                </a:solidFill>
                <a:latin typeface="Arial"/>
              </a:rPr>
              <a:t>•  For EC2 instances</a:t>
            </a:r>
          </a:p>
          <a:p>
            <a:pPr>
              <a:spcAft>
                <a:spcPts val="1000"/>
              </a:spcAft>
            </a:pPr>
            <a:r>
              <a:rPr sz="1800" b="0">
                <a:solidFill>
                  <a:srgbClr val="161B26"/>
                </a:solidFill>
                <a:latin typeface="Arial"/>
              </a:rPr>
              <a:t>•  Leveraging the AWS System Manager (SSM) agent</a:t>
            </a:r>
          </a:p>
          <a:p>
            <a:pPr>
              <a:spcAft>
                <a:spcPts val="1000"/>
              </a:spcAft>
            </a:pPr>
            <a:r>
              <a:rPr sz="1800" b="0">
                <a:solidFill>
                  <a:srgbClr val="161B26"/>
                </a:solidFill>
                <a:latin typeface="Arial"/>
              </a:rPr>
              <a:t>•  Analyze against unintended network accessibility</a:t>
            </a:r>
          </a:p>
          <a:p>
            <a:pPr>
              <a:spcAft>
                <a:spcPts val="1000"/>
              </a:spcAft>
            </a:pPr>
            <a:r>
              <a:rPr sz="1800" b="0">
                <a:solidFill>
                  <a:srgbClr val="161B26"/>
                </a:solidFill>
                <a:latin typeface="Arial"/>
              </a:rPr>
              <a:t>•  Analyze the running OS against known vulnerabilities</a:t>
            </a:r>
          </a:p>
          <a:p>
            <a:pPr>
              <a:spcAft>
                <a:spcPts val="1000"/>
              </a:spcAft>
            </a:pPr>
            <a:r>
              <a:rPr sz="1800" b="0">
                <a:solidFill>
                  <a:srgbClr val="161B26"/>
                </a:solidFill>
                <a:latin typeface="Arial"/>
              </a:rPr>
              <a:t>•  For Container Images push to Amazon ECR</a:t>
            </a:r>
          </a:p>
          <a:p>
            <a:pPr>
              <a:spcAft>
                <a:spcPts val="1000"/>
              </a:spcAft>
            </a:pPr>
            <a:r>
              <a:rPr sz="1800" b="0">
                <a:solidFill>
                  <a:srgbClr val="161B26"/>
                </a:solidFill>
                <a:latin typeface="Arial"/>
              </a:rPr>
              <a:t>•  Assessment of Container Images as they are pushed</a:t>
            </a:r>
          </a:p>
          <a:p>
            <a:pPr>
              <a:spcAft>
                <a:spcPts val="1000"/>
              </a:spcAft>
            </a:pPr>
            <a:r>
              <a:rPr sz="1800" b="0">
                <a:solidFill>
                  <a:srgbClr val="161B26"/>
                </a:solidFill>
                <a:latin typeface="Arial"/>
              </a:rPr>
              <a:t>•  For Lambda Functions</a:t>
            </a:r>
          </a:p>
          <a:p>
            <a:pPr>
              <a:spcAft>
                <a:spcPts val="1000"/>
              </a:spcAft>
            </a:pPr>
            <a:r>
              <a:rPr sz="1800" b="0">
                <a:solidFill>
                  <a:srgbClr val="161B26"/>
                </a:solidFill>
                <a:latin typeface="Arial"/>
              </a:rPr>
              <a:t>•  Identifies software vulnerabilities in function code and package dependencies</a:t>
            </a:r>
          </a:p>
          <a:p>
            <a:pPr>
              <a:spcAft>
                <a:spcPts val="1000"/>
              </a:spcAft>
            </a:pPr>
            <a:r>
              <a:rPr sz="1800" b="0">
                <a:solidFill>
                  <a:srgbClr val="161B26"/>
                </a:solidFill>
                <a:latin typeface="Arial"/>
              </a:rPr>
              <a:t>•  Assessment of functions as they are deployed</a:t>
            </a:r>
          </a:p>
          <a:p>
            <a:pPr>
              <a:spcAft>
                <a:spcPts val="1000"/>
              </a:spcAft>
            </a:pPr>
            <a:r>
              <a:rPr sz="1800" b="0">
                <a:solidFill>
                  <a:srgbClr val="161B26"/>
                </a:solidFill>
                <a:latin typeface="Arial"/>
              </a:rPr>
              <a:t>•  Reporting &amp; integration with AWS Security Hub</a:t>
            </a:r>
          </a:p>
          <a:p>
            <a:pPr>
              <a:spcAft>
                <a:spcPts val="1000"/>
              </a:spcAft>
            </a:pPr>
            <a:r>
              <a:rPr sz="1800" b="0">
                <a:solidFill>
                  <a:srgbClr val="161B26"/>
                </a:solidFill>
                <a:latin typeface="Arial"/>
              </a:rPr>
              <a:t>•  Send findings to Amazon Event Bridge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Amazon Inspector</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assessment run state &amp; findings</a:t>
            </a:r>
          </a:p>
          <a:p>
            <a:pPr>
              <a:spcAft>
                <a:spcPts val="1000"/>
              </a:spcAft>
            </a:pPr>
            <a:r>
              <a:rPr sz="1800" b="0">
                <a:solidFill>
                  <a:srgbClr val="161B26"/>
                </a:solidFill>
                <a:latin typeface="Arial"/>
              </a:rPr>
              <a:t>•  Security Hub</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Amazon ECR Container Image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684</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8291" y="1801368"/>
            <a:ext cx="706493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86_0.png"/>
          <p:cNvPicPr>
            <a:picLocks noChangeAspect="1"/>
          </p:cNvPicPr>
          <p:nvPr/>
        </p:nvPicPr>
        <p:blipFill>
          <a:blip r:embed="rId2"/>
          <a:stretch>
            <a:fillRect/>
          </a:stretch>
        </p:blipFill>
        <p:spPr>
          <a:xfrm>
            <a:off x="2575723" y="1828800"/>
            <a:ext cx="701007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685</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87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686</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does Amazon Inspector evaluate?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Remember: only for EC2 instances, Container Images &amp; Lambda functions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Continuous scanning of the infrastructure, only when needed</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Package vulnerabilities (EC2, ECR &amp; Lambda) - database of CVE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Network reachability (EC2)</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 risk score is associated with all vulnerabilities for prioritization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687</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61668"/>
            <a:ext cx="10479024" cy="401482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89_0.png"/>
          <p:cNvPicPr>
            <a:picLocks noChangeAspect="1"/>
          </p:cNvPicPr>
          <p:nvPr/>
        </p:nvPicPr>
        <p:blipFill>
          <a:blip r:embed="rId2"/>
          <a:stretch>
            <a:fillRect/>
          </a:stretch>
        </p:blipFill>
        <p:spPr>
          <a:xfrm>
            <a:off x="868680" y="2089100"/>
            <a:ext cx="10424160" cy="3959959"/>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688</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Logging in AWS for 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help compliance requirements, AWS provides many service-specific security and audit logs</a:t>
            </a:r>
          </a:p>
          <a:p>
            <a:pPr>
              <a:spcAft>
                <a:spcPts val="1000"/>
              </a:spcAft>
            </a:pPr>
            <a:r>
              <a:rPr sz="1800" b="0">
                <a:solidFill>
                  <a:srgbClr val="161B26"/>
                </a:solidFill>
                <a:latin typeface="Arial"/>
              </a:rPr>
              <a:t>•  Service Logs include:</a:t>
            </a:r>
          </a:p>
          <a:p>
            <a:pPr>
              <a:spcAft>
                <a:spcPts val="1000"/>
              </a:spcAft>
            </a:pPr>
            <a:r>
              <a:rPr sz="1800" b="0">
                <a:solidFill>
                  <a:srgbClr val="161B26"/>
                </a:solidFill>
                <a:latin typeface="Arial"/>
              </a:rPr>
              <a:t>•  CloudTrail trails - trace all API calls</a:t>
            </a:r>
          </a:p>
          <a:p>
            <a:pPr>
              <a:spcAft>
                <a:spcPts val="1000"/>
              </a:spcAft>
            </a:pPr>
            <a:r>
              <a:rPr sz="1800" b="0">
                <a:solidFill>
                  <a:srgbClr val="161B26"/>
                </a:solidFill>
                <a:latin typeface="Arial"/>
              </a:rPr>
              <a:t>•  Config Rules - for config &amp; compliance over time</a:t>
            </a:r>
          </a:p>
          <a:p>
            <a:pPr>
              <a:spcAft>
                <a:spcPts val="1000"/>
              </a:spcAft>
            </a:pPr>
            <a:r>
              <a:rPr sz="1800" b="0">
                <a:solidFill>
                  <a:srgbClr val="161B26"/>
                </a:solidFill>
                <a:latin typeface="Arial"/>
              </a:rPr>
              <a:t>•  CloudWatch Logs - for full data retention</a:t>
            </a:r>
          </a:p>
          <a:p>
            <a:pPr>
              <a:spcAft>
                <a:spcPts val="1000"/>
              </a:spcAft>
            </a:pPr>
            <a:r>
              <a:rPr sz="1800" b="0">
                <a:solidFill>
                  <a:srgbClr val="161B26"/>
                </a:solidFill>
                <a:latin typeface="Arial"/>
              </a:rPr>
              <a:t>•  VPC Flow Logs - IP traffic within your VPC</a:t>
            </a:r>
          </a:p>
          <a:p>
            <a:pPr>
              <a:spcAft>
                <a:spcPts val="1000"/>
              </a:spcAft>
            </a:pPr>
            <a:r>
              <a:rPr sz="1800" b="0">
                <a:solidFill>
                  <a:srgbClr val="161B26"/>
                </a:solidFill>
                <a:latin typeface="Arial"/>
              </a:rPr>
              <a:t>•  ELB Access Logs - metadata of requests made to your load balancers</a:t>
            </a:r>
          </a:p>
          <a:p>
            <a:pPr>
              <a:spcAft>
                <a:spcPts val="1000"/>
              </a:spcAft>
            </a:pPr>
            <a:r>
              <a:rPr sz="1800" b="0">
                <a:solidFill>
                  <a:srgbClr val="161B26"/>
                </a:solidFill>
                <a:latin typeface="Arial"/>
              </a:rPr>
              <a:t>•  CloudFront Logs - web distribution access logs</a:t>
            </a:r>
          </a:p>
          <a:p>
            <a:pPr>
              <a:spcAft>
                <a:spcPts val="1000"/>
              </a:spcAft>
            </a:pPr>
            <a:r>
              <a:rPr sz="1800" b="0">
                <a:solidFill>
                  <a:srgbClr val="161B26"/>
                </a:solidFill>
                <a:latin typeface="Arial"/>
              </a:rPr>
              <a:t>•  WAF Logs - full logging of all requests analyzed by the service</a:t>
            </a:r>
          </a:p>
          <a:p>
            <a:pPr>
              <a:spcAft>
                <a:spcPts val="1000"/>
              </a:spcAft>
            </a:pPr>
            <a:r>
              <a:rPr sz="1800" b="0">
                <a:solidFill>
                  <a:srgbClr val="161B26"/>
                </a:solidFill>
                <a:latin typeface="Arial"/>
              </a:rPr>
              <a:t>•  Logs can be analyzed using AWS Athena if they're stored in S3</a:t>
            </a:r>
          </a:p>
          <a:p>
            <a:pPr>
              <a:spcAft>
                <a:spcPts val="1000"/>
              </a:spcAft>
            </a:pPr>
            <a:r>
              <a:rPr sz="1800" b="0">
                <a:solidFill>
                  <a:srgbClr val="161B26"/>
                </a:solidFill>
                <a:latin typeface="Arial"/>
              </a:rPr>
              <a:t>•  You should encrypt logs in S3, control access using IAM &amp; Bucket Policies, MFA</a:t>
            </a:r>
          </a:p>
          <a:p>
            <a:pPr>
              <a:spcAft>
                <a:spcPts val="1000"/>
              </a:spcAft>
            </a:pPr>
            <a:r>
              <a:rPr sz="1800" b="0">
                <a:solidFill>
                  <a:srgbClr val="161B26"/>
                </a:solidFill>
                <a:latin typeface="Arial"/>
              </a:rPr>
              <a:t>•  Move Logs to Glacier for cost savings</a:t>
            </a:r>
          </a:p>
          <a:p>
            <a:pPr>
              <a:spcAft>
                <a:spcPts val="1000"/>
              </a:spcAft>
            </a:pPr>
            <a:r>
              <a:rPr sz="1800" b="0">
                <a:solidFill>
                  <a:srgbClr val="161B26"/>
                </a:solidFill>
                <a:latin typeface="Arial"/>
              </a:rPr>
              <a:t>•  Read whitepaper if interested at:</a:t>
            </a:r>
          </a:p>
          <a:p>
            <a:pPr>
              <a:spcAft>
                <a:spcPts val="1000"/>
              </a:spcAft>
            </a:pPr>
            <a:r>
              <a:rPr sz="1800" b="0">
                <a:solidFill>
                  <a:srgbClr val="161B26"/>
                </a:solidFill>
                <a:latin typeface="Arial"/>
              </a:rPr>
              <a:t>•  https://d0.awsstatic.com/whitepapers/compliance/AWS_Security_at_Scale_Logging_in_AWS_Whitep aper.pdf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689</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Intelligent Threat discovery to protect your AWS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Uses Machine Learning algorithms, anomaly detection, 3rd party data</a:t>
            </a:r>
          </a:p>
          <a:p>
            <a:pPr>
              <a:spcAft>
                <a:spcPts val="1000"/>
              </a:spcAft>
            </a:pPr>
            <a:r>
              <a:rPr sz="1800" b="0">
                <a:solidFill>
                  <a:srgbClr val="161B26"/>
                </a:solidFill>
                <a:latin typeface="Arial"/>
              </a:rPr>
              <a:t>•  One click to enable (30 days trial), no need to install software</a:t>
            </a:r>
          </a:p>
          <a:p>
            <a:pPr>
              <a:spcAft>
                <a:spcPts val="1000"/>
              </a:spcAft>
            </a:pPr>
            <a:r>
              <a:rPr sz="1800" b="0">
                <a:solidFill>
                  <a:srgbClr val="161B26"/>
                </a:solidFill>
                <a:latin typeface="Arial"/>
              </a:rPr>
              <a:t>•  Input data includes:</a:t>
            </a:r>
          </a:p>
          <a:p>
            <a:pPr>
              <a:spcAft>
                <a:spcPts val="1000"/>
              </a:spcAft>
            </a:pPr>
            <a:r>
              <a:rPr sz="1800" b="0">
                <a:solidFill>
                  <a:srgbClr val="161B26"/>
                </a:solidFill>
                <a:latin typeface="Arial"/>
              </a:rPr>
              <a:t>•  CloudTrail Events Logs - unusual API calls, unauthorized deployments</a:t>
            </a:r>
          </a:p>
          <a:p>
            <a:pPr>
              <a:spcAft>
                <a:spcPts val="1000"/>
              </a:spcAft>
            </a:pPr>
            <a:r>
              <a:rPr sz="1800" b="0">
                <a:solidFill>
                  <a:srgbClr val="161B26"/>
                </a:solidFill>
                <a:latin typeface="Arial"/>
              </a:rPr>
              <a:t>•  CloudTrail Management Events – create VPC subnet, create trail, …</a:t>
            </a:r>
          </a:p>
          <a:p>
            <a:pPr>
              <a:spcAft>
                <a:spcPts val="1000"/>
              </a:spcAft>
            </a:pPr>
            <a:r>
              <a:rPr sz="1800" b="0">
                <a:solidFill>
                  <a:srgbClr val="161B26"/>
                </a:solidFill>
                <a:latin typeface="Arial"/>
              </a:rPr>
              <a:t>•  CloudTrail S3 Data Events – get object, list objects, delete object, …</a:t>
            </a:r>
          </a:p>
          <a:p>
            <a:pPr>
              <a:spcAft>
                <a:spcPts val="1000"/>
              </a:spcAft>
            </a:pPr>
            <a:r>
              <a:rPr sz="1800" b="0">
                <a:solidFill>
                  <a:srgbClr val="161B26"/>
                </a:solidFill>
                <a:latin typeface="Arial"/>
              </a:rPr>
              <a:t>•  VPC Flow Logs - unusual internal traffic, unusual IP address</a:t>
            </a:r>
          </a:p>
          <a:p>
            <a:pPr>
              <a:spcAft>
                <a:spcPts val="1000"/>
              </a:spcAft>
            </a:pPr>
            <a:r>
              <a:rPr sz="1800" b="0">
                <a:solidFill>
                  <a:srgbClr val="161B26"/>
                </a:solidFill>
                <a:latin typeface="Arial"/>
              </a:rPr>
              <a:t>•  DNS Logs - compromised EC2 instances sending encoded data within DNS queries</a:t>
            </a:r>
          </a:p>
          <a:p>
            <a:pPr>
              <a:spcAft>
                <a:spcPts val="1000"/>
              </a:spcAft>
            </a:pPr>
            <a:r>
              <a:rPr sz="1800" b="0">
                <a:solidFill>
                  <a:srgbClr val="161B26"/>
                </a:solidFill>
                <a:latin typeface="Arial"/>
              </a:rPr>
              <a:t>•  Optional Feature - EKS Audit Logs, RDS &amp; Aurora, EBS, Lambda, S3 Data Events…</a:t>
            </a:r>
          </a:p>
          <a:p>
            <a:pPr>
              <a:spcAft>
                <a:spcPts val="1000"/>
              </a:spcAft>
            </a:pPr>
            <a:r>
              <a:rPr sz="1800" b="0">
                <a:solidFill>
                  <a:srgbClr val="161B26"/>
                </a:solidFill>
                <a:latin typeface="Arial"/>
              </a:rPr>
              <a:t>•  Can setup EventBridge rules to be notified in case of findings</a:t>
            </a:r>
          </a:p>
          <a:p>
            <a:pPr>
              <a:spcAft>
                <a:spcPts val="1000"/>
              </a:spcAft>
            </a:pPr>
            <a:r>
              <a:rPr sz="1800" b="0">
                <a:solidFill>
                  <a:srgbClr val="161B26"/>
                </a:solidFill>
                <a:latin typeface="Arial"/>
              </a:rPr>
              <a:t>•  EventBridge rules can target AWS Lambda or SNS</a:t>
            </a:r>
          </a:p>
          <a:p>
            <a:pPr>
              <a:spcAft>
                <a:spcPts val="1000"/>
              </a:spcAft>
            </a:pPr>
            <a:r>
              <a:rPr sz="1800" b="0">
                <a:solidFill>
                  <a:srgbClr val="161B26"/>
                </a:solidFill>
                <a:latin typeface="Arial"/>
              </a:rPr>
              <a:t>•  Can protect against CryptoCurrency attacks (has a dedicated "finding" for it)</a:t>
            </a:r>
          </a:p>
          <a:p>
            <a:pPr>
              <a:spcAft>
                <a:spcPts val="1000"/>
              </a:spcAft>
            </a:pPr>
            <a:r>
              <a:rPr sz="1800" b="0">
                <a:solidFill>
                  <a:srgbClr val="161B26"/>
                </a:solidFill>
                <a:latin typeface="Arial"/>
              </a:rPr>
              <a:t>•  Amazon GuardDuty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690</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CloudTrail Logs</a:t>
            </a:r>
          </a:p>
          <a:p>
            <a:pPr>
              <a:spcAft>
                <a:spcPts val="1000"/>
              </a:spcAft>
            </a:pPr>
            <a:r>
              <a:rPr sz="1800" b="0">
                <a:solidFill>
                  <a:srgbClr val="161B26"/>
                </a:solidFill>
                <a:latin typeface="Arial"/>
              </a:rPr>
              <a:t>•  DNS Logs (AWS DNS)</a:t>
            </a:r>
          </a:p>
          <a:p>
            <a:pPr>
              <a:spcAft>
                <a:spcPts val="1000"/>
              </a:spcAft>
            </a:pPr>
            <a:r>
              <a:rPr sz="1800" b="0">
                <a:solidFill>
                  <a:srgbClr val="161B26"/>
                </a:solidFill>
                <a:latin typeface="Arial"/>
              </a:rPr>
              <a:t>•  GuardDuty</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Optional Features</a:t>
            </a:r>
          </a:p>
          <a:p>
            <a:pPr>
              <a:spcAft>
                <a:spcPts val="1000"/>
              </a:spcAft>
            </a:pPr>
            <a:r>
              <a:rPr sz="1800" b="0">
                <a:solidFill>
                  <a:srgbClr val="161B26"/>
                </a:solidFill>
                <a:latin typeface="Arial"/>
              </a:rPr>
              <a:t>•  S3 Logs</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Lambda Network      RDS &amp; Aurora Activity	         Login Activity</a:t>
            </a:r>
          </a:p>
          <a:p>
            <a:pPr>
              <a:spcAft>
                <a:spcPts val="1000"/>
              </a:spcAft>
            </a:pPr>
            <a:r>
              <a:rPr sz="1800" b="0">
                <a:solidFill>
                  <a:srgbClr val="161B26"/>
                </a:solidFill>
                <a:latin typeface="Arial"/>
              </a:rPr>
              <a:t>•  EKS Audit Logs &amp; Runtime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691</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3507" y="1801368"/>
            <a:ext cx="73145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93_0.png"/>
          <p:cNvPicPr>
            <a:picLocks noChangeAspect="1"/>
          </p:cNvPicPr>
          <p:nvPr/>
        </p:nvPicPr>
        <p:blipFill>
          <a:blip r:embed="rId2"/>
          <a:stretch>
            <a:fillRect/>
          </a:stretch>
        </p:blipFill>
        <p:spPr>
          <a:xfrm>
            <a:off x="2450939" y="1828800"/>
            <a:ext cx="72596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692</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94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693</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41278" y="1801368"/>
            <a:ext cx="74789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95_0.png"/>
          <p:cNvPicPr>
            <a:picLocks noChangeAspect="1"/>
          </p:cNvPicPr>
          <p:nvPr/>
        </p:nvPicPr>
        <p:blipFill>
          <a:blip r:embed="rId2"/>
          <a:stretch>
            <a:fillRect/>
          </a:stretch>
        </p:blipFill>
        <p:spPr>
          <a:xfrm>
            <a:off x="2368710" y="1828800"/>
            <a:ext cx="742409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694</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Macie is a fully managed data security and data privacy service that uses machine learning and pattern matching to discover and protect your sensitive data in AWS.</a:t>
            </a:r>
          </a:p>
          <a:p>
            <a:pPr>
              <a:spcAft>
                <a:spcPts val="1000"/>
              </a:spcAft>
            </a:pPr>
            <a:r>
              <a:rPr sz="1800" b="0">
                <a:solidFill>
                  <a:srgbClr val="161B26"/>
                </a:solidFill>
                <a:latin typeface="Arial"/>
              </a:rPr>
              <a:t>•  Macie helps identify and alert you to sensitive data, such as personally identifiable information (PII)</a:t>
            </a:r>
          </a:p>
          <a:p>
            <a:pPr>
              <a:spcAft>
                <a:spcPts val="1000"/>
              </a:spcAft>
            </a:pPr>
            <a:r>
              <a:rPr sz="1800" b="0">
                <a:solidFill>
                  <a:srgbClr val="161B26"/>
                </a:solidFill>
                <a:latin typeface="Arial"/>
              </a:rPr>
              <a:t>•  S3 Buckets</a:t>
            </a:r>
          </a:p>
          <a:p>
            <a:pPr>
              <a:spcAft>
                <a:spcPts val="1000"/>
              </a:spcAft>
            </a:pPr>
            <a:r>
              <a:rPr sz="1800" b="0">
                <a:solidFill>
                  <a:srgbClr val="161B26"/>
                </a:solidFill>
                <a:latin typeface="Arial"/>
              </a:rPr>
              <a:t>•  Macie</a:t>
            </a:r>
          </a:p>
          <a:p>
            <a:pPr>
              <a:spcAft>
                <a:spcPts val="1000"/>
              </a:spcAft>
            </a:pPr>
            <a:r>
              <a:rPr sz="1800" b="0">
                <a:solidFill>
                  <a:srgbClr val="161B26"/>
                </a:solidFill>
                <a:latin typeface="Arial"/>
              </a:rPr>
              <a:t>•  Discover Sensitive Data (PII)</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analyze</a:t>
            </a:r>
          </a:p>
          <a:p>
            <a:pPr>
              <a:spcAft>
                <a:spcPts val="1000"/>
              </a:spcAft>
            </a:pPr>
            <a:r>
              <a:rPr sz="1800" b="0">
                <a:solidFill>
                  <a:srgbClr val="161B26"/>
                </a:solidFill>
                <a:latin typeface="Arial"/>
              </a:rPr>
              <a:t>•  notify</a:t>
            </a:r>
          </a:p>
          <a:p>
            <a:pPr>
              <a:spcAft>
                <a:spcPts val="1000"/>
              </a:spcAft>
            </a:pPr>
            <a:r>
              <a:rPr sz="1800" b="0">
                <a:solidFill>
                  <a:srgbClr val="161B26"/>
                </a:solidFill>
                <a:latin typeface="Arial"/>
              </a:rPr>
              <a:t>•  integrations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695</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37454" y="1801368"/>
            <a:ext cx="888661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97_0.png"/>
          <p:cNvPicPr>
            <a:picLocks noChangeAspect="1"/>
          </p:cNvPicPr>
          <p:nvPr/>
        </p:nvPicPr>
        <p:blipFill>
          <a:blip r:embed="rId2"/>
          <a:stretch>
            <a:fillRect/>
          </a:stretch>
        </p:blipFill>
        <p:spPr>
          <a:xfrm>
            <a:off x="1664886" y="1828800"/>
            <a:ext cx="883174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696</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9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697</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4093" y="1801368"/>
            <a:ext cx="1027333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699_0.png"/>
          <p:cNvPicPr>
            <a:picLocks noChangeAspect="1"/>
          </p:cNvPicPr>
          <p:nvPr/>
        </p:nvPicPr>
        <p:blipFill>
          <a:blip r:embed="rId2"/>
          <a:stretch>
            <a:fillRect/>
          </a:stretch>
        </p:blipFill>
        <p:spPr>
          <a:xfrm>
            <a:off x="971525" y="1828800"/>
            <a:ext cx="1021847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698</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 need to install anything - high level AWS account assessment</a:t>
            </a:r>
          </a:p>
          <a:p>
            <a:pPr>
              <a:spcAft>
                <a:spcPts val="1000"/>
              </a:spcAft>
            </a:pPr>
            <a:r>
              <a:rPr sz="1800" b="0">
                <a:solidFill>
                  <a:srgbClr val="161B26"/>
                </a:solidFill>
                <a:latin typeface="Arial"/>
              </a:rPr>
              <a:t>•  Analyze your AWS accounts and provides recommendation on 6 categories:</a:t>
            </a:r>
          </a:p>
          <a:p>
            <a:pPr>
              <a:spcAft>
                <a:spcPts val="1000"/>
              </a:spcAft>
            </a:pPr>
            <a:r>
              <a:rPr sz="1800" b="0">
                <a:solidFill>
                  <a:srgbClr val="161B26"/>
                </a:solidFill>
                <a:latin typeface="Arial"/>
              </a:rPr>
              <a:t>•  Cost optimization</a:t>
            </a:r>
          </a:p>
          <a:p>
            <a:pPr>
              <a:spcAft>
                <a:spcPts val="1000"/>
              </a:spcAft>
            </a:pPr>
            <a:r>
              <a:rPr sz="1800" b="0">
                <a:solidFill>
                  <a:srgbClr val="161B26"/>
                </a:solidFill>
                <a:latin typeface="Arial"/>
              </a:rPr>
              <a:t>•  Performance</a:t>
            </a:r>
          </a:p>
          <a:p>
            <a:pPr>
              <a:spcAft>
                <a:spcPts val="1000"/>
              </a:spcAft>
            </a:pPr>
            <a:r>
              <a:rPr sz="1800" b="0">
                <a:solidFill>
                  <a:srgbClr val="161B26"/>
                </a:solidFill>
                <a:latin typeface="Arial"/>
              </a:rPr>
              <a:t>•  Security</a:t>
            </a:r>
          </a:p>
          <a:p>
            <a:pPr>
              <a:spcAft>
                <a:spcPts val="1000"/>
              </a:spcAft>
            </a:pPr>
            <a:r>
              <a:rPr sz="1800" b="0">
                <a:solidFill>
                  <a:srgbClr val="161B26"/>
                </a:solidFill>
                <a:latin typeface="Arial"/>
              </a:rPr>
              <a:t>•  Fault tolerance</a:t>
            </a:r>
          </a:p>
          <a:p>
            <a:pPr>
              <a:spcAft>
                <a:spcPts val="1000"/>
              </a:spcAft>
            </a:pPr>
            <a:r>
              <a:rPr sz="1800" b="0">
                <a:solidFill>
                  <a:srgbClr val="161B26"/>
                </a:solidFill>
                <a:latin typeface="Arial"/>
              </a:rPr>
              <a:t>•  Service limits</a:t>
            </a:r>
          </a:p>
          <a:p>
            <a:pPr>
              <a:spcAft>
                <a:spcPts val="1000"/>
              </a:spcAft>
            </a:pPr>
            <a:r>
              <a:rPr sz="1800" b="0">
                <a:solidFill>
                  <a:srgbClr val="161B26"/>
                </a:solidFill>
                <a:latin typeface="Arial"/>
              </a:rPr>
              <a:t>•  Operational Excellence</a:t>
            </a:r>
          </a:p>
          <a:p>
            <a:pPr>
              <a:spcAft>
                <a:spcPts val="1000"/>
              </a:spcAft>
            </a:pPr>
            <a:r>
              <a:rPr sz="1800" b="0">
                <a:solidFill>
                  <a:srgbClr val="161B26"/>
                </a:solidFill>
                <a:latin typeface="Arial"/>
              </a:rPr>
              <a:t>•  Business &amp; Enterprise Support plan</a:t>
            </a:r>
          </a:p>
          <a:p>
            <a:pPr>
              <a:spcAft>
                <a:spcPts val="1000"/>
              </a:spcAft>
            </a:pPr>
            <a:r>
              <a:rPr sz="1800" b="0">
                <a:solidFill>
                  <a:srgbClr val="161B26"/>
                </a:solidFill>
                <a:latin typeface="Arial"/>
              </a:rPr>
              <a:t>•  Full Set of Checks</a:t>
            </a:r>
          </a:p>
          <a:p>
            <a:pPr>
              <a:spcAft>
                <a:spcPts val="1000"/>
              </a:spcAft>
            </a:pPr>
            <a:r>
              <a:rPr sz="1800" b="0">
                <a:solidFill>
                  <a:srgbClr val="161B26"/>
                </a:solidFill>
                <a:latin typeface="Arial"/>
              </a:rPr>
              <a:t>•  Programmatic Access using AWS Support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699</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52091" y="1801368"/>
            <a:ext cx="765733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01_0.png"/>
          <p:cNvPicPr>
            <a:picLocks noChangeAspect="1"/>
          </p:cNvPicPr>
          <p:nvPr/>
        </p:nvPicPr>
        <p:blipFill>
          <a:blip r:embed="rId2"/>
          <a:stretch>
            <a:fillRect/>
          </a:stretch>
        </p:blipFill>
        <p:spPr>
          <a:xfrm>
            <a:off x="2279523" y="1828800"/>
            <a:ext cx="760247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700</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99843"/>
            <a:ext cx="10479024" cy="39384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02_0.png"/>
          <p:cNvPicPr>
            <a:picLocks noChangeAspect="1"/>
          </p:cNvPicPr>
          <p:nvPr/>
        </p:nvPicPr>
        <p:blipFill>
          <a:blip r:embed="rId2"/>
          <a:stretch>
            <a:fillRect/>
          </a:stretch>
        </p:blipFill>
        <p:spPr>
          <a:xfrm>
            <a:off x="868680" y="2127275"/>
            <a:ext cx="10424160" cy="388361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701</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Encryption in flight (TLS / SSL)</a:t>
            </a:r>
          </a:p>
          <a:p>
            <a:pPr>
              <a:spcAft>
                <a:spcPts val="1000"/>
              </a:spcAft>
            </a:pPr>
            <a:r>
              <a:rPr sz="1800" b="0">
                <a:solidFill>
                  <a:srgbClr val="161B26"/>
                </a:solidFill>
                <a:latin typeface="Arial"/>
              </a:rPr>
              <a:t>•  Data is encrypted before sending and decrypted after receiving</a:t>
            </a:r>
          </a:p>
          <a:p>
            <a:pPr>
              <a:spcAft>
                <a:spcPts val="1000"/>
              </a:spcAft>
            </a:pPr>
            <a:r>
              <a:rPr sz="1800" b="0">
                <a:solidFill>
                  <a:srgbClr val="161B26"/>
                </a:solidFill>
                <a:latin typeface="Arial"/>
              </a:rPr>
              <a:t>•  TLS certificates help with encryption (HTTPS)</a:t>
            </a:r>
          </a:p>
          <a:p>
            <a:pPr>
              <a:spcAft>
                <a:spcPts val="1000"/>
              </a:spcAft>
            </a:pPr>
            <a:r>
              <a:rPr sz="1800" b="0">
                <a:solidFill>
                  <a:srgbClr val="161B26"/>
                </a:solidFill>
                <a:latin typeface="Arial"/>
              </a:rPr>
              <a:t>•  Encryption in flight ensures no MITM (man in the middle attack) can happen</a:t>
            </a:r>
          </a:p>
          <a:p>
            <a:pPr>
              <a:spcAft>
                <a:spcPts val="1000"/>
              </a:spcAft>
            </a:pPr>
            <a:r>
              <a:rPr sz="1800" b="0">
                <a:solidFill>
                  <a:srgbClr val="161B26"/>
                </a:solidFill>
                <a:latin typeface="Arial"/>
              </a:rPr>
              <a:t>•  HTTPS Website</a:t>
            </a:r>
          </a:p>
          <a:p>
            <a:pPr>
              <a:spcAft>
                <a:spcPts val="1000"/>
              </a:spcAft>
            </a:pPr>
            <a:r>
              <a:rPr sz="1800" b="0">
                <a:solidFill>
                  <a:srgbClr val="161B26"/>
                </a:solidFill>
                <a:latin typeface="Arial"/>
              </a:rPr>
              <a:t>•  TLS Encryption</a:t>
            </a:r>
          </a:p>
          <a:p>
            <a:pPr>
              <a:spcAft>
                <a:spcPts val="1000"/>
              </a:spcAft>
            </a:pPr>
            <a:r>
              <a:rPr sz="1800" b="0">
                <a:solidFill>
                  <a:srgbClr val="161B26"/>
                </a:solidFill>
                <a:latin typeface="Arial"/>
              </a:rPr>
              <a:t>•  TLS Decryption</a:t>
            </a:r>
          </a:p>
          <a:p>
            <a:pPr>
              <a:spcAft>
                <a:spcPts val="1000"/>
              </a:spcAft>
            </a:pPr>
            <a:r>
              <a:rPr sz="1800" b="0">
                <a:solidFill>
                  <a:srgbClr val="161B26"/>
                </a:solidFill>
                <a:latin typeface="Arial"/>
              </a:rPr>
              <a:t>•  Username: admin Password: supersecret</a:t>
            </a:r>
          </a:p>
          <a:p>
            <a:pPr>
              <a:spcAft>
                <a:spcPts val="1000"/>
              </a:spcAft>
            </a:pPr>
            <a:r>
              <a:rPr sz="1800" b="0">
                <a:solidFill>
                  <a:srgbClr val="161B26"/>
                </a:solidFill>
                <a:latin typeface="Arial"/>
              </a:rPr>
              <a:t>•  Username: admin Password: supersecret</a:t>
            </a:r>
          </a:p>
          <a:p>
            <a:pPr>
              <a:spcAft>
                <a:spcPts val="1000"/>
              </a:spcAft>
            </a:pPr>
            <a:r>
              <a:rPr sz="1800" b="0">
                <a:solidFill>
                  <a:srgbClr val="161B26"/>
                </a:solidFill>
                <a:latin typeface="Arial"/>
              </a:rPr>
              <a:t>•  aGVsbG8gd29 ybGQgZWh…</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702</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Server-side encryption at rest</a:t>
            </a:r>
          </a:p>
          <a:p>
            <a:pPr>
              <a:spcAft>
                <a:spcPts val="1000"/>
              </a:spcAft>
            </a:pPr>
            <a:r>
              <a:rPr sz="1800" b="0">
                <a:solidFill>
                  <a:srgbClr val="161B26"/>
                </a:solidFill>
                <a:latin typeface="Arial"/>
              </a:rPr>
              <a:t>•  Data is encrypted after being received by the server</a:t>
            </a:r>
          </a:p>
          <a:p>
            <a:pPr>
              <a:spcAft>
                <a:spcPts val="1000"/>
              </a:spcAft>
            </a:pPr>
            <a:r>
              <a:rPr sz="1800" b="0">
                <a:solidFill>
                  <a:srgbClr val="161B26"/>
                </a:solidFill>
                <a:latin typeface="Arial"/>
              </a:rPr>
              <a:t>•  Data is decrypted before being sent</a:t>
            </a:r>
          </a:p>
          <a:p>
            <a:pPr>
              <a:spcAft>
                <a:spcPts val="1000"/>
              </a:spcAft>
            </a:pPr>
            <a:r>
              <a:rPr sz="1800" b="0">
                <a:solidFill>
                  <a:srgbClr val="161B26"/>
                </a:solidFill>
                <a:latin typeface="Arial"/>
              </a:rPr>
              <a:t>•  It is stored in an encrypted form thanks to a key (usually a data key)</a:t>
            </a:r>
          </a:p>
          <a:p>
            <a:pPr>
              <a:spcAft>
                <a:spcPts val="1000"/>
              </a:spcAft>
            </a:pPr>
            <a:r>
              <a:rPr sz="1800" b="0">
                <a:solidFill>
                  <a:srgbClr val="161B26"/>
                </a:solidFill>
                <a:latin typeface="Arial"/>
              </a:rPr>
              <a:t>•  The encryption / decryption keys must be managed somewhere, and the server must have access to it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Data key</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key</a:t>
            </a:r>
          </a:p>
          <a:p>
            <a:pPr>
              <a:spcAft>
                <a:spcPts val="1000"/>
              </a:spcAft>
            </a:pPr>
            <a:r>
              <a:rPr sz="1800" b="0">
                <a:solidFill>
                  <a:srgbClr val="161B26"/>
                </a:solidFill>
                <a:latin typeface="Arial"/>
              </a:rPr>
              <a:t>•  AWS Service (e.g., S3)</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Decryption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703</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Client-side encryption</a:t>
            </a:r>
          </a:p>
          <a:p>
            <a:pPr>
              <a:spcAft>
                <a:spcPts val="1000"/>
              </a:spcAft>
            </a:pPr>
            <a:r>
              <a:rPr sz="1800" b="0">
                <a:solidFill>
                  <a:srgbClr val="161B26"/>
                </a:solidFill>
                <a:latin typeface="Arial"/>
              </a:rPr>
              <a:t>•  Data is encrypted by the client and never decrypted by the server</a:t>
            </a:r>
          </a:p>
          <a:p>
            <a:pPr>
              <a:spcAft>
                <a:spcPts val="1000"/>
              </a:spcAft>
            </a:pPr>
            <a:r>
              <a:rPr sz="1800" b="0">
                <a:solidFill>
                  <a:srgbClr val="161B26"/>
                </a:solidFill>
                <a:latin typeface="Arial"/>
              </a:rPr>
              <a:t>•  Data will be decrypted by a receiving client</a:t>
            </a:r>
          </a:p>
          <a:p>
            <a:pPr>
              <a:spcAft>
                <a:spcPts val="1000"/>
              </a:spcAft>
            </a:pPr>
            <a:r>
              <a:rPr sz="1800" b="0">
                <a:solidFill>
                  <a:srgbClr val="161B26"/>
                </a:solidFill>
                <a:latin typeface="Arial"/>
              </a:rPr>
              <a:t>•  The server should not be able to decrypt the data</a:t>
            </a:r>
          </a:p>
          <a:p>
            <a:pPr>
              <a:spcAft>
                <a:spcPts val="1000"/>
              </a:spcAft>
            </a:pPr>
            <a:r>
              <a:rPr sz="1800" b="0">
                <a:solidFill>
                  <a:srgbClr val="161B26"/>
                </a:solidFill>
                <a:latin typeface="Arial"/>
              </a:rPr>
              <a:t>•  Could leverage Envelope Encryption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key (client-side)</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store</a:t>
            </a:r>
          </a:p>
          <a:p>
            <a:pPr>
              <a:spcAft>
                <a:spcPts val="1000"/>
              </a:spcAft>
            </a:pPr>
            <a:r>
              <a:rPr sz="1800" b="0">
                <a:solidFill>
                  <a:srgbClr val="161B26"/>
                </a:solidFill>
                <a:latin typeface="Arial"/>
              </a:rPr>
              <a:t>•  Encrypted object</a:t>
            </a:r>
          </a:p>
          <a:p>
            <a:pPr>
              <a:spcAft>
                <a:spcPts val="1000"/>
              </a:spcAft>
            </a:pPr>
            <a:r>
              <a:rPr sz="1800" b="0">
                <a:solidFill>
                  <a:srgbClr val="161B26"/>
                </a:solidFill>
                <a:latin typeface="Arial"/>
              </a:rPr>
              <a:t>•  Any storage service (FTP, S3,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key (client-side)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Decryption</a:t>
            </a:r>
          </a:p>
          <a:p>
            <a:pPr>
              <a:spcAft>
                <a:spcPts val="1000"/>
              </a:spcAft>
            </a:pPr>
            <a:r>
              <a:rPr sz="1800" b="0">
                <a:solidFill>
                  <a:srgbClr val="161B26"/>
                </a:solidFill>
                <a:latin typeface="Arial"/>
              </a:rPr>
              <a:t>•  retrieve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704</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Anytime you hear “encryption” for an AWS service, it’s most likely KMS</a:t>
            </a:r>
          </a:p>
          <a:p>
            <a:pPr>
              <a:spcAft>
                <a:spcPts val="1000"/>
              </a:spcAft>
            </a:pPr>
            <a:r>
              <a:rPr sz="1800" b="0">
                <a:solidFill>
                  <a:srgbClr val="161B26"/>
                </a:solidFill>
                <a:latin typeface="Arial"/>
              </a:rPr>
              <a:t>•  AWS manages encryption keys for us</a:t>
            </a:r>
          </a:p>
          <a:p>
            <a:pPr>
              <a:spcAft>
                <a:spcPts val="1000"/>
              </a:spcAft>
            </a:pPr>
            <a:r>
              <a:rPr sz="1800" b="0">
                <a:solidFill>
                  <a:srgbClr val="161B26"/>
                </a:solidFill>
                <a:latin typeface="Arial"/>
              </a:rPr>
              <a:t>•  Fully integrated with IAM for authorization</a:t>
            </a:r>
          </a:p>
          <a:p>
            <a:pPr>
              <a:spcAft>
                <a:spcPts val="1000"/>
              </a:spcAft>
            </a:pPr>
            <a:r>
              <a:rPr sz="1800" b="0">
                <a:solidFill>
                  <a:srgbClr val="161B26"/>
                </a:solidFill>
                <a:latin typeface="Arial"/>
              </a:rPr>
              <a:t>•  Easy way to control access to your data</a:t>
            </a:r>
          </a:p>
          <a:p>
            <a:pPr>
              <a:spcAft>
                <a:spcPts val="1000"/>
              </a:spcAft>
            </a:pPr>
            <a:r>
              <a:rPr sz="1800" b="0">
                <a:solidFill>
                  <a:srgbClr val="161B26"/>
                </a:solidFill>
                <a:latin typeface="Arial"/>
              </a:rPr>
              <a:t>•  Able to audit KMS Key usage using CloudTrail</a:t>
            </a:r>
          </a:p>
          <a:p>
            <a:pPr>
              <a:spcAft>
                <a:spcPts val="1000"/>
              </a:spcAft>
            </a:pPr>
            <a:r>
              <a:rPr sz="1800" b="0">
                <a:solidFill>
                  <a:srgbClr val="161B26"/>
                </a:solidFill>
                <a:latin typeface="Arial"/>
              </a:rPr>
              <a:t>•  Seamlessly integrated into most AWS services (EBS, S3, RDS, SSM…)</a:t>
            </a:r>
          </a:p>
          <a:p>
            <a:pPr>
              <a:spcAft>
                <a:spcPts val="1000"/>
              </a:spcAft>
            </a:pPr>
            <a:r>
              <a:rPr sz="1800" b="0">
                <a:solidFill>
                  <a:srgbClr val="161B26"/>
                </a:solidFill>
                <a:latin typeface="Arial"/>
              </a:rPr>
              <a:t>•  Never ever store your secrets in plaintext, especially in your code!</a:t>
            </a:r>
          </a:p>
          <a:p>
            <a:pPr>
              <a:spcAft>
                <a:spcPts val="1000"/>
              </a:spcAft>
            </a:pPr>
            <a:r>
              <a:rPr sz="1800" b="0">
                <a:solidFill>
                  <a:srgbClr val="161B26"/>
                </a:solidFill>
                <a:latin typeface="Arial"/>
              </a:rPr>
              <a:t>•  KMS Key Encryption also available through API calls (SDK, CLI)</a:t>
            </a:r>
          </a:p>
          <a:p>
            <a:pPr>
              <a:spcAft>
                <a:spcPts val="1000"/>
              </a:spcAft>
            </a:pPr>
            <a:r>
              <a:rPr sz="1800" b="0">
                <a:solidFill>
                  <a:srgbClr val="161B26"/>
                </a:solidFill>
                <a:latin typeface="Arial"/>
              </a:rPr>
              <a:t>•  Encrypted secrets can be stored in the code / environment variables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705</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Keys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KMs Keys is the new name of KMS Customer Master Key</a:t>
            </a:r>
          </a:p>
          <a:p>
            <a:pPr>
              <a:spcAft>
                <a:spcPts val="1000"/>
              </a:spcAft>
            </a:pPr>
            <a:r>
              <a:rPr sz="1800" b="0">
                <a:solidFill>
                  <a:srgbClr val="161B26"/>
                </a:solidFill>
                <a:latin typeface="Arial"/>
              </a:rPr>
              <a:t>•  Symmetric (AES-256 keys)</a:t>
            </a:r>
          </a:p>
          <a:p>
            <a:pPr>
              <a:spcAft>
                <a:spcPts val="1000"/>
              </a:spcAft>
            </a:pPr>
            <a:r>
              <a:rPr sz="1800" b="0">
                <a:solidFill>
                  <a:srgbClr val="161B26"/>
                </a:solidFill>
                <a:latin typeface="Arial"/>
              </a:rPr>
              <a:t>•  Single encryption key that is used to Encrypt and Decrypt</a:t>
            </a:r>
          </a:p>
          <a:p>
            <a:pPr>
              <a:spcAft>
                <a:spcPts val="1000"/>
              </a:spcAft>
            </a:pPr>
            <a:r>
              <a:rPr sz="1800" b="0">
                <a:solidFill>
                  <a:srgbClr val="161B26"/>
                </a:solidFill>
                <a:latin typeface="Arial"/>
              </a:rPr>
              <a:t>•  AWS services that are integrated with KMS use Symmetric CMKs</a:t>
            </a:r>
          </a:p>
          <a:p>
            <a:pPr>
              <a:spcAft>
                <a:spcPts val="1000"/>
              </a:spcAft>
            </a:pPr>
            <a:r>
              <a:rPr sz="1800" b="0">
                <a:solidFill>
                  <a:srgbClr val="161B26"/>
                </a:solidFill>
                <a:latin typeface="Arial"/>
              </a:rPr>
              <a:t>•  You never get access to the KMS Key unencrypted (must call KMS API to use)</a:t>
            </a:r>
          </a:p>
          <a:p>
            <a:pPr>
              <a:spcAft>
                <a:spcPts val="1000"/>
              </a:spcAft>
            </a:pPr>
            <a:r>
              <a:rPr sz="1800" b="0">
                <a:solidFill>
                  <a:srgbClr val="161B26"/>
                </a:solidFill>
                <a:latin typeface="Arial"/>
              </a:rPr>
              <a:t>•  Asymmetric (RSA &amp; ECC key pairs)</a:t>
            </a:r>
          </a:p>
          <a:p>
            <a:pPr>
              <a:spcAft>
                <a:spcPts val="1000"/>
              </a:spcAft>
            </a:pPr>
            <a:r>
              <a:rPr sz="1800" b="0">
                <a:solidFill>
                  <a:srgbClr val="161B26"/>
                </a:solidFill>
                <a:latin typeface="Arial"/>
              </a:rPr>
              <a:t>•  Public (Encrypt) and Private Key (Decrypt) pair</a:t>
            </a:r>
          </a:p>
          <a:p>
            <a:pPr>
              <a:spcAft>
                <a:spcPts val="1000"/>
              </a:spcAft>
            </a:pPr>
            <a:r>
              <a:rPr sz="1800" b="0">
                <a:solidFill>
                  <a:srgbClr val="161B26"/>
                </a:solidFill>
                <a:latin typeface="Arial"/>
              </a:rPr>
              <a:t>•  Used for Encrypt/Decrypt, or Sign/Verify operations</a:t>
            </a:r>
          </a:p>
          <a:p>
            <a:pPr>
              <a:spcAft>
                <a:spcPts val="1000"/>
              </a:spcAft>
            </a:pPr>
            <a:r>
              <a:rPr sz="1800" b="0">
                <a:solidFill>
                  <a:srgbClr val="161B26"/>
                </a:solidFill>
                <a:latin typeface="Arial"/>
              </a:rPr>
              <a:t>•  The public key is downloadable, but you can’t access the Private Key unencrypted</a:t>
            </a:r>
          </a:p>
          <a:p>
            <a:pPr>
              <a:spcAft>
                <a:spcPts val="1000"/>
              </a:spcAft>
            </a:pPr>
            <a:r>
              <a:rPr sz="1800" b="0">
                <a:solidFill>
                  <a:srgbClr val="161B26"/>
                </a:solidFill>
                <a:latin typeface="Arial"/>
              </a:rPr>
              <a:t>•  Use case: encryption outside of AWS by users who can’t call the KMS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706</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Types of KMS Keys:</a:t>
            </a:r>
          </a:p>
          <a:p>
            <a:pPr>
              <a:spcAft>
                <a:spcPts val="1000"/>
              </a:spcAft>
            </a:pPr>
            <a:r>
              <a:rPr sz="1800" b="0">
                <a:solidFill>
                  <a:srgbClr val="161B26"/>
                </a:solidFill>
                <a:latin typeface="Arial"/>
              </a:rPr>
              <a:t>•  AWS Owned Keys (free): SSE-S3, SSE-SQS, SSE-DDB (default key)</a:t>
            </a:r>
          </a:p>
          <a:p>
            <a:pPr>
              <a:spcAft>
                <a:spcPts val="1000"/>
              </a:spcAft>
            </a:pPr>
            <a:r>
              <a:rPr sz="1800" b="0">
                <a:solidFill>
                  <a:srgbClr val="161B26"/>
                </a:solidFill>
                <a:latin typeface="Arial"/>
              </a:rPr>
              <a:t>•  AWS Managed Key: free (aws/service-name, example: aws/rds or aws/ebs)</a:t>
            </a:r>
          </a:p>
          <a:p>
            <a:pPr>
              <a:spcAft>
                <a:spcPts val="1000"/>
              </a:spcAft>
            </a:pPr>
            <a:r>
              <a:rPr sz="1800" b="0">
                <a:solidFill>
                  <a:srgbClr val="161B26"/>
                </a:solidFill>
                <a:latin typeface="Arial"/>
              </a:rPr>
              <a:t>•  Customer managed keys created in KMS: $1 / month</a:t>
            </a:r>
          </a:p>
          <a:p>
            <a:pPr>
              <a:spcAft>
                <a:spcPts val="1000"/>
              </a:spcAft>
            </a:pPr>
            <a:r>
              <a:rPr sz="1800" b="0">
                <a:solidFill>
                  <a:srgbClr val="161B26"/>
                </a:solidFill>
                <a:latin typeface="Arial"/>
              </a:rPr>
              <a:t>•  Customer managed keys imported: $1 / month</a:t>
            </a:r>
          </a:p>
          <a:p>
            <a:pPr>
              <a:spcAft>
                <a:spcPts val="1000"/>
              </a:spcAft>
            </a:pPr>
            <a:r>
              <a:rPr sz="1800" b="0">
                <a:solidFill>
                  <a:srgbClr val="161B26"/>
                </a:solidFill>
                <a:latin typeface="Arial"/>
              </a:rPr>
              <a:t>•  + pay for API call to KMS ($0.03 / 10000 calls)</a:t>
            </a:r>
          </a:p>
          <a:p>
            <a:pPr>
              <a:spcAft>
                <a:spcPts val="1000"/>
              </a:spcAft>
            </a:pPr>
            <a:r>
              <a:rPr sz="1800" b="0">
                <a:solidFill>
                  <a:srgbClr val="161B26"/>
                </a:solidFill>
                <a:latin typeface="Arial"/>
              </a:rPr>
              <a:t>•  Automatic Key rotation:</a:t>
            </a:r>
          </a:p>
          <a:p>
            <a:pPr>
              <a:spcAft>
                <a:spcPts val="1000"/>
              </a:spcAft>
            </a:pPr>
            <a:r>
              <a:rPr sz="1800" b="0">
                <a:solidFill>
                  <a:srgbClr val="161B26"/>
                </a:solidFill>
                <a:latin typeface="Arial"/>
              </a:rPr>
              <a:t>•  AWS-managed KMS Key: automatic every 1 year</a:t>
            </a:r>
          </a:p>
          <a:p>
            <a:pPr>
              <a:spcAft>
                <a:spcPts val="1000"/>
              </a:spcAft>
            </a:pPr>
            <a:r>
              <a:rPr sz="1800" b="0">
                <a:solidFill>
                  <a:srgbClr val="161B26"/>
                </a:solidFill>
                <a:latin typeface="Arial"/>
              </a:rPr>
              <a:t>•  Customer-managed KMS Key: (must be enabled) automatic &amp; on-demand</a:t>
            </a:r>
          </a:p>
          <a:p>
            <a:pPr>
              <a:spcAft>
                <a:spcPts val="1000"/>
              </a:spcAft>
            </a:pPr>
            <a:r>
              <a:rPr sz="1800" b="0">
                <a:solidFill>
                  <a:srgbClr val="161B26"/>
                </a:solidFill>
                <a:latin typeface="Arial"/>
              </a:rPr>
              <a:t>•  Imported KMS Key: only manual rotation possible using alias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707</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Copying Snapshots across regions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 Encrypted With KMS</a:t>
            </a:r>
          </a:p>
          <a:p>
            <a:pPr>
              <a:spcAft>
                <a:spcPts val="1000"/>
              </a:spcAft>
            </a:pPr>
            <a:r>
              <a:rPr sz="1800" b="0">
                <a:solidFill>
                  <a:srgbClr val="161B26"/>
                </a:solidFill>
                <a:latin typeface="Arial"/>
              </a:rPr>
              <a:t>•  EBS Snapshot Encrypted With KMS</a:t>
            </a:r>
          </a:p>
          <a:p>
            <a:pPr>
              <a:spcAft>
                <a:spcPts val="1000"/>
              </a:spcAft>
            </a:pPr>
            <a:r>
              <a:rPr sz="1800" b="0">
                <a:solidFill>
                  <a:srgbClr val="161B26"/>
                </a:solidFill>
                <a:latin typeface="Arial"/>
              </a:rPr>
              <a:t>•  KMS Key A</a:t>
            </a:r>
          </a:p>
          <a:p>
            <a:pPr>
              <a:spcAft>
                <a:spcPts val="1000"/>
              </a:spcAft>
            </a:pPr>
            <a:r>
              <a:rPr sz="1800" b="0">
                <a:solidFill>
                  <a:srgbClr val="161B26"/>
                </a:solidFill>
                <a:latin typeface="Arial"/>
              </a:rPr>
              <a:t>•  KMS Key A</a:t>
            </a:r>
          </a:p>
          <a:p>
            <a:pPr>
              <a:spcAft>
                <a:spcPts val="1000"/>
              </a:spcAft>
            </a:pPr>
            <a:r>
              <a:rPr sz="1800" b="0">
                <a:solidFill>
                  <a:srgbClr val="161B26"/>
                </a:solidFill>
                <a:latin typeface="Arial"/>
              </a:rPr>
              <a:t>•  Region eu-west-2</a:t>
            </a:r>
          </a:p>
          <a:p>
            <a:pPr>
              <a:spcAft>
                <a:spcPts val="1000"/>
              </a:spcAft>
            </a:pPr>
            <a:r>
              <a:rPr sz="1800" b="0">
                <a:solidFill>
                  <a:srgbClr val="161B26"/>
                </a:solidFill>
                <a:latin typeface="Arial"/>
              </a:rPr>
              <a:t>•  EBS Volume Encrypted With KMS</a:t>
            </a:r>
          </a:p>
          <a:p>
            <a:pPr>
              <a:spcAft>
                <a:spcPts val="1000"/>
              </a:spcAft>
            </a:pPr>
            <a:r>
              <a:rPr sz="1800" b="0">
                <a:solidFill>
                  <a:srgbClr val="161B26"/>
                </a:solidFill>
                <a:latin typeface="Arial"/>
              </a:rPr>
              <a:t>•  EBS Snapshot Encrypted With KMS</a:t>
            </a:r>
          </a:p>
          <a:p>
            <a:pPr>
              <a:spcAft>
                <a:spcPts val="1000"/>
              </a:spcAft>
            </a:pPr>
            <a:r>
              <a:rPr sz="1800" b="0">
                <a:solidFill>
                  <a:srgbClr val="161B26"/>
                </a:solidFill>
                <a:latin typeface="Arial"/>
              </a:rPr>
              <a:t>•  KMS Key B</a:t>
            </a:r>
          </a:p>
          <a:p>
            <a:pPr>
              <a:spcAft>
                <a:spcPts val="1000"/>
              </a:spcAft>
            </a:pPr>
            <a:r>
              <a:rPr sz="1800" b="0">
                <a:solidFill>
                  <a:srgbClr val="161B26"/>
                </a:solidFill>
                <a:latin typeface="Arial"/>
              </a:rPr>
              <a:t>•  KMS Key B</a:t>
            </a:r>
          </a:p>
          <a:p>
            <a:pPr>
              <a:spcAft>
                <a:spcPts val="1000"/>
              </a:spcAft>
            </a:pPr>
            <a:r>
              <a:rPr sz="1800" b="0">
                <a:solidFill>
                  <a:srgbClr val="161B26"/>
                </a:solidFill>
                <a:latin typeface="Arial"/>
              </a:rPr>
              <a:t>•  Region ap-southeast-2</a:t>
            </a:r>
          </a:p>
          <a:p>
            <a:pPr>
              <a:spcAft>
                <a:spcPts val="1000"/>
              </a:spcAft>
            </a:pPr>
            <a:r>
              <a:rPr sz="1800" b="0">
                <a:solidFill>
                  <a:srgbClr val="161B26"/>
                </a:solidFill>
                <a:latin typeface="Arial"/>
              </a:rPr>
              <a:t>•  KMS ReEncrypt with KMS Key 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708</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Control access to KMS keys, “similar” to S3 bucket policies</a:t>
            </a:r>
          </a:p>
          <a:p>
            <a:pPr>
              <a:spcAft>
                <a:spcPts val="1000"/>
              </a:spcAft>
            </a:pPr>
            <a:r>
              <a:rPr sz="1800" b="0">
                <a:solidFill>
                  <a:srgbClr val="161B26"/>
                </a:solidFill>
                <a:latin typeface="Arial"/>
              </a:rPr>
              <a:t>•  Difference: you cannot control access without them</a:t>
            </a:r>
          </a:p>
          <a:p>
            <a:pPr>
              <a:spcAft>
                <a:spcPts val="1000"/>
              </a:spcAft>
            </a:pPr>
            <a:r>
              <a:rPr sz="1800" b="0">
                <a:solidFill>
                  <a:srgbClr val="161B26"/>
                </a:solidFill>
                <a:latin typeface="Arial"/>
              </a:rPr>
              <a:t>•  Default KMS Key Policy:</a:t>
            </a:r>
          </a:p>
          <a:p>
            <a:pPr>
              <a:spcAft>
                <a:spcPts val="1000"/>
              </a:spcAft>
            </a:pPr>
            <a:r>
              <a:rPr sz="1800" b="0">
                <a:solidFill>
                  <a:srgbClr val="161B26"/>
                </a:solidFill>
                <a:latin typeface="Arial"/>
              </a:rPr>
              <a:t>•  Created if you don’t provide a specific KMS Key Policy</a:t>
            </a:r>
          </a:p>
          <a:p>
            <a:pPr>
              <a:spcAft>
                <a:spcPts val="1000"/>
              </a:spcAft>
            </a:pPr>
            <a:r>
              <a:rPr sz="1800" b="0">
                <a:solidFill>
                  <a:srgbClr val="161B26"/>
                </a:solidFill>
                <a:latin typeface="Arial"/>
              </a:rPr>
              <a:t>•  Complete access to the key to the root user = entire AWS account</a:t>
            </a:r>
          </a:p>
          <a:p>
            <a:pPr>
              <a:spcAft>
                <a:spcPts val="1000"/>
              </a:spcAft>
            </a:pPr>
            <a:r>
              <a:rPr sz="1800" b="0">
                <a:solidFill>
                  <a:srgbClr val="161B26"/>
                </a:solidFill>
                <a:latin typeface="Arial"/>
              </a:rPr>
              <a:t>•  Custom KMS Key Policy:</a:t>
            </a:r>
          </a:p>
          <a:p>
            <a:pPr>
              <a:spcAft>
                <a:spcPts val="1000"/>
              </a:spcAft>
            </a:pPr>
            <a:r>
              <a:rPr sz="1800" b="0">
                <a:solidFill>
                  <a:srgbClr val="161B26"/>
                </a:solidFill>
                <a:latin typeface="Arial"/>
              </a:rPr>
              <a:t>•  Define users, roles that can access the KMS key</a:t>
            </a:r>
          </a:p>
          <a:p>
            <a:pPr>
              <a:spcAft>
                <a:spcPts val="1000"/>
              </a:spcAft>
            </a:pPr>
            <a:r>
              <a:rPr sz="1800" b="0">
                <a:solidFill>
                  <a:srgbClr val="161B26"/>
                </a:solidFill>
                <a:latin typeface="Arial"/>
              </a:rPr>
              <a:t>•  Define who can administer the key</a:t>
            </a:r>
          </a:p>
          <a:p>
            <a:pPr>
              <a:spcAft>
                <a:spcPts val="1000"/>
              </a:spcAft>
            </a:pPr>
            <a:r>
              <a:rPr sz="1800" b="0">
                <a:solidFill>
                  <a:srgbClr val="161B26"/>
                </a:solidFill>
                <a:latin typeface="Arial"/>
              </a:rPr>
              <a:t>•  Useful for cross-account access of your KMS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709</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Copying Snapshots across accounts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a Snapshot, encrypted with your own KMS Key (Customer Managed Key)</a:t>
            </a:r>
          </a:p>
          <a:p>
            <a:pPr>
              <a:spcAft>
                <a:spcPts val="1000"/>
              </a:spcAft>
            </a:pPr>
            <a:r>
              <a:rPr sz="1800" b="0">
                <a:solidFill>
                  <a:srgbClr val="161B26"/>
                </a:solidFill>
                <a:latin typeface="Arial"/>
              </a:rPr>
              <a:t>•  Attach a KMS Key Policy to</a:t>
            </a:r>
          </a:p>
          <a:p>
            <a:pPr>
              <a:spcAft>
                <a:spcPts val="1000"/>
              </a:spcAft>
            </a:pPr>
            <a:r>
              <a:rPr sz="1800" b="0">
                <a:solidFill>
                  <a:srgbClr val="161B26"/>
                </a:solidFill>
                <a:latin typeface="Arial"/>
              </a:rPr>
              <a:t>•  authorize cross-account access</a:t>
            </a:r>
          </a:p>
          <a:p>
            <a:pPr>
              <a:spcAft>
                <a:spcPts val="1000"/>
              </a:spcAft>
            </a:pPr>
            <a:r>
              <a:rPr sz="1800" b="0">
                <a:solidFill>
                  <a:srgbClr val="161B26"/>
                </a:solidFill>
                <a:latin typeface="Arial"/>
              </a:rPr>
              <a:t>•  Share the encrypted snapshot</a:t>
            </a:r>
          </a:p>
          <a:p>
            <a:pPr>
              <a:spcAft>
                <a:spcPts val="1000"/>
              </a:spcAft>
            </a:pPr>
            <a:r>
              <a:rPr sz="1800" b="0">
                <a:solidFill>
                  <a:srgbClr val="161B26"/>
                </a:solidFill>
                <a:latin typeface="Arial"/>
              </a:rPr>
              <a:t>•  (in target) Create a copy of the Snapshot, encrypt it with a CMK in your account</a:t>
            </a:r>
          </a:p>
          <a:p>
            <a:pPr>
              <a:spcAft>
                <a:spcPts val="1000"/>
              </a:spcAft>
            </a:pPr>
            <a:r>
              <a:rPr sz="1800" b="0">
                <a:solidFill>
                  <a:srgbClr val="161B26"/>
                </a:solidFill>
                <a:latin typeface="Arial"/>
              </a:rPr>
              <a:t>•  Create a volume from the snapshot</a:t>
            </a:r>
          </a:p>
          <a:p>
            <a:pPr>
              <a:spcAft>
                <a:spcPts val="1000"/>
              </a:spcAft>
            </a:pPr>
            <a:r>
              <a:rPr sz="1800" b="0">
                <a:solidFill>
                  <a:srgbClr val="161B26"/>
                </a:solidFill>
                <a:latin typeface="Arial"/>
              </a:rPr>
              <a:t>•  KMS Key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710</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Automatic Key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444455556666</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Automatic Key rotation</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AWS-managed KMS Keys: automatically rotated every 1 year</a:t>
            </a:r>
          </a:p>
          <a:p>
            <a:pPr>
              <a:spcAft>
                <a:spcPts val="1000"/>
              </a:spcAft>
            </a:pPr>
            <a:r>
              <a:rPr sz="1800" b="0">
                <a:solidFill>
                  <a:srgbClr val="161B26"/>
                </a:solidFill>
                <a:latin typeface="Arial"/>
              </a:rPr>
              <a:t>•  For Customer-Managed Symmetric KMS Key:</a:t>
            </a:r>
          </a:p>
          <a:p>
            <a:pPr>
              <a:spcAft>
                <a:spcPts val="1000"/>
              </a:spcAft>
            </a:pPr>
            <a:r>
              <a:rPr sz="1800" b="0">
                <a:solidFill>
                  <a:srgbClr val="161B26"/>
                </a:solidFill>
                <a:latin typeface="Arial"/>
              </a:rPr>
              <a:t>•  Automatic key rotation is optionally enabled</a:t>
            </a:r>
          </a:p>
          <a:p>
            <a:pPr>
              <a:spcAft>
                <a:spcPts val="1000"/>
              </a:spcAft>
            </a:pPr>
            <a:r>
              <a:rPr sz="1800" b="0">
                <a:solidFill>
                  <a:srgbClr val="161B26"/>
                </a:solidFill>
                <a:latin typeface="Arial"/>
              </a:rPr>
              <a:t>•  Customize Rotation Period between 90 and 2560 days (default: 365 days)</a:t>
            </a:r>
          </a:p>
          <a:p>
            <a:pPr>
              <a:spcAft>
                <a:spcPts val="1000"/>
              </a:spcAft>
            </a:pPr>
            <a:r>
              <a:rPr sz="1800" b="0">
                <a:solidFill>
                  <a:srgbClr val="161B26"/>
                </a:solidFill>
                <a:latin typeface="Arial"/>
              </a:rPr>
              <a:t>•  Previous key is kept active so you can decrypt old data</a:t>
            </a:r>
          </a:p>
          <a:p>
            <a:pPr>
              <a:spcAft>
                <a:spcPts val="1000"/>
              </a:spcAft>
            </a:pPr>
            <a:r>
              <a:rPr sz="1800" b="0">
                <a:solidFill>
                  <a:srgbClr val="161B26"/>
                </a:solidFill>
                <a:latin typeface="Arial"/>
              </a:rPr>
              <a:t>•  New Key has the same KMS Key ID (only the backing key is changed)</a:t>
            </a:r>
          </a:p>
          <a:p>
            <a:pPr>
              <a:spcAft>
                <a:spcPts val="1000"/>
              </a:spcAft>
            </a:pPr>
            <a:r>
              <a:rPr sz="1800" b="0">
                <a:solidFill>
                  <a:srgbClr val="161B26"/>
                </a:solidFill>
                <a:latin typeface="Arial"/>
              </a:rPr>
              <a:t>•  Backing Key	                                                 Backing Key	  Saved Backing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711</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On-Demand Key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Customer-Managed Symmetric KMS Key (not AWS managed CMK)</a:t>
            </a:r>
          </a:p>
          <a:p>
            <a:pPr>
              <a:spcAft>
                <a:spcPts val="1000"/>
              </a:spcAft>
            </a:pPr>
            <a:r>
              <a:rPr sz="1800" b="0">
                <a:solidFill>
                  <a:srgbClr val="161B26"/>
                </a:solidFill>
                <a:latin typeface="Arial"/>
              </a:rPr>
              <a:t>•  Does NOT require Automatic Key Rotation to be enabled</a:t>
            </a:r>
          </a:p>
          <a:p>
            <a:pPr>
              <a:spcAft>
                <a:spcPts val="1000"/>
              </a:spcAft>
            </a:pPr>
            <a:r>
              <a:rPr sz="1800" b="0">
                <a:solidFill>
                  <a:srgbClr val="161B26"/>
                </a:solidFill>
                <a:latin typeface="Arial"/>
              </a:rPr>
              <a:t>•  Does NOT change existing Automatic Rotation schedules</a:t>
            </a:r>
          </a:p>
          <a:p>
            <a:pPr>
              <a:spcAft>
                <a:spcPts val="1000"/>
              </a:spcAft>
            </a:pPr>
            <a:r>
              <a:rPr sz="1800" b="0">
                <a:solidFill>
                  <a:srgbClr val="161B26"/>
                </a:solidFill>
                <a:latin typeface="Arial"/>
              </a:rPr>
              <a:t>•  Limit to how many times you can trigger an on-demand key rotation</a:t>
            </a:r>
          </a:p>
          <a:p>
            <a:pPr>
              <a:spcAft>
                <a:spcPts val="1000"/>
              </a:spcAft>
            </a:pPr>
            <a:r>
              <a:rPr sz="1800" b="0">
                <a:solidFill>
                  <a:srgbClr val="161B26"/>
                </a:solidFill>
                <a:latin typeface="Arial"/>
              </a:rPr>
              <a:t>•  On Demand Key rotation</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444455556666</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Backing Key	                                                 Backing Key	  Saved Backing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712</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Manual Key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(Customer-Managed Symmetric KMS Key &amp; Imports)</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Alias = MyCustomKey</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When you want to rotate key (example: every month)</a:t>
            </a:r>
          </a:p>
          <a:p>
            <a:pPr>
              <a:spcAft>
                <a:spcPts val="1000"/>
              </a:spcAft>
            </a:pPr>
            <a:r>
              <a:rPr sz="1800" b="0">
                <a:solidFill>
                  <a:srgbClr val="161B26"/>
                </a:solidFill>
                <a:latin typeface="Arial"/>
              </a:rPr>
              <a:t>•  New Key has a different KMS Key ID</a:t>
            </a:r>
          </a:p>
          <a:p>
            <a:pPr>
              <a:spcAft>
                <a:spcPts val="1000"/>
              </a:spcAft>
            </a:pPr>
            <a:r>
              <a:rPr sz="1800" b="0">
                <a:solidFill>
                  <a:srgbClr val="161B26"/>
                </a:solidFill>
                <a:latin typeface="Arial"/>
              </a:rPr>
              <a:t>•  Keep the previous key active so you can decrypt old data</a:t>
            </a:r>
          </a:p>
          <a:p>
            <a:pPr>
              <a:spcAft>
                <a:spcPts val="1000"/>
              </a:spcAft>
            </a:pPr>
            <a:r>
              <a:rPr sz="1800" b="0">
                <a:solidFill>
                  <a:srgbClr val="161B26"/>
                </a:solidFill>
                <a:latin typeface="Arial"/>
              </a:rPr>
              <a:t>•  Better to use aliases in this case (to hide the change of key for the application)</a:t>
            </a:r>
          </a:p>
          <a:p>
            <a:pPr>
              <a:spcAft>
                <a:spcPts val="1000"/>
              </a:spcAft>
            </a:pPr>
            <a:r>
              <a:rPr sz="1800" b="0">
                <a:solidFill>
                  <a:srgbClr val="161B26"/>
                </a:solidFill>
                <a:latin typeface="Arial"/>
              </a:rPr>
              <a:t>•  Good solution to rotate KMS Key that are not eligible for automatic rotation (like asymmetric KMS key)</a:t>
            </a:r>
          </a:p>
          <a:p>
            <a:pPr>
              <a:spcAft>
                <a:spcPts val="1000"/>
              </a:spcAft>
            </a:pPr>
            <a:r>
              <a:rPr sz="1800" b="0">
                <a:solidFill>
                  <a:srgbClr val="161B26"/>
                </a:solidFill>
                <a:latin typeface="Arial"/>
              </a:rPr>
              <a:t>•  Rotate Key Manually</a:t>
            </a:r>
          </a:p>
          <a:p>
            <a:pPr>
              <a:spcAft>
                <a:spcPts val="1000"/>
              </a:spcAft>
            </a:pPr>
            <a:r>
              <a:rPr sz="1800" b="0">
                <a:solidFill>
                  <a:srgbClr val="161B26"/>
                </a:solidFill>
                <a:latin typeface="Arial"/>
              </a:rPr>
              <a:t>•  111122223333                         	444455556666</a:t>
            </a:r>
          </a:p>
          <a:p>
            <a:pPr>
              <a:spcAft>
                <a:spcPts val="1000"/>
              </a:spcAft>
            </a:pPr>
            <a:r>
              <a:rPr sz="1800" b="0">
                <a:solidFill>
                  <a:srgbClr val="161B26"/>
                </a:solidFill>
                <a:latin typeface="Arial"/>
              </a:rPr>
              <a:t>•  Alias = MyCustomKey</a:t>
            </a:r>
          </a:p>
          <a:p>
            <a:pPr>
              <a:spcAft>
                <a:spcPts val="1000"/>
              </a:spcAft>
            </a:pPr>
            <a:r>
              <a:rPr sz="1800" b="0">
                <a:solidFill>
                  <a:srgbClr val="161B26"/>
                </a:solidFill>
                <a:latin typeface="Arial"/>
              </a:rPr>
              <a:t>•  KMS Key ID = 1234abcd-12ab-34cd-56ef-1234567890ab KMS Key ID = 0978dcba-09fe-65ba-ab0987654321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713</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Alias Updating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Key Alias = MyAppKey</a:t>
            </a:r>
          </a:p>
          <a:p>
            <a:pPr>
              <a:spcAft>
                <a:spcPts val="1000"/>
              </a:spcAft>
            </a:pPr>
            <a:r>
              <a:rPr sz="1800" b="0">
                <a:solidFill>
                  <a:srgbClr val="161B26"/>
                </a:solidFill>
                <a:latin typeface="Arial"/>
              </a:rPr>
              <a:t>•  UpdateAlias API</a:t>
            </a:r>
          </a:p>
          <a:p>
            <a:pPr>
              <a:spcAft>
                <a:spcPts val="1000"/>
              </a:spcAft>
            </a:pPr>
            <a:r>
              <a:rPr sz="1800" b="0">
                <a:solidFill>
                  <a:srgbClr val="161B26"/>
                </a:solidFill>
                <a:latin typeface="Arial"/>
              </a:rPr>
              <a:t>•  KMS Key ID = eba96e8f-7f66-4d5a-aeb6-f32ae8d65d85</a:t>
            </a:r>
          </a:p>
          <a:p>
            <a:pPr>
              <a:spcAft>
                <a:spcPts val="1000"/>
              </a:spcAft>
            </a:pPr>
            <a:r>
              <a:rPr sz="1800" b="0">
                <a:solidFill>
                  <a:srgbClr val="161B26"/>
                </a:solidFill>
                <a:latin typeface="Arial"/>
              </a:rPr>
              <a:t>•  OLD KEY</a:t>
            </a:r>
          </a:p>
          <a:p>
            <a:pPr>
              <a:spcAft>
                <a:spcPts val="1000"/>
              </a:spcAft>
            </a:pPr>
            <a:r>
              <a:rPr sz="1800" b="0">
                <a:solidFill>
                  <a:srgbClr val="161B26"/>
                </a:solidFill>
                <a:latin typeface="Arial"/>
              </a:rPr>
              <a:t>•  NEW KEY</a:t>
            </a:r>
          </a:p>
          <a:p>
            <a:pPr>
              <a:spcAft>
                <a:spcPts val="1000"/>
              </a:spcAft>
            </a:pPr>
            <a:r>
              <a:rPr sz="1800" b="0">
                <a:solidFill>
                  <a:srgbClr val="161B26"/>
                </a:solidFill>
                <a:latin typeface="Arial"/>
              </a:rPr>
              <a:t>•  KMS Key ID = 881cd7f5-b3eb-43e2-82fc-d6f5bda81e00</a:t>
            </a:r>
          </a:p>
          <a:p>
            <a:pPr>
              <a:spcAft>
                <a:spcPts val="1000"/>
              </a:spcAft>
            </a:pPr>
            <a:r>
              <a:rPr sz="1800" b="0">
                <a:solidFill>
                  <a:srgbClr val="161B26"/>
                </a:solidFill>
                <a:latin typeface="Arial"/>
              </a:rPr>
              <a:t>•  Better to use aliases in this case (to hide the change of key for the application)</a:t>
            </a:r>
          </a:p>
          <a:p>
            <a:pPr>
              <a:spcAft>
                <a:spcPts val="1000"/>
              </a:spcAft>
            </a:pPr>
            <a:r>
              <a:rPr sz="1800" b="0">
                <a:solidFill>
                  <a:srgbClr val="161B26"/>
                </a:solidFill>
                <a:latin typeface="Arial"/>
              </a:rPr>
              <a:t>•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714</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Changing The KMS Key For An Encrypted 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can’t change the encryption keys used by an EBS volume</a:t>
            </a:r>
          </a:p>
          <a:p>
            <a:pPr>
              <a:spcAft>
                <a:spcPts val="1000"/>
              </a:spcAft>
            </a:pPr>
            <a:r>
              <a:rPr sz="1800" b="0">
                <a:solidFill>
                  <a:srgbClr val="161B26"/>
                </a:solidFill>
                <a:latin typeface="Arial"/>
              </a:rPr>
              <a:t>•  Create an EBS snapshot and create a new EBS volume and specify the new KMS key</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create snapshot</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B</a:t>
            </a:r>
          </a:p>
          <a:p>
            <a:pPr>
              <a:spcAft>
                <a:spcPts val="1000"/>
              </a:spcAft>
            </a:pPr>
            <a:r>
              <a:rPr sz="1800" b="0">
                <a:solidFill>
                  <a:srgbClr val="161B26"/>
                </a:solidFill>
                <a:latin typeface="Arial"/>
              </a:rPr>
              <a:t>•  create volume</a:t>
            </a:r>
          </a:p>
          <a:p>
            <a:pPr>
              <a:spcAft>
                <a:spcPts val="1000"/>
              </a:spcAft>
            </a:pPr>
            <a:r>
              <a:rPr sz="1800" b="0">
                <a:solidFill>
                  <a:srgbClr val="161B26"/>
                </a:solidFill>
                <a:latin typeface="Arial"/>
              </a:rPr>
              <a:t>•  CMK - 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715</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Sharing KMS Encrypted RDS DB Snapshots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share RDS DB snapshots encrypted with KMS CMK with other accounts but must first share the KMS CMK with the target account using Key Policy</a:t>
            </a:r>
          </a:p>
          <a:p>
            <a:pPr>
              <a:spcAft>
                <a:spcPts val="1000"/>
              </a:spcAft>
            </a:pPr>
            <a:r>
              <a:rPr sz="1800" b="0">
                <a:solidFill>
                  <a:srgbClr val="161B26"/>
                </a:solidFill>
                <a:latin typeface="Arial"/>
              </a:rPr>
              <a:t>•  Account A (111122223333)</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Account B (444455556666)</a:t>
            </a:r>
          </a:p>
          <a:p>
            <a:pPr>
              <a:spcAft>
                <a:spcPts val="1000"/>
              </a:spcAft>
            </a:pPr>
            <a:r>
              <a:rPr sz="1800" b="0">
                <a:solidFill>
                  <a:srgbClr val="161B26"/>
                </a:solidFill>
                <a:latin typeface="Arial"/>
              </a:rPr>
              <a:t>•  access through CMK Key Policy</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Key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716</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 Deletion Considerations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Schedule CMK for deletion with a waiting period of 7 to 30 days</a:t>
            </a:r>
          </a:p>
          <a:p>
            <a:pPr>
              <a:spcAft>
                <a:spcPts val="1000"/>
              </a:spcAft>
            </a:pPr>
            <a:r>
              <a:rPr sz="1800" b="0">
                <a:solidFill>
                  <a:srgbClr val="161B26"/>
                </a:solidFill>
                <a:latin typeface="Arial"/>
              </a:rPr>
              <a:t>•  CMK’s status is "Pending deletion" during the waiting period</a:t>
            </a:r>
          </a:p>
          <a:p>
            <a:pPr>
              <a:spcAft>
                <a:spcPts val="1000"/>
              </a:spcAft>
            </a:pPr>
            <a:r>
              <a:rPr sz="1800" b="0">
                <a:solidFill>
                  <a:srgbClr val="161B26"/>
                </a:solidFill>
                <a:latin typeface="Arial"/>
              </a:rPr>
              <a:t>•  During the CMK’s deletion waiting period:</a:t>
            </a:r>
          </a:p>
          <a:p>
            <a:pPr>
              <a:spcAft>
                <a:spcPts val="1000"/>
              </a:spcAft>
            </a:pPr>
            <a:r>
              <a:rPr sz="1800" b="0">
                <a:solidFill>
                  <a:srgbClr val="161B26"/>
                </a:solidFill>
                <a:latin typeface="Arial"/>
              </a:rPr>
              <a:t>•  The CMK can't be used for cryptographic operations (e.g., can’t decrypt KMS- 	encrypted objects in S3 - SSE-KMS)</a:t>
            </a:r>
          </a:p>
          <a:p>
            <a:pPr>
              <a:spcAft>
                <a:spcPts val="1000"/>
              </a:spcAft>
            </a:pPr>
            <a:r>
              <a:rPr sz="1800" b="0">
                <a:solidFill>
                  <a:srgbClr val="161B26"/>
                </a:solidFill>
                <a:latin typeface="Arial"/>
              </a:rPr>
              <a:t>•  The key is not rotated even if planned</a:t>
            </a:r>
          </a:p>
          <a:p>
            <a:pPr>
              <a:spcAft>
                <a:spcPts val="1000"/>
              </a:spcAft>
            </a:pPr>
            <a:r>
              <a:rPr sz="1800" b="0">
                <a:solidFill>
                  <a:srgbClr val="161B26"/>
                </a:solidFill>
                <a:latin typeface="Arial"/>
              </a:rPr>
              <a:t>•  You can cancel the key deletion during the waiting period</a:t>
            </a:r>
          </a:p>
          <a:p>
            <a:pPr>
              <a:spcAft>
                <a:spcPts val="1000"/>
              </a:spcAft>
            </a:pPr>
            <a:r>
              <a:rPr sz="1800" b="0">
                <a:solidFill>
                  <a:srgbClr val="161B26"/>
                </a:solidFill>
                <a:latin typeface="Arial"/>
              </a:rPr>
              <a:t>•  Consider disabling your key instead of deleting it if you’re not sure!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717</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 Deletion - CloudWatch Alarm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CloudTrail, CloudWatch Logs, CloudWatch Alarms and SNS to be notified when someone tries to use a CMK that’s "Pending deletion" in a cryptographic operation (Encrypt, Decrypt, …)</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 Filter:</a:t>
            </a:r>
          </a:p>
          <a:p>
            <a:pPr>
              <a:spcAft>
                <a:spcPts val="1000"/>
              </a:spcAft>
            </a:pPr>
            <a:r>
              <a:rPr sz="1800" b="0">
                <a:solidFill>
                  <a:srgbClr val="161B26"/>
                </a:solidFill>
                <a:latin typeface="Arial"/>
              </a:rPr>
              <a:t>•  “* is pending deletion”</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CMK</a:t>
            </a:r>
          </a:p>
          <a:p>
            <a:pPr>
              <a:spcAft>
                <a:spcPts val="1000"/>
              </a:spcAft>
            </a:pPr>
            <a:r>
              <a:rPr sz="1800" b="0">
                <a:solidFill>
                  <a:srgbClr val="161B26"/>
                </a:solidFill>
                <a:latin typeface="Arial"/>
              </a:rPr>
              <a:t>•  (Pending deletion)</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cryptographic operation</a:t>
            </a:r>
          </a:p>
          <a:p>
            <a:pPr>
              <a:spcAft>
                <a:spcPts val="1000"/>
              </a:spcAft>
            </a:pPr>
            <a:r>
              <a:rPr sz="1800" b="0">
                <a:solidFill>
                  <a:srgbClr val="161B26"/>
                </a:solidFill>
                <a:latin typeface="Arial"/>
              </a:rPr>
              <a:t>•  log API calls (DENIED)</a:t>
            </a:r>
          </a:p>
          <a:p>
            <a:pPr>
              <a:spcAft>
                <a:spcPts val="1000"/>
              </a:spcAft>
            </a:pPr>
            <a:r>
              <a:rPr sz="1800" b="0">
                <a:solidFill>
                  <a:srgbClr val="161B26"/>
                </a:solidFill>
                <a:latin typeface="Arial"/>
              </a:rPr>
              <a:t>•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718</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KMS =&gt; AWS manages the software for encryption</a:t>
            </a:r>
          </a:p>
          <a:p>
            <a:pPr>
              <a:spcAft>
                <a:spcPts val="1000"/>
              </a:spcAft>
            </a:pPr>
            <a:r>
              <a:rPr sz="1800" b="0">
                <a:solidFill>
                  <a:srgbClr val="161B26"/>
                </a:solidFill>
                <a:latin typeface="Arial"/>
              </a:rPr>
              <a:t>•  CloudHSM =&gt; AWS provisions encryption hardware</a:t>
            </a:r>
          </a:p>
          <a:p>
            <a:pPr>
              <a:spcAft>
                <a:spcPts val="1000"/>
              </a:spcAft>
            </a:pPr>
            <a:r>
              <a:rPr sz="1800" b="0">
                <a:solidFill>
                  <a:srgbClr val="161B26"/>
                </a:solidFill>
                <a:latin typeface="Arial"/>
              </a:rPr>
              <a:t>•  Dedicated Hardware (HSM = Hardware Security Module)</a:t>
            </a:r>
          </a:p>
          <a:p>
            <a:pPr>
              <a:spcAft>
                <a:spcPts val="1000"/>
              </a:spcAft>
            </a:pPr>
            <a:r>
              <a:rPr sz="1800" b="0">
                <a:solidFill>
                  <a:srgbClr val="161B26"/>
                </a:solidFill>
                <a:latin typeface="Arial"/>
              </a:rPr>
              <a:t>•  You manage your own encryption keys entirely (not AWS)</a:t>
            </a:r>
          </a:p>
          <a:p>
            <a:pPr>
              <a:spcAft>
                <a:spcPts val="1000"/>
              </a:spcAft>
            </a:pPr>
            <a:r>
              <a:rPr sz="1800" b="0">
                <a:solidFill>
                  <a:srgbClr val="161B26"/>
                </a:solidFill>
                <a:latin typeface="Arial"/>
              </a:rPr>
              <a:t>•  HSM device is tamper resistant, FIPS 140-2 Level 3 compliance</a:t>
            </a:r>
          </a:p>
          <a:p>
            <a:pPr>
              <a:spcAft>
                <a:spcPts val="1000"/>
              </a:spcAft>
            </a:pPr>
            <a:r>
              <a:rPr sz="1800" b="0">
                <a:solidFill>
                  <a:srgbClr val="161B26"/>
                </a:solidFill>
                <a:latin typeface="Arial"/>
              </a:rPr>
              <a:t>•  Supports both symmetric and asymmetric encryption (SSL/TLS keys)</a:t>
            </a:r>
          </a:p>
          <a:p>
            <a:pPr>
              <a:spcAft>
                <a:spcPts val="1000"/>
              </a:spcAft>
            </a:pPr>
            <a:r>
              <a:rPr sz="1800" b="0">
                <a:solidFill>
                  <a:srgbClr val="161B26"/>
                </a:solidFill>
                <a:latin typeface="Arial"/>
              </a:rPr>
              <a:t>•  No free tier available</a:t>
            </a:r>
          </a:p>
          <a:p>
            <a:pPr>
              <a:spcAft>
                <a:spcPts val="1000"/>
              </a:spcAft>
            </a:pPr>
            <a:r>
              <a:rPr sz="1800" b="0">
                <a:solidFill>
                  <a:srgbClr val="161B26"/>
                </a:solidFill>
                <a:latin typeface="Arial"/>
              </a:rPr>
              <a:t>•  Must use the CloudHSM Client Software</a:t>
            </a:r>
          </a:p>
          <a:p>
            <a:pPr>
              <a:spcAft>
                <a:spcPts val="1000"/>
              </a:spcAft>
            </a:pPr>
            <a:r>
              <a:rPr sz="1800" b="0">
                <a:solidFill>
                  <a:srgbClr val="161B26"/>
                </a:solidFill>
                <a:latin typeface="Arial"/>
              </a:rPr>
              <a:t>•  Redshift supports CloudHSM for database encryption and key management</a:t>
            </a:r>
          </a:p>
          <a:p>
            <a:pPr>
              <a:spcAft>
                <a:spcPts val="1000"/>
              </a:spcAft>
            </a:pPr>
            <a:r>
              <a:rPr sz="1800" b="0">
                <a:solidFill>
                  <a:srgbClr val="161B26"/>
                </a:solidFill>
                <a:latin typeface="Arial"/>
              </a:rPr>
              <a:t>•  Good option to use with SSE-C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719</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51888" y="1801368"/>
            <a:ext cx="78577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21_0.png"/>
          <p:cNvPicPr>
            <a:picLocks noChangeAspect="1"/>
          </p:cNvPicPr>
          <p:nvPr/>
        </p:nvPicPr>
        <p:blipFill>
          <a:blip r:embed="rId2"/>
          <a:stretch>
            <a:fillRect/>
          </a:stretch>
        </p:blipFill>
        <p:spPr>
          <a:xfrm>
            <a:off x="2179320" y="1828800"/>
            <a:ext cx="780288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720</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CloudHSM</a:t>
            </a:r>
          </a:p>
          <a:p>
            <a:pPr>
              <a:spcAft>
                <a:spcPts val="1000"/>
              </a:spcAft>
            </a:pPr>
            <a:r>
              <a:rPr sz="1800" b="0">
                <a:solidFill>
                  <a:srgbClr val="161B26"/>
                </a:solidFill>
                <a:latin typeface="Arial"/>
              </a:rPr>
              <a:t>•  CloudHSM Client</a:t>
            </a:r>
          </a:p>
          <a:p>
            <a:pPr>
              <a:spcAft>
                <a:spcPts val="1000"/>
              </a:spcAft>
            </a:pPr>
            <a:r>
              <a:rPr sz="1800" b="0">
                <a:solidFill>
                  <a:srgbClr val="161B26"/>
                </a:solidFill>
                <a:latin typeface="Arial"/>
              </a:rPr>
              <a:t>•  AWS manages the Hardware</a:t>
            </a:r>
          </a:p>
          <a:p>
            <a:pPr>
              <a:spcAft>
                <a:spcPts val="1000"/>
              </a:spcAft>
            </a:pPr>
            <a:r>
              <a:rPr sz="1800" b="0">
                <a:solidFill>
                  <a:srgbClr val="161B26"/>
                </a:solidFill>
                <a:latin typeface="Arial"/>
              </a:rPr>
              <a:t>•  SSL Connection</a:t>
            </a:r>
          </a:p>
          <a:p>
            <a:pPr>
              <a:spcAft>
                <a:spcPts val="1000"/>
              </a:spcAft>
            </a:pPr>
            <a:r>
              <a:rPr sz="1800" b="0">
                <a:solidFill>
                  <a:srgbClr val="161B26"/>
                </a:solidFill>
                <a:latin typeface="Arial"/>
              </a:rPr>
              <a:t>•  User manages the Keys</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CRUD an HSM Cluster</a:t>
            </a:r>
          </a:p>
          <a:p>
            <a:pPr>
              <a:spcAft>
                <a:spcPts val="1000"/>
              </a:spcAft>
            </a:pPr>
            <a:r>
              <a:rPr sz="1800" b="0">
                <a:solidFill>
                  <a:srgbClr val="161B26"/>
                </a:solidFill>
                <a:latin typeface="Arial"/>
              </a:rPr>
              <a:t>•  CloudHSM Software:</a:t>
            </a:r>
          </a:p>
          <a:p>
            <a:pPr>
              <a:spcAft>
                <a:spcPts val="1000"/>
              </a:spcAft>
            </a:pPr>
            <a:r>
              <a:rPr sz="1800" b="0">
                <a:solidFill>
                  <a:srgbClr val="161B26"/>
                </a:solidFill>
                <a:latin typeface="Arial"/>
              </a:rPr>
              <a:t>•  Manage the Keys</a:t>
            </a:r>
          </a:p>
          <a:p>
            <a:pPr>
              <a:spcAft>
                <a:spcPts val="1000"/>
              </a:spcAft>
            </a:pPr>
            <a:r>
              <a:rPr sz="1800" b="0">
                <a:solidFill>
                  <a:srgbClr val="161B26"/>
                </a:solidFill>
                <a:latin typeface="Arial"/>
              </a:rPr>
              <a:t>•  Manage the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721</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CloudHSM clusters are spread across Multi AZ (HA)</a:t>
            </a:r>
          </a:p>
          <a:p>
            <a:pPr>
              <a:spcAft>
                <a:spcPts val="1000"/>
              </a:spcAft>
            </a:pPr>
            <a:r>
              <a:rPr sz="1800" b="0">
                <a:solidFill>
                  <a:srgbClr val="161B26"/>
                </a:solidFill>
                <a:latin typeface="Arial"/>
              </a:rPr>
              <a:t>•  Great for availability and durability</a:t>
            </a:r>
          </a:p>
          <a:p>
            <a:pPr>
              <a:spcAft>
                <a:spcPts val="1000"/>
              </a:spcAft>
            </a:pPr>
            <a:r>
              <a:rPr sz="1800" b="0">
                <a:solidFill>
                  <a:srgbClr val="161B26"/>
                </a:solidFill>
                <a:latin typeface="Arial"/>
              </a:rPr>
              <a:t>•  CloudHSM 1</a:t>
            </a:r>
          </a:p>
          <a:p>
            <a:pPr>
              <a:spcAft>
                <a:spcPts val="1000"/>
              </a:spcAft>
            </a:pPr>
            <a:r>
              <a:rPr sz="1800" b="0">
                <a:solidFill>
                  <a:srgbClr val="161B26"/>
                </a:solidFill>
                <a:latin typeface="Arial"/>
              </a:rPr>
              <a:t>•  CloudHSM Client</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CloudHSM 2</a:t>
            </a:r>
          </a:p>
          <a:p>
            <a:pPr>
              <a:spcAft>
                <a:spcPts val="1000"/>
              </a:spcAft>
            </a:pPr>
            <a:r>
              <a:rPr sz="1800" b="0">
                <a:solidFill>
                  <a:srgbClr val="161B26"/>
                </a:solidFill>
                <a:latin typeface="Arial"/>
              </a:rPr>
              <a:t>•  Availability Zone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722</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 Integration with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Through integration with AWS KMS</a:t>
            </a:r>
          </a:p>
          <a:p>
            <a:pPr>
              <a:spcAft>
                <a:spcPts val="1000"/>
              </a:spcAft>
            </a:pPr>
            <a:r>
              <a:rPr sz="1800" b="0">
                <a:solidFill>
                  <a:srgbClr val="161B26"/>
                </a:solidFill>
                <a:latin typeface="Arial"/>
              </a:rPr>
              <a:t>•  Configure KMS Custom Key Store with CloudHSM</a:t>
            </a:r>
          </a:p>
          <a:p>
            <a:pPr>
              <a:spcAft>
                <a:spcPts val="1000"/>
              </a:spcAft>
            </a:pPr>
            <a:r>
              <a:rPr sz="1800" b="0">
                <a:solidFill>
                  <a:srgbClr val="161B26"/>
                </a:solidFill>
                <a:latin typeface="Arial"/>
              </a:rPr>
              <a:t>•  Example: EBS, S3, RDS …</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CloudHSM</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(Custom Key Store)</a:t>
            </a:r>
          </a:p>
          <a:p>
            <a:pPr>
              <a:spcAft>
                <a:spcPts val="1000"/>
              </a:spcAft>
            </a:pPr>
            <a:r>
              <a:rPr sz="1800" b="0">
                <a:solidFill>
                  <a:srgbClr val="161B26"/>
                </a:solidFill>
                <a:latin typeface="Arial"/>
              </a:rPr>
              <a:t>•  KMS Encryption</a:t>
            </a:r>
          </a:p>
          <a:p>
            <a:pPr>
              <a:spcAft>
                <a:spcPts val="1000"/>
              </a:spcAft>
            </a:pPr>
            <a:r>
              <a:rPr sz="1800" b="0">
                <a:solidFill>
                  <a:srgbClr val="161B26"/>
                </a:solidFill>
                <a:latin typeface="Arial"/>
              </a:rPr>
              <a:t>•  Connector</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keys usage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723</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09717"/>
            <a:ext cx="10479024" cy="45187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25_0.png"/>
          <p:cNvPicPr>
            <a:picLocks noChangeAspect="1"/>
          </p:cNvPicPr>
          <p:nvPr/>
        </p:nvPicPr>
        <p:blipFill>
          <a:blip r:embed="rId2"/>
          <a:stretch>
            <a:fillRect/>
          </a:stretch>
        </p:blipFill>
        <p:spPr>
          <a:xfrm>
            <a:off x="868680" y="1837149"/>
            <a:ext cx="10424160" cy="446386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724</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vs KMS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CloudHSM vs KMS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725</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vs KMS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CloudHSM vs KMS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726</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 (not really a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Portal that provides customers with on-demand access to AWS compliance documentation and AWS agreements</a:t>
            </a:r>
          </a:p>
          <a:p>
            <a:pPr>
              <a:spcAft>
                <a:spcPts val="1000"/>
              </a:spcAft>
            </a:pPr>
            <a:r>
              <a:rPr sz="2000" b="0">
                <a:solidFill>
                  <a:srgbClr val="161B26"/>
                </a:solidFill>
                <a:latin typeface="Arial"/>
              </a:rPr>
              <a:t>•  Artifact Reports - Allows you to download AWS security and compliance documents from third-party auditors, like AWS ISO certifications, Payment Card Industry (PCI), and System and Organization Control (SOC) reports</a:t>
            </a:r>
          </a:p>
          <a:p>
            <a:pPr>
              <a:spcAft>
                <a:spcPts val="1000"/>
              </a:spcAft>
            </a:pPr>
            <a:r>
              <a:rPr sz="2000" b="0">
                <a:solidFill>
                  <a:srgbClr val="161B26"/>
                </a:solidFill>
                <a:latin typeface="Arial"/>
              </a:rPr>
              <a:t>•  Artifact Agreements - Allows you to review, accept, and track the status of AWS agreements such as the Business Associate Addendum (BAA) or the Health Insurance Portability and Accountability Act (HIPAA) for an individual account or in your organization</a:t>
            </a:r>
          </a:p>
          <a:p>
            <a:pPr>
              <a:spcAft>
                <a:spcPts val="1000"/>
              </a:spcAft>
            </a:pPr>
            <a:r>
              <a:rPr sz="2000" b="0">
                <a:solidFill>
                  <a:srgbClr val="161B26"/>
                </a:solidFill>
                <a:latin typeface="Arial"/>
              </a:rPr>
              <a:t>•  Can be used to support internal audit or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727</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 (not really a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3507" y="1801368"/>
            <a:ext cx="73145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29_0.png"/>
          <p:cNvPicPr>
            <a:picLocks noChangeAspect="1"/>
          </p:cNvPicPr>
          <p:nvPr/>
        </p:nvPicPr>
        <p:blipFill>
          <a:blip r:embed="rId2"/>
          <a:stretch>
            <a:fillRect/>
          </a:stretch>
        </p:blipFill>
        <p:spPr>
          <a:xfrm>
            <a:off x="2450939" y="1828800"/>
            <a:ext cx="72596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728</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30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729</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Easily provision, manage, and deploy TLS Certificates</a:t>
            </a:r>
          </a:p>
          <a:p>
            <a:pPr>
              <a:spcAft>
                <a:spcPts val="1000"/>
              </a:spcAft>
            </a:pPr>
            <a:r>
              <a:rPr sz="1800" b="0">
                <a:solidFill>
                  <a:srgbClr val="161B26"/>
                </a:solidFill>
                <a:latin typeface="Arial"/>
              </a:rPr>
              <a:t>•  Provide in-flight encryption for websites (HTTPS)</a:t>
            </a:r>
          </a:p>
          <a:p>
            <a:pPr>
              <a:spcAft>
                <a:spcPts val="1000"/>
              </a:spcAft>
            </a:pPr>
            <a:r>
              <a:rPr sz="1800" b="0">
                <a:solidFill>
                  <a:srgbClr val="161B26"/>
                </a:solidFill>
                <a:latin typeface="Arial"/>
              </a:rPr>
              <a:t>•  Supports both public and private TLS certificates</a:t>
            </a:r>
          </a:p>
          <a:p>
            <a:pPr>
              <a:spcAft>
                <a:spcPts val="1000"/>
              </a:spcAft>
            </a:pPr>
            <a:r>
              <a:rPr sz="1800" b="0">
                <a:solidFill>
                  <a:srgbClr val="161B26"/>
                </a:solidFill>
                <a:latin typeface="Arial"/>
              </a:rPr>
              <a:t>•  Free of charge for public TLS certificates</a:t>
            </a:r>
          </a:p>
          <a:p>
            <a:pPr>
              <a:spcAft>
                <a:spcPts val="1000"/>
              </a:spcAft>
            </a:pPr>
            <a:r>
              <a:rPr sz="1800" b="0">
                <a:solidFill>
                  <a:srgbClr val="161B26"/>
                </a:solidFill>
                <a:latin typeface="Arial"/>
              </a:rPr>
              <a:t>•  Automatic TLS certificate renewal</a:t>
            </a:r>
          </a:p>
          <a:p>
            <a:pPr>
              <a:spcAft>
                <a:spcPts val="1000"/>
              </a:spcAft>
            </a:pPr>
            <a:r>
              <a:rPr sz="1800" b="0">
                <a:solidFill>
                  <a:srgbClr val="161B26"/>
                </a:solidFill>
                <a:latin typeface="Arial"/>
              </a:rPr>
              <a:t>•  Integrations with (load TLS certificates on)</a:t>
            </a:r>
          </a:p>
          <a:p>
            <a:pPr>
              <a:spcAft>
                <a:spcPts val="1000"/>
              </a:spcAft>
            </a:pPr>
            <a:r>
              <a:rPr sz="1800" b="0">
                <a:solidFill>
                  <a:srgbClr val="161B26"/>
                </a:solidFill>
                <a:latin typeface="Arial"/>
              </a:rPr>
              <a:t>•  Elastic Load Balancers (CLB, ALB, NLB)</a:t>
            </a:r>
          </a:p>
          <a:p>
            <a:pPr>
              <a:spcAft>
                <a:spcPts val="1000"/>
              </a:spcAft>
            </a:pPr>
            <a:r>
              <a:rPr sz="1800" b="0">
                <a:solidFill>
                  <a:srgbClr val="161B26"/>
                </a:solidFill>
                <a:latin typeface="Arial"/>
              </a:rPr>
              <a:t>•  CloudFront Distributions</a:t>
            </a:r>
          </a:p>
          <a:p>
            <a:pPr>
              <a:spcAft>
                <a:spcPts val="1000"/>
              </a:spcAft>
            </a:pPr>
            <a:r>
              <a:rPr sz="1800" b="0">
                <a:solidFill>
                  <a:srgbClr val="161B26"/>
                </a:solidFill>
                <a:latin typeface="Arial"/>
              </a:rPr>
              <a:t>•  APIs on API Gateway</a:t>
            </a:r>
          </a:p>
          <a:p>
            <a:pPr>
              <a:spcAft>
                <a:spcPts val="1000"/>
              </a:spcAft>
            </a:pPr>
            <a:r>
              <a:rPr sz="1800" b="0">
                <a:solidFill>
                  <a:srgbClr val="161B26"/>
                </a:solidFill>
                <a:latin typeface="Arial"/>
              </a:rPr>
              <a:t>•  Cannot use ACM with EC2 (can’t be extracted)</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AWS Certificate Manager</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provision and maintain TLS certs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730</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98751" y="1801368"/>
            <a:ext cx="75640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32_0.png"/>
          <p:cNvPicPr>
            <a:picLocks noChangeAspect="1"/>
          </p:cNvPicPr>
          <p:nvPr/>
        </p:nvPicPr>
        <p:blipFill>
          <a:blip r:embed="rId2"/>
          <a:stretch>
            <a:fillRect/>
          </a:stretch>
        </p:blipFill>
        <p:spPr>
          <a:xfrm>
            <a:off x="2326183" y="1828800"/>
            <a:ext cx="75091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731</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Requesting Public Certificates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List domain names to be included in the certificate</a:t>
            </a:r>
          </a:p>
          <a:p>
            <a:pPr>
              <a:spcAft>
                <a:spcPts val="1000"/>
              </a:spcAft>
            </a:pPr>
            <a:r>
              <a:rPr sz="1800" b="0">
                <a:solidFill>
                  <a:srgbClr val="161B26"/>
                </a:solidFill>
                <a:latin typeface="Arial"/>
              </a:rPr>
              <a:t>•  Fully Qualified Domain Name (FQDN): corp.example.com</a:t>
            </a:r>
          </a:p>
          <a:p>
            <a:pPr>
              <a:spcAft>
                <a:spcPts val="1000"/>
              </a:spcAft>
            </a:pPr>
            <a:r>
              <a:rPr sz="1800" b="0">
                <a:solidFill>
                  <a:srgbClr val="161B26"/>
                </a:solidFill>
                <a:latin typeface="Arial"/>
              </a:rPr>
              <a:t>•  Wildcard Domain: *.example.com</a:t>
            </a:r>
          </a:p>
          <a:p>
            <a:pPr>
              <a:spcAft>
                <a:spcPts val="1000"/>
              </a:spcAft>
            </a:pPr>
            <a:r>
              <a:rPr sz="1800" b="0">
                <a:solidFill>
                  <a:srgbClr val="161B26"/>
                </a:solidFill>
                <a:latin typeface="Arial"/>
              </a:rPr>
              <a:t>•  Select Validation Method: DNS Validation or Email validation</a:t>
            </a:r>
          </a:p>
          <a:p>
            <a:pPr>
              <a:spcAft>
                <a:spcPts val="1000"/>
              </a:spcAft>
            </a:pPr>
            <a:r>
              <a:rPr sz="1800" b="0">
                <a:solidFill>
                  <a:srgbClr val="161B26"/>
                </a:solidFill>
                <a:latin typeface="Arial"/>
              </a:rPr>
              <a:t>•  DNS Validation is preferred for automation purposes</a:t>
            </a:r>
          </a:p>
          <a:p>
            <a:pPr>
              <a:spcAft>
                <a:spcPts val="1000"/>
              </a:spcAft>
            </a:pPr>
            <a:r>
              <a:rPr sz="1800" b="0">
                <a:solidFill>
                  <a:srgbClr val="161B26"/>
                </a:solidFill>
                <a:latin typeface="Arial"/>
              </a:rPr>
              <a:t>•  Email validation will send emails to contact addresses in the WHOIS database</a:t>
            </a:r>
          </a:p>
          <a:p>
            <a:pPr>
              <a:spcAft>
                <a:spcPts val="1000"/>
              </a:spcAft>
            </a:pPr>
            <a:r>
              <a:rPr sz="1800" b="0">
                <a:solidFill>
                  <a:srgbClr val="161B26"/>
                </a:solidFill>
                <a:latin typeface="Arial"/>
              </a:rPr>
              <a:t>•  DNS Validation will leverage a CNAME record to DNS config (ex: Route 53)</a:t>
            </a:r>
          </a:p>
          <a:p>
            <a:pPr>
              <a:spcAft>
                <a:spcPts val="1000"/>
              </a:spcAft>
            </a:pPr>
            <a:r>
              <a:rPr sz="1800" b="0">
                <a:solidFill>
                  <a:srgbClr val="161B26"/>
                </a:solidFill>
                <a:latin typeface="Arial"/>
              </a:rPr>
              <a:t>•  It will take a few hours to get verified</a:t>
            </a:r>
          </a:p>
          <a:p>
            <a:pPr>
              <a:spcAft>
                <a:spcPts val="1000"/>
              </a:spcAft>
            </a:pPr>
            <a:r>
              <a:rPr sz="1800" b="0">
                <a:solidFill>
                  <a:srgbClr val="161B26"/>
                </a:solidFill>
                <a:latin typeface="Arial"/>
              </a:rPr>
              <a:t>•  The Public Certificate will be enrolled for automatic renewal</a:t>
            </a:r>
          </a:p>
          <a:p>
            <a:pPr>
              <a:spcAft>
                <a:spcPts val="1000"/>
              </a:spcAft>
            </a:pPr>
            <a:r>
              <a:rPr sz="1800" b="0">
                <a:solidFill>
                  <a:srgbClr val="161B26"/>
                </a:solidFill>
                <a:latin typeface="Arial"/>
              </a:rPr>
              <a:t>•  ACM automatically renews ACM-generated certificates 60 days before expiry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732</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Importing Public Certificates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Option to generate the certificate</a:t>
            </a:r>
          </a:p>
          <a:p>
            <a:pPr>
              <a:spcAft>
                <a:spcPts val="1000"/>
              </a:spcAft>
            </a:pPr>
            <a:r>
              <a:rPr sz="1800" b="0">
                <a:solidFill>
                  <a:srgbClr val="161B26"/>
                </a:solidFill>
                <a:latin typeface="Arial"/>
              </a:rPr>
              <a:t>•  outside of ACM and then import it</a:t>
            </a:r>
          </a:p>
          <a:p>
            <a:pPr>
              <a:spcAft>
                <a:spcPts val="1000"/>
              </a:spcAft>
            </a:pPr>
            <a:r>
              <a:rPr sz="1800" b="0">
                <a:solidFill>
                  <a:srgbClr val="161B26"/>
                </a:solidFill>
                <a:latin typeface="Arial"/>
              </a:rPr>
              <a:t>•  No automatic renewal, must import a new certificate before expiry</a:t>
            </a:r>
          </a:p>
          <a:p>
            <a:pPr>
              <a:spcAft>
                <a:spcPts val="1000"/>
              </a:spcAft>
            </a:pPr>
            <a:r>
              <a:rPr sz="1800" b="0">
                <a:solidFill>
                  <a:srgbClr val="161B26"/>
                </a:solidFill>
                <a:latin typeface="Arial"/>
              </a:rPr>
              <a:t>•  ACM sends daily expiration events</a:t>
            </a:r>
          </a:p>
          <a:p>
            <a:pPr>
              <a:spcAft>
                <a:spcPts val="1000"/>
              </a:spcAft>
            </a:pPr>
            <a:r>
              <a:rPr sz="1800" b="0">
                <a:solidFill>
                  <a:srgbClr val="161B26"/>
                </a:solidFill>
                <a:latin typeface="Arial"/>
              </a:rPr>
              <a:t>•  starting 45 days prior to expiration</a:t>
            </a:r>
          </a:p>
          <a:p>
            <a:pPr>
              <a:spcAft>
                <a:spcPts val="1000"/>
              </a:spcAft>
            </a:pPr>
            <a:r>
              <a:rPr sz="1800" b="0">
                <a:solidFill>
                  <a:srgbClr val="161B26"/>
                </a:solidFill>
                <a:latin typeface="Arial"/>
              </a:rPr>
              <a:t>•  The # of days can be configured</a:t>
            </a:r>
          </a:p>
          <a:p>
            <a:pPr>
              <a:spcAft>
                <a:spcPts val="1000"/>
              </a:spcAft>
            </a:pPr>
            <a:r>
              <a:rPr sz="1800" b="0">
                <a:solidFill>
                  <a:srgbClr val="161B26"/>
                </a:solidFill>
                <a:latin typeface="Arial"/>
              </a:rPr>
              <a:t>•  Events are appearing in EventBridge</a:t>
            </a:r>
          </a:p>
          <a:p>
            <a:pPr>
              <a:spcAft>
                <a:spcPts val="1000"/>
              </a:spcAft>
            </a:pPr>
            <a:r>
              <a:rPr sz="1800" b="0">
                <a:solidFill>
                  <a:srgbClr val="161B26"/>
                </a:solidFill>
                <a:latin typeface="Arial"/>
              </a:rPr>
              <a:t>•  AWS Config was a managed rule named acm-certificate-expiration-check to check for expiring certificates (configurable number of days)</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Rule events: Non-compliance</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ACM</a:t>
            </a:r>
          </a:p>
          <a:p>
            <a:pPr>
              <a:spcAft>
                <a:spcPts val="1000"/>
              </a:spcAft>
            </a:pPr>
            <a:r>
              <a:rPr sz="1800" b="0">
                <a:solidFill>
                  <a:srgbClr val="161B26"/>
                </a:solidFill>
                <a:latin typeface="Arial"/>
              </a:rPr>
              <a:t>•  ACM Events:</a:t>
            </a:r>
          </a:p>
          <a:p>
            <a:pPr>
              <a:spcAft>
                <a:spcPts val="1000"/>
              </a:spcAft>
            </a:pPr>
            <a:r>
              <a:rPr sz="1800" b="0">
                <a:solidFill>
                  <a:srgbClr val="161B26"/>
                </a:solidFill>
                <a:latin typeface="Arial"/>
              </a:rPr>
              <a:t>•  Daily Certificate Expiry</a:t>
            </a:r>
          </a:p>
          <a:p>
            <a:pPr>
              <a:spcAft>
                <a:spcPts val="1000"/>
              </a:spcAft>
            </a:pPr>
            <a:r>
              <a:rPr sz="1800" b="0">
                <a:solidFill>
                  <a:srgbClr val="161B26"/>
                </a:solidFill>
                <a:latin typeface="Arial"/>
              </a:rPr>
              <a:t>•  Rule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733</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Integration with ALB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AWS Certificate Manager</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With HTTP -&gt; HTTPS redirect rule</a:t>
            </a:r>
          </a:p>
          <a:p>
            <a:pPr>
              <a:spcAft>
                <a:spcPts val="1000"/>
              </a:spcAft>
            </a:pPr>
            <a:r>
              <a:rPr sz="1800" b="0">
                <a:solidFill>
                  <a:srgbClr val="161B26"/>
                </a:solidFill>
                <a:latin typeface="Arial"/>
              </a:rPr>
              <a:t>•  provision and maintain TLS certs</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Redirect to HTTPS HTTPS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734</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07037"/>
            <a:ext cx="10479024" cy="31240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36_0.png"/>
          <p:cNvPicPr>
            <a:picLocks noChangeAspect="1"/>
          </p:cNvPicPr>
          <p:nvPr/>
        </p:nvPicPr>
        <p:blipFill>
          <a:blip r:embed="rId2"/>
          <a:stretch>
            <a:fillRect/>
          </a:stretch>
        </p:blipFill>
        <p:spPr>
          <a:xfrm>
            <a:off x="868680" y="2534469"/>
            <a:ext cx="10424160" cy="306922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735</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Integration with API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a Custom Domain Name in API Gateway</a:t>
            </a:r>
          </a:p>
          <a:p>
            <a:pPr>
              <a:spcAft>
                <a:spcPts val="1000"/>
              </a:spcAft>
            </a:pPr>
            <a:r>
              <a:rPr sz="1800" b="0">
                <a:solidFill>
                  <a:srgbClr val="161B26"/>
                </a:solidFill>
                <a:latin typeface="Arial"/>
              </a:rPr>
              <a:t>•  Edge-Optimized  (default): For global clients</a:t>
            </a:r>
          </a:p>
          <a:p>
            <a:pPr>
              <a:spcAft>
                <a:spcPts val="1000"/>
              </a:spcAft>
            </a:pPr>
            <a:r>
              <a:rPr sz="1800" b="0">
                <a:solidFill>
                  <a:srgbClr val="161B26"/>
                </a:solidFill>
                <a:latin typeface="Arial"/>
              </a:rPr>
              <a:t>•  Requests are routed through the CloudFront Edge locations (improves latency)</a:t>
            </a:r>
          </a:p>
          <a:p>
            <a:pPr>
              <a:spcAft>
                <a:spcPts val="1000"/>
              </a:spcAft>
            </a:pPr>
            <a:r>
              <a:rPr sz="1800" b="0">
                <a:solidFill>
                  <a:srgbClr val="161B26"/>
                </a:solidFill>
                <a:latin typeface="Arial"/>
              </a:rPr>
              <a:t>•  The API Gateway still lives in only one region</a:t>
            </a:r>
          </a:p>
          <a:p>
            <a:pPr>
              <a:spcAft>
                <a:spcPts val="1000"/>
              </a:spcAft>
            </a:pPr>
            <a:r>
              <a:rPr sz="1800" b="0">
                <a:solidFill>
                  <a:srgbClr val="161B26"/>
                </a:solidFill>
                <a:latin typeface="Arial"/>
              </a:rPr>
              <a:t>•  The TLS Certificate must be in the same region as CloudFront, in us-east-1</a:t>
            </a:r>
          </a:p>
          <a:p>
            <a:pPr>
              <a:spcAft>
                <a:spcPts val="1000"/>
              </a:spcAft>
            </a:pPr>
            <a:r>
              <a:rPr sz="1800" b="0">
                <a:solidFill>
                  <a:srgbClr val="161B26"/>
                </a:solidFill>
                <a:latin typeface="Arial"/>
              </a:rPr>
              <a:t>•  Then setup CNAME or (better) A-Alias record in Route 53</a:t>
            </a:r>
          </a:p>
          <a:p>
            <a:pPr>
              <a:spcAft>
                <a:spcPts val="1000"/>
              </a:spcAft>
            </a:pPr>
            <a:r>
              <a:rPr sz="1800" b="0">
                <a:solidFill>
                  <a:srgbClr val="161B26"/>
                </a:solidFill>
                <a:latin typeface="Arial"/>
              </a:rPr>
              <a:t>•  Regional:</a:t>
            </a:r>
          </a:p>
          <a:p>
            <a:pPr>
              <a:spcAft>
                <a:spcPts val="1000"/>
              </a:spcAft>
            </a:pPr>
            <a:r>
              <a:rPr sz="1800" b="0">
                <a:solidFill>
                  <a:srgbClr val="161B26"/>
                </a:solidFill>
                <a:latin typeface="Arial"/>
              </a:rPr>
              <a:t>•  For clients within the same region</a:t>
            </a:r>
          </a:p>
          <a:p>
            <a:pPr>
              <a:spcAft>
                <a:spcPts val="1000"/>
              </a:spcAft>
            </a:pPr>
            <a:r>
              <a:rPr sz="1800" b="0">
                <a:solidFill>
                  <a:srgbClr val="161B26"/>
                </a:solidFill>
                <a:latin typeface="Arial"/>
              </a:rPr>
              <a:t>•  The TLS Certificate must be imported on API Gateway, in the same region as the API Stage</a:t>
            </a:r>
          </a:p>
          <a:p>
            <a:pPr>
              <a:spcAft>
                <a:spcPts val="1000"/>
              </a:spcAft>
            </a:pPr>
            <a:r>
              <a:rPr sz="1800" b="0">
                <a:solidFill>
                  <a:srgbClr val="161B26"/>
                </a:solidFill>
                <a:latin typeface="Arial"/>
              </a:rPr>
              <a:t>•  Then setup CNAME or (better) A-Alias record in Route 53</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ACM</a:t>
            </a:r>
          </a:p>
          <a:p>
            <a:pPr>
              <a:spcAft>
                <a:spcPts val="1000"/>
              </a:spcAft>
            </a:pPr>
            <a:r>
              <a:rPr sz="1800" b="0">
                <a:solidFill>
                  <a:srgbClr val="161B26"/>
                </a:solidFill>
                <a:latin typeface="Arial"/>
              </a:rPr>
              <a:t>•  linked certificate</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Edge-Optimized</a:t>
            </a:r>
          </a:p>
          <a:p>
            <a:pPr>
              <a:spcAft>
                <a:spcPts val="1000"/>
              </a:spcAft>
            </a:pPr>
            <a:r>
              <a:rPr sz="1800" b="0">
                <a:solidFill>
                  <a:srgbClr val="161B26"/>
                </a:solidFill>
                <a:latin typeface="Arial"/>
              </a:rPr>
              <a:t>•  ap-southeast-2</a:t>
            </a:r>
          </a:p>
          <a:p>
            <a:pPr>
              <a:spcAft>
                <a:spcPts val="1000"/>
              </a:spcAft>
            </a:pPr>
            <a:r>
              <a:rPr sz="1800" b="0">
                <a:solidFill>
                  <a:srgbClr val="161B26"/>
                </a:solidFill>
                <a:latin typeface="Arial"/>
              </a:rPr>
              <a:t>•  ACM</a:t>
            </a:r>
          </a:p>
          <a:p>
            <a:pPr>
              <a:spcAft>
                <a:spcPts val="1000"/>
              </a:spcAft>
            </a:pPr>
            <a:r>
              <a:rPr sz="1800" b="0">
                <a:solidFill>
                  <a:srgbClr val="161B26"/>
                </a:solidFill>
                <a:latin typeface="Arial"/>
              </a:rPr>
              <a:t>•  linked certificate</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Regional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736</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API Gateway - Endpoint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Edge-Optimized (default): For global clients</a:t>
            </a:r>
          </a:p>
          <a:p>
            <a:pPr>
              <a:spcAft>
                <a:spcPts val="1000"/>
              </a:spcAft>
            </a:pPr>
            <a:r>
              <a:rPr sz="1800" b="0">
                <a:solidFill>
                  <a:srgbClr val="161B26"/>
                </a:solidFill>
                <a:latin typeface="Arial"/>
              </a:rPr>
              <a:t>•  Requests are routed through the CloudFront Edge locations (improves latency)</a:t>
            </a:r>
          </a:p>
          <a:p>
            <a:pPr>
              <a:spcAft>
                <a:spcPts val="1000"/>
              </a:spcAft>
            </a:pPr>
            <a:r>
              <a:rPr sz="1800" b="0">
                <a:solidFill>
                  <a:srgbClr val="161B26"/>
                </a:solidFill>
                <a:latin typeface="Arial"/>
              </a:rPr>
              <a:t>•  The API Gateway still lives in only one region</a:t>
            </a:r>
          </a:p>
          <a:p>
            <a:pPr>
              <a:spcAft>
                <a:spcPts val="1000"/>
              </a:spcAft>
            </a:pPr>
            <a:r>
              <a:rPr sz="1800" b="0">
                <a:solidFill>
                  <a:srgbClr val="161B26"/>
                </a:solidFill>
                <a:latin typeface="Arial"/>
              </a:rPr>
              <a:t>•  Regional:</a:t>
            </a:r>
          </a:p>
          <a:p>
            <a:pPr>
              <a:spcAft>
                <a:spcPts val="1000"/>
              </a:spcAft>
            </a:pPr>
            <a:r>
              <a:rPr sz="1800" b="0">
                <a:solidFill>
                  <a:srgbClr val="161B26"/>
                </a:solidFill>
                <a:latin typeface="Arial"/>
              </a:rPr>
              <a:t>•  For clients within the same region</a:t>
            </a:r>
          </a:p>
          <a:p>
            <a:pPr>
              <a:spcAft>
                <a:spcPts val="1000"/>
              </a:spcAft>
            </a:pPr>
            <a:r>
              <a:rPr sz="1800" b="0">
                <a:solidFill>
                  <a:srgbClr val="161B26"/>
                </a:solidFill>
                <a:latin typeface="Arial"/>
              </a:rPr>
              <a:t>•  Could manually combine with CloudFront (more control over the caching 	strategies and the distribution)</a:t>
            </a:r>
          </a:p>
          <a:p>
            <a:pPr>
              <a:spcAft>
                <a:spcPts val="1000"/>
              </a:spcAft>
            </a:pPr>
            <a:r>
              <a:rPr sz="1800" b="0">
                <a:solidFill>
                  <a:srgbClr val="161B26"/>
                </a:solidFill>
                <a:latin typeface="Arial"/>
              </a:rPr>
              <a:t>•  Private:</a:t>
            </a:r>
          </a:p>
          <a:p>
            <a:pPr>
              <a:spcAft>
                <a:spcPts val="1000"/>
              </a:spcAft>
            </a:pPr>
            <a:r>
              <a:rPr sz="1800" b="0">
                <a:solidFill>
                  <a:srgbClr val="161B26"/>
                </a:solidFill>
                <a:latin typeface="Arial"/>
              </a:rPr>
              <a:t>•  Can only be accessed from your VPC using an interface VPC endpoint (ENI)</a:t>
            </a:r>
          </a:p>
          <a:p>
            <a:pPr>
              <a:spcAft>
                <a:spcPts val="1000"/>
              </a:spcAft>
            </a:pPr>
            <a:r>
              <a:rPr sz="1800" b="0">
                <a:solidFill>
                  <a:srgbClr val="161B26"/>
                </a:solidFill>
                <a:latin typeface="Arial"/>
              </a:rPr>
              <a:t>•  Use a resource policy to define access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737</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Secure storage for configuration and secrets</a:t>
            </a:r>
          </a:p>
          <a:p>
            <a:pPr>
              <a:spcAft>
                <a:spcPts val="1000"/>
              </a:spcAft>
            </a:pPr>
            <a:r>
              <a:rPr sz="1800" b="0">
                <a:solidFill>
                  <a:srgbClr val="161B26"/>
                </a:solidFill>
                <a:latin typeface="Arial"/>
              </a:rPr>
              <a:t>•  Optional Seamless Encryption using KMS</a:t>
            </a:r>
          </a:p>
          <a:p>
            <a:pPr>
              <a:spcAft>
                <a:spcPts val="1000"/>
              </a:spcAft>
            </a:pPr>
            <a:r>
              <a:rPr sz="1800" b="0">
                <a:solidFill>
                  <a:srgbClr val="161B26"/>
                </a:solidFill>
                <a:latin typeface="Arial"/>
              </a:rPr>
              <a:t>•  Serverless, scalable, durable, easy SDK</a:t>
            </a:r>
          </a:p>
          <a:p>
            <a:pPr>
              <a:spcAft>
                <a:spcPts val="1000"/>
              </a:spcAft>
            </a:pPr>
            <a:r>
              <a:rPr sz="1800" b="0">
                <a:solidFill>
                  <a:srgbClr val="161B26"/>
                </a:solidFill>
                <a:latin typeface="Arial"/>
              </a:rPr>
              <a:t>•  Version tracking of configurations / secrets</a:t>
            </a:r>
          </a:p>
          <a:p>
            <a:pPr>
              <a:spcAft>
                <a:spcPts val="1000"/>
              </a:spcAft>
            </a:pPr>
            <a:r>
              <a:rPr sz="1800" b="0">
                <a:solidFill>
                  <a:srgbClr val="161B26"/>
                </a:solidFill>
                <a:latin typeface="Arial"/>
              </a:rPr>
              <a:t>•  Configuration management using path &amp; IAM</a:t>
            </a:r>
          </a:p>
          <a:p>
            <a:pPr>
              <a:spcAft>
                <a:spcPts val="1000"/>
              </a:spcAft>
            </a:pPr>
            <a:r>
              <a:rPr sz="1800" b="0">
                <a:solidFill>
                  <a:srgbClr val="161B26"/>
                </a:solidFill>
                <a:latin typeface="Arial"/>
              </a:rPr>
              <a:t>•  Notifications with CloudWatch Events</a:t>
            </a:r>
          </a:p>
          <a:p>
            <a:pPr>
              <a:spcAft>
                <a:spcPts val="1000"/>
              </a:spcAft>
            </a:pPr>
            <a:r>
              <a:rPr sz="1800" b="0">
                <a:solidFill>
                  <a:srgbClr val="161B26"/>
                </a:solidFill>
                <a:latin typeface="Arial"/>
              </a:rPr>
              <a:t>•  Integration with CloudFormation</a:t>
            </a:r>
          </a:p>
          <a:p>
            <a:pPr>
              <a:spcAft>
                <a:spcPts val="1000"/>
              </a:spcAft>
            </a:pPr>
            <a:r>
              <a:rPr sz="1800" b="0">
                <a:solidFill>
                  <a:srgbClr val="161B26"/>
                </a:solidFill>
                <a:latin typeface="Arial"/>
              </a:rPr>
              <a:t>•  SSM Parameter</a:t>
            </a:r>
          </a:p>
          <a:p>
            <a:pPr>
              <a:spcAft>
                <a:spcPts val="1000"/>
              </a:spcAft>
            </a:pPr>
            <a:r>
              <a:rPr sz="1800" b="0">
                <a:solidFill>
                  <a:srgbClr val="161B26"/>
                </a:solidFill>
                <a:latin typeface="Arial"/>
              </a:rPr>
              <a:t>•  Store</a:t>
            </a:r>
          </a:p>
          <a:p>
            <a:pPr>
              <a:spcAft>
                <a:spcPts val="1000"/>
              </a:spcAft>
            </a:pPr>
            <a:r>
              <a:rPr sz="1800" b="0">
                <a:solidFill>
                  <a:srgbClr val="161B26"/>
                </a:solidFill>
                <a:latin typeface="Arial"/>
              </a:rPr>
              <a:t>•  Applications</a:t>
            </a:r>
          </a:p>
          <a:p>
            <a:pPr>
              <a:spcAft>
                <a:spcPts val="1000"/>
              </a:spcAft>
            </a:pPr>
            <a:r>
              <a:rPr sz="1800" b="0">
                <a:solidFill>
                  <a:srgbClr val="161B26"/>
                </a:solidFill>
                <a:latin typeface="Arial"/>
              </a:rPr>
              <a:t>•  Plaintext configuration</a:t>
            </a:r>
          </a:p>
          <a:p>
            <a:pPr>
              <a:spcAft>
                <a:spcPts val="1000"/>
              </a:spcAft>
            </a:pPr>
            <a:r>
              <a:rPr sz="1800" b="0">
                <a:solidFill>
                  <a:srgbClr val="161B26"/>
                </a:solidFill>
                <a:latin typeface="Arial"/>
              </a:rPr>
              <a:t>•  Encrypted configuration</a:t>
            </a:r>
          </a:p>
          <a:p>
            <a:pPr>
              <a:spcAft>
                <a:spcPts val="1000"/>
              </a:spcAft>
            </a:pPr>
            <a:r>
              <a:rPr sz="1800" b="0">
                <a:solidFill>
                  <a:srgbClr val="161B26"/>
                </a:solidFill>
                <a:latin typeface="Arial"/>
              </a:rPr>
              <a:t>•  Check IAM permissions</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Decryption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738</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/my-department/</a:t>
            </a:r>
          </a:p>
          <a:p>
            <a:pPr>
              <a:spcAft>
                <a:spcPts val="1000"/>
              </a:spcAft>
            </a:pPr>
            <a:r>
              <a:rPr sz="1800" b="0">
                <a:solidFill>
                  <a:srgbClr val="161B26"/>
                </a:solidFill>
                <a:latin typeface="Arial"/>
              </a:rPr>
              <a:t>•  my-app/</a:t>
            </a:r>
          </a:p>
          <a:p>
            <a:pPr>
              <a:spcAft>
                <a:spcPts val="1000"/>
              </a:spcAft>
            </a:pPr>
            <a:r>
              <a:rPr sz="1800" b="0">
                <a:solidFill>
                  <a:srgbClr val="161B26"/>
                </a:solidFill>
                <a:latin typeface="Arial"/>
              </a:rPr>
              <a:t>•  dev/</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prod/</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other-app/</a:t>
            </a:r>
          </a:p>
          <a:p>
            <a:pPr>
              <a:spcAft>
                <a:spcPts val="1000"/>
              </a:spcAft>
            </a:pPr>
            <a:r>
              <a:rPr sz="1800" b="0">
                <a:solidFill>
                  <a:srgbClr val="161B26"/>
                </a:solidFill>
                <a:latin typeface="Arial"/>
              </a:rPr>
              <a:t>•  /other-department/</a:t>
            </a:r>
          </a:p>
          <a:p>
            <a:pPr>
              <a:spcAft>
                <a:spcPts val="1000"/>
              </a:spcAft>
            </a:pPr>
            <a:r>
              <a:rPr sz="1800" b="0">
                <a:solidFill>
                  <a:srgbClr val="161B26"/>
                </a:solidFill>
                <a:latin typeface="Arial"/>
              </a:rPr>
              <a:t>•  /aws/reference/secretsmanager/secret_ID_in_Secrets_Manager</a:t>
            </a:r>
          </a:p>
          <a:p>
            <a:pPr>
              <a:spcAft>
                <a:spcPts val="1000"/>
              </a:spcAft>
            </a:pPr>
            <a:r>
              <a:rPr sz="1800" b="0">
                <a:solidFill>
                  <a:srgbClr val="161B26"/>
                </a:solidFill>
                <a:latin typeface="Arial"/>
              </a:rPr>
              <a:t>•  /aws/service/ami-amazon-linux-latest/amzn2-ami-hvm-x86_64-gp2</a:t>
            </a:r>
          </a:p>
          <a:p>
            <a:pPr>
              <a:spcAft>
                <a:spcPts val="1000"/>
              </a:spcAft>
            </a:pPr>
            <a:r>
              <a:rPr sz="1800" b="0">
                <a:solidFill>
                  <a:srgbClr val="161B26"/>
                </a:solidFill>
                <a:latin typeface="Arial"/>
              </a:rPr>
              <a:t>•  Dev Lambda Function</a:t>
            </a:r>
          </a:p>
          <a:p>
            <a:pPr>
              <a:spcAft>
                <a:spcPts val="1000"/>
              </a:spcAft>
            </a:pPr>
            <a:r>
              <a:rPr sz="1800" b="0">
                <a:solidFill>
                  <a:srgbClr val="161B26"/>
                </a:solidFill>
                <a:latin typeface="Arial"/>
              </a:rPr>
              <a:t>•  GetParameters or GetParametersByPath API</a:t>
            </a:r>
          </a:p>
          <a:p>
            <a:pPr>
              <a:spcAft>
                <a:spcPts val="1000"/>
              </a:spcAft>
            </a:pPr>
            <a:r>
              <a:rPr sz="1800" b="0">
                <a:solidFill>
                  <a:srgbClr val="161B26"/>
                </a:solidFill>
                <a:latin typeface="Arial"/>
              </a:rPr>
              <a:t>•  Prod Lambda Function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739</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Standard and advanced parameter tiers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Standard and advanced parameter tiers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740</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Parameters Policies (for advanced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 to assign a TTL to a parameter (expiration date) to force updating or deleting sensitive data such as passwords</a:t>
            </a:r>
          </a:p>
          <a:p>
            <a:pPr>
              <a:spcAft>
                <a:spcPts val="1000"/>
              </a:spcAft>
            </a:pPr>
            <a:r>
              <a:rPr sz="2000" b="0">
                <a:solidFill>
                  <a:srgbClr val="161B26"/>
                </a:solidFill>
                <a:latin typeface="Arial"/>
              </a:rPr>
              <a:t>•  Can assign multiple policies at a time</a:t>
            </a:r>
          </a:p>
          <a:p>
            <a:pPr>
              <a:spcAft>
                <a:spcPts val="1000"/>
              </a:spcAft>
            </a:pPr>
            <a:r>
              <a:rPr sz="2000" b="0">
                <a:solidFill>
                  <a:srgbClr val="161B26"/>
                </a:solidFill>
                <a:latin typeface="Arial"/>
              </a:rPr>
              <a:t>•  Expiration (to delete a parameter)</a:t>
            </a:r>
          </a:p>
          <a:p>
            <a:pPr>
              <a:spcAft>
                <a:spcPts val="1000"/>
              </a:spcAft>
            </a:pPr>
            <a:r>
              <a:rPr sz="2000" b="0">
                <a:solidFill>
                  <a:srgbClr val="161B26"/>
                </a:solidFill>
                <a:latin typeface="Arial"/>
              </a:rPr>
              <a:t>•  ExpirationNotification (CW Events)</a:t>
            </a:r>
          </a:p>
          <a:p>
            <a:pPr>
              <a:spcAft>
                <a:spcPts val="1000"/>
              </a:spcAft>
            </a:pPr>
            <a:r>
              <a:rPr sz="2000" b="0">
                <a:solidFill>
                  <a:srgbClr val="161B26"/>
                </a:solidFill>
                <a:latin typeface="Arial"/>
              </a:rPr>
              <a:t>•  NoChangeNotification (CW Events)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741</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Newer service, meant for storing secrets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Capability to force rotation of secrets every X days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Automate generation of secrets on rotation (uses Lambda)</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Integration with Amazon RDS (MySQL, PostgreSQL, Aurora)</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Secrets are encrypted using KMS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Mostly meant for RDS integration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742</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5113" y="1801368"/>
            <a:ext cx="783129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44_0.png"/>
          <p:cNvPicPr>
            <a:picLocks noChangeAspect="1"/>
          </p:cNvPicPr>
          <p:nvPr/>
        </p:nvPicPr>
        <p:blipFill>
          <a:blip r:embed="rId2"/>
          <a:stretch>
            <a:fillRect/>
          </a:stretch>
        </p:blipFill>
        <p:spPr>
          <a:xfrm>
            <a:off x="2192545" y="1828800"/>
            <a:ext cx="777642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743</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45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744</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 - Multi-Region Secrets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MySecret-A</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Replicate Secrets across multiple AWS Regions</a:t>
            </a:r>
          </a:p>
          <a:p>
            <a:pPr>
              <a:spcAft>
                <a:spcPts val="1000"/>
              </a:spcAft>
            </a:pPr>
            <a:r>
              <a:rPr sz="1800" b="0">
                <a:solidFill>
                  <a:srgbClr val="161B26"/>
                </a:solidFill>
                <a:latin typeface="Arial"/>
              </a:rPr>
              <a:t>•  Secrets Manager keeps read replicas in sync with the primary Secret</a:t>
            </a:r>
          </a:p>
          <a:p>
            <a:pPr>
              <a:spcAft>
                <a:spcPts val="1000"/>
              </a:spcAft>
            </a:pPr>
            <a:r>
              <a:rPr sz="1800" b="0">
                <a:solidFill>
                  <a:srgbClr val="161B26"/>
                </a:solidFill>
                <a:latin typeface="Arial"/>
              </a:rPr>
              <a:t>•  Ability to promote a read replica Secret to a standalone Secret</a:t>
            </a:r>
          </a:p>
          <a:p>
            <a:pPr>
              <a:spcAft>
                <a:spcPts val="1000"/>
              </a:spcAft>
            </a:pPr>
            <a:r>
              <a:rPr sz="1800" b="0">
                <a:solidFill>
                  <a:srgbClr val="161B26"/>
                </a:solidFill>
                <a:latin typeface="Arial"/>
              </a:rPr>
              <a:t>•  Use cases: multi-region apps, disaster recovery strategies, multi-region DB…</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MySecret-A</a:t>
            </a:r>
          </a:p>
          <a:p>
            <a:pPr>
              <a:spcAft>
                <a:spcPts val="1000"/>
              </a:spcAft>
            </a:pPr>
            <a:r>
              <a:rPr sz="1800" b="0">
                <a:solidFill>
                  <a:srgbClr val="161B26"/>
                </a:solidFill>
                <a:latin typeface="Arial"/>
              </a:rPr>
              <a:t>•  (replica)</a:t>
            </a:r>
          </a:p>
          <a:p>
            <a:pPr>
              <a:spcAft>
                <a:spcPts val="1000"/>
              </a:spcAft>
            </a:pPr>
            <a:r>
              <a:rPr sz="1800" b="0">
                <a:solidFill>
                  <a:srgbClr val="161B26"/>
                </a:solidFill>
                <a:latin typeface="Arial"/>
              </a:rPr>
              <a:t>•  replicate</a:t>
            </a:r>
          </a:p>
          <a:p>
            <a:pPr>
              <a:spcAft>
                <a:spcPts val="1000"/>
              </a:spcAft>
            </a:pPr>
            <a:r>
              <a:rPr sz="1800" b="0">
                <a:solidFill>
                  <a:srgbClr val="161B26"/>
                </a:solidFill>
                <a:latin typeface="Arial"/>
              </a:rPr>
              <a:t>•  us-east-1 (Primary)                                                                                   us-west-2 (Secondary)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745</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16100" y="1801368"/>
            <a:ext cx="892931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47_0.png"/>
          <p:cNvPicPr>
            <a:picLocks noChangeAspect="1"/>
          </p:cNvPicPr>
          <p:nvPr/>
        </p:nvPicPr>
        <p:blipFill>
          <a:blip r:embed="rId2"/>
          <a:stretch>
            <a:fillRect/>
          </a:stretch>
        </p:blipFill>
        <p:spPr>
          <a:xfrm>
            <a:off x="1643532" y="1828800"/>
            <a:ext cx="887445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746</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 vs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Secrets Manager ($$$):</a:t>
            </a:r>
          </a:p>
          <a:p>
            <a:pPr>
              <a:spcAft>
                <a:spcPts val="1000"/>
              </a:spcAft>
            </a:pPr>
            <a:r>
              <a:rPr sz="1800" b="0">
                <a:solidFill>
                  <a:srgbClr val="161B26"/>
                </a:solidFill>
                <a:latin typeface="Arial"/>
              </a:rPr>
              <a:t>•  Automatic rotation of secrets with AWS Lambda</a:t>
            </a:r>
          </a:p>
          <a:p>
            <a:pPr>
              <a:spcAft>
                <a:spcPts val="1000"/>
              </a:spcAft>
            </a:pPr>
            <a:r>
              <a:rPr sz="1800" b="0">
                <a:solidFill>
                  <a:srgbClr val="161B26"/>
                </a:solidFill>
                <a:latin typeface="Arial"/>
              </a:rPr>
              <a:t>•  Lambda function is provided for RDS, Redshift, DocumentDB</a:t>
            </a:r>
          </a:p>
          <a:p>
            <a:pPr>
              <a:spcAft>
                <a:spcPts val="1000"/>
              </a:spcAft>
            </a:pPr>
            <a:r>
              <a:rPr sz="1800" b="0">
                <a:solidFill>
                  <a:srgbClr val="161B26"/>
                </a:solidFill>
                <a:latin typeface="Arial"/>
              </a:rPr>
              <a:t>•  KMS encryption is mandatory</a:t>
            </a:r>
          </a:p>
          <a:p>
            <a:pPr>
              <a:spcAft>
                <a:spcPts val="1000"/>
              </a:spcAft>
            </a:pPr>
            <a:r>
              <a:rPr sz="1800" b="0">
                <a:solidFill>
                  <a:srgbClr val="161B26"/>
                </a:solidFill>
                <a:latin typeface="Arial"/>
              </a:rPr>
              <a:t>•  Can integration with CloudFormation</a:t>
            </a:r>
          </a:p>
          <a:p>
            <a:pPr>
              <a:spcAft>
                <a:spcPts val="1000"/>
              </a:spcAft>
            </a:pPr>
            <a:r>
              <a:rPr sz="1800" b="0">
                <a:solidFill>
                  <a:srgbClr val="161B26"/>
                </a:solidFill>
                <a:latin typeface="Arial"/>
              </a:rPr>
              <a:t>•  SSM Paramter Store ($):</a:t>
            </a:r>
          </a:p>
          <a:p>
            <a:pPr>
              <a:spcAft>
                <a:spcPts val="1000"/>
              </a:spcAft>
            </a:pPr>
            <a:r>
              <a:rPr sz="1800" b="0">
                <a:solidFill>
                  <a:srgbClr val="161B26"/>
                </a:solidFill>
                <a:latin typeface="Arial"/>
              </a:rPr>
              <a:t>•  Simple API</a:t>
            </a:r>
          </a:p>
          <a:p>
            <a:pPr>
              <a:spcAft>
                <a:spcPts val="1000"/>
              </a:spcAft>
            </a:pPr>
            <a:r>
              <a:rPr sz="1800" b="0">
                <a:solidFill>
                  <a:srgbClr val="161B26"/>
                </a:solidFill>
                <a:latin typeface="Arial"/>
              </a:rPr>
              <a:t>•  No secret rotation (can enable rotation using Lambda triggered by EventBridge)</a:t>
            </a:r>
          </a:p>
          <a:p>
            <a:pPr>
              <a:spcAft>
                <a:spcPts val="1000"/>
              </a:spcAft>
            </a:pPr>
            <a:r>
              <a:rPr sz="1800" b="0">
                <a:solidFill>
                  <a:srgbClr val="161B26"/>
                </a:solidFill>
                <a:latin typeface="Arial"/>
              </a:rPr>
              <a:t>•  KMS encryption is optional</a:t>
            </a:r>
          </a:p>
          <a:p>
            <a:pPr>
              <a:spcAft>
                <a:spcPts val="1000"/>
              </a:spcAft>
            </a:pPr>
            <a:r>
              <a:rPr sz="1800" b="0">
                <a:solidFill>
                  <a:srgbClr val="161B26"/>
                </a:solidFill>
                <a:latin typeface="Arial"/>
              </a:rPr>
              <a:t>•  Can integration with CloudFormation</a:t>
            </a:r>
          </a:p>
          <a:p>
            <a:pPr>
              <a:spcAft>
                <a:spcPts val="1000"/>
              </a:spcAft>
            </a:pPr>
            <a:r>
              <a:rPr sz="1800" b="0">
                <a:solidFill>
                  <a:srgbClr val="161B26"/>
                </a:solidFill>
                <a:latin typeface="Arial"/>
              </a:rPr>
              <a:t>•  Can pull a Secrets Manager secret using the SSM Parameter Store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747</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SSM Parameter Store vs Secrets Manager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Secrets Manager                               SSM Parameter Store</a:t>
            </a:r>
          </a:p>
          <a:p>
            <a:pPr>
              <a:spcAft>
                <a:spcPts val="1000"/>
              </a:spcAft>
            </a:pPr>
            <a:r>
              <a:rPr sz="1800" b="0">
                <a:solidFill>
                  <a:srgbClr val="161B26"/>
                </a:solidFill>
                <a:latin typeface="Arial"/>
              </a:rPr>
              <a:t>•  AWS Secrets Manager</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every 30 days</a:t>
            </a:r>
          </a:p>
          <a:p>
            <a:pPr>
              <a:spcAft>
                <a:spcPts val="1000"/>
              </a:spcAft>
            </a:pPr>
            <a:r>
              <a:rPr sz="1800" b="0">
                <a:solidFill>
                  <a:srgbClr val="161B26"/>
                </a:solidFill>
                <a:latin typeface="Arial"/>
              </a:rPr>
              <a:t>•  Lambda Function (can be provided)</a:t>
            </a:r>
          </a:p>
          <a:p>
            <a:pPr>
              <a:spcAft>
                <a:spcPts val="1000"/>
              </a:spcAft>
            </a:pPr>
            <a:r>
              <a:rPr sz="1800" b="0">
                <a:solidFill>
                  <a:srgbClr val="161B26"/>
                </a:solidFill>
                <a:latin typeface="Arial"/>
              </a:rPr>
              <a:t>•  change password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SSM Parameter Store</a:t>
            </a:r>
          </a:p>
          <a:p>
            <a:pPr>
              <a:spcAft>
                <a:spcPts val="1000"/>
              </a:spcAft>
            </a:pPr>
            <a:r>
              <a:rPr sz="1800" b="0">
                <a:solidFill>
                  <a:srgbClr val="161B26"/>
                </a:solidFill>
                <a:latin typeface="Arial"/>
              </a:rPr>
              <a:t>•  change value</a:t>
            </a:r>
          </a:p>
          <a:p>
            <a:pPr>
              <a:spcAft>
                <a:spcPts val="1000"/>
              </a:spcAft>
            </a:pPr>
            <a:r>
              <a:rPr sz="1800" b="0">
                <a:solidFill>
                  <a:srgbClr val="161B26"/>
                </a:solidFill>
                <a:latin typeface="Arial"/>
              </a:rPr>
              <a:t>•  every 30 days</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change password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748</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Secrets Manager - Monitoring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CloudTrail captures API calls to the Secrets Manager API</a:t>
            </a:r>
          </a:p>
          <a:p>
            <a:pPr>
              <a:spcAft>
                <a:spcPts val="1000"/>
              </a:spcAft>
            </a:pPr>
            <a:r>
              <a:rPr sz="1800" b="0">
                <a:solidFill>
                  <a:srgbClr val="161B26"/>
                </a:solidFill>
                <a:latin typeface="Arial"/>
              </a:rPr>
              <a:t>•  CloudTrail captures other related events that might have a security</a:t>
            </a:r>
          </a:p>
          <a:p>
            <a:pPr>
              <a:spcAft>
                <a:spcPts val="1000"/>
              </a:spcAft>
            </a:pPr>
            <a:r>
              <a:rPr sz="1800" b="0">
                <a:solidFill>
                  <a:srgbClr val="161B26"/>
                </a:solidFill>
                <a:latin typeface="Arial"/>
              </a:rPr>
              <a:t>•  or compliance impact on your AWS account or might help you troubleshoot operational problems.</a:t>
            </a:r>
          </a:p>
          <a:p>
            <a:pPr>
              <a:spcAft>
                <a:spcPts val="1000"/>
              </a:spcAft>
            </a:pPr>
            <a:r>
              <a:rPr sz="1800" b="0">
                <a:solidFill>
                  <a:srgbClr val="161B26"/>
                </a:solidFill>
                <a:latin typeface="Arial"/>
              </a:rPr>
              <a:t>•  CloudTrail records these events as non-API service events.</a:t>
            </a:r>
          </a:p>
          <a:p>
            <a:pPr>
              <a:spcAft>
                <a:spcPts val="1000"/>
              </a:spcAft>
            </a:pPr>
            <a:r>
              <a:rPr sz="1800" b="0">
                <a:solidFill>
                  <a:srgbClr val="161B26"/>
                </a:solidFill>
                <a:latin typeface="Arial"/>
              </a:rPr>
              <a:t>•  RotationStarted event</a:t>
            </a:r>
          </a:p>
          <a:p>
            <a:pPr>
              <a:spcAft>
                <a:spcPts val="1000"/>
              </a:spcAft>
            </a:pPr>
            <a:r>
              <a:rPr sz="1800" b="0">
                <a:solidFill>
                  <a:srgbClr val="161B26"/>
                </a:solidFill>
                <a:latin typeface="Arial"/>
              </a:rPr>
              <a:t>•  RotationSucceeded event</a:t>
            </a:r>
          </a:p>
          <a:p>
            <a:pPr>
              <a:spcAft>
                <a:spcPts val="1000"/>
              </a:spcAft>
            </a:pPr>
            <a:r>
              <a:rPr sz="1800" b="0">
                <a:solidFill>
                  <a:srgbClr val="161B26"/>
                </a:solidFill>
                <a:latin typeface="Arial"/>
              </a:rPr>
              <a:t>•  RotationFailed event</a:t>
            </a:r>
          </a:p>
          <a:p>
            <a:pPr>
              <a:spcAft>
                <a:spcPts val="1000"/>
              </a:spcAft>
            </a:pPr>
            <a:r>
              <a:rPr sz="1800" b="0">
                <a:solidFill>
                  <a:srgbClr val="161B26"/>
                </a:solidFill>
                <a:latin typeface="Arial"/>
              </a:rPr>
              <a:t>•  RotationAbandoned event – a manual change to a secret instead of automated rotation</a:t>
            </a:r>
          </a:p>
          <a:p>
            <a:pPr>
              <a:spcAft>
                <a:spcPts val="1000"/>
              </a:spcAft>
            </a:pPr>
            <a:r>
              <a:rPr sz="1800" b="0">
                <a:solidFill>
                  <a:srgbClr val="161B26"/>
                </a:solidFill>
                <a:latin typeface="Arial"/>
              </a:rPr>
              <a:t>•  StartSecretVersionDelete event</a:t>
            </a:r>
          </a:p>
          <a:p>
            <a:pPr>
              <a:spcAft>
                <a:spcPts val="1000"/>
              </a:spcAft>
            </a:pPr>
            <a:r>
              <a:rPr sz="1800" b="0">
                <a:solidFill>
                  <a:srgbClr val="161B26"/>
                </a:solidFill>
                <a:latin typeface="Arial"/>
              </a:rPr>
              <a:t>•  CancelSecretVersionDelete event</a:t>
            </a:r>
          </a:p>
          <a:p>
            <a:pPr>
              <a:spcAft>
                <a:spcPts val="1000"/>
              </a:spcAft>
            </a:pPr>
            <a:r>
              <a:rPr sz="1800" b="0">
                <a:solidFill>
                  <a:srgbClr val="161B26"/>
                </a:solidFill>
                <a:latin typeface="Arial"/>
              </a:rPr>
              <a:t>•  EndSecretVersionDelete event</a:t>
            </a:r>
          </a:p>
          <a:p>
            <a:pPr>
              <a:spcAft>
                <a:spcPts val="1000"/>
              </a:spcAft>
            </a:pPr>
            <a:r>
              <a:rPr sz="1800" b="0">
                <a:solidFill>
                  <a:srgbClr val="161B26"/>
                </a:solidFill>
                <a:latin typeface="Arial"/>
              </a:rPr>
              <a:t>•  Combine with CloudWatch Logs and CloudWatch alarms for automations</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Amazon CloudWatch</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Metric Filter</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API calls</a:t>
            </a:r>
          </a:p>
          <a:p>
            <a:pPr>
              <a:spcAft>
                <a:spcPts val="1000"/>
              </a:spcAft>
            </a:pPr>
            <a:r>
              <a:rPr sz="1800" b="0">
                <a:solidFill>
                  <a:srgbClr val="161B26"/>
                </a:solidFill>
                <a:latin typeface="Arial"/>
              </a:rPr>
              <a:t>•  &amp; Non-API events</a:t>
            </a:r>
          </a:p>
          <a:p>
            <a:pPr>
              <a:spcAft>
                <a:spcPts val="1000"/>
              </a:spcAft>
            </a:pPr>
            <a:r>
              <a:rPr sz="1800" b="0">
                <a:solidFill>
                  <a:srgbClr val="161B26"/>
                </a:solidFill>
                <a:latin typeface="Arial"/>
              </a:rPr>
              <a:t>•  store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749</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Secrets Manager - Troubleshooting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Secrets Manager</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change password</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Error</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Administrator</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API calls</a:t>
            </a:r>
          </a:p>
          <a:p>
            <a:pPr>
              <a:spcAft>
                <a:spcPts val="1000"/>
              </a:spcAft>
            </a:pPr>
            <a:r>
              <a:rPr sz="1800" b="0">
                <a:solidFill>
                  <a:srgbClr val="161B26"/>
                </a:solidFill>
                <a:latin typeface="Arial"/>
              </a:rPr>
              <a:t>•  &amp; Non-API events</a:t>
            </a:r>
          </a:p>
          <a:p>
            <a:pPr>
              <a:spcAft>
                <a:spcPts val="1000"/>
              </a:spcAft>
            </a:pPr>
            <a:r>
              <a:rPr sz="1800" b="0">
                <a:solidFill>
                  <a:srgbClr val="161B26"/>
                </a:solidFill>
                <a:latin typeface="Arial"/>
              </a:rPr>
              <a:t>•  debug issues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750</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Identity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751</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Security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IAM Credentials Report (account-level)</a:t>
            </a:r>
          </a:p>
          <a:p>
            <a:pPr>
              <a:spcAft>
                <a:spcPts val="1000"/>
              </a:spcAft>
            </a:pPr>
            <a:r>
              <a:rPr sz="2000" b="0">
                <a:solidFill>
                  <a:srgbClr val="161B26"/>
                </a:solidFill>
                <a:latin typeface="Arial"/>
              </a:rPr>
              <a:t>•  a report that lists all your account's users and the status of their various credentials</a:t>
            </a:r>
          </a:p>
          <a:p>
            <a:pPr>
              <a:spcAft>
                <a:spcPts val="1000"/>
              </a:spcAft>
            </a:pPr>
            <a:r>
              <a:rPr sz="2000" b="0">
                <a:solidFill>
                  <a:srgbClr val="161B26"/>
                </a:solidFill>
                <a:latin typeface="Arial"/>
              </a:rPr>
              <a:t>•  IAM Access Advisor (user-level)</a:t>
            </a:r>
          </a:p>
          <a:p>
            <a:pPr>
              <a:spcAft>
                <a:spcPts val="1000"/>
              </a:spcAft>
            </a:pPr>
            <a:r>
              <a:rPr sz="2000" b="0">
                <a:solidFill>
                  <a:srgbClr val="161B26"/>
                </a:solidFill>
                <a:latin typeface="Arial"/>
              </a:rPr>
              <a:t>•  Access advisor shows the service permissions granted to a user and when those services were last accessed.</a:t>
            </a:r>
          </a:p>
          <a:p>
            <a:pPr>
              <a:spcAft>
                <a:spcPts val="1000"/>
              </a:spcAft>
            </a:pPr>
            <a:r>
              <a:rPr sz="2000" b="0">
                <a:solidFill>
                  <a:srgbClr val="161B26"/>
                </a:solidFill>
                <a:latin typeface="Arial"/>
              </a:rPr>
              <a:t>•  You can use this information to revise your policies.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752</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Find out which resources are shared externally</a:t>
            </a:r>
          </a:p>
          <a:p>
            <a:pPr>
              <a:spcAft>
                <a:spcPts val="1000"/>
              </a:spcAft>
            </a:pPr>
            <a:r>
              <a:rPr sz="1800" b="0">
                <a:solidFill>
                  <a:srgbClr val="161B26"/>
                </a:solidFill>
                <a:latin typeface="Arial"/>
              </a:rPr>
              <a:t>•  S3 Buckets</a:t>
            </a:r>
          </a:p>
          <a:p>
            <a:pPr>
              <a:spcAft>
                <a:spcPts val="1000"/>
              </a:spcAft>
            </a:pPr>
            <a:r>
              <a:rPr sz="1800" b="0">
                <a:solidFill>
                  <a:srgbClr val="161B26"/>
                </a:solidFill>
                <a:latin typeface="Arial"/>
              </a:rPr>
              <a:t>•  IAM Roles</a:t>
            </a:r>
          </a:p>
          <a:p>
            <a:pPr>
              <a:spcAft>
                <a:spcPts val="1000"/>
              </a:spcAft>
            </a:pPr>
            <a:r>
              <a:rPr sz="1800" b="0">
                <a:solidFill>
                  <a:srgbClr val="161B26"/>
                </a:solidFill>
                <a:latin typeface="Arial"/>
              </a:rPr>
              <a:t>•  KMS Keys</a:t>
            </a:r>
          </a:p>
          <a:p>
            <a:pPr>
              <a:spcAft>
                <a:spcPts val="1000"/>
              </a:spcAft>
            </a:pPr>
            <a:r>
              <a:rPr sz="1800" b="0">
                <a:solidFill>
                  <a:srgbClr val="161B26"/>
                </a:solidFill>
                <a:latin typeface="Arial"/>
              </a:rPr>
              <a:t>•  Lambda Functions and Layers</a:t>
            </a:r>
          </a:p>
          <a:p>
            <a:pPr>
              <a:spcAft>
                <a:spcPts val="1000"/>
              </a:spcAft>
            </a:pPr>
            <a:r>
              <a:rPr sz="1800" b="0">
                <a:solidFill>
                  <a:srgbClr val="161B26"/>
                </a:solidFill>
                <a:latin typeface="Arial"/>
              </a:rPr>
              <a:t>•  SQS queues</a:t>
            </a:r>
          </a:p>
          <a:p>
            <a:pPr>
              <a:spcAft>
                <a:spcPts val="1000"/>
              </a:spcAft>
            </a:pPr>
            <a:r>
              <a:rPr sz="1800" b="0">
                <a:solidFill>
                  <a:srgbClr val="161B26"/>
                </a:solidFill>
                <a:latin typeface="Arial"/>
              </a:rPr>
              <a:t>•  Secrets Manager Secrets</a:t>
            </a:r>
          </a:p>
          <a:p>
            <a:pPr>
              <a:spcAft>
                <a:spcPts val="1000"/>
              </a:spcAft>
            </a:pPr>
            <a:r>
              <a:rPr sz="1800" b="0">
                <a:solidFill>
                  <a:srgbClr val="161B26"/>
                </a:solidFill>
                <a:latin typeface="Arial"/>
              </a:rPr>
              <a:t>•  Define Zone of Trust = AWS Account or AWS Organization</a:t>
            </a:r>
          </a:p>
          <a:p>
            <a:pPr>
              <a:spcAft>
                <a:spcPts val="1000"/>
              </a:spcAft>
            </a:pPr>
            <a:r>
              <a:rPr sz="1800" b="0">
                <a:solidFill>
                  <a:srgbClr val="161B26"/>
                </a:solidFill>
                <a:latin typeface="Arial"/>
              </a:rPr>
              <a:t>•  Access outside zone of trusts =&gt; findings</a:t>
            </a:r>
          </a:p>
          <a:p>
            <a:pPr>
              <a:spcAft>
                <a:spcPts val="1000"/>
              </a:spcAft>
            </a:pPr>
            <a:r>
              <a:rPr sz="1800" b="0">
                <a:solidFill>
                  <a:srgbClr val="161B26"/>
                </a:solidFill>
                <a:latin typeface="Arial"/>
              </a:rPr>
              <a:t>•  Role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Account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Endpoints</a:t>
            </a:r>
          </a:p>
          <a:p>
            <a:pPr>
              <a:spcAft>
                <a:spcPts val="1000"/>
              </a:spcAft>
            </a:pPr>
            <a:r>
              <a:rPr sz="1800" b="0">
                <a:solidFill>
                  <a:srgbClr val="161B26"/>
                </a:solidFill>
                <a:latin typeface="Arial"/>
              </a:rPr>
              <a:t>•  External Client</a:t>
            </a:r>
          </a:p>
          <a:p>
            <a:pPr>
              <a:spcAft>
                <a:spcPts val="1000"/>
              </a:spcAft>
            </a:pPr>
            <a:r>
              <a:rPr sz="1800" b="0">
                <a:solidFill>
                  <a:srgbClr val="161B26"/>
                </a:solidFill>
                <a:latin typeface="Arial"/>
              </a:rPr>
              <a:t>•  Zone of trust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753</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9648" y="1801368"/>
            <a:ext cx="622222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55_0.png"/>
          <p:cNvPicPr>
            <a:picLocks noChangeAspect="1"/>
          </p:cNvPicPr>
          <p:nvPr/>
        </p:nvPicPr>
        <p:blipFill>
          <a:blip r:embed="rId2"/>
          <a:stretch>
            <a:fillRect/>
          </a:stretch>
        </p:blipFill>
        <p:spPr>
          <a:xfrm>
            <a:off x="2997080" y="1828800"/>
            <a:ext cx="616735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754</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28581" y="1801368"/>
            <a:ext cx="910435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56_0.png"/>
          <p:cNvPicPr>
            <a:picLocks noChangeAspect="1"/>
          </p:cNvPicPr>
          <p:nvPr/>
        </p:nvPicPr>
        <p:blipFill>
          <a:blip r:embed="rId2"/>
          <a:stretch>
            <a:fillRect/>
          </a:stretch>
        </p:blipFill>
        <p:spPr>
          <a:xfrm>
            <a:off x="1556013" y="1828800"/>
            <a:ext cx="904949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755</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Identity Federation?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Federation lets users outside of AWS to assume temporary role for accessing AWS resources.</a:t>
            </a:r>
          </a:p>
          <a:p>
            <a:pPr>
              <a:spcAft>
                <a:spcPts val="1000"/>
              </a:spcAft>
            </a:pPr>
            <a:r>
              <a:rPr sz="1800" b="0">
                <a:solidFill>
                  <a:srgbClr val="161B26"/>
                </a:solidFill>
                <a:latin typeface="Arial"/>
              </a:rPr>
              <a:t>•  These users assume identity provided access role.</a:t>
            </a:r>
          </a:p>
          <a:p>
            <a:pPr>
              <a:spcAft>
                <a:spcPts val="1000"/>
              </a:spcAft>
            </a:pPr>
            <a:r>
              <a:rPr sz="1800" b="0">
                <a:solidFill>
                  <a:srgbClr val="161B26"/>
                </a:solidFill>
                <a:latin typeface="Arial"/>
              </a:rPr>
              <a:t>•  Federation assumes a form of 3rd party authentication</a:t>
            </a:r>
          </a:p>
          <a:p>
            <a:pPr>
              <a:spcAft>
                <a:spcPts val="1000"/>
              </a:spcAft>
            </a:pPr>
            <a:r>
              <a:rPr sz="1800" b="0">
                <a:solidFill>
                  <a:srgbClr val="161B26"/>
                </a:solidFill>
                <a:latin typeface="Arial"/>
              </a:rPr>
              <a:t>•  LDAP</a:t>
            </a:r>
          </a:p>
          <a:p>
            <a:pPr>
              <a:spcAft>
                <a:spcPts val="1000"/>
              </a:spcAft>
            </a:pPr>
            <a:r>
              <a:rPr sz="1800" b="0">
                <a:solidFill>
                  <a:srgbClr val="161B26"/>
                </a:solidFill>
                <a:latin typeface="Arial"/>
              </a:rPr>
              <a:t>•  Microsoft Active Directory (~= SAML)</a:t>
            </a:r>
          </a:p>
          <a:p>
            <a:pPr>
              <a:spcAft>
                <a:spcPts val="1000"/>
              </a:spcAft>
            </a:pPr>
            <a:r>
              <a:rPr sz="1800" b="0">
                <a:solidFill>
                  <a:srgbClr val="161B26"/>
                </a:solidFill>
                <a:latin typeface="Arial"/>
              </a:rPr>
              <a:t>•  Single Sign On</a:t>
            </a:r>
          </a:p>
          <a:p>
            <a:pPr>
              <a:spcAft>
                <a:spcPts val="1000"/>
              </a:spcAft>
            </a:pPr>
            <a:r>
              <a:rPr sz="1800" b="0">
                <a:solidFill>
                  <a:srgbClr val="161B26"/>
                </a:solidFill>
                <a:latin typeface="Arial"/>
              </a:rPr>
              <a:t>•  Open ID</a:t>
            </a:r>
          </a:p>
          <a:p>
            <a:pPr>
              <a:spcAft>
                <a:spcPts val="1000"/>
              </a:spcAft>
            </a:pPr>
            <a:r>
              <a:rPr sz="1800" b="0">
                <a:solidFill>
                  <a:srgbClr val="161B26"/>
                </a:solidFill>
                <a:latin typeface="Arial"/>
              </a:rPr>
              <a:t>•  Cognito</a:t>
            </a:r>
          </a:p>
          <a:p>
            <a:pPr>
              <a:spcAft>
                <a:spcPts val="1000"/>
              </a:spcAft>
            </a:pPr>
            <a:r>
              <a:rPr sz="1800" b="0">
                <a:solidFill>
                  <a:srgbClr val="161B26"/>
                </a:solidFill>
                <a:latin typeface="Arial"/>
              </a:rPr>
              <a:t>•  Using federation, you don't need to create IAM users (user management is outside of AWS)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3rd party</a:t>
            </a:r>
          </a:p>
          <a:p>
            <a:pPr>
              <a:spcAft>
                <a:spcPts val="1000"/>
              </a:spcAft>
            </a:pPr>
            <a:r>
              <a:rPr sz="1800" b="0">
                <a:solidFill>
                  <a:srgbClr val="161B26"/>
                </a:solidFill>
                <a:latin typeface="Arial"/>
              </a:rPr>
              <a:t>•  login</a:t>
            </a:r>
          </a:p>
          <a:p>
            <a:pPr>
              <a:spcAft>
                <a:spcPts val="1000"/>
              </a:spcAft>
            </a:pPr>
            <a:r>
              <a:rPr sz="1800" b="0">
                <a:solidFill>
                  <a:srgbClr val="161B26"/>
                </a:solidFill>
                <a:latin typeface="Arial"/>
              </a:rPr>
              <a:t>•  Gives credentials</a:t>
            </a:r>
          </a:p>
          <a:p>
            <a:pPr>
              <a:spcAft>
                <a:spcPts val="1000"/>
              </a:spcAft>
            </a:pPr>
            <a:r>
              <a:rPr sz="1800" b="0">
                <a:solidFill>
                  <a:srgbClr val="161B26"/>
                </a:solidFill>
                <a:latin typeface="Arial"/>
              </a:rPr>
              <a:t>•  Access AWS</a:t>
            </a:r>
          </a:p>
          <a:p>
            <a:pPr>
              <a:spcAft>
                <a:spcPts val="1000"/>
              </a:spcAft>
            </a:pPr>
            <a:r>
              <a:rPr sz="1800" b="0">
                <a:solidFill>
                  <a:srgbClr val="161B26"/>
                </a:solidFill>
                <a:latin typeface="Arial"/>
              </a:rPr>
              <a:t>•  Trust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756</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SAML Federation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58790" y="1801368"/>
            <a:ext cx="724393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58_0.jpg"/>
          <p:cNvPicPr>
            <a:picLocks noChangeAspect="1"/>
          </p:cNvPicPr>
          <p:nvPr/>
        </p:nvPicPr>
        <p:blipFill>
          <a:blip r:embed="rId2"/>
          <a:stretch>
            <a:fillRect/>
          </a:stretch>
        </p:blipFill>
        <p:spPr>
          <a:xfrm>
            <a:off x="2486222" y="1828800"/>
            <a:ext cx="718907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Enterprises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757</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Custom Identity Broker Application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12503" y="1801368"/>
            <a:ext cx="773651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59_0.jpg"/>
          <p:cNvPicPr>
            <a:picLocks noChangeAspect="1"/>
          </p:cNvPicPr>
          <p:nvPr/>
        </p:nvPicPr>
        <p:blipFill>
          <a:blip r:embed="rId2"/>
          <a:stretch>
            <a:fillRect/>
          </a:stretch>
        </p:blipFill>
        <p:spPr>
          <a:xfrm>
            <a:off x="2239935" y="1828800"/>
            <a:ext cx="768164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Enterprises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758</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Cognito - Federated Identity Pools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Public Applications</a:t>
            </a:r>
          </a:p>
          <a:p>
            <a:pPr>
              <a:spcAft>
                <a:spcPts val="1000"/>
              </a:spcAft>
            </a:pPr>
            <a:r>
              <a:rPr sz="1800" b="0">
                <a:solidFill>
                  <a:srgbClr val="161B26"/>
                </a:solidFill>
                <a:latin typeface="Arial"/>
              </a:rPr>
              <a:t>•  Goal:</a:t>
            </a:r>
          </a:p>
          <a:p>
            <a:pPr>
              <a:spcAft>
                <a:spcPts val="1000"/>
              </a:spcAft>
            </a:pPr>
            <a:r>
              <a:rPr sz="1800" b="0">
                <a:solidFill>
                  <a:srgbClr val="161B26"/>
                </a:solidFill>
                <a:latin typeface="Arial"/>
              </a:rPr>
              <a:t>•  Provide direct access to AWS Resources from the Client Side</a:t>
            </a:r>
          </a:p>
          <a:p>
            <a:pPr>
              <a:spcAft>
                <a:spcPts val="1000"/>
              </a:spcAft>
            </a:pPr>
            <a:r>
              <a:rPr sz="1800" b="0">
                <a:solidFill>
                  <a:srgbClr val="161B26"/>
                </a:solidFill>
                <a:latin typeface="Arial"/>
              </a:rPr>
              <a:t>•  How:</a:t>
            </a:r>
          </a:p>
          <a:p>
            <a:pPr>
              <a:spcAft>
                <a:spcPts val="1000"/>
              </a:spcAft>
            </a:pPr>
            <a:r>
              <a:rPr sz="1800" b="0">
                <a:solidFill>
                  <a:srgbClr val="161B26"/>
                </a:solidFill>
                <a:latin typeface="Arial"/>
              </a:rPr>
              <a:t>•  Log in to federated identity provider – or remain anonymous</a:t>
            </a:r>
          </a:p>
          <a:p>
            <a:pPr>
              <a:spcAft>
                <a:spcPts val="1000"/>
              </a:spcAft>
            </a:pPr>
            <a:r>
              <a:rPr sz="1800" b="0">
                <a:solidFill>
                  <a:srgbClr val="161B26"/>
                </a:solidFill>
                <a:latin typeface="Arial"/>
              </a:rPr>
              <a:t>•  Get temporary AWS credentials back from the Federated Identity Pool</a:t>
            </a:r>
          </a:p>
          <a:p>
            <a:pPr>
              <a:spcAft>
                <a:spcPts val="1000"/>
              </a:spcAft>
            </a:pPr>
            <a:r>
              <a:rPr sz="1800" b="0">
                <a:solidFill>
                  <a:srgbClr val="161B26"/>
                </a:solidFill>
                <a:latin typeface="Arial"/>
              </a:rPr>
              <a:t>•  These credentials come with a pre-defined IAM policy stating their permissions</a:t>
            </a:r>
          </a:p>
          <a:p>
            <a:pPr>
              <a:spcAft>
                <a:spcPts val="1000"/>
              </a:spcAft>
            </a:pPr>
            <a:r>
              <a:rPr sz="1800" b="0">
                <a:solidFill>
                  <a:srgbClr val="161B26"/>
                </a:solidFill>
                <a:latin typeface="Arial"/>
              </a:rPr>
              <a:t>•  Example:</a:t>
            </a:r>
          </a:p>
          <a:p>
            <a:pPr>
              <a:spcAft>
                <a:spcPts val="1000"/>
              </a:spcAft>
            </a:pPr>
            <a:r>
              <a:rPr sz="1800" b="0">
                <a:solidFill>
                  <a:srgbClr val="161B26"/>
                </a:solidFill>
                <a:latin typeface="Arial"/>
              </a:rPr>
              <a:t>•  provide (temporary) access to write to S3 bucket using Facebook Login</a:t>
            </a:r>
          </a:p>
          <a:p>
            <a:pPr>
              <a:spcAft>
                <a:spcPts val="1000"/>
              </a:spcAft>
            </a:pPr>
            <a:r>
              <a:rPr sz="1800" b="0">
                <a:solidFill>
                  <a:srgbClr val="161B26"/>
                </a:solidFill>
                <a:latin typeface="Arial"/>
              </a:rPr>
              <a:t>•  Note:</a:t>
            </a:r>
          </a:p>
          <a:p>
            <a:pPr>
              <a:spcAft>
                <a:spcPts val="1000"/>
              </a:spcAft>
            </a:pPr>
            <a:r>
              <a:rPr sz="1800" b="0">
                <a:solidFill>
                  <a:srgbClr val="161B26"/>
                </a:solidFill>
                <a:latin typeface="Arial"/>
              </a:rPr>
              <a:t>•  Web Identity Federation is an alternative to using Cognito but AWS recommends against it</a:t>
            </a:r>
          </a:p>
          <a:p>
            <a:pPr>
              <a:spcAft>
                <a:spcPts val="1000"/>
              </a:spcAft>
            </a:pPr>
            <a:r>
              <a:rPr sz="1800" b="0">
                <a:solidFill>
                  <a:srgbClr val="161B26"/>
                </a:solidFill>
                <a:latin typeface="Arial"/>
              </a:rPr>
              <a:t>•  Federated Identity</a:t>
            </a:r>
          </a:p>
          <a:p>
            <a:pPr>
              <a:spcAft>
                <a:spcPts val="1000"/>
              </a:spcAft>
            </a:pPr>
            <a:r>
              <a:rPr sz="1800" b="0">
                <a:solidFill>
                  <a:srgbClr val="161B26"/>
                </a:solidFill>
                <a:latin typeface="Arial"/>
              </a:rPr>
              <a:t>•  Authenticate to FIP</a:t>
            </a:r>
          </a:p>
          <a:p>
            <a:pPr>
              <a:spcAft>
                <a:spcPts val="1000"/>
              </a:spcAft>
            </a:pPr>
            <a:r>
              <a:rPr sz="1800" b="0">
                <a:solidFill>
                  <a:srgbClr val="161B26"/>
                </a:solidFill>
                <a:latin typeface="Arial"/>
              </a:rPr>
              <a:t>•  temp AWS credentials</a:t>
            </a:r>
          </a:p>
          <a:p>
            <a:pPr>
              <a:spcAft>
                <a:spcPts val="1000"/>
              </a:spcAft>
            </a:pPr>
            <a:r>
              <a:rPr sz="1800" b="0">
                <a:solidFill>
                  <a:srgbClr val="161B26"/>
                </a:solidFill>
                <a:latin typeface="Arial"/>
              </a:rPr>
              <a:t>•  Identity Provider</a:t>
            </a:r>
          </a:p>
          <a:p>
            <a:pPr>
              <a:spcAft>
                <a:spcPts val="1000"/>
              </a:spcAft>
            </a:pPr>
            <a:r>
              <a:rPr sz="1800" b="0">
                <a:solidFill>
                  <a:srgbClr val="161B26"/>
                </a:solidFill>
                <a:latin typeface="Arial"/>
              </a:rPr>
              <a:t>•  CUP	  Google</a:t>
            </a:r>
          </a:p>
          <a:p>
            <a:pPr>
              <a:spcAft>
                <a:spcPts val="1000"/>
              </a:spcAft>
            </a:pPr>
            <a:r>
              <a:rPr sz="1800" b="0">
                <a:solidFill>
                  <a:srgbClr val="161B26"/>
                </a:solidFill>
                <a:latin typeface="Arial"/>
              </a:rPr>
              <a:t>•  Facebook</a:t>
            </a:r>
          </a:p>
          <a:p>
            <a:pPr>
              <a:spcAft>
                <a:spcPts val="1000"/>
              </a:spcAft>
            </a:pPr>
            <a:r>
              <a:rPr sz="1800" b="0">
                <a:solidFill>
                  <a:srgbClr val="161B26"/>
                </a:solidFill>
                <a:latin typeface="Arial"/>
              </a:rPr>
              <a:t>•  Twitter SAML</a:t>
            </a:r>
          </a:p>
          <a:p>
            <a:pPr>
              <a:spcAft>
                <a:spcPts val="1000"/>
              </a:spcAft>
            </a:pPr>
            <a:r>
              <a:rPr sz="1800" b="0">
                <a:solidFill>
                  <a:srgbClr val="161B26"/>
                </a:solidFill>
                <a:latin typeface="Arial"/>
              </a:rPr>
              <a:t>•  OpenID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login</a:t>
            </a:r>
          </a:p>
          <a:p>
            <a:pPr>
              <a:spcAft>
                <a:spcPts val="1000"/>
              </a:spcAft>
            </a:pPr>
            <a:r>
              <a:rPr sz="1800" b="0">
                <a:solidFill>
                  <a:srgbClr val="161B26"/>
                </a:solidFill>
                <a:latin typeface="Arial"/>
              </a:rPr>
              <a:t>•  token</a:t>
            </a:r>
          </a:p>
          <a:p>
            <a:pPr>
              <a:spcAft>
                <a:spcPts val="1000"/>
              </a:spcAft>
            </a:pPr>
            <a:r>
              <a:rPr sz="1800" b="0">
                <a:solidFill>
                  <a:srgbClr val="161B26"/>
                </a:solidFill>
                <a:latin typeface="Arial"/>
              </a:rPr>
              <a:t>•  verify token</a:t>
            </a:r>
          </a:p>
          <a:p>
            <a:pPr>
              <a:spcAft>
                <a:spcPts val="1000"/>
              </a:spcAft>
            </a:pPr>
            <a:r>
              <a:rPr sz="1800" b="0">
                <a:solidFill>
                  <a:srgbClr val="161B26"/>
                </a:solidFill>
                <a:latin typeface="Arial"/>
              </a:rPr>
              <a:t>•  Get credentials</a:t>
            </a:r>
          </a:p>
          <a:p>
            <a:pPr>
              <a:spcAft>
                <a:spcPts val="1000"/>
              </a:spcAft>
            </a:pPr>
            <a:r>
              <a:rPr sz="1800" b="0">
                <a:solidFill>
                  <a:srgbClr val="161B26"/>
                </a:solidFill>
                <a:latin typeface="Arial"/>
              </a:rPr>
              <a:t>•  Amazon S3 bucket</a:t>
            </a:r>
          </a:p>
          <a:p>
            <a:pPr>
              <a:spcAft>
                <a:spcPts val="1000"/>
              </a:spcAft>
            </a:pPr>
            <a:r>
              <a:rPr sz="1800" b="0">
                <a:solidFill>
                  <a:srgbClr val="161B26"/>
                </a:solidFill>
                <a:latin typeface="Arial"/>
              </a:rPr>
              <a:t>•  App</a:t>
            </a:r>
          </a:p>
          <a:p>
            <a:pPr>
              <a:spcAft>
                <a:spcPts val="1000"/>
              </a:spcAft>
            </a:pPr>
            <a:r>
              <a:rPr sz="1800" b="0">
                <a:solidFill>
                  <a:srgbClr val="161B26"/>
                </a:solidFill>
                <a:latin typeface="Arial"/>
              </a:rPr>
              <a:t>•  call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759</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STS - Security Token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to grant limited and temporary access to AWS resources.</a:t>
            </a:r>
          </a:p>
          <a:p>
            <a:pPr>
              <a:spcAft>
                <a:spcPts val="1000"/>
              </a:spcAft>
            </a:pPr>
            <a:r>
              <a:rPr sz="1800" b="0">
                <a:solidFill>
                  <a:srgbClr val="161B26"/>
                </a:solidFill>
                <a:latin typeface="Arial"/>
              </a:rPr>
              <a:t>•  Token is valid for up to one hour (must be refreshed)</a:t>
            </a:r>
          </a:p>
          <a:p>
            <a:pPr>
              <a:spcAft>
                <a:spcPts val="1000"/>
              </a:spcAft>
            </a:pPr>
            <a:r>
              <a:rPr sz="1800" b="0">
                <a:solidFill>
                  <a:srgbClr val="161B26"/>
                </a:solidFill>
                <a:latin typeface="Arial"/>
              </a:rPr>
              <a:t>•  AssumeRole</a:t>
            </a:r>
          </a:p>
          <a:p>
            <a:pPr>
              <a:spcAft>
                <a:spcPts val="1000"/>
              </a:spcAft>
            </a:pPr>
            <a:r>
              <a:rPr sz="1800" b="0">
                <a:solidFill>
                  <a:srgbClr val="161B26"/>
                </a:solidFill>
                <a:latin typeface="Arial"/>
              </a:rPr>
              <a:t>•  Within your own account: for enhanced security</a:t>
            </a:r>
          </a:p>
          <a:p>
            <a:pPr>
              <a:spcAft>
                <a:spcPts val="1000"/>
              </a:spcAft>
            </a:pPr>
            <a:r>
              <a:rPr sz="1800" b="0">
                <a:solidFill>
                  <a:srgbClr val="161B26"/>
                </a:solidFill>
                <a:latin typeface="Arial"/>
              </a:rPr>
              <a:t>•  Cross Account Access: assume role in target account to perform actions there</a:t>
            </a:r>
          </a:p>
          <a:p>
            <a:pPr>
              <a:spcAft>
                <a:spcPts val="1000"/>
              </a:spcAft>
            </a:pPr>
            <a:r>
              <a:rPr sz="1800" b="0">
                <a:solidFill>
                  <a:srgbClr val="161B26"/>
                </a:solidFill>
                <a:latin typeface="Arial"/>
              </a:rPr>
              <a:t>•  AssumeROleWithSAML</a:t>
            </a:r>
          </a:p>
          <a:p>
            <a:pPr>
              <a:spcAft>
                <a:spcPts val="1000"/>
              </a:spcAft>
            </a:pPr>
            <a:r>
              <a:rPr sz="1800" b="0">
                <a:solidFill>
                  <a:srgbClr val="161B26"/>
                </a:solidFill>
                <a:latin typeface="Arial"/>
              </a:rPr>
              <a:t>•  return credentials for users logged with SAML</a:t>
            </a:r>
          </a:p>
          <a:p>
            <a:pPr>
              <a:spcAft>
                <a:spcPts val="1000"/>
              </a:spcAft>
            </a:pPr>
            <a:r>
              <a:rPr sz="1800" b="0">
                <a:solidFill>
                  <a:srgbClr val="161B26"/>
                </a:solidFill>
                <a:latin typeface="Arial"/>
              </a:rPr>
              <a:t>•  AssumeRoleWithWebIdentity</a:t>
            </a:r>
          </a:p>
          <a:p>
            <a:pPr>
              <a:spcAft>
                <a:spcPts val="1000"/>
              </a:spcAft>
            </a:pPr>
            <a:r>
              <a:rPr sz="1800" b="0">
                <a:solidFill>
                  <a:srgbClr val="161B26"/>
                </a:solidFill>
                <a:latin typeface="Arial"/>
              </a:rPr>
              <a:t>•  return creds for users logged with an IdP (Facebook Login, Google Login, OIDC compatible…)</a:t>
            </a:r>
          </a:p>
          <a:p>
            <a:pPr>
              <a:spcAft>
                <a:spcPts val="1000"/>
              </a:spcAft>
            </a:pPr>
            <a:r>
              <a:rPr sz="1800" b="0">
                <a:solidFill>
                  <a:srgbClr val="161B26"/>
                </a:solidFill>
                <a:latin typeface="Arial"/>
              </a:rPr>
              <a:t>•  AWS recommends against using this, and using Cognito instead</a:t>
            </a:r>
          </a:p>
          <a:p>
            <a:pPr>
              <a:spcAft>
                <a:spcPts val="1000"/>
              </a:spcAft>
            </a:pPr>
            <a:r>
              <a:rPr sz="1800" b="0">
                <a:solidFill>
                  <a:srgbClr val="161B26"/>
                </a:solidFill>
                <a:latin typeface="Arial"/>
              </a:rPr>
              <a:t>•  GetSessionToken</a:t>
            </a:r>
          </a:p>
          <a:p>
            <a:pPr>
              <a:spcAft>
                <a:spcPts val="1000"/>
              </a:spcAft>
            </a:pPr>
            <a:r>
              <a:rPr sz="1800" b="0">
                <a:solidFill>
                  <a:srgbClr val="161B26"/>
                </a:solidFill>
                <a:latin typeface="Arial"/>
              </a:rPr>
              <a:t>•  for MFA, from a user or AWS account root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760</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Using STS to Assume a Role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Define an IAM Role within your account or cross-account</a:t>
            </a:r>
          </a:p>
          <a:p>
            <a:pPr>
              <a:spcAft>
                <a:spcPts val="1000"/>
              </a:spcAft>
            </a:pPr>
            <a:r>
              <a:rPr sz="1800" b="0">
                <a:solidFill>
                  <a:srgbClr val="161B26"/>
                </a:solidFill>
                <a:latin typeface="Arial"/>
              </a:rPr>
              <a:t>•  Define which principals can access this IAM Role</a:t>
            </a:r>
          </a:p>
          <a:p>
            <a:pPr>
              <a:spcAft>
                <a:spcPts val="1000"/>
              </a:spcAft>
            </a:pPr>
            <a:r>
              <a:rPr sz="1800" b="0">
                <a:solidFill>
                  <a:srgbClr val="161B26"/>
                </a:solidFill>
                <a:latin typeface="Arial"/>
              </a:rPr>
              <a:t>•  Use AWS STS (Security Token Service) to retrieve credentials and impersonate the IAM Role you have access to (AssumeRole API)</a:t>
            </a:r>
          </a:p>
          <a:p>
            <a:pPr>
              <a:spcAft>
                <a:spcPts val="1000"/>
              </a:spcAft>
            </a:pPr>
            <a:r>
              <a:rPr sz="1800" b="0">
                <a:solidFill>
                  <a:srgbClr val="161B26"/>
                </a:solidFill>
                <a:latin typeface="Arial"/>
              </a:rPr>
              <a:t>•  Temporary credentials can be valid between 15 minutes to 1 hour</a:t>
            </a:r>
          </a:p>
          <a:p>
            <a:pPr>
              <a:spcAft>
                <a:spcPts val="1000"/>
              </a:spcAft>
            </a:pPr>
            <a:r>
              <a:rPr sz="1800" b="0">
                <a:solidFill>
                  <a:srgbClr val="161B26"/>
                </a:solidFill>
                <a:latin typeface="Arial"/>
              </a:rPr>
              <a:t>•  AWS STS</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Role (same or other account)</a:t>
            </a:r>
          </a:p>
          <a:p>
            <a:pPr>
              <a:spcAft>
                <a:spcPts val="1000"/>
              </a:spcAft>
            </a:pPr>
            <a:r>
              <a:rPr sz="1800" b="0">
                <a:solidFill>
                  <a:srgbClr val="161B26"/>
                </a:solidFill>
                <a:latin typeface="Arial"/>
              </a:rPr>
              <a:t>•  temporary security credential</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AssumeRole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761</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 - Account Access with 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(UpdateApp)</a:t>
            </a:r>
          </a:p>
          <a:p>
            <a:pPr>
              <a:spcAft>
                <a:spcPts val="1000"/>
              </a:spcAft>
            </a:pPr>
            <a:r>
              <a:rPr sz="1800" b="0">
                <a:solidFill>
                  <a:srgbClr val="161B26"/>
                </a:solidFill>
                <a:latin typeface="Arial"/>
              </a:rPr>
              <a:t>•  Production Account</a:t>
            </a:r>
          </a:p>
          <a:p>
            <a:pPr>
              <a:spcAft>
                <a:spcPts val="1000"/>
              </a:spcAft>
            </a:pPr>
            <a:r>
              <a:rPr sz="1800" b="0">
                <a:solidFill>
                  <a:srgbClr val="161B26"/>
                </a:solidFill>
                <a:latin typeface="Arial"/>
              </a:rPr>
              <a:t>•  1. Admin creates an IAM role that grants the Development account access to productionapp S3 bucket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(productionapp)</a:t>
            </a:r>
          </a:p>
          <a:p>
            <a:pPr>
              <a:spcAft>
                <a:spcPts val="1000"/>
              </a:spcAft>
            </a:pPr>
            <a:r>
              <a:rPr sz="1800" b="0">
                <a:solidFill>
                  <a:srgbClr val="161B26"/>
                </a:solidFill>
                <a:latin typeface="Arial"/>
              </a:rPr>
              <a:t>•  IAM Group</a:t>
            </a:r>
          </a:p>
          <a:p>
            <a:pPr>
              <a:spcAft>
                <a:spcPts val="1000"/>
              </a:spcAft>
            </a:pPr>
            <a:r>
              <a:rPr sz="1800" b="0">
                <a:solidFill>
                  <a:srgbClr val="161B26"/>
                </a:solidFill>
                <a:latin typeface="Arial"/>
              </a:rPr>
              <a:t>•  (Developers)</a:t>
            </a:r>
          </a:p>
          <a:p>
            <a:pPr>
              <a:spcAft>
                <a:spcPts val="1000"/>
              </a:spcAft>
            </a:pPr>
            <a:r>
              <a:rPr sz="1800" b="0">
                <a:solidFill>
                  <a:srgbClr val="161B26"/>
                </a:solidFill>
                <a:latin typeface="Arial"/>
              </a:rPr>
              <a:t>•  IAM Group</a:t>
            </a:r>
          </a:p>
          <a:p>
            <a:pPr>
              <a:spcAft>
                <a:spcPts val="1000"/>
              </a:spcAft>
            </a:pPr>
            <a:r>
              <a:rPr sz="1800" b="0">
                <a:solidFill>
                  <a:srgbClr val="161B26"/>
                </a:solidFill>
                <a:latin typeface="Arial"/>
              </a:rPr>
              <a:t>•  (Testers)</a:t>
            </a:r>
          </a:p>
          <a:p>
            <a:pPr>
              <a:spcAft>
                <a:spcPts val="1000"/>
              </a:spcAft>
            </a:pPr>
            <a:r>
              <a:rPr sz="1800" b="0">
                <a:solidFill>
                  <a:srgbClr val="161B26"/>
                </a:solidFill>
                <a:latin typeface="Arial"/>
              </a:rPr>
              <a:t>•  Development Account</a:t>
            </a:r>
          </a:p>
          <a:p>
            <a:pPr>
              <a:spcAft>
                <a:spcPts val="1000"/>
              </a:spcAft>
            </a:pPr>
            <a:r>
              <a:rPr sz="1800" b="0">
                <a:solidFill>
                  <a:srgbClr val="161B26"/>
                </a:solidFill>
                <a:latin typeface="Arial"/>
              </a:rPr>
              <a:t>•  2. Admin grants members Developers</a:t>
            </a:r>
          </a:p>
          <a:p>
            <a:pPr>
              <a:spcAft>
                <a:spcPts val="1000"/>
              </a:spcAft>
            </a:pPr>
            <a:r>
              <a:rPr sz="1800" b="0">
                <a:solidFill>
                  <a:srgbClr val="161B26"/>
                </a:solidFill>
                <a:latin typeface="Arial"/>
              </a:rPr>
              <a:t>•  IAM Group permission to assume</a:t>
            </a:r>
          </a:p>
          <a:p>
            <a:pPr>
              <a:spcAft>
                <a:spcPts val="1000"/>
              </a:spcAft>
            </a:pPr>
            <a:r>
              <a:rPr sz="1800" b="0">
                <a:solidFill>
                  <a:srgbClr val="161B26"/>
                </a:solidFill>
                <a:latin typeface="Arial"/>
              </a:rPr>
              <a:t>•  UpdateApp IAM Role</a:t>
            </a:r>
          </a:p>
          <a:p>
            <a:pPr>
              <a:spcAft>
                <a:spcPts val="1000"/>
              </a:spcAft>
            </a:pPr>
            <a:r>
              <a:rPr sz="1800" b="0">
                <a:solidFill>
                  <a:srgbClr val="161B26"/>
                </a:solidFill>
                <a:latin typeface="Arial"/>
              </a:rPr>
              <a:t>•  3. AssumeRole</a:t>
            </a:r>
          </a:p>
          <a:p>
            <a:pPr>
              <a:spcAft>
                <a:spcPts val="1000"/>
              </a:spcAft>
            </a:pPr>
            <a:r>
              <a:rPr sz="1800" b="0">
                <a:solidFill>
                  <a:srgbClr val="161B26"/>
                </a:solidFill>
                <a:latin typeface="Arial"/>
              </a:rPr>
              <a:t>•  4. STS Role Credentials</a:t>
            </a:r>
          </a:p>
          <a:p>
            <a:pPr>
              <a:spcAft>
                <a:spcPts val="1000"/>
              </a:spcAft>
            </a:pPr>
            <a:r>
              <a:rPr sz="1800" b="0">
                <a:solidFill>
                  <a:srgbClr val="161B26"/>
                </a:solidFill>
                <a:latin typeface="Arial"/>
              </a:rPr>
              <a:t>•  5. Access Bucket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762</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(CUP) - User Features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a serverless database of user for your web &amp; mobile apps</a:t>
            </a:r>
          </a:p>
          <a:p>
            <a:pPr>
              <a:spcAft>
                <a:spcPts val="1000"/>
              </a:spcAft>
            </a:pPr>
            <a:r>
              <a:rPr sz="1800" b="0">
                <a:solidFill>
                  <a:srgbClr val="161B26"/>
                </a:solidFill>
                <a:latin typeface="Arial"/>
              </a:rPr>
              <a:t>•  Simple login: Username (or email) / password combination</a:t>
            </a:r>
          </a:p>
          <a:p>
            <a:pPr>
              <a:spcAft>
                <a:spcPts val="1000"/>
              </a:spcAft>
            </a:pPr>
            <a:r>
              <a:rPr sz="1800" b="0">
                <a:solidFill>
                  <a:srgbClr val="161B26"/>
                </a:solidFill>
                <a:latin typeface="Arial"/>
              </a:rPr>
              <a:t>•  Password reset</a:t>
            </a:r>
          </a:p>
          <a:p>
            <a:pPr>
              <a:spcAft>
                <a:spcPts val="1000"/>
              </a:spcAft>
            </a:pPr>
            <a:r>
              <a:rPr sz="1800" b="0">
                <a:solidFill>
                  <a:srgbClr val="161B26"/>
                </a:solidFill>
                <a:latin typeface="Arial"/>
              </a:rPr>
              <a:t>•  Email &amp; Phone Number Verification</a:t>
            </a:r>
          </a:p>
          <a:p>
            <a:pPr>
              <a:spcAft>
                <a:spcPts val="1000"/>
              </a:spcAft>
            </a:pPr>
            <a:r>
              <a:rPr sz="1800" b="0">
                <a:solidFill>
                  <a:srgbClr val="161B26"/>
                </a:solidFill>
                <a:latin typeface="Arial"/>
              </a:rPr>
              <a:t>•  Multi-factor authentication (MFA)</a:t>
            </a:r>
          </a:p>
          <a:p>
            <a:pPr>
              <a:spcAft>
                <a:spcPts val="1000"/>
              </a:spcAft>
            </a:pPr>
            <a:r>
              <a:rPr sz="1800" b="0">
                <a:solidFill>
                  <a:srgbClr val="161B26"/>
                </a:solidFill>
                <a:latin typeface="Arial"/>
              </a:rPr>
              <a:t>•  Federated Identities: users from Facebook, Google, SAML…</a:t>
            </a:r>
          </a:p>
          <a:p>
            <a:pPr>
              <a:spcAft>
                <a:spcPts val="1000"/>
              </a:spcAft>
            </a:pPr>
            <a:r>
              <a:rPr sz="1800" b="0">
                <a:solidFill>
                  <a:srgbClr val="161B26"/>
                </a:solidFill>
                <a:latin typeface="Arial"/>
              </a:rPr>
              <a:t>•  Feature: block users if their credentials are compromised elsewhere</a:t>
            </a:r>
          </a:p>
          <a:p>
            <a:pPr>
              <a:spcAft>
                <a:spcPts val="1000"/>
              </a:spcAft>
            </a:pPr>
            <a:r>
              <a:rPr sz="1800" b="0">
                <a:solidFill>
                  <a:srgbClr val="161B26"/>
                </a:solidFill>
                <a:latin typeface="Arial"/>
              </a:rPr>
              <a:t>•  Login sends back a JSON Web Token (JWT)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763</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(CUP) -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Federation through</a:t>
            </a:r>
          </a:p>
          <a:p>
            <a:pPr>
              <a:spcAft>
                <a:spcPts val="1000"/>
              </a:spcAft>
            </a:pPr>
            <a:r>
              <a:rPr sz="1800" b="0">
                <a:solidFill>
                  <a:srgbClr val="161B26"/>
                </a:solidFill>
                <a:latin typeface="Arial"/>
              </a:rPr>
              <a:t>•  Third Party Identity Provider (IdP)</a:t>
            </a:r>
          </a:p>
          <a:p>
            <a:pPr>
              <a:spcAft>
                <a:spcPts val="1000"/>
              </a:spcAft>
            </a:pPr>
            <a:r>
              <a:rPr sz="1800" b="0">
                <a:solidFill>
                  <a:srgbClr val="161B26"/>
                </a:solidFill>
                <a:latin typeface="Arial"/>
              </a:rPr>
              <a:t>•  Database of Users</a:t>
            </a:r>
          </a:p>
          <a:p>
            <a:pPr>
              <a:spcAft>
                <a:spcPts val="1000"/>
              </a:spcAft>
            </a:pPr>
            <a:r>
              <a:rPr sz="1800" b="0">
                <a:solidFill>
                  <a:srgbClr val="161B26"/>
                </a:solidFill>
                <a:latin typeface="Arial"/>
              </a:rPr>
              <a:t>•  Web Applications</a:t>
            </a:r>
          </a:p>
          <a:p>
            <a:pPr>
              <a:spcAft>
                <a:spcPts val="1000"/>
              </a:spcAft>
            </a:pPr>
            <a:r>
              <a:rPr sz="1800" b="0">
                <a:solidFill>
                  <a:srgbClr val="161B26"/>
                </a:solidFill>
                <a:latin typeface="Arial"/>
              </a:rPr>
              <a:t>•  Mobile Applications</a:t>
            </a:r>
          </a:p>
          <a:p>
            <a:pPr>
              <a:spcAft>
                <a:spcPts val="1000"/>
              </a:spcAft>
            </a:pPr>
            <a:r>
              <a:rPr sz="1800" b="0">
                <a:solidFill>
                  <a:srgbClr val="161B26"/>
                </a:solidFill>
                <a:latin typeface="Arial"/>
              </a:rPr>
              <a:t>•  Social Identity Provider</a:t>
            </a:r>
          </a:p>
          <a:p>
            <a:pPr>
              <a:spcAft>
                <a:spcPts val="1000"/>
              </a:spcAft>
            </a:pPr>
            <a:r>
              <a:rPr sz="1800" b="0">
                <a:solidFill>
                  <a:srgbClr val="161B26"/>
                </a:solidFill>
                <a:latin typeface="Arial"/>
              </a:rPr>
              <a:t>•  Returns JSON Web Token</a:t>
            </a:r>
          </a:p>
          <a:p>
            <a:pPr>
              <a:spcAft>
                <a:spcPts val="1000"/>
              </a:spcAft>
            </a:pPr>
            <a:r>
              <a:rPr sz="1800" b="0">
                <a:solidFill>
                  <a:srgbClr val="161B26"/>
                </a:solidFill>
                <a:latin typeface="Arial"/>
              </a:rPr>
              <a:t>•  JWT</a:t>
            </a:r>
          </a:p>
          <a:p>
            <a:pPr>
              <a:spcAft>
                <a:spcPts val="1000"/>
              </a:spcAft>
            </a:pPr>
            <a:r>
              <a:rPr sz="1800" b="0">
                <a:solidFill>
                  <a:srgbClr val="161B26"/>
                </a:solidFill>
                <a:latin typeface="Arial"/>
              </a:rPr>
              <a:t>•  login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764</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(CUP) - Integrations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CUP integrates with API Gateway and Application Load Balancer</a:t>
            </a:r>
          </a:p>
          <a:p>
            <a:pPr>
              <a:spcAft>
                <a:spcPts val="1000"/>
              </a:spcAft>
            </a:pPr>
            <a:r>
              <a:rPr sz="1800" b="0">
                <a:solidFill>
                  <a:srgbClr val="161B26"/>
                </a:solidFill>
                <a:latin typeface="Arial"/>
              </a:rPr>
              <a:t>•  REST API +</a:t>
            </a:r>
          </a:p>
          <a:p>
            <a:pPr>
              <a:spcAft>
                <a:spcPts val="1000"/>
              </a:spcAft>
            </a:pPr>
            <a:r>
              <a:rPr sz="1800" b="0">
                <a:solidFill>
                  <a:srgbClr val="161B26"/>
                </a:solidFill>
                <a:latin typeface="Arial"/>
              </a:rPr>
              <a:t>•  Pass Token</a:t>
            </a:r>
          </a:p>
          <a:p>
            <a:pPr>
              <a:spcAft>
                <a:spcPts val="1000"/>
              </a:spcAft>
            </a:pPr>
            <a:r>
              <a:rPr sz="1800" b="0">
                <a:solidFill>
                  <a:srgbClr val="161B26"/>
                </a:solidFill>
                <a:latin typeface="Arial"/>
              </a:rPr>
              <a:t>•  Evaluate Cognito Token</a:t>
            </a:r>
          </a:p>
          <a:p>
            <a:pPr>
              <a:spcAft>
                <a:spcPts val="1000"/>
              </a:spcAft>
            </a:pPr>
            <a:r>
              <a:rPr sz="1800" b="0">
                <a:solidFill>
                  <a:srgbClr val="161B26"/>
                </a:solidFill>
                <a:latin typeface="Arial"/>
              </a:rPr>
              <a:t>•  Authenticate Retrieve token</a:t>
            </a:r>
          </a:p>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 Listeners &amp; Rules</a:t>
            </a:r>
          </a:p>
          <a:p>
            <a:pPr>
              <a:spcAft>
                <a:spcPts val="1000"/>
              </a:spcAft>
            </a:pPr>
            <a:r>
              <a:rPr sz="1800" b="0">
                <a:solidFill>
                  <a:srgbClr val="161B26"/>
                </a:solidFill>
                <a:latin typeface="Arial"/>
              </a:rPr>
              <a:t>•  Authenticate</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Backend</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backend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765</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Cognito Identity Pools (Federated Identities)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identities for "users" so they obtain temporary AWS credentials</a:t>
            </a:r>
          </a:p>
          <a:p>
            <a:pPr>
              <a:spcAft>
                <a:spcPts val="1000"/>
              </a:spcAft>
            </a:pPr>
            <a:r>
              <a:rPr sz="1800" b="0">
                <a:solidFill>
                  <a:srgbClr val="161B26"/>
                </a:solidFill>
                <a:latin typeface="Arial"/>
              </a:rPr>
              <a:t>•  Your identity pool (e.g identity source) can include:</a:t>
            </a:r>
          </a:p>
          <a:p>
            <a:pPr>
              <a:spcAft>
                <a:spcPts val="1000"/>
              </a:spcAft>
            </a:pPr>
            <a:r>
              <a:rPr sz="1800" b="0">
                <a:solidFill>
                  <a:srgbClr val="161B26"/>
                </a:solidFill>
                <a:latin typeface="Arial"/>
              </a:rPr>
              <a:t>•  Public Providers (Login with Amazon, Facebook, Google, Apple)</a:t>
            </a:r>
          </a:p>
          <a:p>
            <a:pPr>
              <a:spcAft>
                <a:spcPts val="1000"/>
              </a:spcAft>
            </a:pPr>
            <a:r>
              <a:rPr sz="1800" b="0">
                <a:solidFill>
                  <a:srgbClr val="161B26"/>
                </a:solidFill>
                <a:latin typeface="Arial"/>
              </a:rPr>
              <a:t>•  Users in an Amazon Cognito user pool</a:t>
            </a:r>
          </a:p>
          <a:p>
            <a:pPr>
              <a:spcAft>
                <a:spcPts val="1000"/>
              </a:spcAft>
            </a:pPr>
            <a:r>
              <a:rPr sz="1800" b="0">
                <a:solidFill>
                  <a:srgbClr val="161B26"/>
                </a:solidFill>
                <a:latin typeface="Arial"/>
              </a:rPr>
              <a:t>•  OpenID Connect Providers &amp; SAML Identity Providers</a:t>
            </a:r>
          </a:p>
          <a:p>
            <a:pPr>
              <a:spcAft>
                <a:spcPts val="1000"/>
              </a:spcAft>
            </a:pPr>
            <a:r>
              <a:rPr sz="1800" b="0">
                <a:solidFill>
                  <a:srgbClr val="161B26"/>
                </a:solidFill>
                <a:latin typeface="Arial"/>
              </a:rPr>
              <a:t>•  Developer Authenticated Identities (custom login server)</a:t>
            </a:r>
          </a:p>
          <a:p>
            <a:pPr>
              <a:spcAft>
                <a:spcPts val="1000"/>
              </a:spcAft>
            </a:pPr>
            <a:r>
              <a:rPr sz="1800" b="0">
                <a:solidFill>
                  <a:srgbClr val="161B26"/>
                </a:solidFill>
                <a:latin typeface="Arial"/>
              </a:rPr>
              <a:t>•  Cognito Identity Pools allow for unauthenticated (guest) access</a:t>
            </a:r>
          </a:p>
          <a:p>
            <a:pPr>
              <a:spcAft>
                <a:spcPts val="1000"/>
              </a:spcAft>
            </a:pPr>
            <a:r>
              <a:rPr sz="1800" b="0">
                <a:solidFill>
                  <a:srgbClr val="161B26"/>
                </a:solidFill>
                <a:latin typeface="Arial"/>
              </a:rPr>
              <a:t>•  Users can then access AWS services directly or through API Gateway</a:t>
            </a:r>
          </a:p>
          <a:p>
            <a:pPr>
              <a:spcAft>
                <a:spcPts val="1000"/>
              </a:spcAft>
            </a:pPr>
            <a:r>
              <a:rPr sz="1800" b="0">
                <a:solidFill>
                  <a:srgbClr val="161B26"/>
                </a:solidFill>
                <a:latin typeface="Arial"/>
              </a:rPr>
              <a:t>•  The IAM policies applied to the credentials are defined in Cognito</a:t>
            </a:r>
          </a:p>
          <a:p>
            <a:pPr>
              <a:spcAft>
                <a:spcPts val="1000"/>
              </a:spcAft>
            </a:pPr>
            <a:r>
              <a:rPr sz="1800" b="0">
                <a:solidFill>
                  <a:srgbClr val="161B26"/>
                </a:solidFill>
                <a:latin typeface="Arial"/>
              </a:rPr>
              <a:t>•  They can be customized based on the user_id for fine grained control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766</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Identity Pools</a:t>
            </a:r>
          </a:p>
          <a:p>
            <a:pPr>
              <a:spcAft>
                <a:spcPts val="1000"/>
              </a:spcAft>
            </a:pPr>
            <a:r>
              <a:rPr sz="1800" b="0">
                <a:solidFill>
                  <a:srgbClr val="161B26"/>
                </a:solidFill>
                <a:latin typeface="Arial"/>
              </a:rPr>
              <a:t>•  Web &amp; Mobile Applications</a:t>
            </a:r>
          </a:p>
          <a:p>
            <a:pPr>
              <a:spcAft>
                <a:spcPts val="1000"/>
              </a:spcAft>
            </a:pPr>
            <a:r>
              <a:rPr sz="1800" b="0">
                <a:solidFill>
                  <a:srgbClr val="161B26"/>
                </a:solidFill>
                <a:latin typeface="Arial"/>
              </a:rPr>
              <a:t>•  Login and Get Token</a:t>
            </a:r>
          </a:p>
          <a:p>
            <a:pPr>
              <a:spcAft>
                <a:spcPts val="1000"/>
              </a:spcAft>
            </a:pPr>
            <a:r>
              <a:rPr sz="1800" b="0">
                <a:solidFill>
                  <a:srgbClr val="161B26"/>
                </a:solidFill>
                <a:latin typeface="Arial"/>
              </a:rPr>
              <a:t>•  Exchange token for temporary AWS credentials</a:t>
            </a:r>
          </a:p>
          <a:p>
            <a:pPr>
              <a:spcAft>
                <a:spcPts val="1000"/>
              </a:spcAft>
            </a:pPr>
            <a:r>
              <a:rPr sz="1800" b="0">
                <a:solidFill>
                  <a:srgbClr val="161B26"/>
                </a:solidFill>
                <a:latin typeface="Arial"/>
              </a:rPr>
              <a:t>•  validate</a:t>
            </a:r>
          </a:p>
          <a:p>
            <a:pPr>
              <a:spcAft>
                <a:spcPts val="1000"/>
              </a:spcAft>
            </a:pPr>
            <a:r>
              <a:rPr sz="1800" b="0">
                <a:solidFill>
                  <a:srgbClr val="161B26"/>
                </a:solidFill>
                <a:latin typeface="Arial"/>
              </a:rPr>
              <a:t>•  Get temp creds</a:t>
            </a:r>
          </a:p>
          <a:p>
            <a:pPr>
              <a:spcAft>
                <a:spcPts val="1000"/>
              </a:spcAft>
            </a:pPr>
            <a:r>
              <a:rPr sz="1800" b="0">
                <a:solidFill>
                  <a:srgbClr val="161B26"/>
                </a:solidFill>
                <a:latin typeface="Arial"/>
              </a:rPr>
              <a:t>•  Private S3 Bucket</a:t>
            </a:r>
          </a:p>
          <a:p>
            <a:pPr>
              <a:spcAft>
                <a:spcPts val="1000"/>
              </a:spcAft>
            </a:pPr>
            <a:r>
              <a:rPr sz="1800" b="0">
                <a:solidFill>
                  <a:srgbClr val="161B26"/>
                </a:solidFill>
                <a:latin typeface="Arial"/>
              </a:rPr>
              <a:t>•  DynamoDB Table</a:t>
            </a:r>
          </a:p>
          <a:p>
            <a:pPr>
              <a:spcAft>
                <a:spcPts val="1000"/>
              </a:spcAft>
            </a:pPr>
            <a:r>
              <a:rPr sz="1800" b="0">
                <a:solidFill>
                  <a:srgbClr val="161B26"/>
                </a:solidFill>
                <a:latin typeface="Arial"/>
              </a:rPr>
              <a:t>•  Direct access to AWS</a:t>
            </a:r>
          </a:p>
          <a:p>
            <a:pPr>
              <a:spcAft>
                <a:spcPts val="1000"/>
              </a:spcAft>
            </a:pPr>
            <a:r>
              <a:rPr sz="1800" b="0">
                <a:solidFill>
                  <a:srgbClr val="161B26"/>
                </a:solidFill>
                <a:latin typeface="Arial"/>
              </a:rPr>
              <a:t>•  Social Identity Provider</a:t>
            </a:r>
          </a:p>
          <a:p>
            <a:pPr>
              <a:spcAft>
                <a:spcPts val="1000"/>
              </a:spcAft>
            </a:pPr>
            <a:r>
              <a:rPr sz="1800" b="0">
                <a:solidFill>
                  <a:srgbClr val="161B26"/>
                </a:solidFill>
                <a:latin typeface="Arial"/>
              </a:rPr>
              <a:t>•  Cognito User Pools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767</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Diagram with CUP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Identity Pools</a:t>
            </a:r>
          </a:p>
          <a:p>
            <a:pPr>
              <a:spcAft>
                <a:spcPts val="1000"/>
              </a:spcAft>
            </a:pPr>
            <a:r>
              <a:rPr sz="1800" b="0">
                <a:solidFill>
                  <a:srgbClr val="161B26"/>
                </a:solidFill>
                <a:latin typeface="Arial"/>
              </a:rPr>
              <a:t>•  Web &amp; Mobile Applications</a:t>
            </a:r>
          </a:p>
          <a:p>
            <a:pPr>
              <a:spcAft>
                <a:spcPts val="1000"/>
              </a:spcAft>
            </a:pPr>
            <a:r>
              <a:rPr sz="1800" b="0">
                <a:solidFill>
                  <a:srgbClr val="161B26"/>
                </a:solidFill>
                <a:latin typeface="Arial"/>
              </a:rPr>
              <a:t>•  Login and Get Token</a:t>
            </a:r>
          </a:p>
          <a:p>
            <a:pPr>
              <a:spcAft>
                <a:spcPts val="1000"/>
              </a:spcAft>
            </a:pPr>
            <a:r>
              <a:rPr sz="1800" b="0">
                <a:solidFill>
                  <a:srgbClr val="161B26"/>
                </a:solidFill>
                <a:latin typeface="Arial"/>
              </a:rPr>
              <a:t>•  Exchange token for temporary AWS credentials</a:t>
            </a:r>
          </a:p>
          <a:p>
            <a:pPr>
              <a:spcAft>
                <a:spcPts val="1000"/>
              </a:spcAft>
            </a:pPr>
            <a:r>
              <a:rPr sz="1800" b="0">
                <a:solidFill>
                  <a:srgbClr val="161B26"/>
                </a:solidFill>
                <a:latin typeface="Arial"/>
              </a:rPr>
              <a:t>•  validate</a:t>
            </a:r>
          </a:p>
          <a:p>
            <a:pPr>
              <a:spcAft>
                <a:spcPts val="1000"/>
              </a:spcAft>
            </a:pPr>
            <a:r>
              <a:rPr sz="1800" b="0">
                <a:solidFill>
                  <a:srgbClr val="161B26"/>
                </a:solidFill>
                <a:latin typeface="Arial"/>
              </a:rPr>
              <a:t>•  Get temp creds</a:t>
            </a:r>
          </a:p>
          <a:p>
            <a:pPr>
              <a:spcAft>
                <a:spcPts val="1000"/>
              </a:spcAft>
            </a:pPr>
            <a:r>
              <a:rPr sz="1800" b="0">
                <a:solidFill>
                  <a:srgbClr val="161B26"/>
                </a:solidFill>
                <a:latin typeface="Arial"/>
              </a:rPr>
              <a:t>•  Private S3 Bucket</a:t>
            </a:r>
          </a:p>
          <a:p>
            <a:pPr>
              <a:spcAft>
                <a:spcPts val="1000"/>
              </a:spcAft>
            </a:pPr>
            <a:r>
              <a:rPr sz="1800" b="0">
                <a:solidFill>
                  <a:srgbClr val="161B26"/>
                </a:solidFill>
                <a:latin typeface="Arial"/>
              </a:rPr>
              <a:t>•  DynamoDB Table</a:t>
            </a:r>
          </a:p>
          <a:p>
            <a:pPr>
              <a:spcAft>
                <a:spcPts val="1000"/>
              </a:spcAft>
            </a:pPr>
            <a:r>
              <a:rPr sz="1800" b="0">
                <a:solidFill>
                  <a:srgbClr val="161B26"/>
                </a:solidFill>
                <a:latin typeface="Arial"/>
              </a:rPr>
              <a:t>•  Direct access to AWS</a:t>
            </a:r>
          </a:p>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Internal DB of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768</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IAM Roles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Default IAM roles for authenticated and guest users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Define rules to choose the role for each user based on the user’s ID</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You can partition your users’ access using policy variables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IAM credentials are obtained by Cognito Identity Pools through STS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The roles must have a “trust” policy of Cognito Identity Pools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769</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Cognito Identity Pools - Guest User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Cognito Identity Pools - Guest User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770</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Cognito Identity Pools - Policy variable on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Cognito Identity Pools - Policy variable on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771</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DynamoDB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Cognito Identity Pools - DynamoDB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772</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vs Identity Pools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User Pools (for authentication = identity verification)</a:t>
            </a:r>
          </a:p>
          <a:p>
            <a:pPr>
              <a:spcAft>
                <a:spcPts val="1000"/>
              </a:spcAft>
            </a:pPr>
            <a:r>
              <a:rPr sz="1800" b="0">
                <a:solidFill>
                  <a:srgbClr val="161B26"/>
                </a:solidFill>
                <a:latin typeface="Arial"/>
              </a:rPr>
              <a:t>•  Database of users for your web and mobile application</a:t>
            </a:r>
          </a:p>
          <a:p>
            <a:pPr>
              <a:spcAft>
                <a:spcPts val="1000"/>
              </a:spcAft>
            </a:pPr>
            <a:r>
              <a:rPr sz="1800" b="0">
                <a:solidFill>
                  <a:srgbClr val="161B26"/>
                </a:solidFill>
                <a:latin typeface="Arial"/>
              </a:rPr>
              <a:t>•  Allows to federate logins through Public Social, OIDC, SAML…</a:t>
            </a:r>
          </a:p>
          <a:p>
            <a:pPr>
              <a:spcAft>
                <a:spcPts val="1000"/>
              </a:spcAft>
            </a:pPr>
            <a:r>
              <a:rPr sz="1800" b="0">
                <a:solidFill>
                  <a:srgbClr val="161B26"/>
                </a:solidFill>
                <a:latin typeface="Arial"/>
              </a:rPr>
              <a:t>•  Can customize the hosted UI for authentication (including the logo)</a:t>
            </a:r>
          </a:p>
          <a:p>
            <a:pPr>
              <a:spcAft>
                <a:spcPts val="1000"/>
              </a:spcAft>
            </a:pPr>
            <a:r>
              <a:rPr sz="1800" b="0">
                <a:solidFill>
                  <a:srgbClr val="161B26"/>
                </a:solidFill>
                <a:latin typeface="Arial"/>
              </a:rPr>
              <a:t>•  Has triggers with AWS Lambda during the authentication flow</a:t>
            </a:r>
          </a:p>
          <a:p>
            <a:pPr>
              <a:spcAft>
                <a:spcPts val="1000"/>
              </a:spcAft>
            </a:pPr>
            <a:r>
              <a:rPr sz="1800" b="0">
                <a:solidFill>
                  <a:srgbClr val="161B26"/>
                </a:solidFill>
                <a:latin typeface="Arial"/>
              </a:rPr>
              <a:t>•  Adapt the sign-in experience to different risk levels (MFA, adaptive authentication, etc…)</a:t>
            </a:r>
          </a:p>
          <a:p>
            <a:pPr>
              <a:spcAft>
                <a:spcPts val="1000"/>
              </a:spcAft>
            </a:pPr>
            <a:r>
              <a:rPr sz="1800" b="0">
                <a:solidFill>
                  <a:srgbClr val="161B26"/>
                </a:solidFill>
                <a:latin typeface="Arial"/>
              </a:rPr>
              <a:t>•  Cognito Identity Pools (for authorization = access control)</a:t>
            </a:r>
          </a:p>
          <a:p>
            <a:pPr>
              <a:spcAft>
                <a:spcPts val="1000"/>
              </a:spcAft>
            </a:pPr>
            <a:r>
              <a:rPr sz="1800" b="0">
                <a:solidFill>
                  <a:srgbClr val="161B26"/>
                </a:solidFill>
                <a:latin typeface="Arial"/>
              </a:rPr>
              <a:t>•  Obtain AWS credentials for your users</a:t>
            </a:r>
          </a:p>
          <a:p>
            <a:pPr>
              <a:spcAft>
                <a:spcPts val="1000"/>
              </a:spcAft>
            </a:pPr>
            <a:r>
              <a:rPr sz="1800" b="0">
                <a:solidFill>
                  <a:srgbClr val="161B26"/>
                </a:solidFill>
                <a:latin typeface="Arial"/>
              </a:rPr>
              <a:t>•  Users can login through Public Social, OIDC, SAML &amp; Cognito User Pools</a:t>
            </a:r>
          </a:p>
          <a:p>
            <a:pPr>
              <a:spcAft>
                <a:spcPts val="1000"/>
              </a:spcAft>
            </a:pPr>
            <a:r>
              <a:rPr sz="1800" b="0">
                <a:solidFill>
                  <a:srgbClr val="161B26"/>
                </a:solidFill>
                <a:latin typeface="Arial"/>
              </a:rPr>
              <a:t>•  Users can be unauthenticated (guests)</a:t>
            </a:r>
          </a:p>
          <a:p>
            <a:pPr>
              <a:spcAft>
                <a:spcPts val="1000"/>
              </a:spcAft>
            </a:pPr>
            <a:r>
              <a:rPr sz="1800" b="0">
                <a:solidFill>
                  <a:srgbClr val="161B26"/>
                </a:solidFill>
                <a:latin typeface="Arial"/>
              </a:rPr>
              <a:t>•  Users are mapped to IAM roles &amp; policies, can leverage policy variables</a:t>
            </a:r>
          </a:p>
          <a:p>
            <a:pPr>
              <a:spcAft>
                <a:spcPts val="1000"/>
              </a:spcAft>
            </a:pPr>
            <a:r>
              <a:rPr sz="1800" b="0">
                <a:solidFill>
                  <a:srgbClr val="161B26"/>
                </a:solidFill>
                <a:latin typeface="Arial"/>
              </a:rPr>
              <a:t>•  CUP + CIP = authenication + authorization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773</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Route 53</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774</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DNS?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Domain Name System which translates the human friendly hostnames into the machine IP addresses</a:t>
            </a:r>
          </a:p>
          <a:p>
            <a:pPr>
              <a:spcAft>
                <a:spcPts val="1000"/>
              </a:spcAft>
            </a:pPr>
            <a:r>
              <a:rPr sz="2000" b="0">
                <a:solidFill>
                  <a:srgbClr val="161B26"/>
                </a:solidFill>
                <a:latin typeface="Arial"/>
              </a:rPr>
              <a:t>•  www.google.com =&gt; 172.217.18.36</a:t>
            </a:r>
          </a:p>
          <a:p>
            <a:pPr>
              <a:spcAft>
                <a:spcPts val="1000"/>
              </a:spcAft>
            </a:pPr>
            <a:r>
              <a:rPr sz="2000" b="0">
                <a:solidFill>
                  <a:srgbClr val="161B26"/>
                </a:solidFill>
                <a:latin typeface="Arial"/>
              </a:rPr>
              <a:t>•  DNS is the backbone of the Internet</a:t>
            </a:r>
          </a:p>
          <a:p>
            <a:pPr>
              <a:spcAft>
                <a:spcPts val="1000"/>
              </a:spcAft>
            </a:pPr>
            <a:r>
              <a:rPr sz="2000" b="0">
                <a:solidFill>
                  <a:srgbClr val="161B26"/>
                </a:solidFill>
                <a:latin typeface="Arial"/>
              </a:rPr>
              <a:t>•  DNS uses hierarchical naming structure</a:t>
            </a:r>
          </a:p>
          <a:p>
            <a:pPr>
              <a:spcAft>
                <a:spcPts val="1000"/>
              </a:spcAft>
            </a:pPr>
            <a:r>
              <a:rPr sz="2000" b="0">
                <a:solidFill>
                  <a:srgbClr val="161B26"/>
                </a:solidFill>
                <a:latin typeface="Arial"/>
              </a:rPr>
              <a:t>•  .com</a:t>
            </a:r>
          </a:p>
          <a:p>
            <a:pPr>
              <a:spcAft>
                <a:spcPts val="1000"/>
              </a:spcAft>
            </a:pPr>
            <a:r>
              <a:rPr sz="2000" b="0">
                <a:solidFill>
                  <a:srgbClr val="161B26"/>
                </a:solidFill>
                <a:latin typeface="Arial"/>
              </a:rPr>
              <a:t>•  example.com www.example.com api.example.com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775</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DNS Terminologies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TLD</a:t>
            </a:r>
          </a:p>
          <a:p>
            <a:pPr>
              <a:spcAft>
                <a:spcPts val="1000"/>
              </a:spcAft>
            </a:pPr>
            <a:r>
              <a:rPr sz="1800" b="0">
                <a:solidFill>
                  <a:srgbClr val="161B26"/>
                </a:solidFill>
                <a:latin typeface="Arial"/>
              </a:rPr>
              <a:t>•  SLD</a:t>
            </a:r>
          </a:p>
          <a:p>
            <a:pPr>
              <a:spcAft>
                <a:spcPts val="1000"/>
              </a:spcAft>
            </a:pPr>
            <a:r>
              <a:rPr sz="1800" b="0">
                <a:solidFill>
                  <a:srgbClr val="161B26"/>
                </a:solidFill>
                <a:latin typeface="Arial"/>
              </a:rPr>
              <a:t>•  Sub Domain</a:t>
            </a:r>
          </a:p>
          <a:p>
            <a:pPr>
              <a:spcAft>
                <a:spcPts val="1000"/>
              </a:spcAft>
            </a:pPr>
            <a:r>
              <a:rPr sz="1800" b="0">
                <a:solidFill>
                  <a:srgbClr val="161B26"/>
                </a:solidFill>
                <a:latin typeface="Arial"/>
              </a:rPr>
              <a:t>•  FQDN (Fully Qualified Domain Name)</a:t>
            </a:r>
          </a:p>
          <a:p>
            <a:pPr>
              <a:spcAft>
                <a:spcPts val="1000"/>
              </a:spcAft>
            </a:pPr>
            <a:r>
              <a:rPr sz="1800" b="0">
                <a:solidFill>
                  <a:srgbClr val="161B26"/>
                </a:solidFill>
                <a:latin typeface="Arial"/>
              </a:rPr>
              <a:t>•  Protocol</a:t>
            </a:r>
          </a:p>
          <a:p>
            <a:pPr>
              <a:spcAft>
                <a:spcPts val="1000"/>
              </a:spcAft>
            </a:pPr>
            <a:r>
              <a:rPr sz="1800" b="0">
                <a:solidFill>
                  <a:srgbClr val="161B26"/>
                </a:solidFill>
                <a:latin typeface="Arial"/>
              </a:rPr>
              <a:t>•  Root</a:t>
            </a:r>
          </a:p>
          <a:p>
            <a:pPr>
              <a:spcAft>
                <a:spcPts val="1000"/>
              </a:spcAft>
            </a:pPr>
            <a:r>
              <a:rPr sz="1800" b="0">
                <a:solidFill>
                  <a:srgbClr val="161B26"/>
                </a:solidFill>
                <a:latin typeface="Arial"/>
              </a:rPr>
              <a:t>•  Domain Registrar: Amazon Route 53, GoDaddy, …</a:t>
            </a:r>
          </a:p>
          <a:p>
            <a:pPr>
              <a:spcAft>
                <a:spcPts val="1000"/>
              </a:spcAft>
            </a:pPr>
            <a:r>
              <a:rPr sz="1800" b="0">
                <a:solidFill>
                  <a:srgbClr val="161B26"/>
                </a:solidFill>
                <a:latin typeface="Arial"/>
              </a:rPr>
              <a:t>•  DNS Records: A, AAAA, CNAME, NS, …</a:t>
            </a:r>
          </a:p>
          <a:p>
            <a:pPr>
              <a:spcAft>
                <a:spcPts val="1000"/>
              </a:spcAft>
            </a:pPr>
            <a:r>
              <a:rPr sz="1800" b="0">
                <a:solidFill>
                  <a:srgbClr val="161B26"/>
                </a:solidFill>
                <a:latin typeface="Arial"/>
              </a:rPr>
              <a:t>•  Zone File: contains DNS records</a:t>
            </a:r>
          </a:p>
          <a:p>
            <a:pPr>
              <a:spcAft>
                <a:spcPts val="1000"/>
              </a:spcAft>
            </a:pPr>
            <a:r>
              <a:rPr sz="1800" b="0">
                <a:solidFill>
                  <a:srgbClr val="161B26"/>
                </a:solidFill>
                <a:latin typeface="Arial"/>
              </a:rPr>
              <a:t>•  Name Server: resolves DNS queries (Authoritative or Non-Authoritative)</a:t>
            </a:r>
          </a:p>
          <a:p>
            <a:pPr>
              <a:spcAft>
                <a:spcPts val="1000"/>
              </a:spcAft>
            </a:pPr>
            <a:r>
              <a:rPr sz="1800" b="0">
                <a:solidFill>
                  <a:srgbClr val="161B26"/>
                </a:solidFill>
                <a:latin typeface="Arial"/>
              </a:rPr>
              <a:t>•  Top Level Domain (TLD): .com, .us, .in, .gov, .org, …</a:t>
            </a:r>
          </a:p>
          <a:p>
            <a:pPr>
              <a:spcAft>
                <a:spcPts val="1000"/>
              </a:spcAft>
            </a:pPr>
            <a:r>
              <a:rPr sz="1800" b="0">
                <a:solidFill>
                  <a:srgbClr val="161B26"/>
                </a:solidFill>
                <a:latin typeface="Arial"/>
              </a:rPr>
              <a:t>•  Second Level Domain (STD): amazon.com, google.com, …</a:t>
            </a:r>
          </a:p>
          <a:p>
            <a:pPr>
              <a:spcAft>
                <a:spcPts val="1000"/>
              </a:spcAft>
            </a:pPr>
            <a:r>
              <a:rPr sz="1800" b="0">
                <a:solidFill>
                  <a:srgbClr val="161B26"/>
                </a:solidFill>
                <a:latin typeface="Arial"/>
              </a:rPr>
              <a:t>•  URL</a:t>
            </a:r>
          </a:p>
          <a:p>
            <a:pPr>
              <a:spcAft>
                <a:spcPts val="1000"/>
              </a:spcAft>
            </a:pPr>
            <a:r>
              <a:rPr sz="1800" b="0">
                <a:solidFill>
                  <a:srgbClr val="161B26"/>
                </a:solidFill>
                <a:latin typeface="Arial"/>
              </a:rPr>
              <a:t>•  http://api.www.example.co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776</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DNS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Local DNS Server</a:t>
            </a:r>
          </a:p>
          <a:p>
            <a:pPr>
              <a:spcAft>
                <a:spcPts val="1000"/>
              </a:spcAft>
            </a:pPr>
            <a:r>
              <a:rPr sz="1800" b="0">
                <a:solidFill>
                  <a:srgbClr val="161B26"/>
                </a:solidFill>
                <a:latin typeface="Arial"/>
              </a:rPr>
              <a:t>•  Assigned and Managed by your company or assigned by your ISP dynamically</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Root DNS Server</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TLD DNS Server</a:t>
            </a:r>
          </a:p>
          <a:p>
            <a:pPr>
              <a:spcAft>
                <a:spcPts val="1000"/>
              </a:spcAft>
            </a:pPr>
            <a:r>
              <a:rPr sz="1800" b="0">
                <a:solidFill>
                  <a:srgbClr val="161B26"/>
                </a:solidFill>
                <a:latin typeface="Arial"/>
              </a:rPr>
              <a:t>•  (.com)</a:t>
            </a:r>
          </a:p>
          <a:p>
            <a:pPr>
              <a:spcAft>
                <a:spcPts val="1000"/>
              </a:spcAft>
            </a:pPr>
            <a:r>
              <a:rPr sz="1800" b="0">
                <a:solidFill>
                  <a:srgbClr val="161B26"/>
                </a:solidFill>
                <a:latin typeface="Arial"/>
              </a:rPr>
              <a:t>•  .com NS 1.2.3.4</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example.com NS 5.6.7.8</a:t>
            </a:r>
          </a:p>
          <a:p>
            <a:pPr>
              <a:spcAft>
                <a:spcPts val="1000"/>
              </a:spcAft>
            </a:pPr>
            <a:r>
              <a:rPr sz="1800" b="0">
                <a:solidFill>
                  <a:srgbClr val="161B26"/>
                </a:solidFill>
                <a:latin typeface="Arial"/>
              </a:rPr>
              <a:t>•  example.com IP 9.10.11.12</a:t>
            </a:r>
          </a:p>
          <a:p>
            <a:pPr>
              <a:spcAft>
                <a:spcPts val="1000"/>
              </a:spcAft>
            </a:pPr>
            <a:r>
              <a:rPr sz="1800" b="0">
                <a:solidFill>
                  <a:srgbClr val="161B26"/>
                </a:solidFill>
                <a:latin typeface="Arial"/>
              </a:rPr>
              <a:t>•  Managed by ICANN</a:t>
            </a:r>
          </a:p>
          <a:p>
            <a:pPr>
              <a:spcAft>
                <a:spcPts val="1000"/>
              </a:spcAft>
            </a:pPr>
            <a:r>
              <a:rPr sz="1800" b="0">
                <a:solidFill>
                  <a:srgbClr val="161B26"/>
                </a:solidFill>
                <a:latin typeface="Arial"/>
              </a:rPr>
              <a:t>•  Managed by Domain Registrar (e.g., Amazon Registrar, Inc.)</a:t>
            </a:r>
          </a:p>
          <a:p>
            <a:pPr>
              <a:spcAft>
                <a:spcPts val="1000"/>
              </a:spcAft>
            </a:pPr>
            <a:r>
              <a:rPr sz="1800" b="0">
                <a:solidFill>
                  <a:srgbClr val="161B26"/>
                </a:solidFill>
                <a:latin typeface="Arial"/>
              </a:rPr>
              <a:t>•  SLD DNS Server</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Managed by IANA (Branch of ICANN)</a:t>
            </a:r>
          </a:p>
          <a:p>
            <a:pPr>
              <a:spcAft>
                <a:spcPts val="1000"/>
              </a:spcAft>
            </a:pPr>
            <a:r>
              <a:rPr sz="1800" b="0">
                <a:solidFill>
                  <a:srgbClr val="161B26"/>
                </a:solidFill>
                <a:latin typeface="Arial"/>
              </a:rPr>
              <a:t>•  9.10.11.12</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(IP: 9.10.11.12)</a:t>
            </a:r>
          </a:p>
          <a:p>
            <a:pPr>
              <a:spcAft>
                <a:spcPts val="1000"/>
              </a:spcAft>
            </a:pPr>
            <a:r>
              <a:rPr sz="1800" b="0">
                <a:solidFill>
                  <a:srgbClr val="161B26"/>
                </a:solidFill>
                <a:latin typeface="Arial"/>
              </a:rPr>
              <a:t>•  TTL</a:t>
            </a:r>
          </a:p>
          <a:p>
            <a:pPr>
              <a:spcAft>
                <a:spcPts val="1000"/>
              </a:spcAft>
            </a:pPr>
            <a:r>
              <a:rPr sz="1800" b="0">
                <a:solidFill>
                  <a:srgbClr val="161B26"/>
                </a:solidFill>
                <a:latin typeface="Arial"/>
              </a:rPr>
              <a:t>•  Web Browser</a:t>
            </a:r>
          </a:p>
          <a:p>
            <a:pPr>
              <a:spcAft>
                <a:spcPts val="1000"/>
              </a:spcAft>
            </a:pPr>
            <a:r>
              <a:rPr sz="1800" b="0">
                <a:solidFill>
                  <a:srgbClr val="161B26"/>
                </a:solidFill>
                <a:latin typeface="Arial"/>
              </a:rPr>
              <a:t>•  You want to access example.com</a:t>
            </a:r>
          </a:p>
          <a:p>
            <a:pPr>
              <a:spcAft>
                <a:spcPts val="1000"/>
              </a:spcAft>
            </a:pPr>
            <a:r>
              <a:rPr sz="1800" b="0">
                <a:solidFill>
                  <a:srgbClr val="161B26"/>
                </a:solidFill>
                <a:latin typeface="Arial"/>
              </a:rPr>
              <a:t>•  TTL</a:t>
            </a:r>
          </a:p>
          <a:p>
            <a:pPr>
              <a:spcAft>
                <a:spcPts val="1000"/>
              </a:spcAft>
            </a:pPr>
            <a:r>
              <a:rPr sz="1800" b="0">
                <a:solidFill>
                  <a:srgbClr val="161B26"/>
                </a:solidFill>
                <a:latin typeface="Arial"/>
              </a:rPr>
              <a:t>•  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777</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highly available, scalable, fully managed and Authoritative DNS</a:t>
            </a:r>
          </a:p>
          <a:p>
            <a:pPr>
              <a:spcAft>
                <a:spcPts val="1000"/>
              </a:spcAft>
            </a:pPr>
            <a:r>
              <a:rPr sz="1800" b="0">
                <a:solidFill>
                  <a:srgbClr val="161B26"/>
                </a:solidFill>
                <a:latin typeface="Arial"/>
              </a:rPr>
              <a:t>•  Authoritative = the customer (you) can update the DNS records</a:t>
            </a:r>
          </a:p>
          <a:p>
            <a:pPr>
              <a:spcAft>
                <a:spcPts val="1000"/>
              </a:spcAft>
            </a:pPr>
            <a:r>
              <a:rPr sz="1800" b="0">
                <a:solidFill>
                  <a:srgbClr val="161B26"/>
                </a:solidFill>
                <a:latin typeface="Arial"/>
              </a:rPr>
              <a:t>•  Route 53 is also a Domain Registrar</a:t>
            </a:r>
          </a:p>
          <a:p>
            <a:pPr>
              <a:spcAft>
                <a:spcPts val="1000"/>
              </a:spcAft>
            </a:pPr>
            <a:r>
              <a:rPr sz="1800" b="0">
                <a:solidFill>
                  <a:srgbClr val="161B26"/>
                </a:solidFill>
                <a:latin typeface="Arial"/>
              </a:rPr>
              <a:t>•  Ability to check the health of your resources</a:t>
            </a:r>
          </a:p>
          <a:p>
            <a:pPr>
              <a:spcAft>
                <a:spcPts val="1000"/>
              </a:spcAft>
            </a:pPr>
            <a:r>
              <a:rPr sz="1800" b="0">
                <a:solidFill>
                  <a:srgbClr val="161B26"/>
                </a:solidFill>
                <a:latin typeface="Arial"/>
              </a:rPr>
              <a:t>•  The only AWS service which provides 100% availability SLA</a:t>
            </a:r>
          </a:p>
          <a:p>
            <a:pPr>
              <a:spcAft>
                <a:spcPts val="1000"/>
              </a:spcAft>
            </a:pPr>
            <a:r>
              <a:rPr sz="1800" b="0">
                <a:solidFill>
                  <a:srgbClr val="161B26"/>
                </a:solidFill>
                <a:latin typeface="Arial"/>
              </a:rPr>
              <a:t>•  Why Route 53? 53 is a reference to the traditional DNS port</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54.22.33.44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54.22.33.44</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778</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70893" y="1801368"/>
            <a:ext cx="76197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80_0.png"/>
          <p:cNvPicPr>
            <a:picLocks noChangeAspect="1"/>
          </p:cNvPicPr>
          <p:nvPr/>
        </p:nvPicPr>
        <p:blipFill>
          <a:blip r:embed="rId2"/>
          <a:stretch>
            <a:fillRect/>
          </a:stretch>
        </p:blipFill>
        <p:spPr>
          <a:xfrm>
            <a:off x="2298325" y="1828800"/>
            <a:ext cx="75648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779</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81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780</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Records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How you want to route traffic for a domain</a:t>
            </a:r>
          </a:p>
          <a:p>
            <a:pPr>
              <a:spcAft>
                <a:spcPts val="1000"/>
              </a:spcAft>
            </a:pPr>
            <a:r>
              <a:rPr sz="1800" b="0">
                <a:solidFill>
                  <a:srgbClr val="161B26"/>
                </a:solidFill>
                <a:latin typeface="Arial"/>
              </a:rPr>
              <a:t>•  Each record contains:</a:t>
            </a:r>
          </a:p>
          <a:p>
            <a:pPr>
              <a:spcAft>
                <a:spcPts val="1000"/>
              </a:spcAft>
            </a:pPr>
            <a:r>
              <a:rPr sz="1800" b="0">
                <a:solidFill>
                  <a:srgbClr val="161B26"/>
                </a:solidFill>
                <a:latin typeface="Arial"/>
              </a:rPr>
              <a:t>•  Domain/SubDomain namer - e.g., example.com</a:t>
            </a:r>
          </a:p>
          <a:p>
            <a:pPr>
              <a:spcAft>
                <a:spcPts val="1000"/>
              </a:spcAft>
            </a:pPr>
            <a:r>
              <a:rPr sz="1800" b="0">
                <a:solidFill>
                  <a:srgbClr val="161B26"/>
                </a:solidFill>
                <a:latin typeface="Arial"/>
              </a:rPr>
              <a:t>•  Record Type - e.g., A or AAAA</a:t>
            </a:r>
          </a:p>
          <a:p>
            <a:pPr>
              <a:spcAft>
                <a:spcPts val="1000"/>
              </a:spcAft>
            </a:pPr>
            <a:r>
              <a:rPr sz="1800" b="0">
                <a:solidFill>
                  <a:srgbClr val="161B26"/>
                </a:solidFill>
                <a:latin typeface="Arial"/>
              </a:rPr>
              <a:t>•  Value - e.g., 12.34.56.78</a:t>
            </a:r>
          </a:p>
          <a:p>
            <a:pPr>
              <a:spcAft>
                <a:spcPts val="1000"/>
              </a:spcAft>
            </a:pPr>
            <a:r>
              <a:rPr sz="1800" b="0">
                <a:solidFill>
                  <a:srgbClr val="161B26"/>
                </a:solidFill>
                <a:latin typeface="Arial"/>
              </a:rPr>
              <a:t>•  Routing Policy - how Route 53 responds to queries</a:t>
            </a:r>
          </a:p>
          <a:p>
            <a:pPr>
              <a:spcAft>
                <a:spcPts val="1000"/>
              </a:spcAft>
            </a:pPr>
            <a:r>
              <a:rPr sz="1800" b="0">
                <a:solidFill>
                  <a:srgbClr val="161B26"/>
                </a:solidFill>
                <a:latin typeface="Arial"/>
              </a:rPr>
              <a:t>•  TTL -  amount of time the record cached at DNS Resolvers</a:t>
            </a:r>
          </a:p>
          <a:p>
            <a:pPr>
              <a:spcAft>
                <a:spcPts val="1000"/>
              </a:spcAft>
            </a:pPr>
            <a:r>
              <a:rPr sz="1800" b="0">
                <a:solidFill>
                  <a:srgbClr val="161B26"/>
                </a:solidFill>
                <a:latin typeface="Arial"/>
              </a:rPr>
              <a:t>•  Route 53 supports the following DNS record types:</a:t>
            </a:r>
          </a:p>
          <a:p>
            <a:pPr>
              <a:spcAft>
                <a:spcPts val="1000"/>
              </a:spcAft>
            </a:pPr>
            <a:r>
              <a:rPr sz="1800" b="0">
                <a:solidFill>
                  <a:srgbClr val="161B26"/>
                </a:solidFill>
                <a:latin typeface="Arial"/>
              </a:rPr>
              <a:t>•  (must know) A / AAAA / CNAME / NS</a:t>
            </a:r>
          </a:p>
          <a:p>
            <a:pPr>
              <a:spcAft>
                <a:spcPts val="1000"/>
              </a:spcAft>
            </a:pPr>
            <a:r>
              <a:rPr sz="1800" b="0">
                <a:solidFill>
                  <a:srgbClr val="161B26"/>
                </a:solidFill>
                <a:latin typeface="Arial"/>
              </a:rPr>
              <a:t>•  (advanced) CAA / DS / MX / NAPTR / PTR / SOA / TXT / SPF / SRV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781</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Record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 maps a hostname to IPv4</a:t>
            </a:r>
          </a:p>
          <a:p>
            <a:pPr>
              <a:spcAft>
                <a:spcPts val="1000"/>
              </a:spcAft>
            </a:pPr>
            <a:r>
              <a:rPr sz="1800" b="0">
                <a:solidFill>
                  <a:srgbClr val="161B26"/>
                </a:solidFill>
                <a:latin typeface="Arial"/>
              </a:rPr>
              <a:t>•  AAAA - maps a hostname to IPv6</a:t>
            </a:r>
          </a:p>
          <a:p>
            <a:pPr>
              <a:spcAft>
                <a:spcPts val="1000"/>
              </a:spcAft>
            </a:pPr>
            <a:r>
              <a:rPr sz="1800" b="0">
                <a:solidFill>
                  <a:srgbClr val="161B26"/>
                </a:solidFill>
                <a:latin typeface="Arial"/>
              </a:rPr>
              <a:t>•  CNAME - maps a hostname to another hostname</a:t>
            </a:r>
          </a:p>
          <a:p>
            <a:pPr>
              <a:spcAft>
                <a:spcPts val="1000"/>
              </a:spcAft>
            </a:pPr>
            <a:r>
              <a:rPr sz="1800" b="0">
                <a:solidFill>
                  <a:srgbClr val="161B26"/>
                </a:solidFill>
                <a:latin typeface="Arial"/>
              </a:rPr>
              <a:t>•  The target is a domain name which must have an A or AAAA record</a:t>
            </a:r>
          </a:p>
          <a:p>
            <a:pPr>
              <a:spcAft>
                <a:spcPts val="1000"/>
              </a:spcAft>
            </a:pPr>
            <a:r>
              <a:rPr sz="1800" b="0">
                <a:solidFill>
                  <a:srgbClr val="161B26"/>
                </a:solidFill>
                <a:latin typeface="Arial"/>
              </a:rPr>
              <a:t>•  Can’t create a CNAME record for the top node of a DNS namespace (Zone Apex)</a:t>
            </a:r>
          </a:p>
          <a:p>
            <a:pPr>
              <a:spcAft>
                <a:spcPts val="1000"/>
              </a:spcAft>
            </a:pPr>
            <a:r>
              <a:rPr sz="1800" b="0">
                <a:solidFill>
                  <a:srgbClr val="161B26"/>
                </a:solidFill>
                <a:latin typeface="Arial"/>
              </a:rPr>
              <a:t>•  Example: you can’t create for example.com, but you can create for 	www.example.com</a:t>
            </a:r>
          </a:p>
          <a:p>
            <a:pPr>
              <a:spcAft>
                <a:spcPts val="1000"/>
              </a:spcAft>
            </a:pPr>
            <a:r>
              <a:rPr sz="1800" b="0">
                <a:solidFill>
                  <a:srgbClr val="161B26"/>
                </a:solidFill>
                <a:latin typeface="Arial"/>
              </a:rPr>
              <a:t>•  NS - Name Servers for the Hosted Zone</a:t>
            </a:r>
          </a:p>
          <a:p>
            <a:pPr>
              <a:spcAft>
                <a:spcPts val="1000"/>
              </a:spcAft>
            </a:pPr>
            <a:r>
              <a:rPr sz="1800" b="0">
                <a:solidFill>
                  <a:srgbClr val="161B26"/>
                </a:solidFill>
                <a:latin typeface="Arial"/>
              </a:rPr>
              <a:t>•  Control how traffic is routed for a domain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782</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Hosted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container for records that define how to route traffic to a domain and its subdomains</a:t>
            </a:r>
          </a:p>
          <a:p>
            <a:pPr>
              <a:spcAft>
                <a:spcPts val="1000"/>
              </a:spcAft>
            </a:pPr>
            <a:r>
              <a:rPr sz="2000" b="0">
                <a:solidFill>
                  <a:srgbClr val="161B26"/>
                </a:solidFill>
                <a:latin typeface="Arial"/>
              </a:rPr>
              <a:t>•  Puiblic Hosted Zones - contains records that specify how to route traffic on the Internet (public domain names) application1.mypublicdomain.com</a:t>
            </a:r>
          </a:p>
          <a:p>
            <a:pPr>
              <a:spcAft>
                <a:spcPts val="1000"/>
              </a:spcAft>
            </a:pPr>
            <a:r>
              <a:rPr sz="2000" b="0">
                <a:solidFill>
                  <a:srgbClr val="161B26"/>
                </a:solidFill>
                <a:latin typeface="Arial"/>
              </a:rPr>
              <a:t>•  Private Hosted Zones - contain records that specify how you route traffic within one or more VPCs (private domain names) application1.company.internal</a:t>
            </a:r>
          </a:p>
          <a:p>
            <a:pPr>
              <a:spcAft>
                <a:spcPts val="1000"/>
              </a:spcAft>
            </a:pPr>
            <a:r>
              <a:rPr sz="2000" b="0">
                <a:solidFill>
                  <a:srgbClr val="161B26"/>
                </a:solidFill>
                <a:latin typeface="Arial"/>
              </a:rPr>
              <a:t>•  You pay $0.50 per month per hosted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783</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Public vs Private Hosted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Public Hosted Zone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54.22.33.44</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EC2 Instance  	 EC2 Instance</a:t>
            </a:r>
          </a:p>
          <a:p>
            <a:pPr>
              <a:spcAft>
                <a:spcPts val="1000"/>
              </a:spcAft>
            </a:pPr>
            <a:r>
              <a:rPr sz="1800" b="0">
                <a:solidFill>
                  <a:srgbClr val="161B26"/>
                </a:solidFill>
                <a:latin typeface="Arial"/>
              </a:rPr>
              <a:t>•  (webapp.example.internal)	(api.example.internal)</a:t>
            </a:r>
          </a:p>
          <a:p>
            <a:pPr>
              <a:spcAft>
                <a:spcPts val="1000"/>
              </a:spcAft>
            </a:pPr>
            <a:r>
              <a:rPr sz="1800" b="0">
                <a:solidFill>
                  <a:srgbClr val="161B26"/>
                </a:solidFill>
                <a:latin typeface="Arial"/>
              </a:rPr>
              <a:t>•  (Private IP)	(Private IP)</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(db.example.internal)</a:t>
            </a:r>
          </a:p>
          <a:p>
            <a:pPr>
              <a:spcAft>
                <a:spcPts val="1000"/>
              </a:spcAft>
            </a:pPr>
            <a:r>
              <a:rPr sz="1800" b="0">
                <a:solidFill>
                  <a:srgbClr val="161B26"/>
                </a:solidFill>
                <a:latin typeface="Arial"/>
              </a:rPr>
              <a:t>•  (Private IP)</a:t>
            </a:r>
          </a:p>
          <a:p>
            <a:pPr>
              <a:spcAft>
                <a:spcPts val="1000"/>
              </a:spcAft>
            </a:pPr>
            <a:r>
              <a:rPr sz="1800" b="0">
                <a:solidFill>
                  <a:srgbClr val="161B26"/>
                </a:solidFill>
                <a:latin typeface="Arial"/>
              </a:rPr>
              <a:t>•  api.example.internal?</a:t>
            </a:r>
          </a:p>
          <a:p>
            <a:pPr>
              <a:spcAft>
                <a:spcPts val="1000"/>
              </a:spcAft>
            </a:pPr>
            <a:r>
              <a:rPr sz="1800" b="0">
                <a:solidFill>
                  <a:srgbClr val="161B26"/>
                </a:solidFill>
                <a:latin typeface="Arial"/>
              </a:rPr>
              <a:t>•  10.0.0.10</a:t>
            </a:r>
          </a:p>
          <a:p>
            <a:pPr>
              <a:spcAft>
                <a:spcPts val="1000"/>
              </a:spcAft>
            </a:pPr>
            <a:r>
              <a:rPr sz="1800" b="0">
                <a:solidFill>
                  <a:srgbClr val="161B26"/>
                </a:solidFill>
                <a:latin typeface="Arial"/>
              </a:rPr>
              <a:t>•  db.example.internal?</a:t>
            </a:r>
          </a:p>
          <a:p>
            <a:pPr>
              <a:spcAft>
                <a:spcPts val="1000"/>
              </a:spcAft>
            </a:pPr>
            <a:r>
              <a:rPr sz="1800" b="0">
                <a:solidFill>
                  <a:srgbClr val="161B26"/>
                </a:solidFill>
                <a:latin typeface="Arial"/>
              </a:rPr>
              <a:t>•  10.0.0.35</a:t>
            </a:r>
          </a:p>
          <a:p>
            <a:pPr>
              <a:spcAft>
                <a:spcPts val="1000"/>
              </a:spcAft>
            </a:pPr>
            <a:r>
              <a:rPr sz="1800" b="0">
                <a:solidFill>
                  <a:srgbClr val="161B26"/>
                </a:solidFill>
                <a:latin typeface="Arial"/>
              </a:rPr>
              <a:t>•  Public Hosted Zone	                                      Private Hosted Zone</a:t>
            </a:r>
          </a:p>
          <a:p>
            <a:pPr>
              <a:spcAft>
                <a:spcPts val="1000"/>
              </a:spcAft>
            </a:pPr>
            <a:r>
              <a:rPr sz="1800" b="0">
                <a:solidFill>
                  <a:srgbClr val="161B26"/>
                </a:solidFill>
                <a:latin typeface="Arial"/>
              </a:rPr>
              <a:t>•  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784</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10769"/>
            <a:ext cx="10479024" cy="411662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786_0.png"/>
          <p:cNvPicPr>
            <a:picLocks noChangeAspect="1"/>
          </p:cNvPicPr>
          <p:nvPr/>
        </p:nvPicPr>
        <p:blipFill>
          <a:blip r:embed="rId2"/>
          <a:stretch>
            <a:fillRect/>
          </a:stretch>
        </p:blipFill>
        <p:spPr>
          <a:xfrm>
            <a:off x="868680" y="2038201"/>
            <a:ext cx="10424160" cy="406175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785</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Records TTL (Time To Live)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DNS Request</a:t>
            </a:r>
          </a:p>
          <a:p>
            <a:pPr>
              <a:spcAft>
                <a:spcPts val="1000"/>
              </a:spcAft>
            </a:pPr>
            <a:r>
              <a:rPr sz="1800" b="0">
                <a:solidFill>
                  <a:srgbClr val="161B26"/>
                </a:solidFill>
                <a:latin typeface="Arial"/>
              </a:rPr>
              <a:t>•  myapp.example.com?</a:t>
            </a:r>
          </a:p>
          <a:p>
            <a:pPr>
              <a:spcAft>
                <a:spcPts val="1000"/>
              </a:spcAft>
            </a:pPr>
            <a:r>
              <a:rPr sz="1800" b="0">
                <a:solidFill>
                  <a:srgbClr val="161B26"/>
                </a:solidFill>
                <a:latin typeface="Arial"/>
              </a:rPr>
              <a:t>•  TTL</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A 12.34.56.78</a:t>
            </a:r>
          </a:p>
          <a:p>
            <a:pPr>
              <a:spcAft>
                <a:spcPts val="1000"/>
              </a:spcAft>
            </a:pPr>
            <a:r>
              <a:rPr sz="1800" b="0">
                <a:solidFill>
                  <a:srgbClr val="161B26"/>
                </a:solidFill>
                <a:latin typeface="Arial"/>
              </a:rPr>
              <a:t>•  (with TTL</a:t>
            </a:r>
          </a:p>
          <a:p>
            <a:pPr>
              <a:spcAft>
                <a:spcPts val="1000"/>
              </a:spcAft>
            </a:pPr>
            <a:r>
              <a:rPr sz="1800" b="0">
                <a:solidFill>
                  <a:srgbClr val="161B26"/>
                </a:solidFill>
                <a:latin typeface="Arial"/>
              </a:rPr>
              <a:t>•  HTTP Request</a:t>
            </a:r>
          </a:p>
          <a:p>
            <a:pPr>
              <a:spcAft>
                <a:spcPts val="1000"/>
              </a:spcAft>
            </a:pPr>
            <a:r>
              <a:rPr sz="1800" b="0">
                <a:solidFill>
                  <a:srgbClr val="161B26"/>
                </a:solidFill>
                <a:latin typeface="Arial"/>
              </a:rPr>
              <a:t>•  HTTP Response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Will cache the result for The TTL of the record</a:t>
            </a:r>
          </a:p>
          <a:p>
            <a:pPr>
              <a:spcAft>
                <a:spcPts val="1000"/>
              </a:spcAft>
            </a:pPr>
            <a:r>
              <a:rPr sz="1800" b="0">
                <a:solidFill>
                  <a:srgbClr val="161B26"/>
                </a:solidFill>
                <a:latin typeface="Arial"/>
              </a:rPr>
              <a:t>•  High TTL - e.g. 24 hr</a:t>
            </a:r>
          </a:p>
          <a:p>
            <a:pPr>
              <a:spcAft>
                <a:spcPts val="1000"/>
              </a:spcAft>
            </a:pPr>
            <a:r>
              <a:rPr sz="1800" b="0">
                <a:solidFill>
                  <a:srgbClr val="161B26"/>
                </a:solidFill>
                <a:latin typeface="Arial"/>
              </a:rPr>
              <a:t>•  Less traffic on Route 53</a:t>
            </a:r>
          </a:p>
          <a:p>
            <a:pPr>
              <a:spcAft>
                <a:spcPts val="1000"/>
              </a:spcAft>
            </a:pPr>
            <a:r>
              <a:rPr sz="1800" b="0">
                <a:solidFill>
                  <a:srgbClr val="161B26"/>
                </a:solidFill>
                <a:latin typeface="Arial"/>
              </a:rPr>
              <a:t>•  Possibly outdated records</a:t>
            </a:r>
          </a:p>
          <a:p>
            <a:pPr>
              <a:spcAft>
                <a:spcPts val="1000"/>
              </a:spcAft>
            </a:pPr>
            <a:r>
              <a:rPr sz="1800" b="0">
                <a:solidFill>
                  <a:srgbClr val="161B26"/>
                </a:solidFill>
                <a:latin typeface="Arial"/>
              </a:rPr>
              <a:t>•  Low TTL - e.g. 60 sec</a:t>
            </a:r>
          </a:p>
          <a:p>
            <a:pPr>
              <a:spcAft>
                <a:spcPts val="1000"/>
              </a:spcAft>
            </a:pPr>
            <a:r>
              <a:rPr sz="1800" b="0">
                <a:solidFill>
                  <a:srgbClr val="161B26"/>
                </a:solidFill>
                <a:latin typeface="Arial"/>
              </a:rPr>
              <a:t>•  More traffic on Route 53 ($$)</a:t>
            </a:r>
          </a:p>
          <a:p>
            <a:pPr>
              <a:spcAft>
                <a:spcPts val="1000"/>
              </a:spcAft>
            </a:pPr>
            <a:r>
              <a:rPr sz="1800" b="0">
                <a:solidFill>
                  <a:srgbClr val="161B26"/>
                </a:solidFill>
                <a:latin typeface="Arial"/>
              </a:rPr>
              <a:t>•  Records are outdated for less time</a:t>
            </a:r>
          </a:p>
          <a:p>
            <a:pPr>
              <a:spcAft>
                <a:spcPts val="1000"/>
              </a:spcAft>
            </a:pPr>
            <a:r>
              <a:rPr sz="1800" b="0">
                <a:solidFill>
                  <a:srgbClr val="161B26"/>
                </a:solidFill>
                <a:latin typeface="Arial"/>
              </a:rPr>
              <a:t>•  Easy to change records</a:t>
            </a:r>
          </a:p>
          <a:p>
            <a:pPr>
              <a:spcAft>
                <a:spcPts val="1000"/>
              </a:spcAft>
            </a:pPr>
            <a:r>
              <a:rPr sz="1800" b="0">
                <a:solidFill>
                  <a:srgbClr val="161B26"/>
                </a:solidFill>
                <a:latin typeface="Arial"/>
              </a:rPr>
              <a:t>•  Except for alias records</a:t>
            </a:r>
          </a:p>
          <a:p>
            <a:pPr>
              <a:spcAft>
                <a:spcPts val="1000"/>
              </a:spcAft>
            </a:pPr>
            <a:r>
              <a:rPr sz="1800" b="0">
                <a:solidFill>
                  <a:srgbClr val="161B26"/>
                </a:solidFill>
                <a:latin typeface="Arial"/>
              </a:rPr>
              <a:t>•  TTL is mandatory for each DNS record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786</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CNAME vs Alias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Resources (Load Balancer, CloudFront...) expose an AWS hostname:</a:t>
            </a:r>
          </a:p>
          <a:p>
            <a:pPr>
              <a:spcAft>
                <a:spcPts val="1000"/>
              </a:spcAft>
            </a:pPr>
            <a:r>
              <a:rPr sz="1800" b="0">
                <a:solidFill>
                  <a:srgbClr val="161B26"/>
                </a:solidFill>
                <a:latin typeface="Arial"/>
              </a:rPr>
              <a:t>•  Ib1-1234.us-east2.elb.amazonaws.com and you want myapp.mydomain.com</a:t>
            </a:r>
          </a:p>
          <a:p>
            <a:pPr>
              <a:spcAft>
                <a:spcPts val="1000"/>
              </a:spcAft>
            </a:pPr>
            <a:r>
              <a:rPr sz="1800" b="0">
                <a:solidFill>
                  <a:srgbClr val="161B26"/>
                </a:solidFill>
                <a:latin typeface="Arial"/>
              </a:rPr>
              <a:t>•  CNAME:</a:t>
            </a:r>
          </a:p>
          <a:p>
            <a:pPr>
              <a:spcAft>
                <a:spcPts val="1000"/>
              </a:spcAft>
            </a:pPr>
            <a:r>
              <a:rPr sz="1800" b="0">
                <a:solidFill>
                  <a:srgbClr val="161B26"/>
                </a:solidFill>
                <a:latin typeface="Arial"/>
              </a:rPr>
              <a:t>•  Points a hostname to any other hostname. (app.mydomain.com =&gt; blabla.anything.com)</a:t>
            </a:r>
          </a:p>
          <a:p>
            <a:pPr>
              <a:spcAft>
                <a:spcPts val="1000"/>
              </a:spcAft>
            </a:pPr>
            <a:r>
              <a:rPr sz="1800" b="0">
                <a:solidFill>
                  <a:srgbClr val="161B26"/>
                </a:solidFill>
                <a:latin typeface="Arial"/>
              </a:rPr>
              <a:t>•  ONLY FOR NON ROOT DOMAIN (aka something.mydomain.com)</a:t>
            </a:r>
          </a:p>
          <a:p>
            <a:pPr>
              <a:spcAft>
                <a:spcPts val="1000"/>
              </a:spcAft>
            </a:pPr>
            <a:r>
              <a:rPr sz="1800" b="0">
                <a:solidFill>
                  <a:srgbClr val="161B26"/>
                </a:solidFill>
                <a:latin typeface="Arial"/>
              </a:rPr>
              <a:t>•  Alias:</a:t>
            </a:r>
          </a:p>
          <a:p>
            <a:pPr>
              <a:spcAft>
                <a:spcPts val="1000"/>
              </a:spcAft>
            </a:pPr>
            <a:r>
              <a:rPr sz="1800" b="0">
                <a:solidFill>
                  <a:srgbClr val="161B26"/>
                </a:solidFill>
                <a:latin typeface="Arial"/>
              </a:rPr>
              <a:t>•  Points a hostname to an AWS Resource (app.mydomain.com =&gt; blabla.amazonaws.com)</a:t>
            </a:r>
          </a:p>
          <a:p>
            <a:pPr>
              <a:spcAft>
                <a:spcPts val="1000"/>
              </a:spcAft>
            </a:pPr>
            <a:r>
              <a:rPr sz="1800" b="0">
                <a:solidFill>
                  <a:srgbClr val="161B26"/>
                </a:solidFill>
                <a:latin typeface="Arial"/>
              </a:rPr>
              <a:t>•  Works for ROOT DOMAIN and NON ROOT DOMAIN (aka mydomain.com)</a:t>
            </a:r>
          </a:p>
          <a:p>
            <a:pPr>
              <a:spcAft>
                <a:spcPts val="1000"/>
              </a:spcAft>
            </a:pPr>
            <a:r>
              <a:rPr sz="1800" b="0">
                <a:solidFill>
                  <a:srgbClr val="161B26"/>
                </a:solidFill>
                <a:latin typeface="Arial"/>
              </a:rPr>
              <a:t>•  Free of charge</a:t>
            </a:r>
          </a:p>
          <a:p>
            <a:pPr>
              <a:spcAft>
                <a:spcPts val="1000"/>
              </a:spcAft>
            </a:pPr>
            <a:r>
              <a:rPr sz="1800" b="0">
                <a:solidFill>
                  <a:srgbClr val="161B26"/>
                </a:solidFill>
                <a:latin typeface="Arial"/>
              </a:rPr>
              <a:t>•  Native health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787</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Alias Records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Maps a hostname to an AWS resource</a:t>
            </a:r>
          </a:p>
          <a:p>
            <a:pPr>
              <a:spcAft>
                <a:spcPts val="1000"/>
              </a:spcAft>
            </a:pPr>
            <a:r>
              <a:rPr sz="1800" b="0">
                <a:solidFill>
                  <a:srgbClr val="161B26"/>
                </a:solidFill>
                <a:latin typeface="Arial"/>
              </a:rPr>
              <a:t>•  An extension to DNS functionality</a:t>
            </a:r>
          </a:p>
          <a:p>
            <a:pPr>
              <a:spcAft>
                <a:spcPts val="1000"/>
              </a:spcAft>
            </a:pPr>
            <a:r>
              <a:rPr sz="1800" b="0">
                <a:solidFill>
                  <a:srgbClr val="161B26"/>
                </a:solidFill>
                <a:latin typeface="Arial"/>
              </a:rPr>
              <a:t>•  Automatically recognizes changes in the resource’s IP addresses</a:t>
            </a:r>
          </a:p>
          <a:p>
            <a:pPr>
              <a:spcAft>
                <a:spcPts val="1000"/>
              </a:spcAft>
            </a:pPr>
            <a:r>
              <a:rPr sz="1800" b="0">
                <a:solidFill>
                  <a:srgbClr val="161B26"/>
                </a:solidFill>
                <a:latin typeface="Arial"/>
              </a:rPr>
              <a:t>•  Unlike CNAME, it can be used for the top node of a DNS namespace (Zone Apex), e.g.: example.com</a:t>
            </a:r>
          </a:p>
          <a:p>
            <a:pPr>
              <a:spcAft>
                <a:spcPts val="1000"/>
              </a:spcAft>
            </a:pPr>
            <a:r>
              <a:rPr sz="1800" b="0">
                <a:solidFill>
                  <a:srgbClr val="161B26"/>
                </a:solidFill>
                <a:latin typeface="Arial"/>
              </a:rPr>
              <a:t>•  Alias Record is always of type A/AAAA for</a:t>
            </a:r>
          </a:p>
          <a:p>
            <a:pPr>
              <a:spcAft>
                <a:spcPts val="1000"/>
              </a:spcAft>
            </a:pPr>
            <a:r>
              <a:rPr sz="1800" b="0">
                <a:solidFill>
                  <a:srgbClr val="161B26"/>
                </a:solidFill>
                <a:latin typeface="Arial"/>
              </a:rPr>
              <a:t>•  AWS resources (IPv4 / IPv6)</a:t>
            </a:r>
          </a:p>
          <a:p>
            <a:pPr>
              <a:spcAft>
                <a:spcPts val="1000"/>
              </a:spcAft>
            </a:pPr>
            <a:r>
              <a:rPr sz="1800" b="0">
                <a:solidFill>
                  <a:srgbClr val="161B26"/>
                </a:solidFill>
                <a:latin typeface="Arial"/>
              </a:rPr>
              <a:t>•  You can't set the TTL</a:t>
            </a:r>
          </a:p>
          <a:p>
            <a:pPr>
              <a:spcAft>
                <a:spcPts val="1000"/>
              </a:spcAft>
            </a:pPr>
            <a:r>
              <a:rPr sz="1800" b="0">
                <a:solidFill>
                  <a:srgbClr val="161B26"/>
                </a:solidFill>
                <a:latin typeface="Arial"/>
              </a:rPr>
              <a:t>•  MyALB-123456789.us-east-1.elb.amazonaws.com</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Alias Record (Enabled)</a:t>
            </a:r>
          </a:p>
          <a:p>
            <a:pPr>
              <a:spcAft>
                <a:spcPts val="1000"/>
              </a:spcAft>
            </a:pPr>
            <a:r>
              <a:rPr sz="1800" b="0">
                <a:solidFill>
                  <a:srgbClr val="161B26"/>
                </a:solidFill>
                <a:latin typeface="Arial"/>
              </a:rPr>
              <a:t>•  AWS-Managed</a:t>
            </a:r>
          </a:p>
          <a:p>
            <a:pPr>
              <a:spcAft>
                <a:spcPts val="1000"/>
              </a:spcAft>
            </a:pPr>
            <a:r>
              <a:rPr sz="1800" b="0">
                <a:solidFill>
                  <a:srgbClr val="161B26"/>
                </a:solidFill>
                <a:latin typeface="Arial"/>
              </a:rPr>
              <a:t>•  (IP Addresses might change)</a:t>
            </a:r>
          </a:p>
          <a:p>
            <a:pPr>
              <a:spcAft>
                <a:spcPts val="1000"/>
              </a:spcAft>
            </a:pPr>
            <a:r>
              <a:rPr sz="1800" b="0">
                <a:solidFill>
                  <a:srgbClr val="161B26"/>
                </a:solidFill>
                <a:latin typeface="Arial"/>
              </a:rPr>
              <a:t>•  Application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788</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Alias Records Targets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 Load Balancers</a:t>
            </a:r>
          </a:p>
          <a:p>
            <a:pPr>
              <a:spcAft>
                <a:spcPts val="1000"/>
              </a:spcAft>
            </a:pPr>
            <a:r>
              <a:rPr sz="1800" b="0">
                <a:solidFill>
                  <a:srgbClr val="161B26"/>
                </a:solidFill>
                <a:latin typeface="Arial"/>
              </a:rPr>
              <a:t>•  CloudFront Distributions</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Elastic Beanstalk environments</a:t>
            </a:r>
          </a:p>
          <a:p>
            <a:pPr>
              <a:spcAft>
                <a:spcPts val="1000"/>
              </a:spcAft>
            </a:pPr>
            <a:r>
              <a:rPr sz="1800" b="0">
                <a:solidFill>
                  <a:srgbClr val="161B26"/>
                </a:solidFill>
                <a:latin typeface="Arial"/>
              </a:rPr>
              <a:t>•  S3 Websites</a:t>
            </a:r>
          </a:p>
          <a:p>
            <a:pPr>
              <a:spcAft>
                <a:spcPts val="1000"/>
              </a:spcAft>
            </a:pPr>
            <a:r>
              <a:rPr sz="1800" b="0">
                <a:solidFill>
                  <a:srgbClr val="161B26"/>
                </a:solidFill>
                <a:latin typeface="Arial"/>
              </a:rPr>
              <a:t>•  VPC Interface Endpoints</a:t>
            </a:r>
          </a:p>
          <a:p>
            <a:pPr>
              <a:spcAft>
                <a:spcPts val="1000"/>
              </a:spcAft>
            </a:pPr>
            <a:r>
              <a:rPr sz="1800" b="0">
                <a:solidFill>
                  <a:srgbClr val="161B26"/>
                </a:solidFill>
                <a:latin typeface="Arial"/>
              </a:rPr>
              <a:t>•  Global Accelerator accelerator</a:t>
            </a:r>
          </a:p>
          <a:p>
            <a:pPr>
              <a:spcAft>
                <a:spcPts val="1000"/>
              </a:spcAft>
            </a:pPr>
            <a:r>
              <a:rPr sz="1800" b="0">
                <a:solidFill>
                  <a:srgbClr val="161B26"/>
                </a:solidFill>
                <a:latin typeface="Arial"/>
              </a:rPr>
              <a:t>•  Route 53 record in the same hosted zone</a:t>
            </a:r>
          </a:p>
          <a:p>
            <a:pPr>
              <a:spcAft>
                <a:spcPts val="1000"/>
              </a:spcAft>
            </a:pPr>
            <a:r>
              <a:rPr sz="1800" b="0">
                <a:solidFill>
                  <a:srgbClr val="161B26"/>
                </a:solidFill>
                <a:latin typeface="Arial"/>
              </a:rPr>
              <a:t>•  You cannot set an ALIAS record for an EC2 DNS name</a:t>
            </a:r>
          </a:p>
          <a:p>
            <a:pPr>
              <a:spcAft>
                <a:spcPts val="1000"/>
              </a:spcAft>
            </a:pPr>
            <a:r>
              <a:rPr sz="1800" b="0">
                <a:solidFill>
                  <a:srgbClr val="161B26"/>
                </a:solidFill>
                <a:latin typeface="Arial"/>
              </a:rPr>
              <a:t>•  Global Accelerator</a:t>
            </a:r>
          </a:p>
          <a:p>
            <a:pPr>
              <a:spcAft>
                <a:spcPts val="1000"/>
              </a:spcAft>
            </a:pPr>
            <a:r>
              <a:rPr sz="1800" b="0">
                <a:solidFill>
                  <a:srgbClr val="161B26"/>
                </a:solidFill>
                <a:latin typeface="Arial"/>
              </a:rPr>
              <a:t>•  Elastic Load Balancer</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Amazon API Gateway</a:t>
            </a:r>
          </a:p>
          <a:p>
            <a:pPr>
              <a:spcAft>
                <a:spcPts val="1000"/>
              </a:spcAft>
            </a:pPr>
            <a:r>
              <a:rPr sz="1800" b="0">
                <a:solidFill>
                  <a:srgbClr val="161B26"/>
                </a:solidFill>
                <a:latin typeface="Arial"/>
              </a:rPr>
              <a:t>•  Elastic Beanstalk</a:t>
            </a:r>
          </a:p>
          <a:p>
            <a:pPr>
              <a:spcAft>
                <a:spcPts val="1000"/>
              </a:spcAft>
            </a:pPr>
            <a:r>
              <a:rPr sz="1800" b="0">
                <a:solidFill>
                  <a:srgbClr val="161B26"/>
                </a:solidFill>
                <a:latin typeface="Arial"/>
              </a:rPr>
              <a:t>•  S3 Websites</a:t>
            </a:r>
          </a:p>
          <a:p>
            <a:pPr>
              <a:spcAft>
                <a:spcPts val="1000"/>
              </a:spcAft>
            </a:pPr>
            <a:r>
              <a:rPr sz="1800" b="0">
                <a:solidFill>
                  <a:srgbClr val="161B26"/>
                </a:solidFill>
                <a:latin typeface="Arial"/>
              </a:rPr>
              <a:t>•  VPC Interface Endpoints</a:t>
            </a:r>
          </a:p>
          <a:p>
            <a:pPr>
              <a:spcAft>
                <a:spcPts val="1000"/>
              </a:spcAft>
            </a:pPr>
            <a:r>
              <a:rPr sz="1800" b="0">
                <a:solidFill>
                  <a:srgbClr val="161B26"/>
                </a:solidFill>
                <a:latin typeface="Arial"/>
              </a:rPr>
              <a:t>•  Route 53 Record</a:t>
            </a:r>
          </a:p>
          <a:p>
            <a:pPr>
              <a:spcAft>
                <a:spcPts val="1000"/>
              </a:spcAft>
            </a:pPr>
            <a:r>
              <a:rPr sz="1800" b="0">
                <a:solidFill>
                  <a:srgbClr val="161B26"/>
                </a:solidFill>
                <a:latin typeface="Arial"/>
              </a:rPr>
              <a:t>•  (same Hosted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789</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Routing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Define how Route 53 responds to DNS queries</a:t>
            </a:r>
          </a:p>
          <a:p>
            <a:pPr>
              <a:spcAft>
                <a:spcPts val="1000"/>
              </a:spcAft>
            </a:pPr>
            <a:r>
              <a:rPr sz="1800" b="0">
                <a:solidFill>
                  <a:srgbClr val="161B26"/>
                </a:solidFill>
                <a:latin typeface="Arial"/>
              </a:rPr>
              <a:t>•  Don’t get confused by the word “Routing”</a:t>
            </a:r>
          </a:p>
          <a:p>
            <a:pPr>
              <a:spcAft>
                <a:spcPts val="1000"/>
              </a:spcAft>
            </a:pPr>
            <a:r>
              <a:rPr sz="1800" b="0">
                <a:solidFill>
                  <a:srgbClr val="161B26"/>
                </a:solidFill>
                <a:latin typeface="Arial"/>
              </a:rPr>
              <a:t>•  It’s not the same as Load balancer routing which routes the traffic</a:t>
            </a:r>
          </a:p>
          <a:p>
            <a:pPr>
              <a:spcAft>
                <a:spcPts val="1000"/>
              </a:spcAft>
            </a:pPr>
            <a:r>
              <a:rPr sz="1800" b="0">
                <a:solidFill>
                  <a:srgbClr val="161B26"/>
                </a:solidFill>
                <a:latin typeface="Arial"/>
              </a:rPr>
              <a:t>•  DNS does not route any traffic, it only responds to the DNS queries</a:t>
            </a:r>
          </a:p>
          <a:p>
            <a:pPr>
              <a:spcAft>
                <a:spcPts val="1000"/>
              </a:spcAft>
            </a:pPr>
            <a:r>
              <a:rPr sz="1800" b="0">
                <a:solidFill>
                  <a:srgbClr val="161B26"/>
                </a:solidFill>
                <a:latin typeface="Arial"/>
              </a:rPr>
              <a:t>•  Route 53 Supports the following Routing Policies</a:t>
            </a:r>
          </a:p>
          <a:p>
            <a:pPr>
              <a:spcAft>
                <a:spcPts val="1000"/>
              </a:spcAft>
            </a:pPr>
            <a:r>
              <a:rPr sz="1800" b="0">
                <a:solidFill>
                  <a:srgbClr val="161B26"/>
                </a:solidFill>
                <a:latin typeface="Arial"/>
              </a:rPr>
              <a:t>•  Simple</a:t>
            </a:r>
          </a:p>
          <a:p>
            <a:pPr>
              <a:spcAft>
                <a:spcPts val="1000"/>
              </a:spcAft>
            </a:pPr>
            <a:r>
              <a:rPr sz="1800" b="0">
                <a:solidFill>
                  <a:srgbClr val="161B26"/>
                </a:solidFill>
                <a:latin typeface="Arial"/>
              </a:rPr>
              <a:t>•  Weighted</a:t>
            </a:r>
          </a:p>
          <a:p>
            <a:pPr>
              <a:spcAft>
                <a:spcPts val="1000"/>
              </a:spcAft>
            </a:pPr>
            <a:r>
              <a:rPr sz="1800" b="0">
                <a:solidFill>
                  <a:srgbClr val="161B26"/>
                </a:solidFill>
                <a:latin typeface="Arial"/>
              </a:rPr>
              <a:t>•  Failover</a:t>
            </a:r>
          </a:p>
          <a:p>
            <a:pPr>
              <a:spcAft>
                <a:spcPts val="1000"/>
              </a:spcAft>
            </a:pPr>
            <a:r>
              <a:rPr sz="1800" b="0">
                <a:solidFill>
                  <a:srgbClr val="161B26"/>
                </a:solidFill>
                <a:latin typeface="Arial"/>
              </a:rPr>
              <a:t>•  Latency based</a:t>
            </a:r>
          </a:p>
          <a:p>
            <a:pPr>
              <a:spcAft>
                <a:spcPts val="1000"/>
              </a:spcAft>
            </a:pPr>
            <a:r>
              <a:rPr sz="1800" b="0">
                <a:solidFill>
                  <a:srgbClr val="161B26"/>
                </a:solidFill>
                <a:latin typeface="Arial"/>
              </a:rPr>
              <a:t>•  Geolocation</a:t>
            </a:r>
          </a:p>
          <a:p>
            <a:pPr>
              <a:spcAft>
                <a:spcPts val="1000"/>
              </a:spcAft>
            </a:pPr>
            <a:r>
              <a:rPr sz="1800" b="0">
                <a:solidFill>
                  <a:srgbClr val="161B26"/>
                </a:solidFill>
                <a:latin typeface="Arial"/>
              </a:rPr>
              <a:t>•  Multi-Value Answer</a:t>
            </a:r>
          </a:p>
          <a:p>
            <a:pPr>
              <a:spcAft>
                <a:spcPts val="1000"/>
              </a:spcAft>
            </a:pPr>
            <a:r>
              <a:rPr sz="1800" b="0">
                <a:solidFill>
                  <a:srgbClr val="161B26"/>
                </a:solidFill>
                <a:latin typeface="Arial"/>
              </a:rPr>
              <a:t>•  Geoproximity (using Route 53 Traffic Flow feature)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790</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Simple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Typically, route traffic to a single resource</a:t>
            </a:r>
          </a:p>
          <a:p>
            <a:pPr>
              <a:spcAft>
                <a:spcPts val="1000"/>
              </a:spcAft>
            </a:pPr>
            <a:r>
              <a:rPr sz="1800" b="0">
                <a:solidFill>
                  <a:srgbClr val="161B26"/>
                </a:solidFill>
                <a:latin typeface="Arial"/>
              </a:rPr>
              <a:t>•  Can specify multiple values in the same record</a:t>
            </a:r>
          </a:p>
          <a:p>
            <a:pPr>
              <a:spcAft>
                <a:spcPts val="1000"/>
              </a:spcAft>
            </a:pPr>
            <a:r>
              <a:rPr sz="1800" b="0">
                <a:solidFill>
                  <a:srgbClr val="161B26"/>
                </a:solidFill>
                <a:latin typeface="Arial"/>
              </a:rPr>
              <a:t>•  If mutliple values are returned a</a:t>
            </a:r>
          </a:p>
          <a:p>
            <a:pPr>
              <a:spcAft>
                <a:spcPts val="1000"/>
              </a:spcAft>
            </a:pPr>
            <a:r>
              <a:rPr sz="1800" b="0">
                <a:solidFill>
                  <a:srgbClr val="161B26"/>
                </a:solidFill>
                <a:latin typeface="Arial"/>
              </a:rPr>
              <a:t>•  random one is chosen by the client</a:t>
            </a:r>
          </a:p>
          <a:p>
            <a:pPr>
              <a:spcAft>
                <a:spcPts val="1000"/>
              </a:spcAft>
            </a:pPr>
            <a:r>
              <a:rPr sz="1800" b="0">
                <a:solidFill>
                  <a:srgbClr val="161B26"/>
                </a:solidFill>
                <a:latin typeface="Arial"/>
              </a:rPr>
              <a:t>•  When Alias enabled, specify only one AWS resource</a:t>
            </a:r>
          </a:p>
          <a:p>
            <a:pPr>
              <a:spcAft>
                <a:spcPts val="1000"/>
              </a:spcAft>
            </a:pPr>
            <a:r>
              <a:rPr sz="1800" b="0">
                <a:solidFill>
                  <a:srgbClr val="161B26"/>
                </a:solidFill>
                <a:latin typeface="Arial"/>
              </a:rPr>
              <a:t>•  Can’t be associated with Health Checks</a:t>
            </a:r>
          </a:p>
          <a:p>
            <a:pPr>
              <a:spcAft>
                <a:spcPts val="1000"/>
              </a:spcAft>
            </a:pPr>
            <a:r>
              <a:rPr sz="1800" b="0">
                <a:solidFill>
                  <a:srgbClr val="161B26"/>
                </a:solidFill>
                <a:latin typeface="Arial"/>
              </a:rPr>
              <a:t>•  foo.example.com</a:t>
            </a:r>
          </a:p>
          <a:p>
            <a:pPr>
              <a:spcAft>
                <a:spcPts val="1000"/>
              </a:spcAft>
            </a:pPr>
            <a:r>
              <a:rPr sz="1800" b="0">
                <a:solidFill>
                  <a:srgbClr val="161B26"/>
                </a:solidFill>
                <a:latin typeface="Arial"/>
              </a:rPr>
              <a:t>•  A 11.22.33.44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Single Value</a:t>
            </a:r>
          </a:p>
          <a:p>
            <a:pPr>
              <a:spcAft>
                <a:spcPts val="1000"/>
              </a:spcAft>
            </a:pPr>
            <a:r>
              <a:rPr sz="1800" b="0">
                <a:solidFill>
                  <a:srgbClr val="161B26"/>
                </a:solidFill>
                <a:latin typeface="Arial"/>
              </a:rPr>
              <a:t>•  foo.example.com</a:t>
            </a:r>
          </a:p>
          <a:p>
            <a:pPr>
              <a:spcAft>
                <a:spcPts val="1000"/>
              </a:spcAft>
            </a:pPr>
            <a:r>
              <a:rPr sz="1800" b="0">
                <a:solidFill>
                  <a:srgbClr val="161B26"/>
                </a:solidFill>
                <a:latin typeface="Arial"/>
              </a:rPr>
              <a:t>•  A 11.22.33.44</a:t>
            </a:r>
          </a:p>
          <a:p>
            <a:pPr>
              <a:spcAft>
                <a:spcPts val="1000"/>
              </a:spcAft>
            </a:pPr>
            <a:r>
              <a:rPr sz="1800" b="0">
                <a:solidFill>
                  <a:srgbClr val="161B26"/>
                </a:solidFill>
                <a:latin typeface="Arial"/>
              </a:rPr>
              <a:t>•  A 55.66.77.88</a:t>
            </a:r>
          </a:p>
          <a:p>
            <a:pPr>
              <a:spcAft>
                <a:spcPts val="1000"/>
              </a:spcAft>
            </a:pPr>
            <a:r>
              <a:rPr sz="1800" b="0">
                <a:solidFill>
                  <a:srgbClr val="161B26"/>
                </a:solidFill>
                <a:latin typeface="Arial"/>
              </a:rPr>
              <a:t>•  A 99.11.22.33</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chooses</a:t>
            </a:r>
          </a:p>
          <a:p>
            <a:pPr>
              <a:spcAft>
                <a:spcPts val="1000"/>
              </a:spcAft>
            </a:pPr>
            <a:r>
              <a:rPr sz="1800" b="0">
                <a:solidFill>
                  <a:srgbClr val="161B26"/>
                </a:solidFill>
                <a:latin typeface="Arial"/>
              </a:rPr>
              <a:t>•  a random value</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Multiple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791</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Weighted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Control the % of the requests that go to each 	specific resource</a:t>
            </a:r>
          </a:p>
          <a:p>
            <a:pPr>
              <a:spcAft>
                <a:spcPts val="1000"/>
              </a:spcAft>
            </a:pPr>
            <a:r>
              <a:rPr sz="1800" b="0">
                <a:solidFill>
                  <a:srgbClr val="161B26"/>
                </a:solidFill>
                <a:latin typeface="Arial"/>
              </a:rPr>
              <a:t>•  Assign each record a relative weight:</a:t>
            </a:r>
          </a:p>
          <a:p>
            <a:pPr>
              <a:spcAft>
                <a:spcPts val="1000"/>
              </a:spcAft>
            </a:pPr>
            <a:r>
              <a:rPr sz="1800" b="0">
                <a:solidFill>
                  <a:srgbClr val="161B26"/>
                </a:solidFill>
                <a:latin typeface="Arial"/>
              </a:rPr>
              <a:t>•  𝑡𝑟𝑎𝑓𝑓𝑖𝑐 (%) =</a:t>
            </a:r>
          </a:p>
          <a:p>
            <a:pPr>
              <a:spcAft>
                <a:spcPts val="1000"/>
              </a:spcAft>
            </a:pPr>
            <a:r>
              <a:rPr sz="1800" b="0">
                <a:solidFill>
                  <a:srgbClr val="161B26"/>
                </a:solidFill>
                <a:latin typeface="Arial"/>
              </a:rPr>
              <a:t>•  !"#$%&amp; ()* + ,-".#(#. *".)*/</a:t>
            </a:r>
          </a:p>
          <a:p>
            <a:pPr>
              <a:spcAft>
                <a:spcPts val="1000"/>
              </a:spcAft>
            </a:pPr>
            <a:r>
              <a:rPr sz="1800" b="0">
                <a:solidFill>
                  <a:srgbClr val="161B26"/>
                </a:solidFill>
                <a:latin typeface="Arial"/>
              </a:rPr>
              <a:t>•  012 )( +33 &amp;%" 4"#$%&amp;, ()* +33 *".)*/,</a:t>
            </a:r>
          </a:p>
          <a:p>
            <a:pPr>
              <a:spcAft>
                <a:spcPts val="1000"/>
              </a:spcAft>
            </a:pPr>
            <a:r>
              <a:rPr sz="1800" b="0">
                <a:solidFill>
                  <a:srgbClr val="161B26"/>
                </a:solidFill>
                <a:latin typeface="Arial"/>
              </a:rPr>
              <a:t>•  Weights don’t need to sum up to 100</a:t>
            </a:r>
          </a:p>
          <a:p>
            <a:pPr>
              <a:spcAft>
                <a:spcPts val="1000"/>
              </a:spcAft>
            </a:pPr>
            <a:r>
              <a:rPr sz="1800" b="0">
                <a:solidFill>
                  <a:srgbClr val="161B26"/>
                </a:solidFill>
                <a:latin typeface="Arial"/>
              </a:rPr>
              <a:t>•  DNS records must have the same name and type</a:t>
            </a:r>
          </a:p>
          <a:p>
            <a:pPr>
              <a:spcAft>
                <a:spcPts val="1000"/>
              </a:spcAft>
            </a:pPr>
            <a:r>
              <a:rPr sz="1800" b="0">
                <a:solidFill>
                  <a:srgbClr val="161B26"/>
                </a:solidFill>
                <a:latin typeface="Arial"/>
              </a:rPr>
              <a:t>•  Can be associated with Health Checks</a:t>
            </a:r>
          </a:p>
          <a:p>
            <a:pPr>
              <a:spcAft>
                <a:spcPts val="1000"/>
              </a:spcAft>
            </a:pPr>
            <a:r>
              <a:rPr sz="1800" b="0">
                <a:solidFill>
                  <a:srgbClr val="161B26"/>
                </a:solidFill>
                <a:latin typeface="Arial"/>
              </a:rPr>
              <a:t>•  Use cases: load balancing between regions, testing 	new application versions…</a:t>
            </a:r>
          </a:p>
          <a:p>
            <a:pPr>
              <a:spcAft>
                <a:spcPts val="1000"/>
              </a:spcAft>
            </a:pPr>
            <a:r>
              <a:rPr sz="1800" b="0">
                <a:solidFill>
                  <a:srgbClr val="161B26"/>
                </a:solidFill>
                <a:latin typeface="Arial"/>
              </a:rPr>
              <a:t>•  Assign a weight of 0 for a record to stop sending traffic to a resource</a:t>
            </a:r>
          </a:p>
          <a:p>
            <a:pPr>
              <a:spcAft>
                <a:spcPts val="1000"/>
              </a:spcAft>
            </a:pPr>
            <a:r>
              <a:rPr sz="1800" b="0">
                <a:solidFill>
                  <a:srgbClr val="161B26"/>
                </a:solidFill>
                <a:latin typeface="Arial"/>
              </a:rPr>
              <a:t>•  If all records have a weight of 0 then all records will be returned equally</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Weight: 70</a:t>
            </a:r>
          </a:p>
          <a:p>
            <a:pPr>
              <a:spcAft>
                <a:spcPts val="1000"/>
              </a:spcAft>
            </a:pPr>
            <a:r>
              <a:rPr sz="1800" b="0">
                <a:solidFill>
                  <a:srgbClr val="161B26"/>
                </a:solidFill>
                <a:latin typeface="Arial"/>
              </a:rPr>
              <a:t>•  Weight: 10</a:t>
            </a:r>
          </a:p>
          <a:p>
            <a:pPr>
              <a:spcAft>
                <a:spcPts val="1000"/>
              </a:spcAft>
            </a:pPr>
            <a:r>
              <a:rPr sz="1800" b="0">
                <a:solidFill>
                  <a:srgbClr val="161B26"/>
                </a:solidFill>
                <a:latin typeface="Arial"/>
              </a:rPr>
              <a:t>•  Weight: 20</a:t>
            </a:r>
          </a:p>
          <a:p>
            <a:pPr>
              <a:spcAft>
                <a:spcPts val="1000"/>
              </a:spcAft>
            </a:pPr>
            <a:r>
              <a:rPr sz="1800" b="0">
                <a:solidFill>
                  <a:srgbClr val="161B26"/>
                </a:solidFill>
                <a:latin typeface="Arial"/>
              </a:rPr>
              <a:t>•  70%</a:t>
            </a:r>
          </a:p>
          <a:p>
            <a:pPr>
              <a:spcAft>
                <a:spcPts val="1000"/>
              </a:spcAft>
            </a:pPr>
            <a:r>
              <a:rPr sz="1800" b="0">
                <a:solidFill>
                  <a:srgbClr val="161B26"/>
                </a:solidFill>
                <a:latin typeface="Arial"/>
              </a:rPr>
              <a:t>•  20%</a:t>
            </a:r>
          </a:p>
          <a:p>
            <a:pPr>
              <a:spcAft>
                <a:spcPts val="1000"/>
              </a:spcAft>
            </a:pPr>
            <a:r>
              <a:rPr sz="1800" b="0">
                <a:solidFill>
                  <a:srgbClr val="161B26"/>
                </a:solidFill>
                <a:latin typeface="Arial"/>
              </a:rPr>
              <a:t>•  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792</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Latency-based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Redirect to the resource that has the least latency close to us</a:t>
            </a:r>
          </a:p>
          <a:p>
            <a:pPr>
              <a:spcAft>
                <a:spcPts val="1000"/>
              </a:spcAft>
            </a:pPr>
            <a:r>
              <a:rPr sz="1800" b="0">
                <a:solidFill>
                  <a:srgbClr val="161B26"/>
                </a:solidFill>
                <a:latin typeface="Arial"/>
              </a:rPr>
              <a:t>•  Super helpful when latency for users is a priority</a:t>
            </a:r>
          </a:p>
          <a:p>
            <a:pPr>
              <a:spcAft>
                <a:spcPts val="1000"/>
              </a:spcAft>
            </a:pPr>
            <a:r>
              <a:rPr sz="1800" b="0">
                <a:solidFill>
                  <a:srgbClr val="161B26"/>
                </a:solidFill>
                <a:latin typeface="Arial"/>
              </a:rPr>
              <a:t>•  Latency is based on  trafficbetween users and AWS Regions</a:t>
            </a:r>
          </a:p>
          <a:p>
            <a:pPr>
              <a:spcAft>
                <a:spcPts val="1000"/>
              </a:spcAft>
            </a:pPr>
            <a:r>
              <a:rPr sz="1800" b="0">
                <a:solidFill>
                  <a:srgbClr val="161B26"/>
                </a:solidFill>
                <a:latin typeface="Arial"/>
              </a:rPr>
              <a:t>•  Germany users may be directed to the US (if that’s the lowest latency)</a:t>
            </a:r>
          </a:p>
          <a:p>
            <a:pPr>
              <a:spcAft>
                <a:spcPts val="1000"/>
              </a:spcAft>
            </a:pPr>
            <a:r>
              <a:rPr sz="1800" b="0">
                <a:solidFill>
                  <a:srgbClr val="161B26"/>
                </a:solidFill>
                <a:latin typeface="Arial"/>
              </a:rPr>
              <a:t>•  Can be associated with Health</a:t>
            </a:r>
          </a:p>
          <a:p>
            <a:pPr>
              <a:spcAft>
                <a:spcPts val="1000"/>
              </a:spcAft>
            </a:pPr>
            <a:r>
              <a:rPr sz="1800" b="0">
                <a:solidFill>
                  <a:srgbClr val="161B26"/>
                </a:solidFill>
                <a:latin typeface="Arial"/>
              </a:rPr>
              <a:t>•  Checks (has a failover capability)</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(ap-southeast-1)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793</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 Health Checks are only for public  resources</a:t>
            </a:r>
          </a:p>
          <a:p>
            <a:pPr>
              <a:spcAft>
                <a:spcPts val="1000"/>
              </a:spcAft>
            </a:pPr>
            <a:r>
              <a:rPr sz="1800" b="0">
                <a:solidFill>
                  <a:srgbClr val="161B26"/>
                </a:solidFill>
                <a:latin typeface="Arial"/>
              </a:rPr>
              <a:t>•  Health Check =&gt; Automated DNS Failover:</a:t>
            </a:r>
          </a:p>
          <a:p>
            <a:pPr>
              <a:spcAft>
                <a:spcPts val="1000"/>
              </a:spcAft>
            </a:pPr>
            <a:r>
              <a:rPr sz="1800" b="0">
                <a:solidFill>
                  <a:srgbClr val="161B26"/>
                </a:solidFill>
                <a:latin typeface="Arial"/>
              </a:rPr>
              <a:t>•  Health checks that monitor an endpoint (application, server, other AWS resource)</a:t>
            </a:r>
          </a:p>
          <a:p>
            <a:pPr>
              <a:spcAft>
                <a:spcPts val="1000"/>
              </a:spcAft>
            </a:pPr>
            <a:r>
              <a:rPr sz="1800" b="0">
                <a:solidFill>
                  <a:srgbClr val="161B26"/>
                </a:solidFill>
                <a:latin typeface="Arial"/>
              </a:rPr>
              <a:t>•  Health checks that monitor other health checks (Calculated Health Checks)</a:t>
            </a:r>
          </a:p>
          <a:p>
            <a:pPr>
              <a:spcAft>
                <a:spcPts val="1000"/>
              </a:spcAft>
            </a:pPr>
            <a:r>
              <a:rPr sz="1800" b="0">
                <a:solidFill>
                  <a:srgbClr val="161B26"/>
                </a:solidFill>
                <a:latin typeface="Arial"/>
              </a:rPr>
              <a:t>•  Health checks that monitor CloudWatch Alarms (full control !!) – e.g., throttles of DynamoDB, alarms on RDS, custom metrics,</a:t>
            </a:r>
          </a:p>
          <a:p>
            <a:pPr>
              <a:spcAft>
                <a:spcPts val="1000"/>
              </a:spcAft>
            </a:pPr>
            <a:r>
              <a:rPr sz="1800" b="0">
                <a:solidFill>
                  <a:srgbClr val="161B26"/>
                </a:solidFill>
                <a:latin typeface="Arial"/>
              </a:rPr>
              <a:t>•  … (helpful for private resources)</a:t>
            </a:r>
          </a:p>
          <a:p>
            <a:pPr>
              <a:spcAft>
                <a:spcPts val="1000"/>
              </a:spcAft>
            </a:pPr>
            <a:r>
              <a:rPr sz="1800" b="0">
                <a:solidFill>
                  <a:srgbClr val="161B26"/>
                </a:solidFill>
                <a:latin typeface="Arial"/>
              </a:rPr>
              <a:t>•  Health Checks are integrated with CW metrics</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DNS Record (latency, geoproximity, …)</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eu-west-1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794</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eu-west-1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Health Checker (us-east-1)</a:t>
            </a:r>
          </a:p>
          <a:p>
            <a:pPr>
              <a:spcAft>
                <a:spcPts val="1000"/>
              </a:spcAft>
            </a:pPr>
            <a:r>
              <a:rPr sz="1800" b="0">
                <a:solidFill>
                  <a:srgbClr val="161B26"/>
                </a:solidFill>
                <a:latin typeface="Arial"/>
              </a:rPr>
              <a:t>•  Health Checks - Monitor an Endpoint</a:t>
            </a:r>
          </a:p>
          <a:p>
            <a:pPr>
              <a:spcAft>
                <a:spcPts val="1000"/>
              </a:spcAft>
            </a:pPr>
            <a:r>
              <a:rPr sz="1800" b="0">
                <a:solidFill>
                  <a:srgbClr val="161B26"/>
                </a:solidFill>
                <a:latin typeface="Arial"/>
              </a:rPr>
              <a:t>•  about 15 global health checkers will check the endpoint health</a:t>
            </a:r>
          </a:p>
          <a:p>
            <a:pPr>
              <a:spcAft>
                <a:spcPts val="1000"/>
              </a:spcAft>
            </a:pPr>
            <a:r>
              <a:rPr sz="1800" b="0">
                <a:solidFill>
                  <a:srgbClr val="161B26"/>
                </a:solidFill>
                <a:latin typeface="Arial"/>
              </a:rPr>
              <a:t>•  Healthy/Unhealthy Threshold – 3 (default)</a:t>
            </a:r>
          </a:p>
          <a:p>
            <a:pPr>
              <a:spcAft>
                <a:spcPts val="1000"/>
              </a:spcAft>
            </a:pPr>
            <a:r>
              <a:rPr sz="1800" b="0">
                <a:solidFill>
                  <a:srgbClr val="161B26"/>
                </a:solidFill>
                <a:latin typeface="Arial"/>
              </a:rPr>
              <a:t>•  Interval – 30 sec (can set to 10 sec – higher cost)</a:t>
            </a:r>
          </a:p>
          <a:p>
            <a:pPr>
              <a:spcAft>
                <a:spcPts val="1000"/>
              </a:spcAft>
            </a:pPr>
            <a:r>
              <a:rPr sz="1800" b="0">
                <a:solidFill>
                  <a:srgbClr val="161B26"/>
                </a:solidFill>
                <a:latin typeface="Arial"/>
              </a:rPr>
              <a:t>•  Supported protocol: HTTP, HTTPS and TCP</a:t>
            </a:r>
          </a:p>
          <a:p>
            <a:pPr>
              <a:spcAft>
                <a:spcPts val="1000"/>
              </a:spcAft>
            </a:pPr>
            <a:r>
              <a:rPr sz="1800" b="0">
                <a:solidFill>
                  <a:srgbClr val="161B26"/>
                </a:solidFill>
                <a:latin typeface="Arial"/>
              </a:rPr>
              <a:t>•  If&gt; 18% of health checkers report the endpoint is healthy, Route 53 considers it Healthy. Otherwise, it’s Unhealthy</a:t>
            </a:r>
          </a:p>
          <a:p>
            <a:pPr>
              <a:spcAft>
                <a:spcPts val="1000"/>
              </a:spcAft>
            </a:pPr>
            <a:r>
              <a:rPr sz="1800" b="0">
                <a:solidFill>
                  <a:srgbClr val="161B26"/>
                </a:solidFill>
                <a:latin typeface="Arial"/>
              </a:rPr>
              <a:t>•  Ability to choose which locations you want Route 53 to use</a:t>
            </a:r>
          </a:p>
          <a:p>
            <a:pPr>
              <a:spcAft>
                <a:spcPts val="1000"/>
              </a:spcAft>
            </a:pPr>
            <a:r>
              <a:rPr sz="1800" b="0">
                <a:solidFill>
                  <a:srgbClr val="161B26"/>
                </a:solidFill>
                <a:latin typeface="Arial"/>
              </a:rPr>
              <a:t>•  Health Checks pass only when the endpoint responds with the 2xx and 3xx status codes</a:t>
            </a:r>
          </a:p>
          <a:p>
            <a:pPr>
              <a:spcAft>
                <a:spcPts val="1000"/>
              </a:spcAft>
            </a:pPr>
            <a:r>
              <a:rPr sz="1800" b="0">
                <a:solidFill>
                  <a:srgbClr val="161B26"/>
                </a:solidFill>
                <a:latin typeface="Arial"/>
              </a:rPr>
              <a:t>•  Health Checks can be setup to pass / fail based on 	the text in the first 5120 bytes of the response</a:t>
            </a:r>
          </a:p>
          <a:p>
            <a:pPr>
              <a:spcAft>
                <a:spcPts val="1000"/>
              </a:spcAft>
            </a:pPr>
            <a:r>
              <a:rPr sz="1800" b="0">
                <a:solidFill>
                  <a:srgbClr val="161B26"/>
                </a:solidFill>
                <a:latin typeface="Arial"/>
              </a:rPr>
              <a:t>•  Configure your router/firewall to allow incoming requests from Route 53 Health Checkers</a:t>
            </a:r>
          </a:p>
          <a:p>
            <a:pPr>
              <a:spcAft>
                <a:spcPts val="1000"/>
              </a:spcAft>
            </a:pPr>
            <a:r>
              <a:rPr sz="1800" b="0">
                <a:solidFill>
                  <a:srgbClr val="161B26"/>
                </a:solidFill>
                <a:latin typeface="Arial"/>
              </a:rPr>
              <a:t>•  HTTP Request</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Health Checker (us-west-1)</a:t>
            </a:r>
          </a:p>
          <a:p>
            <a:pPr>
              <a:spcAft>
                <a:spcPts val="1000"/>
              </a:spcAft>
            </a:pPr>
            <a:r>
              <a:rPr sz="1800" b="0">
                <a:solidFill>
                  <a:srgbClr val="161B26"/>
                </a:solidFill>
                <a:latin typeface="Arial"/>
              </a:rPr>
              <a:t>•  Health Checker (sa-east-1)</a:t>
            </a:r>
          </a:p>
          <a:p>
            <a:pPr>
              <a:spcAft>
                <a:spcPts val="1000"/>
              </a:spcAft>
            </a:pPr>
            <a:r>
              <a:rPr sz="1800" b="0">
                <a:solidFill>
                  <a:srgbClr val="161B26"/>
                </a:solidFill>
                <a:latin typeface="Arial"/>
              </a:rPr>
              <a:t>•  200 code</a:t>
            </a:r>
          </a:p>
          <a:p>
            <a:pPr>
              <a:spcAft>
                <a:spcPts val="1000"/>
              </a:spcAft>
            </a:pPr>
            <a:r>
              <a:rPr sz="1800" b="0">
                <a:solidFill>
                  <a:srgbClr val="161B26"/>
                </a:solidFill>
                <a:latin typeface="Arial"/>
              </a:rPr>
              <a:t>•  Must allow incoming requests from Route 53 Health Checkers IP address range</a:t>
            </a:r>
          </a:p>
          <a:p>
            <a:pPr>
              <a:spcAft>
                <a:spcPts val="1000"/>
              </a:spcAft>
            </a:pPr>
            <a:r>
              <a:rPr sz="1800" b="0">
                <a:solidFill>
                  <a:srgbClr val="161B26"/>
                </a:solidFill>
                <a:latin typeface="Arial"/>
              </a:rPr>
              <a:t>•  https://ip-ranges.amazonaws.com/ip-ranges.json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795</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 53 - Calculated Health Checks</a:t>
            </a:r>
          </a:p>
          <a:p>
            <a:pPr>
              <a:spcAft>
                <a:spcPts val="1000"/>
              </a:spcAft>
            </a:pPr>
            <a:r>
              <a:rPr sz="1800" b="0">
                <a:solidFill>
                  <a:srgbClr val="161B26"/>
                </a:solidFill>
                <a:latin typeface="Arial"/>
              </a:rPr>
              <a:t>•  Combine the results of multiple Health Checks into a single Health Check</a:t>
            </a:r>
          </a:p>
          <a:p>
            <a:pPr>
              <a:spcAft>
                <a:spcPts val="1000"/>
              </a:spcAft>
            </a:pPr>
            <a:r>
              <a:rPr sz="1800" b="0">
                <a:solidFill>
                  <a:srgbClr val="161B26"/>
                </a:solidFill>
                <a:latin typeface="Arial"/>
              </a:rPr>
              <a:t>•  You can use OR, AND or NOT</a:t>
            </a:r>
          </a:p>
          <a:p>
            <a:pPr>
              <a:spcAft>
                <a:spcPts val="1000"/>
              </a:spcAft>
            </a:pPr>
            <a:r>
              <a:rPr sz="1800" b="0">
                <a:solidFill>
                  <a:srgbClr val="161B26"/>
                </a:solidFill>
                <a:latin typeface="Arial"/>
              </a:rPr>
              <a:t>•  Can monitor up to 256 Child Health Checks</a:t>
            </a:r>
          </a:p>
          <a:p>
            <a:pPr>
              <a:spcAft>
                <a:spcPts val="1000"/>
              </a:spcAft>
            </a:pPr>
            <a:r>
              <a:rPr sz="1800" b="0">
                <a:solidFill>
                  <a:srgbClr val="161B26"/>
                </a:solidFill>
                <a:latin typeface="Arial"/>
              </a:rPr>
              <a:t>•  Specify how many of the health checks need to pass to make the parent pass</a:t>
            </a:r>
          </a:p>
          <a:p>
            <a:pPr>
              <a:spcAft>
                <a:spcPts val="1000"/>
              </a:spcAft>
            </a:pPr>
            <a:r>
              <a:rPr sz="1800" b="0">
                <a:solidFill>
                  <a:srgbClr val="161B26"/>
                </a:solidFill>
                <a:latin typeface="Arial"/>
              </a:rPr>
              <a:t>•  Usage: perform maintenance to your website without causing all health checks to fail</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(Parent)</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(Child)</a:t>
            </a:r>
          </a:p>
          <a:p>
            <a:pPr>
              <a:spcAft>
                <a:spcPts val="1000"/>
              </a:spcAft>
            </a:pPr>
            <a:r>
              <a:rPr sz="1800" b="0">
                <a:solidFill>
                  <a:srgbClr val="161B26"/>
                </a:solidFill>
                <a:latin typeface="Arial"/>
              </a:rPr>
              <a:t>•  Health            Health</a:t>
            </a:r>
          </a:p>
          <a:p>
            <a:pPr>
              <a:spcAft>
                <a:spcPts val="1000"/>
              </a:spcAft>
            </a:pPr>
            <a:r>
              <a:rPr sz="1800" b="0">
                <a:solidFill>
                  <a:srgbClr val="161B26"/>
                </a:solidFill>
                <a:latin typeface="Arial"/>
              </a:rPr>
              <a:t>•  Check            Check</a:t>
            </a:r>
          </a:p>
          <a:p>
            <a:pPr>
              <a:spcAft>
                <a:spcPts val="1000"/>
              </a:spcAft>
            </a:pPr>
            <a:r>
              <a:rPr sz="1800" b="0">
                <a:solidFill>
                  <a:srgbClr val="161B26"/>
                </a:solidFill>
                <a:latin typeface="Arial"/>
              </a:rPr>
              <a:t>•  (Child)	(Child)</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monitor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796</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Health Checks - Private Hosted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 53 health checkers are outside the VPC</a:t>
            </a:r>
          </a:p>
          <a:p>
            <a:pPr>
              <a:spcAft>
                <a:spcPts val="1000"/>
              </a:spcAft>
            </a:pPr>
            <a:r>
              <a:rPr sz="1800" b="0">
                <a:solidFill>
                  <a:srgbClr val="161B26"/>
                </a:solidFill>
                <a:latin typeface="Arial"/>
              </a:rPr>
              <a:t>•  They can’t access private endpoints (private VPC or on-premises resource)</a:t>
            </a:r>
          </a:p>
          <a:p>
            <a:pPr>
              <a:spcAft>
                <a:spcPts val="1000"/>
              </a:spcAft>
            </a:pPr>
            <a:r>
              <a:rPr sz="1800" b="0">
                <a:solidFill>
                  <a:srgbClr val="161B26"/>
                </a:solidFill>
                <a:latin typeface="Arial"/>
              </a:rPr>
              <a:t>•  You can create a CloudWatch Metric and associate a CloudWatch Alarm, then create a Health Check that checks the alarm itself</a:t>
            </a:r>
          </a:p>
          <a:p>
            <a:pPr>
              <a:spcAft>
                <a:spcPts val="1000"/>
              </a:spcAft>
            </a:pPr>
            <a:r>
              <a:rPr sz="1800" b="0">
                <a:solidFill>
                  <a:srgbClr val="161B26"/>
                </a:solidFill>
                <a:latin typeface="Arial"/>
              </a:rPr>
              <a:t>•  Health Checker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monitor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797</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Routing Policies - Failover (Active-Passive)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(mandatory)</a:t>
            </a:r>
          </a:p>
          <a:p>
            <a:pPr>
              <a:spcAft>
                <a:spcPts val="1000"/>
              </a:spcAft>
            </a:pPr>
            <a:r>
              <a:rPr sz="1800" b="0">
                <a:solidFill>
                  <a:srgbClr val="161B26"/>
                </a:solidFill>
                <a:latin typeface="Arial"/>
              </a:rPr>
              <a:t>•  Failover</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(Secondary – Disaster Recovery)</a:t>
            </a:r>
          </a:p>
          <a:p>
            <a:pPr>
              <a:spcAft>
                <a:spcPts val="1000"/>
              </a:spcAft>
            </a:pPr>
            <a:r>
              <a:rPr sz="1800" b="0">
                <a:solidFill>
                  <a:srgbClr val="161B26"/>
                </a:solidFill>
                <a:latin typeface="Arial"/>
              </a:rPr>
              <a:t>•  DNS Requests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798</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Geolocation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Different from Latency-based!</a:t>
            </a:r>
          </a:p>
          <a:p>
            <a:pPr>
              <a:spcAft>
                <a:spcPts val="1000"/>
              </a:spcAft>
            </a:pPr>
            <a:r>
              <a:rPr sz="1800" b="0">
                <a:solidFill>
                  <a:srgbClr val="161B26"/>
                </a:solidFill>
                <a:latin typeface="Arial"/>
              </a:rPr>
              <a:t>•  This routing is based on user location</a:t>
            </a:r>
          </a:p>
          <a:p>
            <a:pPr>
              <a:spcAft>
                <a:spcPts val="1000"/>
              </a:spcAft>
            </a:pPr>
            <a:r>
              <a:rPr sz="1800" b="0">
                <a:solidFill>
                  <a:srgbClr val="161B26"/>
                </a:solidFill>
                <a:latin typeface="Arial"/>
              </a:rPr>
              <a:t>•  Specify location by Continent, Country or by US State (if there’s overlapping, most precise location selected)</a:t>
            </a:r>
          </a:p>
          <a:p>
            <a:pPr>
              <a:spcAft>
                <a:spcPts val="1000"/>
              </a:spcAft>
            </a:pPr>
            <a:r>
              <a:rPr sz="1800" b="0">
                <a:solidFill>
                  <a:srgbClr val="161B26"/>
                </a:solidFill>
                <a:latin typeface="Arial"/>
              </a:rPr>
              <a:t>•  Should create a "Default" record (in case there’s no match on location)</a:t>
            </a:r>
          </a:p>
          <a:p>
            <a:pPr>
              <a:spcAft>
                <a:spcPts val="1000"/>
              </a:spcAft>
            </a:pPr>
            <a:r>
              <a:rPr sz="1800" b="0">
                <a:solidFill>
                  <a:srgbClr val="161B26"/>
                </a:solidFill>
                <a:latin typeface="Arial"/>
              </a:rPr>
              <a:t>•  Use cases: website localization, restrict content distribution, load balancing …</a:t>
            </a:r>
          </a:p>
          <a:p>
            <a:pPr>
              <a:spcAft>
                <a:spcPts val="1000"/>
              </a:spcAft>
            </a:pPr>
            <a:r>
              <a:rPr sz="1800" b="0">
                <a:solidFill>
                  <a:srgbClr val="161B26"/>
                </a:solidFill>
                <a:latin typeface="Arial"/>
              </a:rPr>
              <a:t>•  Can be associated with Health Checks</a:t>
            </a:r>
          </a:p>
          <a:p>
            <a:pPr>
              <a:spcAft>
                <a:spcPts val="1000"/>
              </a:spcAft>
            </a:pPr>
            <a:r>
              <a:rPr sz="1800" b="0">
                <a:solidFill>
                  <a:srgbClr val="161B26"/>
                </a:solidFill>
                <a:latin typeface="Arial"/>
              </a:rPr>
              <a:t>•  A 11.22.33.44</a:t>
            </a:r>
          </a:p>
          <a:p>
            <a:pPr>
              <a:spcAft>
                <a:spcPts val="1000"/>
              </a:spcAft>
            </a:pPr>
            <a:r>
              <a:rPr sz="1800" b="0">
                <a:solidFill>
                  <a:srgbClr val="161B26"/>
                </a:solidFill>
                <a:latin typeface="Arial"/>
              </a:rPr>
              <a:t>•  A 55.66.77.88</a:t>
            </a:r>
          </a:p>
          <a:p>
            <a:pPr>
              <a:spcAft>
                <a:spcPts val="1000"/>
              </a:spcAft>
            </a:pPr>
            <a:r>
              <a:rPr sz="1800" b="0">
                <a:solidFill>
                  <a:srgbClr val="161B26"/>
                </a:solidFill>
                <a:latin typeface="Arial"/>
              </a:rPr>
              <a:t>•  Default</a:t>
            </a:r>
          </a:p>
          <a:p>
            <a:pPr>
              <a:spcAft>
                <a:spcPts val="1000"/>
              </a:spcAft>
            </a:pPr>
            <a:r>
              <a:rPr sz="1800" b="0">
                <a:solidFill>
                  <a:srgbClr val="161B26"/>
                </a:solidFill>
                <a:latin typeface="Arial"/>
              </a:rPr>
              <a:t>•  A 99.11.22.33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799</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 traffic to your resources based on the geographic location of users and 	resources</a:t>
            </a:r>
          </a:p>
          <a:p>
            <a:pPr>
              <a:spcAft>
                <a:spcPts val="1000"/>
              </a:spcAft>
            </a:pPr>
            <a:r>
              <a:rPr sz="1800" b="0">
                <a:solidFill>
                  <a:srgbClr val="161B26"/>
                </a:solidFill>
                <a:latin typeface="Arial"/>
              </a:rPr>
              <a:t>•  Ability to shift more traffic to resources based on the defined bias</a:t>
            </a:r>
          </a:p>
          <a:p>
            <a:pPr>
              <a:spcAft>
                <a:spcPts val="1000"/>
              </a:spcAft>
            </a:pPr>
            <a:r>
              <a:rPr sz="1800" b="0">
                <a:solidFill>
                  <a:srgbClr val="161B26"/>
                </a:solidFill>
                <a:latin typeface="Arial"/>
              </a:rPr>
              <a:t>•  To change the size of the geographic region, specify bias values:</a:t>
            </a:r>
          </a:p>
          <a:p>
            <a:pPr>
              <a:spcAft>
                <a:spcPts val="1000"/>
              </a:spcAft>
            </a:pPr>
            <a:r>
              <a:rPr sz="1800" b="0">
                <a:solidFill>
                  <a:srgbClr val="161B26"/>
                </a:solidFill>
                <a:latin typeface="Arial"/>
              </a:rPr>
              <a:t>•  To expand (1 to 99) – more traffic to the resource</a:t>
            </a:r>
          </a:p>
          <a:p>
            <a:pPr>
              <a:spcAft>
                <a:spcPts val="1000"/>
              </a:spcAft>
            </a:pPr>
            <a:r>
              <a:rPr sz="1800" b="0">
                <a:solidFill>
                  <a:srgbClr val="161B26"/>
                </a:solidFill>
                <a:latin typeface="Arial"/>
              </a:rPr>
              <a:t>•  To shrink (-1 to -99) – less traffic to the resource</a:t>
            </a:r>
          </a:p>
          <a:p>
            <a:pPr>
              <a:spcAft>
                <a:spcPts val="1000"/>
              </a:spcAft>
            </a:pPr>
            <a:r>
              <a:rPr sz="1800" b="0">
                <a:solidFill>
                  <a:srgbClr val="161B26"/>
                </a:solidFill>
                <a:latin typeface="Arial"/>
              </a:rPr>
              <a:t>•  Resources can be:</a:t>
            </a:r>
          </a:p>
          <a:p>
            <a:pPr>
              <a:spcAft>
                <a:spcPts val="1000"/>
              </a:spcAft>
            </a:pPr>
            <a:r>
              <a:rPr sz="1800" b="0">
                <a:solidFill>
                  <a:srgbClr val="161B26"/>
                </a:solidFill>
                <a:latin typeface="Arial"/>
              </a:rPr>
              <a:t>•  AWS resources (specify AWS region)</a:t>
            </a:r>
          </a:p>
          <a:p>
            <a:pPr>
              <a:spcAft>
                <a:spcPts val="1000"/>
              </a:spcAft>
            </a:pPr>
            <a:r>
              <a:rPr sz="1800" b="0">
                <a:solidFill>
                  <a:srgbClr val="161B26"/>
                </a:solidFill>
                <a:latin typeface="Arial"/>
              </a:rPr>
              <a:t>•  Non-AWS resources (specify Latitude and Longitude)</a:t>
            </a:r>
          </a:p>
          <a:p>
            <a:pPr>
              <a:spcAft>
                <a:spcPts val="1000"/>
              </a:spcAft>
            </a:pPr>
            <a:r>
              <a:rPr sz="1800" b="0">
                <a:solidFill>
                  <a:srgbClr val="161B26"/>
                </a:solidFill>
                <a:latin typeface="Arial"/>
              </a:rPr>
              <a:t>•  You must use Route 53 Traffic Flow to use this feature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800</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us-west-1 Bias: 0</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us-east-1 Bias: 0</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801</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us-west-1 Bias: 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us-east-1 Bias: 50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Higher bias in us-east-1</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802</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GeoPolicy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44071" y="1801368"/>
            <a:ext cx="927337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04_0.png"/>
          <p:cNvPicPr>
            <a:picLocks noChangeAspect="1"/>
          </p:cNvPicPr>
          <p:nvPr/>
        </p:nvPicPr>
        <p:blipFill>
          <a:blip r:embed="rId2"/>
          <a:stretch>
            <a:fillRect/>
          </a:stretch>
        </p:blipFill>
        <p:spPr>
          <a:xfrm>
            <a:off x="1471503" y="1828800"/>
            <a:ext cx="921851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803</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Traffic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Simplify the process of creating and maintaining records in large and complex configurations</a:t>
            </a:r>
          </a:p>
          <a:p>
            <a:pPr>
              <a:spcAft>
                <a:spcPts val="1000"/>
              </a:spcAft>
            </a:pPr>
            <a:r>
              <a:rPr sz="2000" b="0">
                <a:solidFill>
                  <a:srgbClr val="161B26"/>
                </a:solidFill>
                <a:latin typeface="Arial"/>
              </a:rPr>
              <a:t>•  Visual editor to manage complex routing decision trees</a:t>
            </a:r>
          </a:p>
          <a:p>
            <a:pPr>
              <a:spcAft>
                <a:spcPts val="1000"/>
              </a:spcAft>
            </a:pPr>
            <a:r>
              <a:rPr sz="2000" b="0">
                <a:solidFill>
                  <a:srgbClr val="161B26"/>
                </a:solidFill>
                <a:latin typeface="Arial"/>
              </a:rPr>
              <a:t>•  Configurations can be saved as</a:t>
            </a:r>
          </a:p>
          <a:p>
            <a:pPr>
              <a:spcAft>
                <a:spcPts val="1000"/>
              </a:spcAft>
            </a:pPr>
            <a:r>
              <a:rPr sz="2000" b="0">
                <a:solidFill>
                  <a:srgbClr val="161B26"/>
                </a:solidFill>
                <a:latin typeface="Arial"/>
              </a:rPr>
              <a:t>•  Traffic Flow Policy</a:t>
            </a:r>
          </a:p>
          <a:p>
            <a:pPr>
              <a:spcAft>
                <a:spcPts val="1000"/>
              </a:spcAft>
            </a:pPr>
            <a:r>
              <a:rPr sz="2000" b="0">
                <a:solidFill>
                  <a:srgbClr val="161B26"/>
                </a:solidFill>
                <a:latin typeface="Arial"/>
              </a:rPr>
              <a:t>•  Can be applied to different Route 53 Hosted Zones (different domain names)</a:t>
            </a:r>
          </a:p>
          <a:p>
            <a:pPr>
              <a:spcAft>
                <a:spcPts val="1000"/>
              </a:spcAft>
            </a:pPr>
            <a:r>
              <a:rPr sz="2000" b="0">
                <a:solidFill>
                  <a:srgbClr val="161B26"/>
                </a:solidFill>
                <a:latin typeface="Arial"/>
              </a:rPr>
              <a:t>•  Supports versioning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804</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IP-based Routing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Routing is based on client's IP addresses</a:t>
            </a:r>
          </a:p>
          <a:p>
            <a:pPr>
              <a:spcAft>
                <a:spcPts val="1000"/>
              </a:spcAft>
            </a:pPr>
            <a:r>
              <a:rPr sz="1800" b="0">
                <a:solidFill>
                  <a:srgbClr val="161B26"/>
                </a:solidFill>
                <a:latin typeface="Arial"/>
              </a:rPr>
              <a:t>•  You provide a list of CIDRs for your clients and the corresponding endpoints/locations (user-IP-to-endpoint mappings)</a:t>
            </a:r>
          </a:p>
          <a:p>
            <a:pPr>
              <a:spcAft>
                <a:spcPts val="1000"/>
              </a:spcAft>
            </a:pPr>
            <a:r>
              <a:rPr sz="1800" b="0">
                <a:solidFill>
                  <a:srgbClr val="161B26"/>
                </a:solidFill>
                <a:latin typeface="Arial"/>
              </a:rPr>
              <a:t>•  Use cases: Optimize performance, reduce network costs…</a:t>
            </a:r>
          </a:p>
          <a:p>
            <a:pPr>
              <a:spcAft>
                <a:spcPts val="1000"/>
              </a:spcAft>
            </a:pPr>
            <a:r>
              <a:rPr sz="1800" b="0">
                <a:solidFill>
                  <a:srgbClr val="161B26"/>
                </a:solidFill>
                <a:latin typeface="Arial"/>
              </a:rPr>
              <a:t>•  Example: route end users from a particular ISP to a specific endpoint</a:t>
            </a:r>
          </a:p>
          <a:p>
            <a:pPr>
              <a:spcAft>
                <a:spcPts val="1000"/>
              </a:spcAft>
            </a:pPr>
            <a:r>
              <a:rPr sz="1800" b="0">
                <a:solidFill>
                  <a:srgbClr val="161B26"/>
                </a:solidFill>
                <a:latin typeface="Arial"/>
              </a:rPr>
              <a:t>•  CIDR Collection</a:t>
            </a:r>
          </a:p>
          <a:p>
            <a:pPr>
              <a:spcAft>
                <a:spcPts val="1000"/>
              </a:spcAft>
            </a:pPr>
            <a:r>
              <a:rPr sz="1800" b="0">
                <a:solidFill>
                  <a:srgbClr val="161B26"/>
                </a:solidFill>
                <a:latin typeface="Arial"/>
              </a:rPr>
              <a:t>•  Route 53</a:t>
            </a:r>
          </a:p>
          <a:p>
            <a:pPr>
              <a:spcAft>
                <a:spcPts val="1000"/>
              </a:spcAft>
            </a:pPr>
            <a:r>
              <a:rPr sz="1800" b="0">
                <a:solidFill>
                  <a:srgbClr val="161B26"/>
                </a:solidFill>
                <a:latin typeface="Arial"/>
              </a:rPr>
              <a:t>•  Records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(1.2.3.4)</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(5.6.7.8)</a:t>
            </a:r>
          </a:p>
          <a:p>
            <a:pPr>
              <a:spcAft>
                <a:spcPts val="1000"/>
              </a:spcAft>
            </a:pPr>
            <a:r>
              <a:rPr sz="1800" b="0">
                <a:solidFill>
                  <a:srgbClr val="161B26"/>
                </a:solidFill>
                <a:latin typeface="Arial"/>
              </a:rPr>
              <a:t>•  User A</a:t>
            </a:r>
          </a:p>
          <a:p>
            <a:pPr>
              <a:spcAft>
                <a:spcPts val="1000"/>
              </a:spcAft>
            </a:pPr>
            <a:r>
              <a:rPr sz="1800" b="0">
                <a:solidFill>
                  <a:srgbClr val="161B26"/>
                </a:solidFill>
                <a:latin typeface="Arial"/>
              </a:rPr>
              <a:t>•  (203.0.113.56)</a:t>
            </a:r>
          </a:p>
          <a:p>
            <a:pPr>
              <a:spcAft>
                <a:spcPts val="1000"/>
              </a:spcAft>
            </a:pPr>
            <a:r>
              <a:rPr sz="1800" b="0">
                <a:solidFill>
                  <a:srgbClr val="161B26"/>
                </a:solidFill>
                <a:latin typeface="Arial"/>
              </a:rPr>
              <a:t>•  User B</a:t>
            </a:r>
          </a:p>
          <a:p>
            <a:pPr>
              <a:spcAft>
                <a:spcPts val="1000"/>
              </a:spcAft>
            </a:pPr>
            <a:r>
              <a:rPr sz="1800" b="0">
                <a:solidFill>
                  <a:srgbClr val="161B26"/>
                </a:solidFill>
                <a:latin typeface="Arial"/>
              </a:rPr>
              <a:t>•  (200.5.4.100)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805</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Multi-Value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83993"/>
            <a:ext cx="10479024" cy="220441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07_0.jpg"/>
          <p:cNvPicPr>
            <a:picLocks noChangeAspect="1"/>
          </p:cNvPicPr>
          <p:nvPr/>
        </p:nvPicPr>
        <p:blipFill>
          <a:blip r:embed="rId2"/>
          <a:stretch>
            <a:fillRect/>
          </a:stretch>
        </p:blipFill>
        <p:spPr>
          <a:xfrm>
            <a:off x="868680" y="2811425"/>
            <a:ext cx="10424160" cy="214954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when routing traffic to multiple resources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806</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Domain Registrar vs DNS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buy or register your domain name with a Domain Registrar typically by paying annual charges (e.g., GoDaddy, Amazon Registrar Inc., …)</a:t>
            </a:r>
          </a:p>
          <a:p>
            <a:pPr>
              <a:spcAft>
                <a:spcPts val="1000"/>
              </a:spcAft>
            </a:pPr>
            <a:r>
              <a:rPr sz="1800" b="0">
                <a:solidFill>
                  <a:srgbClr val="161B26"/>
                </a:solidFill>
                <a:latin typeface="Arial"/>
              </a:rPr>
              <a:t>•  The Domain Registrar usually provides you with a DNS service to manage your DNS records</a:t>
            </a:r>
          </a:p>
          <a:p>
            <a:pPr>
              <a:spcAft>
                <a:spcPts val="1000"/>
              </a:spcAft>
            </a:pPr>
            <a:r>
              <a:rPr sz="1800" b="0">
                <a:solidFill>
                  <a:srgbClr val="161B26"/>
                </a:solidFill>
                <a:latin typeface="Arial"/>
              </a:rPr>
              <a:t>•  But you can use another DNS service to manage your DNS records</a:t>
            </a:r>
          </a:p>
          <a:p>
            <a:pPr>
              <a:spcAft>
                <a:spcPts val="1000"/>
              </a:spcAft>
            </a:pPr>
            <a:r>
              <a:rPr sz="1800" b="0">
                <a:solidFill>
                  <a:srgbClr val="161B26"/>
                </a:solidFill>
                <a:latin typeface="Arial"/>
              </a:rPr>
              <a:t>•  Example: purchase the domain from GoDaddy and use Route 53 to manage your DNS records</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purchase</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manage DNS records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807</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GoDaddy as Registrar &amp; Route 53 as DNS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Amazon Route 53</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Public Hosted Zone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stephanetheteacher.com</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808</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3rd Party Registrar with 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buy your domain on a 3rd party registrar, you can still use route 53 as the DNS Service provider</a:t>
            </a:r>
          </a:p>
          <a:p>
            <a:pPr>
              <a:spcAft>
                <a:spcPts val="1000"/>
              </a:spcAft>
            </a:pPr>
            <a:r>
              <a:rPr sz="2000" b="0">
                <a:solidFill>
                  <a:srgbClr val="161B26"/>
                </a:solidFill>
                <a:latin typeface="Arial"/>
              </a:rPr>
              <a:t>•  Create a Hosted Zone in Route 53</a:t>
            </a:r>
          </a:p>
          <a:p>
            <a:pPr>
              <a:spcAft>
                <a:spcPts val="1000"/>
              </a:spcAft>
            </a:pPr>
            <a:r>
              <a:rPr sz="2000" b="0">
                <a:solidFill>
                  <a:srgbClr val="161B26"/>
                </a:solidFill>
                <a:latin typeface="Arial"/>
              </a:rPr>
              <a:t>•  Update NS Records on 3rd party website to use Route 53 Name Servers</a:t>
            </a:r>
          </a:p>
          <a:p>
            <a:pPr>
              <a:spcAft>
                <a:spcPts val="1000"/>
              </a:spcAft>
            </a:pPr>
            <a:r>
              <a:rPr sz="2000" b="0">
                <a:solidFill>
                  <a:srgbClr val="161B26"/>
                </a:solidFill>
                <a:latin typeface="Arial"/>
              </a:rPr>
              <a:t>•  Domain Registrar != DNS Service</a:t>
            </a:r>
          </a:p>
          <a:p>
            <a:pPr>
              <a:spcAft>
                <a:spcPts val="1000"/>
              </a:spcAft>
            </a:pPr>
            <a:r>
              <a:rPr sz="2000" b="0">
                <a:solidFill>
                  <a:srgbClr val="161B26"/>
                </a:solidFill>
                <a:latin typeface="Arial"/>
              </a:rPr>
              <a:t>•  But every Domain Registrar usually comes with some DNS features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809</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Website with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acme.example.com:</a:t>
            </a:r>
          </a:p>
          <a:p>
            <a:pPr>
              <a:spcAft>
                <a:spcPts val="1000"/>
              </a:spcAft>
            </a:pPr>
            <a:r>
              <a:rPr sz="1800" b="0">
                <a:solidFill>
                  <a:srgbClr val="161B26"/>
                </a:solidFill>
                <a:latin typeface="Arial"/>
              </a:rPr>
              <a:t>•  Create an S3 bucket with the same name as the target record (acme.example.com)</a:t>
            </a:r>
          </a:p>
          <a:p>
            <a:pPr>
              <a:spcAft>
                <a:spcPts val="1000"/>
              </a:spcAft>
            </a:pPr>
            <a:r>
              <a:rPr sz="1800" b="0">
                <a:solidFill>
                  <a:srgbClr val="161B26"/>
                </a:solidFill>
                <a:latin typeface="Arial"/>
              </a:rPr>
              <a:t>•  Enable S3 website on the bucket (and enable S3 bucket public settings)</a:t>
            </a:r>
          </a:p>
          <a:p>
            <a:pPr>
              <a:spcAft>
                <a:spcPts val="1000"/>
              </a:spcAft>
            </a:pPr>
            <a:r>
              <a:rPr sz="1800" b="0">
                <a:solidFill>
                  <a:srgbClr val="161B26"/>
                </a:solidFill>
                <a:latin typeface="Arial"/>
              </a:rPr>
              <a:t>•  Create a Route 53 Alias record to the S3 website endpoint or type A - IPv4 address</a:t>
            </a:r>
          </a:p>
          <a:p>
            <a:pPr>
              <a:spcAft>
                <a:spcPts val="1000"/>
              </a:spcAft>
            </a:pPr>
            <a:r>
              <a:rPr sz="1800" b="0">
                <a:solidFill>
                  <a:srgbClr val="161B26"/>
                </a:solidFill>
                <a:latin typeface="Arial"/>
              </a:rPr>
              <a:t>•  This only works for HTTP traffic (for HTTPS, use CloudFront)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S3 Bucket -</a:t>
            </a:r>
          </a:p>
          <a:p>
            <a:pPr>
              <a:spcAft>
                <a:spcPts val="1000"/>
              </a:spcAft>
            </a:pPr>
            <a:r>
              <a:rPr sz="1800" b="0">
                <a:solidFill>
                  <a:srgbClr val="161B26"/>
                </a:solidFill>
                <a:latin typeface="Arial"/>
              </a:rPr>
              <a:t>•  Static Website Hosting Enabled</a:t>
            </a:r>
          </a:p>
          <a:p>
            <a:pPr>
              <a:spcAft>
                <a:spcPts val="1000"/>
              </a:spcAft>
            </a:pPr>
            <a:r>
              <a:rPr sz="1800" b="0">
                <a:solidFill>
                  <a:srgbClr val="161B26"/>
                </a:solidFill>
                <a:latin typeface="Arial"/>
              </a:rPr>
              <a:t>•  (acme.example.com)</a:t>
            </a:r>
          </a:p>
          <a:p>
            <a:pPr>
              <a:spcAft>
                <a:spcPts val="1000"/>
              </a:spcAft>
            </a:pPr>
            <a:r>
              <a:rPr sz="1800" b="0">
                <a:solidFill>
                  <a:srgbClr val="161B26"/>
                </a:solidFill>
                <a:latin typeface="Arial"/>
              </a:rPr>
              <a:t>•  http://acme.example.com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810</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Hybrid DNS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By default, Route 53 Resolver automatically answers DNS queries for:</a:t>
            </a:r>
          </a:p>
          <a:p>
            <a:pPr>
              <a:spcAft>
                <a:spcPts val="1000"/>
              </a:spcAft>
            </a:pPr>
            <a:r>
              <a:rPr sz="1800" b="0">
                <a:solidFill>
                  <a:srgbClr val="161B26"/>
                </a:solidFill>
                <a:latin typeface="Arial"/>
              </a:rPr>
              <a:t>•  Local domain names for EC2 instances</a:t>
            </a:r>
          </a:p>
          <a:p>
            <a:pPr>
              <a:spcAft>
                <a:spcPts val="1000"/>
              </a:spcAft>
            </a:pPr>
            <a:r>
              <a:rPr sz="1800" b="0">
                <a:solidFill>
                  <a:srgbClr val="161B26"/>
                </a:solidFill>
                <a:latin typeface="Arial"/>
              </a:rPr>
              <a:t>•  Records in Private Hosted Zones</a:t>
            </a:r>
          </a:p>
          <a:p>
            <a:pPr>
              <a:spcAft>
                <a:spcPts val="1000"/>
              </a:spcAft>
            </a:pPr>
            <a:r>
              <a:rPr sz="1800" b="0">
                <a:solidFill>
                  <a:srgbClr val="161B26"/>
                </a:solidFill>
                <a:latin typeface="Arial"/>
              </a:rPr>
              <a:t>•  Records in public Name Servers</a:t>
            </a:r>
          </a:p>
          <a:p>
            <a:pPr>
              <a:spcAft>
                <a:spcPts val="1000"/>
              </a:spcAft>
            </a:pPr>
            <a:r>
              <a:rPr sz="1800" b="0">
                <a:solidFill>
                  <a:srgbClr val="161B26"/>
                </a:solidFill>
                <a:latin typeface="Arial"/>
              </a:rPr>
              <a:t>•  Hybrid DNS - resolving DNS queries between VPC (Route 53 Resolver) and your networks (other DNS Resolvers)</a:t>
            </a:r>
          </a:p>
          <a:p>
            <a:pPr>
              <a:spcAft>
                <a:spcPts val="1000"/>
              </a:spcAft>
            </a:pPr>
            <a:r>
              <a:rPr sz="1800" b="0">
                <a:solidFill>
                  <a:srgbClr val="161B26"/>
                </a:solidFill>
                <a:latin typeface="Arial"/>
              </a:rPr>
              <a:t>•  Networks can be:</a:t>
            </a:r>
          </a:p>
          <a:p>
            <a:pPr>
              <a:spcAft>
                <a:spcPts val="1000"/>
              </a:spcAft>
            </a:pPr>
            <a:r>
              <a:rPr sz="1800" b="0">
                <a:solidFill>
                  <a:srgbClr val="161B26"/>
                </a:solidFill>
                <a:latin typeface="Arial"/>
              </a:rPr>
              <a:t>•  VPC itself / Peered VPC</a:t>
            </a:r>
          </a:p>
          <a:p>
            <a:pPr>
              <a:spcAft>
                <a:spcPts val="1000"/>
              </a:spcAft>
            </a:pPr>
            <a:r>
              <a:rPr sz="1800" b="0">
                <a:solidFill>
                  <a:srgbClr val="161B26"/>
                </a:solidFill>
                <a:latin typeface="Arial"/>
              </a:rPr>
              <a:t>•  On-premises Network (connected through Direct Connect or AWS VPN)</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(ec2-192-0-2-44.compute-1.amazonaws.com)</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Public Name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811</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Resolver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Inbound Endpoint</a:t>
            </a:r>
          </a:p>
          <a:p>
            <a:pPr>
              <a:spcAft>
                <a:spcPts val="1000"/>
              </a:spcAft>
            </a:pPr>
            <a:r>
              <a:rPr sz="1800" b="0">
                <a:solidFill>
                  <a:srgbClr val="161B26"/>
                </a:solidFill>
                <a:latin typeface="Arial"/>
              </a:rPr>
              <a:t>•  DNS Resolvers on your network can forward DNS queries to Route 53 Resolver</a:t>
            </a:r>
          </a:p>
          <a:p>
            <a:pPr>
              <a:spcAft>
                <a:spcPts val="1000"/>
              </a:spcAft>
            </a:pPr>
            <a:r>
              <a:rPr sz="1800" b="0">
                <a:solidFill>
                  <a:srgbClr val="161B26"/>
                </a:solidFill>
                <a:latin typeface="Arial"/>
              </a:rPr>
              <a:t>•  Allows your DNS Resolvers to resolve domain names for AWS resources (e.g., EC2 instances) and records in Route 53 Private Hosted Zones</a:t>
            </a:r>
          </a:p>
          <a:p>
            <a:pPr>
              <a:spcAft>
                <a:spcPts val="1000"/>
              </a:spcAft>
            </a:pPr>
            <a:r>
              <a:rPr sz="1800" b="0">
                <a:solidFill>
                  <a:srgbClr val="161B26"/>
                </a:solidFill>
                <a:latin typeface="Arial"/>
              </a:rPr>
              <a:t>•  Outbound Endpoint</a:t>
            </a:r>
          </a:p>
          <a:p>
            <a:pPr>
              <a:spcAft>
                <a:spcPts val="1000"/>
              </a:spcAft>
            </a:pPr>
            <a:r>
              <a:rPr sz="1800" b="0">
                <a:solidFill>
                  <a:srgbClr val="161B26"/>
                </a:solidFill>
                <a:latin typeface="Arial"/>
              </a:rPr>
              <a:t>•  Route 53 Resolver conditionally forwards DNS queries to your DNS Resolvers</a:t>
            </a:r>
          </a:p>
          <a:p>
            <a:pPr>
              <a:spcAft>
                <a:spcPts val="1000"/>
              </a:spcAft>
            </a:pPr>
            <a:r>
              <a:rPr sz="1800" b="0">
                <a:solidFill>
                  <a:srgbClr val="161B26"/>
                </a:solidFill>
                <a:latin typeface="Arial"/>
              </a:rPr>
              <a:t>•  Use Resolver Rules to forward DNS queries to your DNS Resolvers</a:t>
            </a:r>
          </a:p>
          <a:p>
            <a:pPr>
              <a:spcAft>
                <a:spcPts val="1000"/>
              </a:spcAft>
            </a:pPr>
            <a:r>
              <a:rPr sz="1800" b="0">
                <a:solidFill>
                  <a:srgbClr val="161B26"/>
                </a:solidFill>
                <a:latin typeface="Arial"/>
              </a:rPr>
              <a:t>•  Associated with one or more VPCs in the same AWS Region</a:t>
            </a:r>
          </a:p>
          <a:p>
            <a:pPr>
              <a:spcAft>
                <a:spcPts val="1000"/>
              </a:spcAft>
            </a:pPr>
            <a:r>
              <a:rPr sz="1800" b="0">
                <a:solidFill>
                  <a:srgbClr val="161B26"/>
                </a:solidFill>
                <a:latin typeface="Arial"/>
              </a:rPr>
              <a:t>•  Create in two AZs for high availability</a:t>
            </a:r>
          </a:p>
          <a:p>
            <a:pPr>
              <a:spcAft>
                <a:spcPts val="1000"/>
              </a:spcAft>
            </a:pPr>
            <a:r>
              <a:rPr sz="1800" b="0">
                <a:solidFill>
                  <a:srgbClr val="161B26"/>
                </a:solidFill>
                <a:latin typeface="Arial"/>
              </a:rPr>
              <a:t>•  Each Endpoint supports 10,000 queries per second per IP address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812</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Route 53 - Resolver Inbound Endpoints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On-Premises Data Center</a:t>
            </a:r>
          </a:p>
          <a:p>
            <a:pPr>
              <a:spcAft>
                <a:spcPts val="1000"/>
              </a:spcAft>
            </a:pPr>
            <a:r>
              <a:rPr sz="1800" b="0">
                <a:solidFill>
                  <a:srgbClr val="161B26"/>
                </a:solidFill>
                <a:latin typeface="Arial"/>
              </a:rPr>
              <a:t>•  DNS Resolvers</a:t>
            </a:r>
          </a:p>
          <a:p>
            <a:pPr>
              <a:spcAft>
                <a:spcPts val="1000"/>
              </a:spcAft>
            </a:pPr>
            <a:r>
              <a:rPr sz="1800" b="0">
                <a:solidFill>
                  <a:srgbClr val="161B26"/>
                </a:solidFill>
                <a:latin typeface="Arial"/>
              </a:rPr>
              <a:t>•  (onpremise.private)</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(web.onpremise.private)</a:t>
            </a:r>
          </a:p>
          <a:p>
            <a:pPr>
              <a:spcAft>
                <a:spcPts val="1000"/>
              </a:spcAft>
            </a:pPr>
            <a:r>
              <a:rPr sz="1800" b="0">
                <a:solidFill>
                  <a:srgbClr val="161B26"/>
                </a:solidFill>
                <a:latin typeface="Arial"/>
              </a:rPr>
              <a:t>•  Resolver</a:t>
            </a:r>
          </a:p>
          <a:p>
            <a:pPr>
              <a:spcAft>
                <a:spcPts val="1000"/>
              </a:spcAft>
            </a:pPr>
            <a:r>
              <a:rPr sz="1800" b="0">
                <a:solidFill>
                  <a:srgbClr val="161B26"/>
                </a:solidFill>
                <a:latin typeface="Arial"/>
              </a:rPr>
              <a:t>•  Inbound Endpoint</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(IP: x.x.x.2)</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10.0.0.10)</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10.0.1.10)</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(aws.private)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DNS Query</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DNS.query</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VPN or DX connection</a:t>
            </a:r>
          </a:p>
          <a:p>
            <a:pPr>
              <a:spcAft>
                <a:spcPts val="1000"/>
              </a:spcAft>
            </a:pPr>
            <a:r>
              <a:rPr sz="1800" b="0">
                <a:solidFill>
                  <a:srgbClr val="161B26"/>
                </a:solidFill>
                <a:latin typeface="Arial"/>
              </a:rPr>
              <a:t>•  lookup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813</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Route 53 - Resolver Outbound Endpoints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On-Premises Data Center</a:t>
            </a:r>
          </a:p>
          <a:p>
            <a:pPr>
              <a:spcAft>
                <a:spcPts val="1000"/>
              </a:spcAft>
            </a:pPr>
            <a:r>
              <a:rPr sz="1800" b="0">
                <a:solidFill>
                  <a:srgbClr val="161B26"/>
                </a:solidFill>
                <a:latin typeface="Arial"/>
              </a:rPr>
              <a:t>•  DNS Resolvers</a:t>
            </a:r>
          </a:p>
          <a:p>
            <a:pPr>
              <a:spcAft>
                <a:spcPts val="1000"/>
              </a:spcAft>
            </a:pPr>
            <a:r>
              <a:rPr sz="1800" b="0">
                <a:solidFill>
                  <a:srgbClr val="161B26"/>
                </a:solidFill>
                <a:latin typeface="Arial"/>
              </a:rPr>
              <a:t>•  (onpremise.private)</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(web.onpremise.private)</a:t>
            </a:r>
          </a:p>
          <a:p>
            <a:pPr>
              <a:spcAft>
                <a:spcPts val="1000"/>
              </a:spcAft>
            </a:pPr>
            <a:r>
              <a:rPr sz="1800" b="0">
                <a:solidFill>
                  <a:srgbClr val="161B26"/>
                </a:solidFill>
                <a:latin typeface="Arial"/>
              </a:rPr>
              <a:t>•  Resolver</a:t>
            </a:r>
          </a:p>
          <a:p>
            <a:pPr>
              <a:spcAft>
                <a:spcPts val="1000"/>
              </a:spcAft>
            </a:pPr>
            <a:r>
              <a:rPr sz="1800" b="0">
                <a:solidFill>
                  <a:srgbClr val="161B26"/>
                </a:solidFill>
                <a:latin typeface="Arial"/>
              </a:rPr>
              <a:t>•  Outbound Endpoint</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(IP: x.x.x.2)</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10.0.0.10)</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10.0.1.10)</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(aws.private)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DNS.query</a:t>
            </a:r>
          </a:p>
          <a:p>
            <a:pPr>
              <a:spcAft>
                <a:spcPts val="1000"/>
              </a:spcAft>
            </a:pPr>
            <a:r>
              <a:rPr sz="1800" b="0">
                <a:solidFill>
                  <a:srgbClr val="161B26"/>
                </a:solidFill>
                <a:latin typeface="Arial"/>
              </a:rPr>
              <a:t>•  Web.onprem.private?</a:t>
            </a:r>
          </a:p>
          <a:p>
            <a:pPr>
              <a:spcAft>
                <a:spcPts val="1000"/>
              </a:spcAft>
            </a:pPr>
            <a:r>
              <a:rPr sz="1800" b="0">
                <a:solidFill>
                  <a:srgbClr val="161B26"/>
                </a:solidFill>
                <a:latin typeface="Arial"/>
              </a:rPr>
              <a:t>•  VPN or DX connection or Gateway</a:t>
            </a:r>
          </a:p>
          <a:p>
            <a:pPr>
              <a:spcAft>
                <a:spcPts val="1000"/>
              </a:spcAft>
            </a:pPr>
            <a:r>
              <a:rPr sz="1800" b="0">
                <a:solidFill>
                  <a:srgbClr val="161B26"/>
                </a:solidFill>
                <a:latin typeface="Arial"/>
              </a:rPr>
              <a:t>•  lookup</a:t>
            </a:r>
          </a:p>
          <a:p>
            <a:pPr>
              <a:spcAft>
                <a:spcPts val="1000"/>
              </a:spcAft>
            </a:pPr>
            <a:r>
              <a:rPr sz="1800" b="0">
                <a:solidFill>
                  <a:srgbClr val="161B26"/>
                </a:solidFill>
                <a:latin typeface="Arial"/>
              </a:rPr>
              <a:t>•  IP: 172.16.0.10</a:t>
            </a:r>
          </a:p>
          <a:p>
            <a:pPr>
              <a:spcAft>
                <a:spcPts val="1000"/>
              </a:spcAft>
            </a:pPr>
            <a:r>
              <a:rPr sz="1800" b="0">
                <a:solidFill>
                  <a:srgbClr val="161B26"/>
                </a:solidFill>
                <a:latin typeface="Arial"/>
              </a:rPr>
              <a:t>•  Forwarding Rules</a:t>
            </a:r>
          </a:p>
          <a:p>
            <a:pPr>
              <a:spcAft>
                <a:spcPts val="1000"/>
              </a:spcAft>
            </a:pPr>
            <a:r>
              <a:rPr sz="1800" b="0">
                <a:solidFill>
                  <a:srgbClr val="161B26"/>
                </a:solidFill>
                <a:latin typeface="Arial"/>
              </a:rPr>
              <a:t>•  Domain Name	Target</a:t>
            </a:r>
          </a:p>
          <a:p>
            <a:pPr>
              <a:spcAft>
                <a:spcPts val="1000"/>
              </a:spcAft>
            </a:pPr>
            <a:r>
              <a:rPr sz="1800" b="0">
                <a:solidFill>
                  <a:srgbClr val="161B26"/>
                </a:solidFill>
                <a:latin typeface="Arial"/>
              </a:rPr>
              <a:t>•  172.16</a:t>
            </a:r>
          </a:p>
          <a:p>
            <a:pPr>
              <a:spcAft>
                <a:spcPts val="1000"/>
              </a:spcAft>
            </a:pPr>
            <a:r>
              <a:rPr sz="1800" b="0">
                <a:solidFill>
                  <a:srgbClr val="161B26"/>
                </a:solidFill>
                <a:latin typeface="Arial"/>
              </a:rPr>
              <a:t>•  onprem.privat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814</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Resolver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Control which DNS queries are forwarded to DNS Resolvers on your network</a:t>
            </a:r>
          </a:p>
          <a:p>
            <a:pPr>
              <a:spcAft>
                <a:spcPts val="1000"/>
              </a:spcAft>
            </a:pPr>
            <a:r>
              <a:rPr sz="1800" b="0">
                <a:solidFill>
                  <a:srgbClr val="161B26"/>
                </a:solidFill>
                <a:latin typeface="Arial"/>
              </a:rPr>
              <a:t>•  Conditional Forwarding Rules (Forwarding Rules</a:t>
            </a:r>
          </a:p>
          <a:p>
            <a:pPr>
              <a:spcAft>
                <a:spcPts val="1000"/>
              </a:spcAft>
            </a:pPr>
            <a:r>
              <a:rPr sz="1800" b="0">
                <a:solidFill>
                  <a:srgbClr val="161B26"/>
                </a:solidFill>
                <a:latin typeface="Arial"/>
              </a:rPr>
              <a:t>•  Forward DNS queries for a specified domain and all its subdomains to target IP addresses</a:t>
            </a:r>
          </a:p>
          <a:p>
            <a:pPr>
              <a:spcAft>
                <a:spcPts val="1000"/>
              </a:spcAft>
            </a:pPr>
            <a:r>
              <a:rPr sz="1800" b="0">
                <a:solidFill>
                  <a:srgbClr val="161B26"/>
                </a:solidFill>
                <a:latin typeface="Arial"/>
              </a:rPr>
              <a:t>•  System Rules</a:t>
            </a:r>
          </a:p>
          <a:p>
            <a:pPr>
              <a:spcAft>
                <a:spcPts val="1000"/>
              </a:spcAft>
            </a:pPr>
            <a:r>
              <a:rPr sz="1800" b="0">
                <a:solidFill>
                  <a:srgbClr val="161B26"/>
                </a:solidFill>
                <a:latin typeface="Arial"/>
              </a:rPr>
              <a:t>•  Selectively overriding the behavior defined in Forwarding Rules (e.g., don’t forward DNS queries for a subdomain acme.example.com)</a:t>
            </a:r>
          </a:p>
          <a:p>
            <a:pPr>
              <a:spcAft>
                <a:spcPts val="1000"/>
              </a:spcAft>
            </a:pPr>
            <a:r>
              <a:rPr sz="1800" b="0">
                <a:solidFill>
                  <a:srgbClr val="161B26"/>
                </a:solidFill>
                <a:latin typeface="Arial"/>
              </a:rPr>
              <a:t>•  Auto-defined System Rules</a:t>
            </a:r>
          </a:p>
          <a:p>
            <a:pPr>
              <a:spcAft>
                <a:spcPts val="1000"/>
              </a:spcAft>
            </a:pPr>
            <a:r>
              <a:rPr sz="1800" b="0">
                <a:solidFill>
                  <a:srgbClr val="161B26"/>
                </a:solidFill>
                <a:latin typeface="Arial"/>
              </a:rPr>
              <a:t>•  Defines how DNS queries for selected domains are resolved (e.g., AWS internal domain names, Privated Hosted Zones)</a:t>
            </a:r>
          </a:p>
          <a:p>
            <a:pPr>
              <a:spcAft>
                <a:spcPts val="1000"/>
              </a:spcAft>
            </a:pPr>
            <a:r>
              <a:rPr sz="1800" b="0">
                <a:solidFill>
                  <a:srgbClr val="161B26"/>
                </a:solidFill>
                <a:latin typeface="Arial"/>
              </a:rPr>
              <a:t>•  If multiple rules matched, Route 53 Resolver chooses the most specific match</a:t>
            </a:r>
          </a:p>
          <a:p>
            <a:pPr>
              <a:spcAft>
                <a:spcPts val="1000"/>
              </a:spcAft>
            </a:pPr>
            <a:r>
              <a:rPr sz="1800" b="0">
                <a:solidFill>
                  <a:srgbClr val="161B26"/>
                </a:solidFill>
                <a:latin typeface="Arial"/>
              </a:rPr>
              <a:t>•  Resolver Rules can be shared across accounts using AWS RAM</a:t>
            </a:r>
          </a:p>
          <a:p>
            <a:pPr>
              <a:spcAft>
                <a:spcPts val="1000"/>
              </a:spcAft>
            </a:pPr>
            <a:r>
              <a:rPr sz="1800" b="0">
                <a:solidFill>
                  <a:srgbClr val="161B26"/>
                </a:solidFill>
                <a:latin typeface="Arial"/>
              </a:rPr>
              <a:t>•  Manage them centrally in one account</a:t>
            </a:r>
          </a:p>
          <a:p>
            <a:pPr>
              <a:spcAft>
                <a:spcPts val="1000"/>
              </a:spcAft>
            </a:pPr>
            <a:r>
              <a:rPr sz="1800" b="0">
                <a:solidFill>
                  <a:srgbClr val="161B26"/>
                </a:solidFill>
                <a:latin typeface="Arial"/>
              </a:rPr>
              <a:t>•  Send DNS queries from multiple VPC to the target IP defined in the rule</a:t>
            </a:r>
          </a:p>
          <a:p>
            <a:pPr>
              <a:spcAft>
                <a:spcPts val="1000"/>
              </a:spcAft>
            </a:pPr>
            <a:r>
              <a:rPr sz="1800" b="0">
                <a:solidFill>
                  <a:srgbClr val="161B26"/>
                </a:solidFill>
                <a:latin typeface="Arial"/>
              </a:rPr>
              <a:t>•  Resolver Outbound Endpoint</a:t>
            </a:r>
          </a:p>
          <a:p>
            <a:pPr>
              <a:spcAft>
                <a:spcPts val="1000"/>
              </a:spcAft>
            </a:pPr>
            <a:r>
              <a:rPr sz="1800" b="0">
                <a:solidFill>
                  <a:srgbClr val="161B26"/>
                </a:solidFill>
                <a:latin typeface="Arial"/>
              </a:rPr>
              <a:t>•  Forwarding Rules</a:t>
            </a:r>
          </a:p>
          <a:p>
            <a:pPr>
              <a:spcAft>
                <a:spcPts val="1000"/>
              </a:spcAft>
            </a:pPr>
            <a:r>
              <a:rPr sz="1800" b="0">
                <a:solidFill>
                  <a:srgbClr val="161B26"/>
                </a:solidFill>
                <a:latin typeface="Arial"/>
              </a:rPr>
              <a:t>•  Domain Name</a:t>
            </a:r>
          </a:p>
          <a:p>
            <a:pPr>
              <a:spcAft>
                <a:spcPts val="1000"/>
              </a:spcAft>
            </a:pPr>
            <a:r>
              <a:rPr sz="1800" b="0">
                <a:solidFill>
                  <a:srgbClr val="161B26"/>
                </a:solidFill>
                <a:latin typeface="Arial"/>
              </a:rPr>
              <a:t>•  acme.example.com</a:t>
            </a:r>
          </a:p>
          <a:p>
            <a:pPr>
              <a:spcAft>
                <a:spcPts val="1000"/>
              </a:spcAft>
            </a:pPr>
            <a:r>
              <a:rPr sz="1800" b="0">
                <a:solidFill>
                  <a:srgbClr val="161B26"/>
                </a:solidFill>
                <a:latin typeface="Arial"/>
              </a:rPr>
              <a:t>•  System Rules</a:t>
            </a:r>
          </a:p>
          <a:p>
            <a:pPr>
              <a:spcAft>
                <a:spcPts val="1000"/>
              </a:spcAft>
            </a:pPr>
            <a:r>
              <a:rPr sz="1800" b="0">
                <a:solidFill>
                  <a:srgbClr val="161B26"/>
                </a:solidFill>
                <a:latin typeface="Arial"/>
              </a:rPr>
              <a:t>•  Auto-defined System Rules</a:t>
            </a:r>
          </a:p>
          <a:p>
            <a:pPr>
              <a:spcAft>
                <a:spcPts val="1000"/>
              </a:spcAft>
            </a:pPr>
            <a:r>
              <a:rPr sz="1800" b="0">
                <a:solidFill>
                  <a:srgbClr val="161B26"/>
                </a:solidFill>
                <a:latin typeface="Arial"/>
              </a:rPr>
              <a:t>•  overrides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815</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20</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 VPC</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816</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Classless Inter-Domain Routing - a method for allocating IP addresses</a:t>
            </a:r>
          </a:p>
          <a:p>
            <a:pPr>
              <a:spcAft>
                <a:spcPts val="1000"/>
              </a:spcAft>
            </a:pPr>
            <a:r>
              <a:rPr sz="2000" b="0">
                <a:solidFill>
                  <a:srgbClr val="161B26"/>
                </a:solidFill>
                <a:latin typeface="Arial"/>
              </a:rPr>
              <a:t>•  Used in Security Groups rules and AWS networking in general</a:t>
            </a:r>
          </a:p>
          <a:p>
            <a:pPr>
              <a:spcAft>
                <a:spcPts val="1000"/>
              </a:spcAft>
            </a:pPr>
            <a:r>
              <a:rPr sz="2000" b="0">
                <a:solidFill>
                  <a:srgbClr val="161B26"/>
                </a:solidFill>
                <a:latin typeface="Arial"/>
              </a:rPr>
              <a:t>•  They help to define an IP address range:</a:t>
            </a:r>
          </a:p>
          <a:p>
            <a:pPr>
              <a:spcAft>
                <a:spcPts val="1000"/>
              </a:spcAft>
            </a:pPr>
            <a:r>
              <a:rPr sz="2000" b="0">
                <a:solidFill>
                  <a:srgbClr val="161B26"/>
                </a:solidFill>
                <a:latin typeface="Arial"/>
              </a:rPr>
              <a:t>•  We’ve seen WW.XX.YY.ZZ/32 =&gt; one IP</a:t>
            </a:r>
          </a:p>
          <a:p>
            <a:pPr>
              <a:spcAft>
                <a:spcPts val="1000"/>
              </a:spcAft>
            </a:pPr>
            <a:r>
              <a:rPr sz="2000" b="0">
                <a:solidFill>
                  <a:srgbClr val="161B26"/>
                </a:solidFill>
                <a:latin typeface="Arial"/>
              </a:rPr>
              <a:t>•  We’ve seen 0.0.0.0/0 =&gt; all IPs</a:t>
            </a:r>
          </a:p>
          <a:p>
            <a:pPr>
              <a:spcAft>
                <a:spcPts val="1000"/>
              </a:spcAft>
            </a:pPr>
            <a:r>
              <a:rPr sz="2000" b="0">
                <a:solidFill>
                  <a:srgbClr val="161B26"/>
                </a:solidFill>
                <a:latin typeface="Arial"/>
              </a:rPr>
              <a:t>•  But we can define:192.168.0.0/26 =&gt;192.168.0.0 – 192.168.0.63 (64 IP addresses)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817</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CIDR consists of two components</a:t>
            </a:r>
          </a:p>
          <a:p>
            <a:pPr>
              <a:spcAft>
                <a:spcPts val="1000"/>
              </a:spcAft>
            </a:pPr>
            <a:r>
              <a:rPr sz="1800" b="0">
                <a:solidFill>
                  <a:srgbClr val="161B26"/>
                </a:solidFill>
                <a:latin typeface="Arial"/>
              </a:rPr>
              <a:t>•  Base IP</a:t>
            </a:r>
          </a:p>
          <a:p>
            <a:pPr>
              <a:spcAft>
                <a:spcPts val="1000"/>
              </a:spcAft>
            </a:pPr>
            <a:r>
              <a:rPr sz="1800" b="0">
                <a:solidFill>
                  <a:srgbClr val="161B26"/>
                </a:solidFill>
                <a:latin typeface="Arial"/>
              </a:rPr>
              <a:t>•  Represents an IP contained in the range (XX.XX.XX.XX)</a:t>
            </a:r>
          </a:p>
          <a:p>
            <a:pPr>
              <a:spcAft>
                <a:spcPts val="1000"/>
              </a:spcAft>
            </a:pPr>
            <a:r>
              <a:rPr sz="1800" b="0">
                <a:solidFill>
                  <a:srgbClr val="161B26"/>
                </a:solidFill>
                <a:latin typeface="Arial"/>
              </a:rPr>
              <a:t>•  Example: 10.0.0.0, 192.168.0.0, …</a:t>
            </a:r>
          </a:p>
          <a:p>
            <a:pPr>
              <a:spcAft>
                <a:spcPts val="1000"/>
              </a:spcAft>
            </a:pPr>
            <a:r>
              <a:rPr sz="1800" b="0">
                <a:solidFill>
                  <a:srgbClr val="161B26"/>
                </a:solidFill>
                <a:latin typeface="Arial"/>
              </a:rPr>
              <a:t>•  Subnet Mask</a:t>
            </a:r>
          </a:p>
          <a:p>
            <a:pPr>
              <a:spcAft>
                <a:spcPts val="1000"/>
              </a:spcAft>
            </a:pPr>
            <a:r>
              <a:rPr sz="1800" b="0">
                <a:solidFill>
                  <a:srgbClr val="161B26"/>
                </a:solidFill>
                <a:latin typeface="Arial"/>
              </a:rPr>
              <a:t>•  Defines how many bits can change in the IP</a:t>
            </a:r>
          </a:p>
          <a:p>
            <a:pPr>
              <a:spcAft>
                <a:spcPts val="1000"/>
              </a:spcAft>
            </a:pPr>
            <a:r>
              <a:rPr sz="1800" b="0">
                <a:solidFill>
                  <a:srgbClr val="161B26"/>
                </a:solidFill>
                <a:latin typeface="Arial"/>
              </a:rPr>
              <a:t>•  Example: /0, /24, /32</a:t>
            </a:r>
          </a:p>
          <a:p>
            <a:pPr>
              <a:spcAft>
                <a:spcPts val="1000"/>
              </a:spcAft>
            </a:pPr>
            <a:r>
              <a:rPr sz="1800" b="0">
                <a:solidFill>
                  <a:srgbClr val="161B26"/>
                </a:solidFill>
                <a:latin typeface="Arial"/>
              </a:rPr>
              <a:t>•  Can take two forms:</a:t>
            </a:r>
          </a:p>
          <a:p>
            <a:pPr>
              <a:spcAft>
                <a:spcPts val="1000"/>
              </a:spcAft>
            </a:pPr>
            <a:r>
              <a:rPr sz="1800" b="0">
                <a:solidFill>
                  <a:srgbClr val="161B26"/>
                </a:solidFill>
                <a:latin typeface="Arial"/>
              </a:rPr>
              <a:t>•  /8 � 255.0.0.0</a:t>
            </a:r>
          </a:p>
          <a:p>
            <a:pPr>
              <a:spcAft>
                <a:spcPts val="1000"/>
              </a:spcAft>
            </a:pPr>
            <a:r>
              <a:rPr sz="1800" b="0">
                <a:solidFill>
                  <a:srgbClr val="161B26"/>
                </a:solidFill>
                <a:latin typeface="Arial"/>
              </a:rPr>
              <a:t>•  /16 � 255.255.0.0</a:t>
            </a:r>
          </a:p>
          <a:p>
            <a:pPr>
              <a:spcAft>
                <a:spcPts val="1000"/>
              </a:spcAft>
            </a:pPr>
            <a:r>
              <a:rPr sz="1800" b="0">
                <a:solidFill>
                  <a:srgbClr val="161B26"/>
                </a:solidFill>
                <a:latin typeface="Arial"/>
              </a:rPr>
              <a:t>•  /24 � 255.255.255.0</a:t>
            </a:r>
          </a:p>
          <a:p>
            <a:pPr>
              <a:spcAft>
                <a:spcPts val="1000"/>
              </a:spcAft>
            </a:pPr>
            <a:r>
              <a:rPr sz="1800" b="0">
                <a:solidFill>
                  <a:srgbClr val="161B26"/>
                </a:solidFill>
                <a:latin typeface="Arial"/>
              </a:rPr>
              <a:t>•  /32 � 255.255.255.255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818</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Subnet Mask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Subnet Mask basically allows part of the underlying IP to get additional next values from the base IP</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/32 =&gt; allows for 1 IP (2!)</a:t>
            </a:r>
          </a:p>
          <a:p>
            <a:pPr>
              <a:spcAft>
                <a:spcPts val="1000"/>
              </a:spcAft>
            </a:pPr>
            <a:r>
              <a:rPr sz="1800" b="0">
                <a:solidFill>
                  <a:srgbClr val="161B26"/>
                </a:solidFill>
                <a:latin typeface="Arial"/>
              </a:rPr>
              <a:t>•  /31 =&gt; allows for 2 IP (2")</a:t>
            </a:r>
          </a:p>
          <a:p>
            <a:pPr>
              <a:spcAft>
                <a:spcPts val="1000"/>
              </a:spcAft>
            </a:pPr>
            <a:r>
              <a:rPr sz="1800" b="0">
                <a:solidFill>
                  <a:srgbClr val="161B26"/>
                </a:solidFill>
                <a:latin typeface="Arial"/>
              </a:rPr>
              <a:t>•  /30 =&gt; allows for 4 IP (2#)</a:t>
            </a:r>
          </a:p>
          <a:p>
            <a:pPr>
              <a:spcAft>
                <a:spcPts val="1000"/>
              </a:spcAft>
            </a:pPr>
            <a:r>
              <a:rPr sz="1800" b="0">
                <a:solidFill>
                  <a:srgbClr val="161B26"/>
                </a:solidFill>
                <a:latin typeface="Arial"/>
              </a:rPr>
              <a:t>•  /29 =&gt; allows for 8 IP (2$)</a:t>
            </a:r>
          </a:p>
          <a:p>
            <a:pPr>
              <a:spcAft>
                <a:spcPts val="1000"/>
              </a:spcAft>
            </a:pPr>
            <a:r>
              <a:rPr sz="1800" b="0">
                <a:solidFill>
                  <a:srgbClr val="161B26"/>
                </a:solidFill>
                <a:latin typeface="Arial"/>
              </a:rPr>
              <a:t>•  /28 =&gt; allows for 16 IP (2%)</a:t>
            </a:r>
          </a:p>
          <a:p>
            <a:pPr>
              <a:spcAft>
                <a:spcPts val="1000"/>
              </a:spcAft>
            </a:pPr>
            <a:r>
              <a:rPr sz="1800" b="0">
                <a:solidFill>
                  <a:srgbClr val="161B26"/>
                </a:solidFill>
                <a:latin typeface="Arial"/>
              </a:rPr>
              <a:t>•  /27 =&gt; allows for 32 IP (2&amp;)</a:t>
            </a:r>
          </a:p>
          <a:p>
            <a:pPr>
              <a:spcAft>
                <a:spcPts val="1000"/>
              </a:spcAft>
            </a:pPr>
            <a:r>
              <a:rPr sz="1800" b="0">
                <a:solidFill>
                  <a:srgbClr val="161B26"/>
                </a:solidFill>
                <a:latin typeface="Arial"/>
              </a:rPr>
              <a:t>•  /26 =&gt; allows for 64 IP (2')</a:t>
            </a:r>
          </a:p>
          <a:p>
            <a:pPr>
              <a:spcAft>
                <a:spcPts val="1000"/>
              </a:spcAft>
            </a:pPr>
            <a:r>
              <a:rPr sz="1800" b="0">
                <a:solidFill>
                  <a:srgbClr val="161B26"/>
                </a:solidFill>
                <a:latin typeface="Arial"/>
              </a:rPr>
              <a:t>•  0	/25 =&gt; allows for 128 IP</a:t>
            </a:r>
          </a:p>
          <a:p>
            <a:pPr>
              <a:spcAft>
                <a:spcPts val="1000"/>
              </a:spcAft>
            </a:pPr>
            <a:r>
              <a:rPr sz="1800" b="0">
                <a:solidFill>
                  <a:srgbClr val="161B26"/>
                </a:solidFill>
                <a:latin typeface="Arial"/>
              </a:rPr>
              <a:t>•  /24 =&gt; allows for 256 IP (2))</a:t>
            </a:r>
          </a:p>
          <a:p>
            <a:pPr>
              <a:spcAft>
                <a:spcPts val="1000"/>
              </a:spcAft>
            </a:pPr>
            <a:r>
              <a:rPr sz="1800" b="0">
                <a:solidFill>
                  <a:srgbClr val="161B26"/>
                </a:solidFill>
                <a:latin typeface="Arial"/>
              </a:rPr>
              <a:t>•  192.168.0.0</a:t>
            </a:r>
          </a:p>
          <a:p>
            <a:pPr>
              <a:spcAft>
                <a:spcPts val="1000"/>
              </a:spcAft>
            </a:pPr>
            <a:r>
              <a:rPr sz="1800" b="0">
                <a:solidFill>
                  <a:srgbClr val="161B26"/>
                </a:solidFill>
                <a:latin typeface="Arial"/>
              </a:rPr>
              <a:t>•  192.168.0.0 -&gt; 192.168.0.1</a:t>
            </a:r>
          </a:p>
          <a:p>
            <a:pPr>
              <a:spcAft>
                <a:spcPts val="1000"/>
              </a:spcAft>
            </a:pPr>
            <a:r>
              <a:rPr sz="1800" b="0">
                <a:solidFill>
                  <a:srgbClr val="161B26"/>
                </a:solidFill>
                <a:latin typeface="Arial"/>
              </a:rPr>
              <a:t>•  192.168.0.0 -&gt; 192.168.0.3</a:t>
            </a:r>
          </a:p>
          <a:p>
            <a:pPr>
              <a:spcAft>
                <a:spcPts val="1000"/>
              </a:spcAft>
            </a:pPr>
            <a:r>
              <a:rPr sz="1800" b="0">
                <a:solidFill>
                  <a:srgbClr val="161B26"/>
                </a:solidFill>
                <a:latin typeface="Arial"/>
              </a:rPr>
              <a:t>•  192.168.0.0 -&gt; 192.168.0.7</a:t>
            </a:r>
          </a:p>
          <a:p>
            <a:pPr>
              <a:spcAft>
                <a:spcPts val="1000"/>
              </a:spcAft>
            </a:pPr>
            <a:r>
              <a:rPr sz="1800" b="0">
                <a:solidFill>
                  <a:srgbClr val="161B26"/>
                </a:solidFill>
                <a:latin typeface="Arial"/>
              </a:rPr>
              <a:t>•  192.168.0.0 -&gt; 192.168.0.15</a:t>
            </a:r>
          </a:p>
          <a:p>
            <a:pPr>
              <a:spcAft>
                <a:spcPts val="1000"/>
              </a:spcAft>
            </a:pPr>
            <a:r>
              <a:rPr sz="1800" b="0">
                <a:solidFill>
                  <a:srgbClr val="161B26"/>
                </a:solidFill>
                <a:latin typeface="Arial"/>
              </a:rPr>
              <a:t>•  192.168.0.0 -&gt; 192.168.0.31</a:t>
            </a:r>
          </a:p>
          <a:p>
            <a:pPr>
              <a:spcAft>
                <a:spcPts val="1000"/>
              </a:spcAft>
            </a:pPr>
            <a:r>
              <a:rPr sz="1800" b="0">
                <a:solidFill>
                  <a:srgbClr val="161B26"/>
                </a:solidFill>
                <a:latin typeface="Arial"/>
              </a:rPr>
              <a:t>•  192.168.0.0 -&gt; 192.168.0.63</a:t>
            </a:r>
          </a:p>
          <a:p>
            <a:pPr>
              <a:spcAft>
                <a:spcPts val="1000"/>
              </a:spcAft>
            </a:pPr>
            <a:r>
              <a:rPr sz="1800" b="0">
                <a:solidFill>
                  <a:srgbClr val="161B26"/>
                </a:solidFill>
                <a:latin typeface="Arial"/>
              </a:rPr>
              <a:t>•  192.168.0.0 -&gt; 192.168.0.127</a:t>
            </a:r>
          </a:p>
          <a:p>
            <a:pPr>
              <a:spcAft>
                <a:spcPts val="1000"/>
              </a:spcAft>
            </a:pPr>
            <a:r>
              <a:rPr sz="1800" b="0">
                <a:solidFill>
                  <a:srgbClr val="161B26"/>
                </a:solidFill>
                <a:latin typeface="Arial"/>
              </a:rPr>
              <a:t>•  192.168.0.0 -&gt; 192.168.0.255</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/16 =&gt; allows for 65,536 IP (2"')</a:t>
            </a:r>
          </a:p>
          <a:p>
            <a:pPr>
              <a:spcAft>
                <a:spcPts val="1000"/>
              </a:spcAft>
            </a:pPr>
            <a:r>
              <a:rPr sz="1800" b="0">
                <a:solidFill>
                  <a:srgbClr val="161B26"/>
                </a:solidFill>
                <a:latin typeface="Arial"/>
              </a:rPr>
              <a:t>•  168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 =&gt; allows for All IPs</a:t>
            </a:r>
          </a:p>
          <a:p>
            <a:pPr>
              <a:spcAft>
                <a:spcPts val="1000"/>
              </a:spcAft>
            </a:pPr>
            <a:r>
              <a:rPr sz="1800" b="0">
                <a:solidFill>
                  <a:srgbClr val="161B26"/>
                </a:solidFill>
                <a:latin typeface="Arial"/>
              </a:rPr>
              <a:t>•  0.0.0.0 -&gt; 255.255.255.255</a:t>
            </a:r>
          </a:p>
          <a:p>
            <a:pPr>
              <a:spcAft>
                <a:spcPts val="1000"/>
              </a:spcAft>
            </a:pPr>
            <a:r>
              <a:rPr sz="1800" b="0">
                <a:solidFill>
                  <a:srgbClr val="161B26"/>
                </a:solidFill>
                <a:latin typeface="Arial"/>
              </a:rPr>
              <a:t>•  Quick Memo</a:t>
            </a:r>
          </a:p>
          <a:p>
            <a:pPr>
              <a:spcAft>
                <a:spcPts val="1000"/>
              </a:spcAft>
            </a:pPr>
            <a:r>
              <a:rPr sz="1800" b="0">
                <a:solidFill>
                  <a:srgbClr val="161B26"/>
                </a:solidFill>
                <a:latin typeface="Arial"/>
              </a:rPr>
              <a:t>•  /32 – no octet can change</a:t>
            </a:r>
          </a:p>
          <a:p>
            <a:pPr>
              <a:spcAft>
                <a:spcPts val="1000"/>
              </a:spcAft>
            </a:pPr>
            <a:r>
              <a:rPr sz="1800" b="0">
                <a:solidFill>
                  <a:srgbClr val="161B26"/>
                </a:solidFill>
                <a:latin typeface="Arial"/>
              </a:rPr>
              <a:t>•  /24 – last octet can change</a:t>
            </a:r>
          </a:p>
          <a:p>
            <a:pPr>
              <a:spcAft>
                <a:spcPts val="1000"/>
              </a:spcAft>
            </a:pPr>
            <a:r>
              <a:rPr sz="1800" b="0">
                <a:solidFill>
                  <a:srgbClr val="161B26"/>
                </a:solidFill>
                <a:latin typeface="Arial"/>
              </a:rPr>
              <a:t>•  /16 – last 2 octets can change</a:t>
            </a:r>
          </a:p>
          <a:p>
            <a:pPr>
              <a:spcAft>
                <a:spcPts val="1000"/>
              </a:spcAft>
            </a:pPr>
            <a:r>
              <a:rPr sz="1800" b="0">
                <a:solidFill>
                  <a:srgbClr val="161B26"/>
                </a:solidFill>
                <a:latin typeface="Arial"/>
              </a:rPr>
              <a:t>•  /8 – last 3 octets can change</a:t>
            </a:r>
          </a:p>
          <a:p>
            <a:pPr>
              <a:spcAft>
                <a:spcPts val="1000"/>
              </a:spcAft>
            </a:pPr>
            <a:r>
              <a:rPr sz="1800" b="0">
                <a:solidFill>
                  <a:srgbClr val="161B26"/>
                </a:solidFill>
                <a:latin typeface="Arial"/>
              </a:rPr>
              <a:t>•  /0 – all octets can change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	2,-</a:t>
            </a:r>
          </a:p>
          <a:p>
            <a:pPr>
              <a:spcAft>
                <a:spcPts val="1000"/>
              </a:spcAft>
            </a:pPr>
            <a:r>
              <a:rPr sz="1800" b="0">
                <a:solidFill>
                  <a:srgbClr val="161B26"/>
                </a:solidFill>
                <a:latin typeface="Arial"/>
              </a:rPr>
              <a:t>•  .	.</a:t>
            </a:r>
          </a:p>
          <a:p>
            <a:pPr>
              <a:spcAft>
                <a:spcPts val="1000"/>
              </a:spcAft>
            </a:pPr>
            <a:r>
              <a:rPr sz="1800" b="0">
                <a:solidFill>
                  <a:srgbClr val="161B26"/>
                </a:solidFill>
                <a:latin typeface="Arial"/>
              </a:rPr>
              <a:t>•  3.-	4+/</a:t>
            </a:r>
          </a:p>
          <a:p>
            <a:pPr>
              <a:spcAft>
                <a:spcPts val="1000"/>
              </a:spcAft>
            </a:pPr>
            <a:r>
              <a:rPr sz="1800" b="0">
                <a:solidFill>
                  <a:srgbClr val="161B26"/>
                </a:solidFill>
                <a:latin typeface="Arial"/>
              </a:rPr>
              <a:t>•  Octets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819</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Little Exercise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192.168.0.0/24 = … ?</a:t>
            </a:r>
          </a:p>
          <a:p>
            <a:pPr>
              <a:spcAft>
                <a:spcPts val="1000"/>
              </a:spcAft>
            </a:pPr>
            <a:r>
              <a:rPr sz="1800" b="0">
                <a:solidFill>
                  <a:srgbClr val="161B26"/>
                </a:solidFill>
                <a:latin typeface="Arial"/>
              </a:rPr>
              <a:t>•  192.168.0.0 – 192.168.0.255 (256 IPs)</a:t>
            </a:r>
          </a:p>
          <a:p>
            <a:pPr>
              <a:spcAft>
                <a:spcPts val="1000"/>
              </a:spcAft>
            </a:pPr>
            <a:r>
              <a:rPr sz="1800" b="0">
                <a:solidFill>
                  <a:srgbClr val="161B26"/>
                </a:solidFill>
                <a:latin typeface="Arial"/>
              </a:rPr>
              <a:t>•  192.168.0.0/16 = … ?</a:t>
            </a:r>
          </a:p>
          <a:p>
            <a:pPr>
              <a:spcAft>
                <a:spcPts val="1000"/>
              </a:spcAft>
            </a:pPr>
            <a:r>
              <a:rPr sz="1800" b="0">
                <a:solidFill>
                  <a:srgbClr val="161B26"/>
                </a:solidFill>
                <a:latin typeface="Arial"/>
              </a:rPr>
              <a:t>•  192.168.0.0 – 192.168.255.255 (65,536 IPs)</a:t>
            </a:r>
          </a:p>
          <a:p>
            <a:pPr>
              <a:spcAft>
                <a:spcPts val="1000"/>
              </a:spcAft>
            </a:pPr>
            <a:r>
              <a:rPr sz="1800" b="0">
                <a:solidFill>
                  <a:srgbClr val="161B26"/>
                </a:solidFill>
                <a:latin typeface="Arial"/>
              </a:rPr>
              <a:t>•  134.56.78.123/32 = … ?</a:t>
            </a:r>
          </a:p>
          <a:p>
            <a:pPr>
              <a:spcAft>
                <a:spcPts val="1000"/>
              </a:spcAft>
            </a:pPr>
            <a:r>
              <a:rPr sz="1800" b="0">
                <a:solidFill>
                  <a:srgbClr val="161B26"/>
                </a:solidFill>
                <a:latin typeface="Arial"/>
              </a:rPr>
              <a:t>•  Just 134.56.78.123</a:t>
            </a:r>
          </a:p>
          <a:p>
            <a:pPr>
              <a:spcAft>
                <a:spcPts val="1000"/>
              </a:spcAft>
            </a:pPr>
            <a:r>
              <a:rPr sz="1800" b="0">
                <a:solidFill>
                  <a:srgbClr val="161B26"/>
                </a:solidFill>
                <a:latin typeface="Arial"/>
              </a:rPr>
              <a:t>•  0.0.0.0/0</a:t>
            </a:r>
          </a:p>
          <a:p>
            <a:pPr>
              <a:spcAft>
                <a:spcPts val="1000"/>
              </a:spcAft>
            </a:pPr>
            <a:r>
              <a:rPr sz="1800" b="0">
                <a:solidFill>
                  <a:srgbClr val="161B26"/>
                </a:solidFill>
                <a:latin typeface="Arial"/>
              </a:rPr>
              <a:t>•  All IPs!</a:t>
            </a:r>
          </a:p>
          <a:p>
            <a:pPr>
              <a:spcAft>
                <a:spcPts val="1000"/>
              </a:spcAft>
            </a:pPr>
            <a:r>
              <a:rPr sz="1800" b="0">
                <a:solidFill>
                  <a:srgbClr val="161B26"/>
                </a:solidFill>
                <a:latin typeface="Arial"/>
              </a:rPr>
              <a:t>•  When in doubt, use this website https://www.ipaddressguide.com/cidr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820</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vs Private IP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Internet Assigned Numbers Authority (IANA) established certain blocks of IPv4 addresses for the use of private (LAN) and public (Internet) addresses</a:t>
            </a:r>
          </a:p>
          <a:p>
            <a:pPr>
              <a:spcAft>
                <a:spcPts val="1000"/>
              </a:spcAft>
            </a:pPr>
            <a:r>
              <a:rPr sz="2000" b="0">
                <a:solidFill>
                  <a:srgbClr val="161B26"/>
                </a:solidFill>
                <a:latin typeface="Arial"/>
              </a:rPr>
              <a:t>•  Private IP can only allow certain values:</a:t>
            </a:r>
          </a:p>
          <a:p>
            <a:pPr>
              <a:spcAft>
                <a:spcPts val="1000"/>
              </a:spcAft>
            </a:pPr>
            <a:r>
              <a:rPr sz="2000" b="0">
                <a:solidFill>
                  <a:srgbClr val="161B26"/>
                </a:solidFill>
                <a:latin typeface="Arial"/>
              </a:rPr>
              <a:t>•  10.0.0.0 – 10.255.255.255	(10.0.0.0/8) +- in big networks</a:t>
            </a:r>
          </a:p>
          <a:p>
            <a:pPr>
              <a:spcAft>
                <a:spcPts val="1000"/>
              </a:spcAft>
            </a:pPr>
            <a:r>
              <a:rPr sz="2000" b="0">
                <a:solidFill>
                  <a:srgbClr val="161B26"/>
                </a:solidFill>
                <a:latin typeface="Arial"/>
              </a:rPr>
              <a:t>•  172.16.0.0 – 172.31.255.255 (172.16.0.0/12) +- AWS default VPC in that range</a:t>
            </a:r>
          </a:p>
          <a:p>
            <a:pPr>
              <a:spcAft>
                <a:spcPts val="1000"/>
              </a:spcAft>
            </a:pPr>
            <a:r>
              <a:rPr sz="2000" b="0">
                <a:solidFill>
                  <a:srgbClr val="161B26"/>
                </a:solidFill>
                <a:latin typeface="Arial"/>
              </a:rPr>
              <a:t>•  192.168.0.0 – 192.168.255.255 (192.168.0.0/16) +- e.g., home networks</a:t>
            </a:r>
          </a:p>
          <a:p>
            <a:pPr>
              <a:spcAft>
                <a:spcPts val="1000"/>
              </a:spcAft>
            </a:pPr>
            <a:r>
              <a:rPr sz="2000" b="0">
                <a:solidFill>
                  <a:srgbClr val="161B26"/>
                </a:solidFill>
                <a:latin typeface="Arial"/>
              </a:rPr>
              <a:t>•  All the rest of the IP addresses on the Internet are Public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821</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Default VPC Walkthrough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 new AWS accounts have a default VPC</a:t>
            </a:r>
          </a:p>
          <a:p>
            <a:pPr>
              <a:spcAft>
                <a:spcPts val="1000"/>
              </a:spcAft>
            </a:pPr>
            <a:r>
              <a:rPr sz="2000" b="0">
                <a:solidFill>
                  <a:srgbClr val="161B26"/>
                </a:solidFill>
                <a:latin typeface="Arial"/>
              </a:rPr>
              <a:t>•  New EC2 instances are launched into the default VPC if no subnet is specified</a:t>
            </a:r>
          </a:p>
          <a:p>
            <a:pPr>
              <a:spcAft>
                <a:spcPts val="1000"/>
              </a:spcAft>
            </a:pPr>
            <a:r>
              <a:rPr sz="2000" b="0">
                <a:solidFill>
                  <a:srgbClr val="161B26"/>
                </a:solidFill>
                <a:latin typeface="Arial"/>
              </a:rPr>
              <a:t>•  Default VPC has Internet connectivity and all EC2 instances inside it have public IPv4 addresses</a:t>
            </a:r>
          </a:p>
          <a:p>
            <a:pPr>
              <a:spcAft>
                <a:spcPts val="1000"/>
              </a:spcAft>
            </a:pPr>
            <a:r>
              <a:rPr sz="2000" b="0">
                <a:solidFill>
                  <a:srgbClr val="161B26"/>
                </a:solidFill>
                <a:latin typeface="Arial"/>
              </a:rPr>
              <a:t>•  We also get a public and a private IPv4 DNS names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822</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in AWS -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 Virtual Private Cloud</a:t>
            </a:r>
          </a:p>
          <a:p>
            <a:pPr>
              <a:spcAft>
                <a:spcPts val="1000"/>
              </a:spcAft>
            </a:pPr>
            <a:r>
              <a:rPr sz="1800" b="0">
                <a:solidFill>
                  <a:srgbClr val="161B26"/>
                </a:solidFill>
                <a:latin typeface="Arial"/>
              </a:rPr>
              <a:t>•  You can have multiple VPCs in an AWS region (max. 5 per region – soft limit)</a:t>
            </a:r>
          </a:p>
          <a:p>
            <a:pPr>
              <a:spcAft>
                <a:spcPts val="1000"/>
              </a:spcAft>
            </a:pPr>
            <a:r>
              <a:rPr sz="1800" b="0">
                <a:solidFill>
                  <a:srgbClr val="161B26"/>
                </a:solidFill>
                <a:latin typeface="Arial"/>
              </a:rPr>
              <a:t>•  Max. CIDR per VPC is 5, for each CIDR:</a:t>
            </a:r>
          </a:p>
          <a:p>
            <a:pPr>
              <a:spcAft>
                <a:spcPts val="1000"/>
              </a:spcAft>
            </a:pPr>
            <a:r>
              <a:rPr sz="1800" b="0">
                <a:solidFill>
                  <a:srgbClr val="161B26"/>
                </a:solidFill>
                <a:latin typeface="Arial"/>
              </a:rPr>
              <a:t>•  Min. size is /28 (16 IP addresses)</a:t>
            </a:r>
          </a:p>
          <a:p>
            <a:pPr>
              <a:spcAft>
                <a:spcPts val="1000"/>
              </a:spcAft>
            </a:pPr>
            <a:r>
              <a:rPr sz="1800" b="0">
                <a:solidFill>
                  <a:srgbClr val="161B26"/>
                </a:solidFill>
                <a:latin typeface="Arial"/>
              </a:rPr>
              <a:t>•  Max. size is /16 (65536 IP addresses)</a:t>
            </a:r>
          </a:p>
          <a:p>
            <a:pPr>
              <a:spcAft>
                <a:spcPts val="1000"/>
              </a:spcAft>
            </a:pPr>
            <a:r>
              <a:rPr sz="1800" b="0">
                <a:solidFill>
                  <a:srgbClr val="161B26"/>
                </a:solidFill>
                <a:latin typeface="Arial"/>
              </a:rPr>
              <a:t>•  Because VPC is private, only the Private IPv4 ranges are allowed:</a:t>
            </a:r>
          </a:p>
          <a:p>
            <a:pPr>
              <a:spcAft>
                <a:spcPts val="1000"/>
              </a:spcAft>
            </a:pPr>
            <a:r>
              <a:rPr sz="1800" b="0">
                <a:solidFill>
                  <a:srgbClr val="161B26"/>
                </a:solidFill>
                <a:latin typeface="Arial"/>
              </a:rPr>
              <a:t>•  10.0.0.0 – 10.255.255.255 (10.0.0.0/8)</a:t>
            </a:r>
          </a:p>
          <a:p>
            <a:pPr>
              <a:spcAft>
                <a:spcPts val="1000"/>
              </a:spcAft>
            </a:pPr>
            <a:r>
              <a:rPr sz="1800" b="0">
                <a:solidFill>
                  <a:srgbClr val="161B26"/>
                </a:solidFill>
                <a:latin typeface="Arial"/>
              </a:rPr>
              <a:t>•  172.16.0.0 – 172.31.255.255 (172.16.0.0/12)</a:t>
            </a:r>
          </a:p>
          <a:p>
            <a:pPr>
              <a:spcAft>
                <a:spcPts val="1000"/>
              </a:spcAft>
            </a:pPr>
            <a:r>
              <a:rPr sz="1800" b="0">
                <a:solidFill>
                  <a:srgbClr val="161B26"/>
                </a:solidFill>
                <a:latin typeface="Arial"/>
              </a:rPr>
              <a:t>•  192.168.0.0 – 192.168.255.255 (192.168.0.0/16)</a:t>
            </a:r>
          </a:p>
          <a:p>
            <a:pPr>
              <a:spcAft>
                <a:spcPts val="1000"/>
              </a:spcAft>
            </a:pPr>
            <a:r>
              <a:rPr sz="1800" b="0">
                <a:solidFill>
                  <a:srgbClr val="161B26"/>
                </a:solidFill>
                <a:latin typeface="Arial"/>
              </a:rPr>
              <a:t>•  Your VPC CIDR should NOT overlap with your other networks (e.g. corporate)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823</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83521"/>
            <a:ext cx="10479024" cy="437111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25_0.png"/>
          <p:cNvPicPr>
            <a:picLocks noChangeAspect="1"/>
          </p:cNvPicPr>
          <p:nvPr/>
        </p:nvPicPr>
        <p:blipFill>
          <a:blip r:embed="rId2"/>
          <a:stretch>
            <a:fillRect/>
          </a:stretch>
        </p:blipFill>
        <p:spPr>
          <a:xfrm>
            <a:off x="868680" y="1910953"/>
            <a:ext cx="10424160" cy="431625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824</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Adding Subnets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Region</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VPC</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Availability Zone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Private Subnet</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Public Subnet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825</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 Subnet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reserves 5 IP addresses (first 4 &amp; last 1) in each subnet</a:t>
            </a:r>
          </a:p>
          <a:p>
            <a:pPr>
              <a:spcAft>
                <a:spcPts val="1000"/>
              </a:spcAft>
            </a:pPr>
            <a:r>
              <a:rPr sz="1800" b="0">
                <a:solidFill>
                  <a:srgbClr val="161B26"/>
                </a:solidFill>
                <a:latin typeface="Arial"/>
              </a:rPr>
              <a:t>•  These 5 IP addresses are not available for use and can’t be assigned to an EC2 instance</a:t>
            </a:r>
          </a:p>
          <a:p>
            <a:pPr>
              <a:spcAft>
                <a:spcPts val="1000"/>
              </a:spcAft>
            </a:pPr>
            <a:r>
              <a:rPr sz="1800" b="0">
                <a:solidFill>
                  <a:srgbClr val="161B26"/>
                </a:solidFill>
                <a:latin typeface="Arial"/>
              </a:rPr>
              <a:t>•  Example: if CIDR block 10.0.0.0/24, then reserved IP addresses are:</a:t>
            </a:r>
          </a:p>
          <a:p>
            <a:pPr>
              <a:spcAft>
                <a:spcPts val="1000"/>
              </a:spcAft>
            </a:pPr>
            <a:r>
              <a:rPr sz="1800" b="0">
                <a:solidFill>
                  <a:srgbClr val="161B26"/>
                </a:solidFill>
                <a:latin typeface="Arial"/>
              </a:rPr>
              <a:t>•  10.0.0.0 - Network Address</a:t>
            </a:r>
          </a:p>
          <a:p>
            <a:pPr>
              <a:spcAft>
                <a:spcPts val="1000"/>
              </a:spcAft>
            </a:pPr>
            <a:r>
              <a:rPr sz="1800" b="0">
                <a:solidFill>
                  <a:srgbClr val="161B26"/>
                </a:solidFill>
                <a:latin typeface="Arial"/>
              </a:rPr>
              <a:t>•  10.0.0.1 - reserved by AWS for the VPC router</a:t>
            </a:r>
          </a:p>
          <a:p>
            <a:pPr>
              <a:spcAft>
                <a:spcPts val="1000"/>
              </a:spcAft>
            </a:pPr>
            <a:r>
              <a:rPr sz="1800" b="0">
                <a:solidFill>
                  <a:srgbClr val="161B26"/>
                </a:solidFill>
                <a:latin typeface="Arial"/>
              </a:rPr>
              <a:t>•  10.0.0.2 - reserved by AWS for mapping to Amazon-provided DNS</a:t>
            </a:r>
          </a:p>
          <a:p>
            <a:pPr>
              <a:spcAft>
                <a:spcPts val="1000"/>
              </a:spcAft>
            </a:pPr>
            <a:r>
              <a:rPr sz="1800" b="0">
                <a:solidFill>
                  <a:srgbClr val="161B26"/>
                </a:solidFill>
                <a:latin typeface="Arial"/>
              </a:rPr>
              <a:t>•  10.0.0.3 - reserved by AWS for future use</a:t>
            </a:r>
          </a:p>
          <a:p>
            <a:pPr>
              <a:spcAft>
                <a:spcPts val="1000"/>
              </a:spcAft>
            </a:pPr>
            <a:r>
              <a:rPr sz="1800" b="0">
                <a:solidFill>
                  <a:srgbClr val="161B26"/>
                </a:solidFill>
                <a:latin typeface="Arial"/>
              </a:rPr>
              <a:t>•  10.0.0.255 - Network Broadcast Address. AWS does not support broadcast in a VPC, therefore the address is reserved</a:t>
            </a:r>
          </a:p>
          <a:p>
            <a:pPr>
              <a:spcAft>
                <a:spcPts val="1000"/>
              </a:spcAft>
            </a:pPr>
            <a:r>
              <a:rPr sz="1800" b="0">
                <a:solidFill>
                  <a:srgbClr val="161B26"/>
                </a:solidFill>
                <a:latin typeface="Arial"/>
              </a:rPr>
              <a:t>•  Exam tip if you need 29 IP addresses for EC2 instances:</a:t>
            </a:r>
          </a:p>
          <a:p>
            <a:pPr>
              <a:spcAft>
                <a:spcPts val="1000"/>
              </a:spcAft>
            </a:pPr>
            <a:r>
              <a:rPr sz="1800" b="0">
                <a:solidFill>
                  <a:srgbClr val="161B26"/>
                </a:solidFill>
                <a:latin typeface="Arial"/>
              </a:rPr>
              <a:t>•  You can’t choose a subnet of size /27 (32 IP addresses, 32 – 5 = 27 &lt; 29)</a:t>
            </a:r>
          </a:p>
          <a:p>
            <a:pPr>
              <a:spcAft>
                <a:spcPts val="1000"/>
              </a:spcAft>
            </a:pPr>
            <a:r>
              <a:rPr sz="1800" b="0">
                <a:solidFill>
                  <a:srgbClr val="161B26"/>
                </a:solidFill>
                <a:latin typeface="Arial"/>
              </a:rPr>
              <a:t>•  You need to choose a subnet of size /26 (64 IP addresses, 64 – 5 = 59 &gt; 29)</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826</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Subnets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6426"/>
            <a:ext cx="10479024" cy="43253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28_0.png"/>
          <p:cNvPicPr>
            <a:picLocks noChangeAspect="1"/>
          </p:cNvPicPr>
          <p:nvPr/>
        </p:nvPicPr>
        <p:blipFill>
          <a:blip r:embed="rId2"/>
          <a:stretch>
            <a:fillRect/>
          </a:stretch>
        </p:blipFill>
        <p:spPr>
          <a:xfrm>
            <a:off x="868680" y="1933858"/>
            <a:ext cx="10424160" cy="427044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827</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Internet Gateway (IGW)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Allows resources (e.g., EC2 instances) in a VPC connect to the Internet</a:t>
            </a:r>
          </a:p>
          <a:p>
            <a:pPr>
              <a:spcAft>
                <a:spcPts val="1000"/>
              </a:spcAft>
            </a:pPr>
            <a:r>
              <a:rPr sz="2000" b="0">
                <a:solidFill>
                  <a:srgbClr val="161B26"/>
                </a:solidFill>
                <a:latin typeface="Arial"/>
              </a:rPr>
              <a:t>•  It scales horizontally and is highly available and redundant</a:t>
            </a:r>
          </a:p>
          <a:p>
            <a:pPr>
              <a:spcAft>
                <a:spcPts val="1000"/>
              </a:spcAft>
            </a:pPr>
            <a:r>
              <a:rPr sz="2000" b="0">
                <a:solidFill>
                  <a:srgbClr val="161B26"/>
                </a:solidFill>
                <a:latin typeface="Arial"/>
              </a:rPr>
              <a:t>•  Must be created separately from a VPC</a:t>
            </a:r>
          </a:p>
          <a:p>
            <a:pPr>
              <a:spcAft>
                <a:spcPts val="1000"/>
              </a:spcAft>
            </a:pPr>
            <a:r>
              <a:rPr sz="2000" b="0">
                <a:solidFill>
                  <a:srgbClr val="161B26"/>
                </a:solidFill>
                <a:latin typeface="Arial"/>
              </a:rPr>
              <a:t>•  One VPC can only be attached to one IGW and vice versa</a:t>
            </a:r>
          </a:p>
          <a:p>
            <a:pPr>
              <a:spcAft>
                <a:spcPts val="1000"/>
              </a:spcAft>
            </a:pPr>
            <a:r>
              <a:rPr sz="2000" b="0">
                <a:solidFill>
                  <a:srgbClr val="161B26"/>
                </a:solidFill>
                <a:latin typeface="Arial"/>
              </a:rPr>
              <a:t>•  Internet Gateways on their own do not allow Internet access…</a:t>
            </a:r>
          </a:p>
          <a:p>
            <a:pPr>
              <a:spcAft>
                <a:spcPts val="1000"/>
              </a:spcAft>
            </a:pPr>
            <a:r>
              <a:rPr sz="2000" b="0">
                <a:solidFill>
                  <a:srgbClr val="161B26"/>
                </a:solidFill>
                <a:latin typeface="Arial"/>
              </a:rPr>
              <a:t>•  Route tables must also be edited!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828</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Adding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Private Subnet</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Public Subnet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Region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VPC</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Internet Gateway</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Availability Zone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829</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91513"/>
            <a:ext cx="10479024" cy="398937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31_0.png"/>
          <p:cNvPicPr>
            <a:picLocks noChangeAspect="1"/>
          </p:cNvPicPr>
          <p:nvPr/>
        </p:nvPicPr>
        <p:blipFill>
          <a:blip r:embed="rId2"/>
          <a:stretch>
            <a:fillRect/>
          </a:stretch>
        </p:blipFill>
        <p:spPr>
          <a:xfrm>
            <a:off x="868680" y="1918945"/>
            <a:ext cx="10424160" cy="393450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Internet Gateway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830</a:t>
            </a:r>
          </a:p>
        </p:txBody>
      </p:sp>
    </p:spTree>
  </p:cSld>
  <p:clrMapOvr>
    <a:masterClrMapping/>
  </p:clrMapOvr>
</p:sld>
</file>

<file path=ppt/slides/slide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Editing Route Tables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831</a:t>
            </a:r>
          </a:p>
        </p:txBody>
      </p:sp>
    </p:spTree>
  </p:cSld>
  <p:clrMapOvr>
    <a:masterClrMapping/>
  </p:clrMapOvr>
</p:sld>
</file>

<file path=ppt/slides/slide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Route Tables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07841" y="1801368"/>
            <a:ext cx="994583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33_0.png"/>
          <p:cNvPicPr>
            <a:picLocks noChangeAspect="1"/>
          </p:cNvPicPr>
          <p:nvPr/>
        </p:nvPicPr>
        <p:blipFill>
          <a:blip r:embed="rId2"/>
          <a:stretch>
            <a:fillRect/>
          </a:stretch>
        </p:blipFill>
        <p:spPr>
          <a:xfrm>
            <a:off x="1135273" y="1828800"/>
            <a:ext cx="9890974"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Route Tables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832</a:t>
            </a:r>
          </a:p>
        </p:txBody>
      </p:sp>
    </p:spTree>
  </p:cSld>
  <p:clrMapOvr>
    <a:masterClrMapping/>
  </p:clrMapOvr>
</p:sld>
</file>

<file path=ppt/slides/slide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Bastion Hosts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can use a Bastion Host to SSH into our private EC2 instances</a:t>
            </a:r>
          </a:p>
          <a:p>
            <a:pPr>
              <a:spcAft>
                <a:spcPts val="1000"/>
              </a:spcAft>
            </a:pPr>
            <a:r>
              <a:rPr sz="1800" b="0">
                <a:solidFill>
                  <a:srgbClr val="161B26"/>
                </a:solidFill>
                <a:latin typeface="Arial"/>
              </a:rPr>
              <a:t>•  The bastion is in the public subnet which is then connected to all other private subnets</a:t>
            </a:r>
          </a:p>
          <a:p>
            <a:pPr>
              <a:spcAft>
                <a:spcPts val="1000"/>
              </a:spcAft>
            </a:pPr>
            <a:r>
              <a:rPr sz="1800" b="0">
                <a:solidFill>
                  <a:srgbClr val="161B26"/>
                </a:solidFill>
                <a:latin typeface="Arial"/>
              </a:rPr>
              <a:t>•  Bastion host security group must allow inbound from the internet on port 22 from restricted CIDR, for example the public CIDR of your corporation</a:t>
            </a:r>
          </a:p>
          <a:p>
            <a:pPr>
              <a:spcAft>
                <a:spcPts val="1000"/>
              </a:spcAft>
            </a:pPr>
            <a:r>
              <a:rPr sz="1800" b="0">
                <a:solidFill>
                  <a:srgbClr val="161B26"/>
                </a:solidFill>
                <a:latin typeface="Arial"/>
              </a:rPr>
              <a:t>•  Security group of the EC2 instance must allow the Security Group of the Bastion Host, or the private IP of the Bastion host</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Security Group (BastionHost-SG)</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(Bastion Host)</a:t>
            </a:r>
          </a:p>
          <a:p>
            <a:pPr>
              <a:spcAft>
                <a:spcPts val="1000"/>
              </a:spcAft>
            </a:pPr>
            <a:r>
              <a:rPr sz="1800" b="0">
                <a:solidFill>
                  <a:srgbClr val="161B26"/>
                </a:solidFill>
                <a:latin typeface="Arial"/>
              </a:rPr>
              <a:t>•  Security Group (LinuxInstance-SG)</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SSH</a:t>
            </a:r>
          </a:p>
          <a:p>
            <a:pPr>
              <a:spcAft>
                <a:spcPts val="1000"/>
              </a:spcAft>
            </a:pPr>
            <a:r>
              <a:rPr sz="1800" b="0">
                <a:solidFill>
                  <a:srgbClr val="161B26"/>
                </a:solidFill>
                <a:latin typeface="Arial"/>
              </a:rPr>
              <a:t>•  SSH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833</a:t>
            </a:r>
          </a:p>
        </p:txBody>
      </p:sp>
    </p:spTree>
  </p:cSld>
  <p:clrMapOvr>
    <a:masterClrMapping/>
  </p:clrMapOvr>
</p:sld>
</file>

<file path=ppt/slides/slide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Bastion Host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42027" y="1801368"/>
            <a:ext cx="907746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35_0.png"/>
          <p:cNvPicPr>
            <a:picLocks noChangeAspect="1"/>
          </p:cNvPicPr>
          <p:nvPr/>
        </p:nvPicPr>
        <p:blipFill>
          <a:blip r:embed="rId2"/>
          <a:stretch>
            <a:fillRect/>
          </a:stretch>
        </p:blipFill>
        <p:spPr>
          <a:xfrm>
            <a:off x="1569459" y="1828800"/>
            <a:ext cx="902260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instance in the public subnet and a instance in the private subnet in the same VPC.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834</a:t>
            </a:r>
          </a:p>
        </p:txBody>
      </p:sp>
    </p:spTree>
  </p:cSld>
  <p:clrMapOvr>
    <a:masterClrMapping/>
  </p:clrMapOvr>
</p:sld>
</file>

<file path=ppt/slides/slide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NAT Instance (outdated but still at the exam)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 = Network Address Translation</a:t>
            </a:r>
          </a:p>
          <a:p>
            <a:pPr>
              <a:spcAft>
                <a:spcPts val="1000"/>
              </a:spcAft>
            </a:pPr>
            <a:r>
              <a:rPr sz="1800" b="0">
                <a:solidFill>
                  <a:srgbClr val="161B26"/>
                </a:solidFill>
                <a:latin typeface="Arial"/>
              </a:rPr>
              <a:t>•  Allows EC2 instances in private subnets to connect to the Internet</a:t>
            </a:r>
          </a:p>
          <a:p>
            <a:pPr>
              <a:spcAft>
                <a:spcPts val="1000"/>
              </a:spcAft>
            </a:pPr>
            <a:r>
              <a:rPr sz="1800" b="0">
                <a:solidFill>
                  <a:srgbClr val="161B26"/>
                </a:solidFill>
                <a:latin typeface="Arial"/>
              </a:rPr>
              <a:t>•  Must be launched in a public subnet</a:t>
            </a:r>
          </a:p>
          <a:p>
            <a:pPr>
              <a:spcAft>
                <a:spcPts val="1000"/>
              </a:spcAft>
            </a:pPr>
            <a:r>
              <a:rPr sz="1800" b="0">
                <a:solidFill>
                  <a:srgbClr val="161B26"/>
                </a:solidFill>
                <a:latin typeface="Arial"/>
              </a:rPr>
              <a:t>•  Must disable EC2 setting: Source / destination Check</a:t>
            </a:r>
          </a:p>
          <a:p>
            <a:pPr>
              <a:spcAft>
                <a:spcPts val="1000"/>
              </a:spcAft>
            </a:pPr>
            <a:r>
              <a:rPr sz="1800" b="0">
                <a:solidFill>
                  <a:srgbClr val="161B26"/>
                </a:solidFill>
                <a:latin typeface="Arial"/>
              </a:rPr>
              <a:t>•  Must have Elastic IP attached to it</a:t>
            </a:r>
          </a:p>
          <a:p>
            <a:pPr>
              <a:spcAft>
                <a:spcPts val="1000"/>
              </a:spcAft>
            </a:pPr>
            <a:r>
              <a:rPr sz="1800" b="0">
                <a:solidFill>
                  <a:srgbClr val="161B26"/>
                </a:solidFill>
                <a:latin typeface="Arial"/>
              </a:rPr>
              <a:t>•  Route Tables must be configured to route traffic from private subnets to the NAT Instance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NAT Instance</a:t>
            </a:r>
          </a:p>
          <a:p>
            <a:pPr>
              <a:spcAft>
                <a:spcPts val="1000"/>
              </a:spcAft>
            </a:pPr>
            <a:r>
              <a:rPr sz="1800" b="0">
                <a:solidFill>
                  <a:srgbClr val="161B26"/>
                </a:solidFill>
                <a:latin typeface="Arial"/>
              </a:rPr>
              <a:t>•  Security Group (NATInstance-SG)</a:t>
            </a:r>
          </a:p>
          <a:p>
            <a:pPr>
              <a:spcAft>
                <a:spcPts val="1000"/>
              </a:spcAft>
            </a:pPr>
            <a:r>
              <a:rPr sz="1800" b="0">
                <a:solidFill>
                  <a:srgbClr val="161B26"/>
                </a:solidFill>
                <a:latin typeface="Arial"/>
              </a:rPr>
              <a:t>•  (IP: 12.34.56.78)</a:t>
            </a:r>
          </a:p>
          <a:p>
            <a:pPr>
              <a:spcAft>
                <a:spcPts val="1000"/>
              </a:spcAft>
            </a:pPr>
            <a:r>
              <a:rPr sz="1800" b="0">
                <a:solidFill>
                  <a:srgbClr val="161B26"/>
                </a:solidFill>
                <a:latin typeface="Arial"/>
              </a:rPr>
              <a:t>•  IP: 10.0.0.10</a:t>
            </a:r>
          </a:p>
          <a:p>
            <a:pPr>
              <a:spcAft>
                <a:spcPts val="1000"/>
              </a:spcAft>
            </a:pPr>
            <a:r>
              <a:rPr sz="1800" b="0">
                <a:solidFill>
                  <a:srgbClr val="161B26"/>
                </a:solidFill>
                <a:latin typeface="Arial"/>
              </a:rPr>
              <a:t>•  IP: 10.0.0.20</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(IP: 50.60.4.10)</a:t>
            </a:r>
          </a:p>
          <a:p>
            <a:pPr>
              <a:spcAft>
                <a:spcPts val="1000"/>
              </a:spcAft>
            </a:pPr>
            <a:r>
              <a:rPr sz="1800" b="0">
                <a:solidFill>
                  <a:srgbClr val="161B26"/>
                </a:solidFill>
                <a:latin typeface="Arial"/>
              </a:rPr>
              <a:t>•  Src.: 10.0.0.20</a:t>
            </a:r>
          </a:p>
          <a:p>
            <a:pPr>
              <a:spcAft>
                <a:spcPts val="1000"/>
              </a:spcAft>
            </a:pPr>
            <a:r>
              <a:rPr sz="1800" b="0">
                <a:solidFill>
                  <a:srgbClr val="161B26"/>
                </a:solidFill>
                <a:latin typeface="Arial"/>
              </a:rPr>
              <a:t>•  Dest.: 50.60.4.10</a:t>
            </a:r>
          </a:p>
          <a:p>
            <a:pPr>
              <a:spcAft>
                <a:spcPts val="1000"/>
              </a:spcAft>
            </a:pPr>
            <a:r>
              <a:rPr sz="1800" b="0">
                <a:solidFill>
                  <a:srgbClr val="161B26"/>
                </a:solidFill>
                <a:latin typeface="Arial"/>
              </a:rPr>
              <a:t>•  Dest.: 50.60.4.10</a:t>
            </a:r>
          </a:p>
          <a:p>
            <a:pPr>
              <a:spcAft>
                <a:spcPts val="1000"/>
              </a:spcAft>
            </a:pPr>
            <a:r>
              <a:rPr sz="1800" b="0">
                <a:solidFill>
                  <a:srgbClr val="161B26"/>
                </a:solidFill>
                <a:latin typeface="Arial"/>
              </a:rPr>
              <a:t>•  Src.: 12.34.56.78</a:t>
            </a:r>
          </a:p>
          <a:p>
            <a:pPr>
              <a:spcAft>
                <a:spcPts val="1000"/>
              </a:spcAft>
            </a:pPr>
            <a:r>
              <a:rPr sz="1800" b="0">
                <a:solidFill>
                  <a:srgbClr val="161B26"/>
                </a:solidFill>
                <a:latin typeface="Arial"/>
              </a:rPr>
              <a:t>•  Src.: 50.60.4.10</a:t>
            </a:r>
          </a:p>
          <a:p>
            <a:pPr>
              <a:spcAft>
                <a:spcPts val="1000"/>
              </a:spcAft>
            </a:pPr>
            <a:r>
              <a:rPr sz="1800" b="0">
                <a:solidFill>
                  <a:srgbClr val="161B26"/>
                </a:solidFill>
                <a:latin typeface="Arial"/>
              </a:rPr>
              <a:t>•  Dest.: 12.34.56.78</a:t>
            </a:r>
          </a:p>
          <a:p>
            <a:pPr>
              <a:spcAft>
                <a:spcPts val="1000"/>
              </a:spcAft>
            </a:pPr>
            <a:r>
              <a:rPr sz="1800" b="0">
                <a:solidFill>
                  <a:srgbClr val="161B26"/>
                </a:solidFill>
                <a:latin typeface="Arial"/>
              </a:rPr>
              <a:t>•  Src.: 50.60.4.10</a:t>
            </a:r>
          </a:p>
          <a:p>
            <a:pPr>
              <a:spcAft>
                <a:spcPts val="1000"/>
              </a:spcAft>
            </a:pPr>
            <a:r>
              <a:rPr sz="1800" b="0">
                <a:solidFill>
                  <a:srgbClr val="161B26"/>
                </a:solidFill>
                <a:latin typeface="Arial"/>
              </a:rPr>
              <a:t>•  Dest.: 10.0.0.20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835</a:t>
            </a:r>
          </a:p>
        </p:txBody>
      </p:sp>
    </p:spTree>
  </p:cSld>
  <p:clrMapOvr>
    <a:masterClrMapping/>
  </p:clrMapOvr>
</p:sld>
</file>

<file path=ppt/slides/slide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NAT Instance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EIP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836</a:t>
            </a:r>
          </a:p>
        </p:txBody>
      </p:sp>
    </p:spTree>
  </p:cSld>
  <p:clrMapOvr>
    <a:masterClrMapping/>
  </p:clrMapOvr>
</p:sld>
</file>

<file path=ppt/slides/slide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Instance - Comments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Pre-configured Amazon Linux AMI is available</a:t>
            </a:r>
          </a:p>
          <a:p>
            <a:pPr>
              <a:spcAft>
                <a:spcPts val="1000"/>
              </a:spcAft>
            </a:pPr>
            <a:r>
              <a:rPr sz="1800" b="0">
                <a:solidFill>
                  <a:srgbClr val="161B26"/>
                </a:solidFill>
                <a:latin typeface="Arial"/>
              </a:rPr>
              <a:t>•  Reached the end of standard support on December 31, 2020</a:t>
            </a:r>
          </a:p>
          <a:p>
            <a:pPr>
              <a:spcAft>
                <a:spcPts val="1000"/>
              </a:spcAft>
            </a:pPr>
            <a:r>
              <a:rPr sz="1800" b="0">
                <a:solidFill>
                  <a:srgbClr val="161B26"/>
                </a:solidFill>
                <a:latin typeface="Arial"/>
              </a:rPr>
              <a:t>•  Not highly available / resilient setup out of the box</a:t>
            </a:r>
          </a:p>
          <a:p>
            <a:pPr>
              <a:spcAft>
                <a:spcPts val="1000"/>
              </a:spcAft>
            </a:pPr>
            <a:r>
              <a:rPr sz="1800" b="0">
                <a:solidFill>
                  <a:srgbClr val="161B26"/>
                </a:solidFill>
                <a:latin typeface="Arial"/>
              </a:rPr>
              <a:t>•  You need to create an ASG in multi-AZ + resilient user-data script</a:t>
            </a:r>
          </a:p>
          <a:p>
            <a:pPr>
              <a:spcAft>
                <a:spcPts val="1000"/>
              </a:spcAft>
            </a:pPr>
            <a:r>
              <a:rPr sz="1800" b="0">
                <a:solidFill>
                  <a:srgbClr val="161B26"/>
                </a:solidFill>
                <a:latin typeface="Arial"/>
              </a:rPr>
              <a:t>•  Internet traffic bandwidth depends on EC2 instance type</a:t>
            </a:r>
          </a:p>
          <a:p>
            <a:pPr>
              <a:spcAft>
                <a:spcPts val="1000"/>
              </a:spcAft>
            </a:pPr>
            <a:r>
              <a:rPr sz="1800" b="0">
                <a:solidFill>
                  <a:srgbClr val="161B26"/>
                </a:solidFill>
                <a:latin typeface="Arial"/>
              </a:rPr>
              <a:t>•  You must manage Security Groups &amp; rules:</a:t>
            </a:r>
          </a:p>
          <a:p>
            <a:pPr>
              <a:spcAft>
                <a:spcPts val="1000"/>
              </a:spcAft>
            </a:pPr>
            <a:r>
              <a:rPr sz="1800" b="0">
                <a:solidFill>
                  <a:srgbClr val="161B26"/>
                </a:solidFill>
                <a:latin typeface="Arial"/>
              </a:rPr>
              <a:t>•  Inbound:</a:t>
            </a:r>
          </a:p>
          <a:p>
            <a:pPr>
              <a:spcAft>
                <a:spcPts val="1000"/>
              </a:spcAft>
            </a:pPr>
            <a:r>
              <a:rPr sz="1800" b="0">
                <a:solidFill>
                  <a:srgbClr val="161B26"/>
                </a:solidFill>
                <a:latin typeface="Arial"/>
              </a:rPr>
              <a:t>•  Allow HTTP / HTTPS traffic coming from Private Subnets</a:t>
            </a:r>
          </a:p>
          <a:p>
            <a:pPr>
              <a:spcAft>
                <a:spcPts val="1000"/>
              </a:spcAft>
            </a:pPr>
            <a:r>
              <a:rPr sz="1800" b="0">
                <a:solidFill>
                  <a:srgbClr val="161B26"/>
                </a:solidFill>
                <a:latin typeface="Arial"/>
              </a:rPr>
              <a:t>•  Allow SSH from your home network (access is provided through Internet Gateway)</a:t>
            </a:r>
          </a:p>
          <a:p>
            <a:pPr>
              <a:spcAft>
                <a:spcPts val="1000"/>
              </a:spcAft>
            </a:pPr>
            <a:r>
              <a:rPr sz="1800" b="0">
                <a:solidFill>
                  <a:srgbClr val="161B26"/>
                </a:solidFill>
                <a:latin typeface="Arial"/>
              </a:rPr>
              <a:t>•  Outbound:</a:t>
            </a:r>
          </a:p>
          <a:p>
            <a:pPr>
              <a:spcAft>
                <a:spcPts val="1000"/>
              </a:spcAft>
            </a:pPr>
            <a:r>
              <a:rPr sz="1800" b="0">
                <a:solidFill>
                  <a:srgbClr val="161B26"/>
                </a:solidFill>
                <a:latin typeface="Arial"/>
              </a:rPr>
              <a:t>•  Allow HTTP / HTTPS traffic to the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837</a:t>
            </a:r>
          </a:p>
        </p:txBody>
      </p:sp>
    </p:spTree>
  </p:cSld>
  <p:clrMapOvr>
    <a:masterClrMapping/>
  </p:clrMapOvr>
</p:sld>
</file>

<file path=ppt/slides/slide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AWS-managed NAT, higher bandwidth, high availability, no administration</a:t>
            </a:r>
          </a:p>
          <a:p>
            <a:pPr>
              <a:spcAft>
                <a:spcPts val="1000"/>
              </a:spcAft>
            </a:pPr>
            <a:r>
              <a:rPr sz="1800" b="0">
                <a:solidFill>
                  <a:srgbClr val="161B26"/>
                </a:solidFill>
                <a:latin typeface="Arial"/>
              </a:rPr>
              <a:t>•  Pay per hour for usage and bandwidth</a:t>
            </a:r>
          </a:p>
          <a:p>
            <a:pPr>
              <a:spcAft>
                <a:spcPts val="1000"/>
              </a:spcAft>
            </a:pPr>
            <a:r>
              <a:rPr sz="1800" b="0">
                <a:solidFill>
                  <a:srgbClr val="161B26"/>
                </a:solidFill>
                <a:latin typeface="Arial"/>
              </a:rPr>
              <a:t>•  NATGW is created in a specific Availability Zone, uses an Elastic IP</a:t>
            </a:r>
          </a:p>
          <a:p>
            <a:pPr>
              <a:spcAft>
                <a:spcPts val="1000"/>
              </a:spcAft>
            </a:pPr>
            <a:r>
              <a:rPr sz="1800" b="0">
                <a:solidFill>
                  <a:srgbClr val="161B26"/>
                </a:solidFill>
                <a:latin typeface="Arial"/>
              </a:rPr>
              <a:t>•  Can’t be used by EC2 instance in the same subnet (only from other subnets)</a:t>
            </a:r>
          </a:p>
          <a:p>
            <a:pPr>
              <a:spcAft>
                <a:spcPts val="1000"/>
              </a:spcAft>
            </a:pPr>
            <a:r>
              <a:rPr sz="1800" b="0">
                <a:solidFill>
                  <a:srgbClr val="161B26"/>
                </a:solidFill>
                <a:latin typeface="Arial"/>
              </a:rPr>
              <a:t>•  Requires an IGW (Private Subnet =&gt; NATGW =&gt; IGW)</a:t>
            </a:r>
          </a:p>
          <a:p>
            <a:pPr>
              <a:spcAft>
                <a:spcPts val="1000"/>
              </a:spcAft>
            </a:pPr>
            <a:r>
              <a:rPr sz="1800" b="0">
                <a:solidFill>
                  <a:srgbClr val="161B26"/>
                </a:solidFill>
                <a:latin typeface="Arial"/>
              </a:rPr>
              <a:t>•  5 Gbps of bandwidth with automatic scaling up to 100 Gbps</a:t>
            </a:r>
          </a:p>
          <a:p>
            <a:pPr>
              <a:spcAft>
                <a:spcPts val="1000"/>
              </a:spcAft>
            </a:pPr>
            <a:r>
              <a:rPr sz="1800" b="0">
                <a:solidFill>
                  <a:srgbClr val="161B26"/>
                </a:solidFill>
                <a:latin typeface="Arial"/>
              </a:rPr>
              <a:t>•  No Security Groups to manage /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838</a:t>
            </a:r>
          </a:p>
        </p:txBody>
      </p:sp>
    </p:spTree>
  </p:cSld>
  <p:clrMapOvr>
    <a:masterClrMapping/>
  </p:clrMapOvr>
</p:sld>
</file>

<file path=ppt/slides/slide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839</a:t>
            </a:r>
          </a:p>
        </p:txBody>
      </p:sp>
    </p:spTree>
  </p:cSld>
  <p:clrMapOvr>
    <a:masterClrMapping/>
  </p:clrMapOvr>
</p:sld>
</file>

<file path=ppt/slides/slide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 with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 Gateway is resilient within</a:t>
            </a:r>
          </a:p>
          <a:p>
            <a:pPr>
              <a:spcAft>
                <a:spcPts val="1000"/>
              </a:spcAft>
            </a:pPr>
            <a:r>
              <a:rPr sz="1800" b="0">
                <a:solidFill>
                  <a:srgbClr val="161B26"/>
                </a:solidFill>
                <a:latin typeface="Arial"/>
              </a:rPr>
              <a:t>•  a single Availability Zone</a:t>
            </a:r>
          </a:p>
          <a:p>
            <a:pPr>
              <a:spcAft>
                <a:spcPts val="1000"/>
              </a:spcAft>
            </a:pPr>
            <a:r>
              <a:rPr sz="1800" b="0">
                <a:solidFill>
                  <a:srgbClr val="161B26"/>
                </a:solidFill>
                <a:latin typeface="Arial"/>
              </a:rPr>
              <a:t>•  Must create multiple NAT Gateways in multiple AZsfor fault-tolerance</a:t>
            </a:r>
          </a:p>
          <a:p>
            <a:pPr>
              <a:spcAft>
                <a:spcPts val="1000"/>
              </a:spcAft>
            </a:pPr>
            <a:r>
              <a:rPr sz="1800" b="0">
                <a:solidFill>
                  <a:srgbClr val="161B26"/>
                </a:solidFill>
                <a:latin typeface="Arial"/>
              </a:rPr>
              <a:t>•  There is no cross-AZ failover needed because if an AZ goes down it doesn't need NAT</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AZ - B</a:t>
            </a:r>
          </a:p>
          <a:p>
            <a:pPr>
              <a:spcAft>
                <a:spcPts val="1000"/>
              </a:spcAft>
            </a:pPr>
            <a:r>
              <a:rPr sz="1800" b="0">
                <a:solidFill>
                  <a:srgbClr val="161B26"/>
                </a:solidFill>
                <a:latin typeface="Arial"/>
              </a:rPr>
              <a:t>•  AZ - A</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840</a:t>
            </a:r>
          </a:p>
        </p:txBody>
      </p:sp>
    </p:spTree>
  </p:cSld>
  <p:clrMapOvr>
    <a:masterClrMapping/>
  </p:clrMapOvr>
</p:sld>
</file>

<file path=ppt/slides/slide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 vs NAT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More at: https://docs.aws.amazon.com/vpc/latest/userguide/vpc-nat-comparison.html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841</a:t>
            </a:r>
          </a:p>
        </p:txBody>
      </p:sp>
    </p:spTree>
  </p:cSld>
  <p:clrMapOvr>
    <a:masterClrMapping/>
  </p:clrMapOvr>
</p:sld>
</file>

<file path=ppt/slides/slide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NAT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07478"/>
            <a:ext cx="10479024" cy="39232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43_0.png"/>
          <p:cNvPicPr>
            <a:picLocks noChangeAspect="1"/>
          </p:cNvPicPr>
          <p:nvPr/>
        </p:nvPicPr>
        <p:blipFill>
          <a:blip r:embed="rId2"/>
          <a:stretch>
            <a:fillRect/>
          </a:stretch>
        </p:blipFill>
        <p:spPr>
          <a:xfrm>
            <a:off x="868680" y="2134910"/>
            <a:ext cx="10424160" cy="38683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842</a:t>
            </a:r>
          </a:p>
        </p:txBody>
      </p:sp>
    </p:spTree>
  </p:cSld>
  <p:clrMapOvr>
    <a:masterClrMapping/>
  </p:clrMapOvr>
</p:sld>
</file>

<file path=ppt/slides/slide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DNS Resolution in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DNS Resolution (enableDnsSupport)</a:t>
            </a:r>
          </a:p>
          <a:p>
            <a:pPr>
              <a:spcAft>
                <a:spcPts val="1000"/>
              </a:spcAft>
            </a:pPr>
            <a:r>
              <a:rPr sz="1800" b="0">
                <a:solidFill>
                  <a:srgbClr val="161B26"/>
                </a:solidFill>
                <a:latin typeface="Arial"/>
              </a:rPr>
              <a:t>•  Decides if DNS resolution from Route 53 Resolver server is supported for the VPC</a:t>
            </a:r>
          </a:p>
          <a:p>
            <a:pPr>
              <a:spcAft>
                <a:spcPts val="1000"/>
              </a:spcAft>
            </a:pPr>
            <a:r>
              <a:rPr sz="1800" b="0">
                <a:solidFill>
                  <a:srgbClr val="161B26"/>
                </a:solidFill>
                <a:latin typeface="Arial"/>
              </a:rPr>
              <a:t>•  True (default): it queries the Amazon Provider DNS Server at 169.254.169.253  or the reserved IP address at the base of the VPC IPv4 network range plus two (.2)</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Custom DNS Server</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www.google.com? A 142.251.37.36</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IP: 169.254.169.253</a:t>
            </a:r>
          </a:p>
          <a:p>
            <a:pPr>
              <a:spcAft>
                <a:spcPts val="1000"/>
              </a:spcAft>
            </a:pPr>
            <a:r>
              <a:rPr sz="1800" b="0">
                <a:solidFill>
                  <a:srgbClr val="161B26"/>
                </a:solidFill>
                <a:latin typeface="Arial"/>
              </a:rPr>
              <a:t>•  IP: xx.xx.xx.2</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www.google.com? A 142.251.37.36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843</a:t>
            </a:r>
          </a:p>
        </p:txBody>
      </p:sp>
    </p:spTree>
  </p:cSld>
  <p:clrMapOvr>
    <a:masterClrMapping/>
  </p:clrMapOvr>
</p:sld>
</file>

<file path=ppt/slides/slide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DNS Resolution in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DNS Hostnames (enableDnsHostnames)</a:t>
            </a:r>
          </a:p>
          <a:p>
            <a:pPr>
              <a:spcAft>
                <a:spcPts val="1000"/>
              </a:spcAft>
            </a:pPr>
            <a:r>
              <a:rPr sz="1800" b="0">
                <a:solidFill>
                  <a:srgbClr val="161B26"/>
                </a:solidFill>
                <a:latin typeface="Arial"/>
              </a:rPr>
              <a:t>•  By default,</a:t>
            </a:r>
          </a:p>
          <a:p>
            <a:pPr>
              <a:spcAft>
                <a:spcPts val="1000"/>
              </a:spcAft>
            </a:pPr>
            <a:r>
              <a:rPr sz="1800" b="0">
                <a:solidFill>
                  <a:srgbClr val="161B26"/>
                </a:solidFill>
                <a:latin typeface="Arial"/>
              </a:rPr>
              <a:t>•  True =&gt; default VPC</a:t>
            </a:r>
          </a:p>
          <a:p>
            <a:pPr>
              <a:spcAft>
                <a:spcPts val="1000"/>
              </a:spcAft>
            </a:pPr>
            <a:r>
              <a:rPr sz="1800" b="0">
                <a:solidFill>
                  <a:srgbClr val="161B26"/>
                </a:solidFill>
                <a:latin typeface="Arial"/>
              </a:rPr>
              <a:t>•  False =&gt; newly created VPCs</a:t>
            </a:r>
          </a:p>
          <a:p>
            <a:pPr>
              <a:spcAft>
                <a:spcPts val="1000"/>
              </a:spcAft>
            </a:pPr>
            <a:r>
              <a:rPr sz="1800" b="0">
                <a:solidFill>
                  <a:srgbClr val="161B26"/>
                </a:solidFill>
                <a:latin typeface="Arial"/>
              </a:rPr>
              <a:t>•  Won’t do anything unless enableDnsSupport=true</a:t>
            </a:r>
          </a:p>
          <a:p>
            <a:pPr>
              <a:spcAft>
                <a:spcPts val="1000"/>
              </a:spcAft>
            </a:pPr>
            <a:r>
              <a:rPr sz="1800" b="0">
                <a:solidFill>
                  <a:srgbClr val="161B26"/>
                </a:solidFill>
                <a:latin typeface="Arial"/>
              </a:rPr>
              <a:t>•  If True, assigns public hostname to EC2 instance if it has a public IPv4</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(Private DNS: ip-private-ipv4-address.ec2.internal)</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(Private DNS: ip-private-ipv4-address.ec2.internal)</a:t>
            </a:r>
          </a:p>
          <a:p>
            <a:pPr>
              <a:spcAft>
                <a:spcPts val="1000"/>
              </a:spcAft>
            </a:pPr>
            <a:r>
              <a:rPr sz="1800" b="0">
                <a:solidFill>
                  <a:srgbClr val="161B26"/>
                </a:solidFill>
                <a:latin typeface="Arial"/>
              </a:rPr>
              <a:t>•  (Public DNS: ec2-public-ipv4-address.compute-1.amazonaws.com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844</a:t>
            </a:r>
          </a:p>
        </p:txBody>
      </p:sp>
    </p:spTree>
  </p:cSld>
  <p:clrMapOvr>
    <a:masterClrMapping/>
  </p:clrMapOvr>
</p:sld>
</file>

<file path=ppt/slides/slide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DNS Resolution in VPC</a:t>
            </a:r>
          </a:p>
          <a:p>
            <a:pPr>
              <a:spcAft>
                <a:spcPts val="1000"/>
              </a:spcAft>
            </a:pPr>
            <a:r>
              <a:rPr sz="1800" b="0">
                <a:solidFill>
                  <a:srgbClr val="161B26"/>
                </a:solidFill>
                <a:latin typeface="Arial"/>
              </a:rPr>
              <a:t>•  If you use custom DNS domain names in a Private Hosted Zone in Route 53, you must set both these attributes (enableDnsSupport &amp; enableDnsHostname) to true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IP: 169.254.169.253</a:t>
            </a:r>
          </a:p>
          <a:p>
            <a:pPr>
              <a:spcAft>
                <a:spcPts val="1000"/>
              </a:spcAft>
            </a:pPr>
            <a:r>
              <a:rPr sz="1800" b="0">
                <a:solidFill>
                  <a:srgbClr val="161B26"/>
                </a:solidFill>
                <a:latin typeface="Arial"/>
              </a:rPr>
              <a:t>•  IP: xx.xx.xx.2</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Web.mycompany.private ?</a:t>
            </a:r>
          </a:p>
          <a:p>
            <a:pPr>
              <a:spcAft>
                <a:spcPts val="1000"/>
              </a:spcAft>
            </a:pPr>
            <a:r>
              <a:rPr sz="1800" b="0">
                <a:solidFill>
                  <a:srgbClr val="161B26"/>
                </a:solidFill>
                <a:latin typeface="Arial"/>
              </a:rPr>
              <a:t>•  10.0.0.10</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(DNS Name: web.mycompany.private)</a:t>
            </a:r>
          </a:p>
          <a:p>
            <a:pPr>
              <a:spcAft>
                <a:spcPts val="1000"/>
              </a:spcAft>
            </a:pPr>
            <a:r>
              <a:rPr sz="1800" b="0">
                <a:solidFill>
                  <a:srgbClr val="161B26"/>
                </a:solidFill>
                <a:latin typeface="Arial"/>
              </a:rPr>
              <a:t>•  (IPv4: 10.0.0.10)</a:t>
            </a:r>
          </a:p>
          <a:p>
            <a:pPr>
              <a:spcAft>
                <a:spcPts val="1000"/>
              </a:spcAft>
            </a:pPr>
            <a:r>
              <a:rPr sz="1800" b="0">
                <a:solidFill>
                  <a:srgbClr val="161B26"/>
                </a:solidFill>
                <a:latin typeface="Arial"/>
              </a:rPr>
              <a:t>•  Private</a:t>
            </a:r>
          </a:p>
          <a:p>
            <a:pPr>
              <a:spcAft>
                <a:spcPts val="1000"/>
              </a:spcAft>
            </a:pPr>
            <a:r>
              <a:rPr sz="1800" b="0">
                <a:solidFill>
                  <a:srgbClr val="161B26"/>
                </a:solidFill>
                <a:latin typeface="Arial"/>
              </a:rPr>
              <a:t>•  Hosted Zone</a:t>
            </a:r>
          </a:p>
          <a:p>
            <a:pPr>
              <a:spcAft>
                <a:spcPts val="1000"/>
              </a:spcAft>
            </a:pPr>
            <a:r>
              <a:rPr sz="1800" b="0">
                <a:solidFill>
                  <a:srgbClr val="161B26"/>
                </a:solidFill>
                <a:latin typeface="Arial"/>
              </a:rPr>
              <a:t>•  Record Name</a:t>
            </a:r>
          </a:p>
          <a:p>
            <a:pPr>
              <a:spcAft>
                <a:spcPts val="1000"/>
              </a:spcAft>
            </a:pPr>
            <a:r>
              <a:rPr sz="1800" b="0">
                <a:solidFill>
                  <a:srgbClr val="161B26"/>
                </a:solidFill>
                <a:latin typeface="Arial"/>
              </a:rPr>
              <a:t>•  Type</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web.mycompany.private</a:t>
            </a:r>
          </a:p>
          <a:p>
            <a:pPr>
              <a:spcAft>
                <a:spcPts val="1000"/>
              </a:spcAft>
            </a:pPr>
            <a:r>
              <a:rPr sz="1800" b="0">
                <a:solidFill>
                  <a:srgbClr val="161B26"/>
                </a:solidFill>
                <a:latin typeface="Arial"/>
              </a:rPr>
              <a:t>•  A</a:t>
            </a:r>
          </a:p>
          <a:p>
            <a:pPr>
              <a:spcAft>
                <a:spcPts val="1000"/>
              </a:spcAft>
            </a:pPr>
            <a:r>
              <a:rPr sz="1800" b="0">
                <a:solidFill>
                  <a:srgbClr val="161B26"/>
                </a:solidFill>
                <a:latin typeface="Arial"/>
              </a:rPr>
              <a:t>•  10.0.0.10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845</a:t>
            </a:r>
          </a:p>
        </p:txBody>
      </p:sp>
    </p:spTree>
  </p:cSld>
  <p:clrMapOvr>
    <a:masterClrMapping/>
  </p:clrMapOvr>
</p:sld>
</file>

<file path=ppt/slides/slide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Security Groups &amp; NACLs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Inbound Rules</a:t>
            </a:r>
          </a:p>
          <a:p>
            <a:pPr>
              <a:spcAft>
                <a:spcPts val="1000"/>
              </a:spcAft>
            </a:pPr>
            <a:r>
              <a:rPr sz="1800" b="0">
                <a:solidFill>
                  <a:srgbClr val="161B26"/>
                </a:solidFill>
                <a:latin typeface="Arial"/>
              </a:rPr>
              <a:t>•  SG Inbound Rules</a:t>
            </a:r>
          </a:p>
          <a:p>
            <a:pPr>
              <a:spcAft>
                <a:spcPts val="1000"/>
              </a:spcAft>
            </a:pPr>
            <a:r>
              <a:rPr sz="1800" b="0">
                <a:solidFill>
                  <a:srgbClr val="161B26"/>
                </a:solidFill>
                <a:latin typeface="Arial"/>
              </a:rPr>
              <a:t>•  Outbound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Outbound Rules (Stateless)</a:t>
            </a:r>
          </a:p>
          <a:p>
            <a:pPr>
              <a:spcAft>
                <a:spcPts val="1000"/>
              </a:spcAft>
            </a:pPr>
            <a:r>
              <a:rPr sz="1800" b="0">
                <a:solidFill>
                  <a:srgbClr val="161B26"/>
                </a:solidFill>
                <a:latin typeface="Arial"/>
              </a:rPr>
              <a:t>•  Incoming Request</a:t>
            </a:r>
          </a:p>
          <a:p>
            <a:pPr>
              <a:spcAft>
                <a:spcPts val="1000"/>
              </a:spcAft>
            </a:pPr>
            <a:r>
              <a:rPr sz="1800" b="0">
                <a:solidFill>
                  <a:srgbClr val="161B26"/>
                </a:solidFill>
                <a:latin typeface="Arial"/>
              </a:rPr>
              <a:t>•  Subnet</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Outbound Rules</a:t>
            </a:r>
          </a:p>
          <a:p>
            <a:pPr>
              <a:spcAft>
                <a:spcPts val="1000"/>
              </a:spcAft>
            </a:pPr>
            <a:r>
              <a:rPr sz="1800" b="0">
                <a:solidFill>
                  <a:srgbClr val="161B26"/>
                </a:solidFill>
                <a:latin typeface="Arial"/>
              </a:rPr>
              <a:t>•  SG Outbound Rules</a:t>
            </a:r>
          </a:p>
          <a:p>
            <a:pPr>
              <a:spcAft>
                <a:spcPts val="1000"/>
              </a:spcAft>
            </a:pPr>
            <a:r>
              <a:rPr sz="1800" b="0">
                <a:solidFill>
                  <a:srgbClr val="161B26"/>
                </a:solidFill>
                <a:latin typeface="Arial"/>
              </a:rPr>
              <a:t>•  Inbound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Inbound Rules (Stateless)</a:t>
            </a:r>
          </a:p>
          <a:p>
            <a:pPr>
              <a:spcAft>
                <a:spcPts val="1000"/>
              </a:spcAft>
            </a:pPr>
            <a:r>
              <a:rPr sz="1800" b="0">
                <a:solidFill>
                  <a:srgbClr val="161B26"/>
                </a:solidFill>
                <a:latin typeface="Arial"/>
              </a:rPr>
              <a:t>•  Outgoing Request</a:t>
            </a:r>
          </a:p>
          <a:p>
            <a:pPr>
              <a:spcAft>
                <a:spcPts val="1000"/>
              </a:spcAft>
            </a:pPr>
            <a:r>
              <a:rPr sz="1800" b="0">
                <a:solidFill>
                  <a:srgbClr val="161B26"/>
                </a:solidFill>
                <a:latin typeface="Arial"/>
              </a:rPr>
              <a:t>•  1</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3</a:t>
            </a:r>
          </a:p>
          <a:p>
            <a:pPr>
              <a:spcAft>
                <a:spcPts val="1000"/>
              </a:spcAft>
            </a:pPr>
            <a:r>
              <a:rPr sz="1800" b="0">
                <a:solidFill>
                  <a:srgbClr val="161B26"/>
                </a:solidFill>
                <a:latin typeface="Arial"/>
              </a:rPr>
              <a:t>•  1</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846</a:t>
            </a:r>
          </a:p>
        </p:txBody>
      </p:sp>
    </p:spTree>
  </p:cSld>
  <p:clrMapOvr>
    <a:masterClrMapping/>
  </p:clrMapOvr>
</p:sld>
</file>

<file path=ppt/slides/slide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Access Control List (NACL)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NACL are like a firewall which control traffic from and to Subnets to 1 NACL per subnet new subnets are assigned the Default NACL</a:t>
            </a:r>
          </a:p>
          <a:p>
            <a:pPr>
              <a:spcAft>
                <a:spcPts val="1000"/>
              </a:spcAft>
            </a:pPr>
            <a:r>
              <a:rPr sz="1800" b="0">
                <a:solidFill>
                  <a:srgbClr val="161B26"/>
                </a:solidFill>
                <a:latin typeface="Arial"/>
              </a:rPr>
              <a:t>•  You define NACL rules:</a:t>
            </a:r>
          </a:p>
          <a:p>
            <a:pPr>
              <a:spcAft>
                <a:spcPts val="1000"/>
              </a:spcAft>
            </a:pPr>
            <a:r>
              <a:rPr sz="1800" b="0">
                <a:solidFill>
                  <a:srgbClr val="161B26"/>
                </a:solidFill>
                <a:latin typeface="Arial"/>
              </a:rPr>
              <a:t>•  Rules have a number (1-32766), higher precedence with a lower number</a:t>
            </a:r>
          </a:p>
          <a:p>
            <a:pPr>
              <a:spcAft>
                <a:spcPts val="1000"/>
              </a:spcAft>
            </a:pPr>
            <a:r>
              <a:rPr sz="1800" b="0">
                <a:solidFill>
                  <a:srgbClr val="161B26"/>
                </a:solidFill>
                <a:latin typeface="Arial"/>
              </a:rPr>
              <a:t>•  First rule match will drive the decision</a:t>
            </a:r>
          </a:p>
          <a:p>
            <a:pPr>
              <a:spcAft>
                <a:spcPts val="1000"/>
              </a:spcAft>
            </a:pPr>
            <a:r>
              <a:rPr sz="1800" b="0">
                <a:solidFill>
                  <a:srgbClr val="161B26"/>
                </a:solidFill>
                <a:latin typeface="Arial"/>
              </a:rPr>
              <a:t>•  Example: if you define #100 ALLOW 10.0.0.10/32 and #200 DENY 10.0.0.10/32, the IP address will be allowed because 100 has a higher precedence over 200</a:t>
            </a:r>
          </a:p>
          <a:p>
            <a:pPr>
              <a:spcAft>
                <a:spcPts val="1000"/>
              </a:spcAft>
            </a:pPr>
            <a:r>
              <a:rPr sz="1800" b="0">
                <a:solidFill>
                  <a:srgbClr val="161B26"/>
                </a:solidFill>
                <a:latin typeface="Arial"/>
              </a:rPr>
              <a:t>•  The last rule is an asterisk (*) and denies a request in case of no rule match</a:t>
            </a:r>
          </a:p>
          <a:p>
            <a:pPr>
              <a:spcAft>
                <a:spcPts val="1000"/>
              </a:spcAft>
            </a:pPr>
            <a:r>
              <a:rPr sz="1800" b="0">
                <a:solidFill>
                  <a:srgbClr val="161B26"/>
                </a:solidFill>
                <a:latin typeface="Arial"/>
              </a:rPr>
              <a:t>•  AWS recommends adding rules by increment of 100</a:t>
            </a:r>
          </a:p>
          <a:p>
            <a:pPr>
              <a:spcAft>
                <a:spcPts val="1000"/>
              </a:spcAft>
            </a:pPr>
            <a:r>
              <a:rPr sz="1800" b="0">
                <a:solidFill>
                  <a:srgbClr val="161B26"/>
                </a:solidFill>
                <a:latin typeface="Arial"/>
              </a:rPr>
              <a:t>•  Newly created NACLs will deny everything</a:t>
            </a:r>
          </a:p>
          <a:p>
            <a:pPr>
              <a:spcAft>
                <a:spcPts val="1000"/>
              </a:spcAft>
            </a:pPr>
            <a:r>
              <a:rPr sz="1800" b="0">
                <a:solidFill>
                  <a:srgbClr val="161B26"/>
                </a:solidFill>
                <a:latin typeface="Arial"/>
              </a:rPr>
              <a:t>•  NACL are a great way of blocking a specific IP address at the subnet level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847</a:t>
            </a:r>
          </a:p>
        </p:txBody>
      </p:sp>
    </p:spTree>
  </p:cSld>
  <p:clrMapOvr>
    <a:masterClrMapping/>
  </p:clrMapOvr>
</p:sld>
</file>

<file path=ppt/slides/slide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NACLs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848</a:t>
            </a:r>
          </a:p>
        </p:txBody>
      </p:sp>
    </p:spTree>
  </p:cSld>
  <p:clrMapOvr>
    <a:masterClrMapping/>
  </p:clrMapOvr>
</p:sld>
</file>

<file path=ppt/slides/slide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Default NACL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Accepts everything inbound/outbound with the subnets it’s associated with</a:t>
            </a:r>
          </a:p>
          <a:p>
            <a:pPr>
              <a:spcAft>
                <a:spcPts val="1000"/>
              </a:spcAft>
            </a:pPr>
            <a:r>
              <a:rPr sz="2000" b="0">
                <a:solidFill>
                  <a:srgbClr val="161B26"/>
                </a:solidFill>
                <a:latin typeface="Arial"/>
              </a:rPr>
              <a:t>•  Do NOT modify the Default NACL, instead create custom NACLs</a:t>
            </a:r>
          </a:p>
          <a:p>
            <a:pPr>
              <a:spcAft>
                <a:spcPts val="1000"/>
              </a:spcAft>
            </a:pPr>
            <a:r>
              <a:rPr sz="2000" b="0">
                <a:solidFill>
                  <a:srgbClr val="161B26"/>
                </a:solidFill>
                <a:latin typeface="Arial"/>
              </a:rPr>
              <a:t>•  Default NACL for a VPC that supports IPv4</a:t>
            </a:r>
          </a:p>
          <a:p>
            <a:pPr>
              <a:spcAft>
                <a:spcPts val="1000"/>
              </a:spcAft>
            </a:pPr>
            <a:r>
              <a:rPr sz="2000" b="0">
                <a:solidFill>
                  <a:srgbClr val="161B26"/>
                </a:solidFill>
                <a:latin typeface="Arial"/>
              </a:rPr>
              <a:t>•  Inbound Rules</a:t>
            </a:r>
          </a:p>
          <a:p>
            <a:pPr>
              <a:spcAft>
                <a:spcPts val="1000"/>
              </a:spcAft>
            </a:pPr>
            <a:r>
              <a:rPr sz="2000" b="0">
                <a:solidFill>
                  <a:srgbClr val="161B26"/>
                </a:solidFill>
                <a:latin typeface="Arial"/>
              </a:rPr>
              <a:t>•  Outbound Rules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849</a:t>
            </a:r>
          </a:p>
        </p:txBody>
      </p:sp>
    </p:spTree>
  </p:cSld>
  <p:clrMapOvr>
    <a:masterClrMapping/>
  </p:clrMapOvr>
</p:sld>
</file>

<file path=ppt/slides/slide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NACL and Security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36603" y="1801368"/>
            <a:ext cx="888831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51_0.png"/>
          <p:cNvPicPr>
            <a:picLocks noChangeAspect="1"/>
          </p:cNvPicPr>
          <p:nvPr/>
        </p:nvPicPr>
        <p:blipFill>
          <a:blip r:embed="rId2"/>
          <a:stretch>
            <a:fillRect/>
          </a:stretch>
        </p:blipFill>
        <p:spPr>
          <a:xfrm>
            <a:off x="1664035" y="1828800"/>
            <a:ext cx="883344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Install HTTPD on Bastion Host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850</a:t>
            </a:r>
          </a:p>
        </p:txBody>
      </p:sp>
    </p:spTree>
  </p:cSld>
  <p:clrMapOvr>
    <a:masterClrMapping/>
  </p:clrMapOvr>
</p:sld>
</file>

<file path=ppt/slides/slide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Ephemeral 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any two endpoints to establish a connection, they must use ports</a:t>
            </a:r>
          </a:p>
          <a:p>
            <a:pPr>
              <a:spcAft>
                <a:spcPts val="1000"/>
              </a:spcAft>
            </a:pPr>
            <a:r>
              <a:rPr sz="1800" b="0">
                <a:solidFill>
                  <a:srgbClr val="161B26"/>
                </a:solidFill>
                <a:latin typeface="Arial"/>
              </a:rPr>
              <a:t>•  Clients connect to a defined port, and expect a response on an ephemeral port</a:t>
            </a:r>
          </a:p>
          <a:p>
            <a:pPr>
              <a:spcAft>
                <a:spcPts val="1000"/>
              </a:spcAft>
            </a:pPr>
            <a:r>
              <a:rPr sz="1800" b="0">
                <a:solidFill>
                  <a:srgbClr val="161B26"/>
                </a:solidFill>
                <a:latin typeface="Arial"/>
              </a:rPr>
              <a:t>•  Different Operating Systems use different port ranges, examples:</a:t>
            </a:r>
          </a:p>
          <a:p>
            <a:pPr>
              <a:spcAft>
                <a:spcPts val="1000"/>
              </a:spcAft>
            </a:pPr>
            <a:r>
              <a:rPr sz="1800" b="0">
                <a:solidFill>
                  <a:srgbClr val="161B26"/>
                </a:solidFill>
                <a:latin typeface="Arial"/>
              </a:rPr>
              <a:t>•  IANA &amp; MS Windows 10 ➔ 49152 – 65535</a:t>
            </a:r>
          </a:p>
          <a:p>
            <a:pPr>
              <a:spcAft>
                <a:spcPts val="1000"/>
              </a:spcAft>
            </a:pPr>
            <a:r>
              <a:rPr sz="1800" b="0">
                <a:solidFill>
                  <a:srgbClr val="161B26"/>
                </a:solidFill>
                <a:latin typeface="Arial"/>
              </a:rPr>
              <a:t>•  Many Linux Kernels ➔ 32768 – 60999</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IP: 55.66.77.88</a:t>
            </a:r>
          </a:p>
          <a:p>
            <a:pPr>
              <a:spcAft>
                <a:spcPts val="1000"/>
              </a:spcAft>
            </a:pPr>
            <a:r>
              <a:rPr sz="1800" b="0">
                <a:solidFill>
                  <a:srgbClr val="161B26"/>
                </a:solidFill>
                <a:latin typeface="Arial"/>
              </a:rPr>
              <a:t>•  Fixed Port: 443</a:t>
            </a:r>
          </a:p>
          <a:p>
            <a:pPr>
              <a:spcAft>
                <a:spcPts val="1000"/>
              </a:spcAft>
            </a:pPr>
            <a:r>
              <a:rPr sz="1800" b="0">
                <a:solidFill>
                  <a:srgbClr val="161B26"/>
                </a:solidFill>
                <a:latin typeface="Arial"/>
              </a:rPr>
              <a:t>•  Dest. Port</a:t>
            </a:r>
          </a:p>
          <a:p>
            <a:pPr>
              <a:spcAft>
                <a:spcPts val="1000"/>
              </a:spcAft>
            </a:pPr>
            <a:r>
              <a:rPr sz="1800" b="0">
                <a:solidFill>
                  <a:srgbClr val="161B26"/>
                </a:solidFill>
                <a:latin typeface="Arial"/>
              </a:rPr>
              <a:t>•  443</a:t>
            </a:r>
          </a:p>
          <a:p>
            <a:pPr>
              <a:spcAft>
                <a:spcPts val="1000"/>
              </a:spcAft>
            </a:pPr>
            <a:r>
              <a:rPr sz="1800" b="0">
                <a:solidFill>
                  <a:srgbClr val="161B26"/>
                </a:solidFill>
                <a:latin typeface="Arial"/>
              </a:rPr>
              <a:t>•  Src. IP</a:t>
            </a:r>
          </a:p>
          <a:p>
            <a:pPr>
              <a:spcAft>
                <a:spcPts val="1000"/>
              </a:spcAft>
            </a:pPr>
            <a:r>
              <a:rPr sz="1800" b="0">
                <a:solidFill>
                  <a:srgbClr val="161B26"/>
                </a:solidFill>
                <a:latin typeface="Arial"/>
              </a:rPr>
              <a:t>•  11.22.33.44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IP: 11.22.33.44</a:t>
            </a:r>
          </a:p>
          <a:p>
            <a:pPr>
              <a:spcAft>
                <a:spcPts val="1000"/>
              </a:spcAft>
            </a:pPr>
            <a:r>
              <a:rPr sz="1800" b="0">
                <a:solidFill>
                  <a:srgbClr val="161B26"/>
                </a:solidFill>
                <a:latin typeface="Arial"/>
              </a:rPr>
              <a:t>•  Ephemeral Port: 50105</a:t>
            </a:r>
          </a:p>
          <a:p>
            <a:pPr>
              <a:spcAft>
                <a:spcPts val="1000"/>
              </a:spcAft>
            </a:pPr>
            <a:r>
              <a:rPr sz="1800" b="0">
                <a:solidFill>
                  <a:srgbClr val="161B26"/>
                </a:solidFill>
                <a:latin typeface="Arial"/>
              </a:rPr>
              <a:t>•  Src. Port</a:t>
            </a:r>
          </a:p>
          <a:p>
            <a:pPr>
              <a:spcAft>
                <a:spcPts val="1000"/>
              </a:spcAft>
            </a:pPr>
            <a:r>
              <a:rPr sz="1800" b="0">
                <a:solidFill>
                  <a:srgbClr val="161B26"/>
                </a:solidFill>
                <a:latin typeface="Arial"/>
              </a:rPr>
              <a:t>•  50105</a:t>
            </a:r>
          </a:p>
          <a:p>
            <a:pPr>
              <a:spcAft>
                <a:spcPts val="1000"/>
              </a:spcAft>
            </a:pPr>
            <a:r>
              <a:rPr sz="1800" b="0">
                <a:solidFill>
                  <a:srgbClr val="161B26"/>
                </a:solidFill>
                <a:latin typeface="Arial"/>
              </a:rPr>
              <a:t>•  Payload …</a:t>
            </a:r>
          </a:p>
          <a:p>
            <a:pPr>
              <a:spcAft>
                <a:spcPts val="1000"/>
              </a:spcAft>
            </a:pPr>
            <a:r>
              <a:rPr sz="1800" b="0">
                <a:solidFill>
                  <a:srgbClr val="161B26"/>
                </a:solidFill>
                <a:latin typeface="Arial"/>
              </a:rPr>
              <a:t>•  Src. IP</a:t>
            </a:r>
          </a:p>
          <a:p>
            <a:pPr>
              <a:spcAft>
                <a:spcPts val="1000"/>
              </a:spcAft>
            </a:pPr>
            <a:r>
              <a:rPr sz="1800" b="0">
                <a:solidFill>
                  <a:srgbClr val="161B26"/>
                </a:solidFill>
                <a:latin typeface="Arial"/>
              </a:rPr>
              <a:t>•  55.66.77.88</a:t>
            </a:r>
          </a:p>
          <a:p>
            <a:pPr>
              <a:spcAft>
                <a:spcPts val="1000"/>
              </a:spcAft>
            </a:pPr>
            <a:r>
              <a:rPr sz="1800" b="0">
                <a:solidFill>
                  <a:srgbClr val="161B26"/>
                </a:solidFill>
                <a:latin typeface="Arial"/>
              </a:rPr>
              <a:t>•  Src. Port</a:t>
            </a:r>
          </a:p>
          <a:p>
            <a:pPr>
              <a:spcAft>
                <a:spcPts val="1000"/>
              </a:spcAft>
            </a:pPr>
            <a:r>
              <a:rPr sz="1800" b="0">
                <a:solidFill>
                  <a:srgbClr val="161B26"/>
                </a:solidFill>
                <a:latin typeface="Arial"/>
              </a:rPr>
              <a:t>•  443</a:t>
            </a:r>
          </a:p>
          <a:p>
            <a:pPr>
              <a:spcAft>
                <a:spcPts val="1000"/>
              </a:spcAft>
            </a:pPr>
            <a:r>
              <a:rPr sz="1800" b="0">
                <a:solidFill>
                  <a:srgbClr val="161B26"/>
                </a:solidFill>
                <a:latin typeface="Arial"/>
              </a:rPr>
              <a:t>•  Dest. IP</a:t>
            </a:r>
          </a:p>
          <a:p>
            <a:pPr>
              <a:spcAft>
                <a:spcPts val="1000"/>
              </a:spcAft>
            </a:pPr>
            <a:r>
              <a:rPr sz="1800" b="0">
                <a:solidFill>
                  <a:srgbClr val="161B26"/>
                </a:solidFill>
                <a:latin typeface="Arial"/>
              </a:rPr>
              <a:t>•  11.22.33.44</a:t>
            </a:r>
          </a:p>
          <a:p>
            <a:pPr>
              <a:spcAft>
                <a:spcPts val="1000"/>
              </a:spcAft>
            </a:pPr>
            <a:r>
              <a:rPr sz="1800" b="0">
                <a:solidFill>
                  <a:srgbClr val="161B26"/>
                </a:solidFill>
                <a:latin typeface="Arial"/>
              </a:rPr>
              <a:t>•  Dest. Port</a:t>
            </a:r>
          </a:p>
          <a:p>
            <a:pPr>
              <a:spcAft>
                <a:spcPts val="1000"/>
              </a:spcAft>
            </a:pPr>
            <a:r>
              <a:rPr sz="1800" b="0">
                <a:solidFill>
                  <a:srgbClr val="161B26"/>
                </a:solidFill>
                <a:latin typeface="Arial"/>
              </a:rPr>
              <a:t>•  50105</a:t>
            </a:r>
          </a:p>
          <a:p>
            <a:pPr>
              <a:spcAft>
                <a:spcPts val="1000"/>
              </a:spcAft>
            </a:pPr>
            <a:r>
              <a:rPr sz="1800" b="0">
                <a:solidFill>
                  <a:srgbClr val="161B26"/>
                </a:solidFill>
                <a:latin typeface="Arial"/>
              </a:rPr>
              <a:t>•  Response</a:t>
            </a:r>
          </a:p>
          <a:p>
            <a:pPr>
              <a:spcAft>
                <a:spcPts val="1000"/>
              </a:spcAft>
            </a:pPr>
            <a:r>
              <a:rPr sz="1800" b="0">
                <a:solidFill>
                  <a:srgbClr val="161B26"/>
                </a:solidFill>
                <a:latin typeface="Arial"/>
              </a:rPr>
              <a:t>•  Payload …</a:t>
            </a:r>
          </a:p>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Dest. IP</a:t>
            </a:r>
          </a:p>
          <a:p>
            <a:pPr>
              <a:spcAft>
                <a:spcPts val="1000"/>
              </a:spcAft>
            </a:pPr>
            <a:r>
              <a:rPr sz="1800" b="0">
                <a:solidFill>
                  <a:srgbClr val="161B26"/>
                </a:solidFill>
                <a:latin typeface="Arial"/>
              </a:rPr>
              <a:t>•  55.66.77.88</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851</a:t>
            </a:r>
          </a:p>
        </p:txBody>
      </p:sp>
    </p:spTree>
  </p:cSld>
  <p:clrMapOvr>
    <a:masterClrMapping/>
  </p:clrMapOvr>
</p:sld>
</file>

<file path=ppt/slides/slide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NACL with Ephemeral	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a:t>
            </a:r>
          </a:p>
          <a:p>
            <a:pPr>
              <a:spcAft>
                <a:spcPts val="1000"/>
              </a:spcAft>
            </a:pPr>
            <a:r>
              <a:rPr sz="1800" b="0">
                <a:solidFill>
                  <a:srgbClr val="161B26"/>
                </a:solidFill>
                <a:latin typeface="Arial"/>
              </a:rPr>
              <a:t>•  Web Tier</a:t>
            </a:r>
          </a:p>
          <a:p>
            <a:pPr>
              <a:spcAft>
                <a:spcPts val="1000"/>
              </a:spcAft>
            </a:pPr>
            <a:r>
              <a:rPr sz="1800" b="0">
                <a:solidFill>
                  <a:srgbClr val="161B26"/>
                </a:solidFill>
                <a:latin typeface="Arial"/>
              </a:rPr>
              <a:t>•  Web Subnet (Public)</a:t>
            </a:r>
          </a:p>
          <a:p>
            <a:pPr>
              <a:spcAft>
                <a:spcPts val="1000"/>
              </a:spcAft>
            </a:pPr>
            <a:r>
              <a:rPr sz="1800" b="0">
                <a:solidFill>
                  <a:srgbClr val="161B26"/>
                </a:solidFill>
                <a:latin typeface="Arial"/>
              </a:rPr>
              <a:t>•  Database Tier</a:t>
            </a:r>
          </a:p>
          <a:p>
            <a:pPr>
              <a:spcAft>
                <a:spcPts val="1000"/>
              </a:spcAft>
            </a:pPr>
            <a:r>
              <a:rPr sz="1800" b="0">
                <a:solidFill>
                  <a:srgbClr val="161B26"/>
                </a:solidFill>
                <a:latin typeface="Arial"/>
              </a:rPr>
              <a:t>•  DB Subnet (Private)</a:t>
            </a:r>
          </a:p>
          <a:p>
            <a:pPr>
              <a:spcAft>
                <a:spcPts val="1000"/>
              </a:spcAft>
            </a:pPr>
            <a:r>
              <a:rPr sz="1800" b="0">
                <a:solidFill>
                  <a:srgbClr val="161B26"/>
                </a:solidFill>
                <a:latin typeface="Arial"/>
              </a:rPr>
              <a:t>•  DB Instance Port 3306</a:t>
            </a:r>
          </a:p>
          <a:p>
            <a:pPr>
              <a:spcAft>
                <a:spcPts val="1000"/>
              </a:spcAft>
            </a:pPr>
            <a:r>
              <a:rPr sz="1800" b="0">
                <a:solidFill>
                  <a:srgbClr val="161B26"/>
                </a:solidFill>
                <a:latin typeface="Arial"/>
              </a:rPr>
              <a:t>•  Web-NACL</a:t>
            </a:r>
          </a:p>
          <a:p>
            <a:pPr>
              <a:spcAft>
                <a:spcPts val="1000"/>
              </a:spcAft>
            </a:pPr>
            <a:r>
              <a:rPr sz="1800" b="0">
                <a:solidFill>
                  <a:srgbClr val="161B26"/>
                </a:solidFill>
                <a:latin typeface="Arial"/>
              </a:rPr>
              <a:t>•  DB-NACL</a:t>
            </a:r>
          </a:p>
          <a:p>
            <a:pPr>
              <a:spcAft>
                <a:spcPts val="1000"/>
              </a:spcAft>
            </a:pPr>
            <a:r>
              <a:rPr sz="1800" b="0">
                <a:solidFill>
                  <a:srgbClr val="161B26"/>
                </a:solidFill>
                <a:latin typeface="Arial"/>
              </a:rPr>
              <a:t>•  Allow Outbound TCP</a:t>
            </a:r>
          </a:p>
          <a:p>
            <a:pPr>
              <a:spcAft>
                <a:spcPts val="1000"/>
              </a:spcAft>
            </a:pPr>
            <a:r>
              <a:rPr sz="1800" b="0">
                <a:solidFill>
                  <a:srgbClr val="161B26"/>
                </a:solidFill>
                <a:latin typeface="Arial"/>
              </a:rPr>
              <a:t>•  On port 3306</a:t>
            </a:r>
          </a:p>
          <a:p>
            <a:pPr>
              <a:spcAft>
                <a:spcPts val="1000"/>
              </a:spcAft>
            </a:pPr>
            <a:r>
              <a:rPr sz="1800" b="0">
                <a:solidFill>
                  <a:srgbClr val="161B26"/>
                </a:solidFill>
                <a:latin typeface="Arial"/>
              </a:rPr>
              <a:t>•  To DB Subnet CIDR</a:t>
            </a:r>
          </a:p>
          <a:p>
            <a:pPr>
              <a:spcAft>
                <a:spcPts val="1000"/>
              </a:spcAft>
            </a:pPr>
            <a:r>
              <a:rPr sz="1800" b="0">
                <a:solidFill>
                  <a:srgbClr val="161B26"/>
                </a:solidFill>
                <a:latin typeface="Arial"/>
              </a:rPr>
              <a:t>•  Allow Inbound TCP</a:t>
            </a:r>
          </a:p>
          <a:p>
            <a:pPr>
              <a:spcAft>
                <a:spcPts val="1000"/>
              </a:spcAft>
            </a:pPr>
            <a:r>
              <a:rPr sz="1800" b="0">
                <a:solidFill>
                  <a:srgbClr val="161B26"/>
                </a:solidFill>
                <a:latin typeface="Arial"/>
              </a:rPr>
              <a:t>•  On port 3306</a:t>
            </a:r>
          </a:p>
          <a:p>
            <a:pPr>
              <a:spcAft>
                <a:spcPts val="1000"/>
              </a:spcAft>
            </a:pPr>
            <a:r>
              <a:rPr sz="1800" b="0">
                <a:solidFill>
                  <a:srgbClr val="161B26"/>
                </a:solidFill>
                <a:latin typeface="Arial"/>
              </a:rPr>
              <a:t>•  From Web Subnet CIDR</a:t>
            </a:r>
          </a:p>
          <a:p>
            <a:pPr>
              <a:spcAft>
                <a:spcPts val="1000"/>
              </a:spcAft>
            </a:pPr>
            <a:r>
              <a:rPr sz="1800" b="0">
                <a:solidFill>
                  <a:srgbClr val="161B26"/>
                </a:solidFill>
                <a:latin typeface="Arial"/>
              </a:rPr>
              <a:t>•  Allow Inbound TCP On port 1024-65535 From DB Subnet CIDR</a:t>
            </a:r>
          </a:p>
          <a:p>
            <a:pPr>
              <a:spcAft>
                <a:spcPts val="1000"/>
              </a:spcAft>
            </a:pPr>
            <a:r>
              <a:rPr sz="1800" b="0">
                <a:solidFill>
                  <a:srgbClr val="161B26"/>
                </a:solidFill>
                <a:latin typeface="Arial"/>
              </a:rPr>
              <a:t>•  Allow Outbound TCP On port 1024-65535 To Web Subnet CIDR</a:t>
            </a:r>
          </a:p>
          <a:p>
            <a:pPr>
              <a:spcAft>
                <a:spcPts val="1000"/>
              </a:spcAft>
            </a:pPr>
            <a:r>
              <a:rPr sz="1800" b="0">
                <a:solidFill>
                  <a:srgbClr val="161B26"/>
                </a:solidFill>
                <a:latin typeface="Arial"/>
              </a:rPr>
              <a:t>•  https://docs.aws.amazon.com/vpc/latest/userguide/vpc-network-acls.html#nacl-ephemeral-ports</a:t>
            </a:r>
          </a:p>
          <a:p>
            <a:pPr>
              <a:spcAft>
                <a:spcPts val="1000"/>
              </a:spcAft>
            </a:pPr>
            <a:r>
              <a:rPr sz="1800" b="0">
                <a:solidFill>
                  <a:srgbClr val="161B26"/>
                </a:solidFill>
                <a:latin typeface="Arial"/>
              </a:rPr>
              <a:t>•  Client Ephemeral 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852</a:t>
            </a:r>
          </a:p>
        </p:txBody>
      </p:sp>
    </p:spTree>
  </p:cSld>
  <p:clrMapOvr>
    <a:masterClrMapping/>
  </p:clrMapOvr>
</p:sld>
</file>

<file path=ppt/slides/slide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Create NACL rules for each target subnets CIDR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Subnet - B (Public)</a:t>
            </a:r>
          </a:p>
          <a:p>
            <a:pPr>
              <a:spcAft>
                <a:spcPts val="1000"/>
              </a:spcAft>
            </a:pPr>
            <a:r>
              <a:rPr sz="1800" b="0">
                <a:solidFill>
                  <a:srgbClr val="161B26"/>
                </a:solidFill>
                <a:latin typeface="Arial"/>
              </a:rPr>
              <a:t>•  DB Subnet – B (Private)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Web Tier</a:t>
            </a:r>
          </a:p>
          <a:p>
            <a:pPr>
              <a:spcAft>
                <a:spcPts val="1000"/>
              </a:spcAft>
            </a:pPr>
            <a:r>
              <a:rPr sz="1800" b="0">
                <a:solidFill>
                  <a:srgbClr val="161B26"/>
                </a:solidFill>
                <a:latin typeface="Arial"/>
              </a:rPr>
              <a:t>•  Web Subnet - A (Public)</a:t>
            </a:r>
          </a:p>
          <a:p>
            <a:pPr>
              <a:spcAft>
                <a:spcPts val="1000"/>
              </a:spcAft>
            </a:pPr>
            <a:r>
              <a:rPr sz="1800" b="0">
                <a:solidFill>
                  <a:srgbClr val="161B26"/>
                </a:solidFill>
                <a:latin typeface="Arial"/>
              </a:rPr>
              <a:t>•  Database Tier</a:t>
            </a:r>
          </a:p>
          <a:p>
            <a:pPr>
              <a:spcAft>
                <a:spcPts val="1000"/>
              </a:spcAft>
            </a:pPr>
            <a:r>
              <a:rPr sz="1800" b="0">
                <a:solidFill>
                  <a:srgbClr val="161B26"/>
                </a:solidFill>
                <a:latin typeface="Arial"/>
              </a:rPr>
              <a:t>•  DB Subnet – A (Private)</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Web-NACL</a:t>
            </a:r>
          </a:p>
          <a:p>
            <a:pPr>
              <a:spcAft>
                <a:spcPts val="1000"/>
              </a:spcAft>
            </a:pPr>
            <a:r>
              <a:rPr sz="1800" b="0">
                <a:solidFill>
                  <a:srgbClr val="161B26"/>
                </a:solidFill>
                <a:latin typeface="Arial"/>
              </a:rPr>
              <a:t>•  DB-NACL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853</a:t>
            </a:r>
          </a:p>
        </p:txBody>
      </p:sp>
    </p:spTree>
  </p:cSld>
  <p:clrMapOvr>
    <a:masterClrMapping/>
  </p:clrMapOvr>
</p:sld>
</file>

<file path=ppt/slides/slide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 vs NACLs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NACL Examples: https://docs.aws.amazon.com/vpc/latest/userguide/vpc-network-acls.html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854</a:t>
            </a:r>
          </a:p>
        </p:txBody>
      </p:sp>
    </p:spTree>
  </p:cSld>
  <p:clrMapOvr>
    <a:masterClrMapping/>
  </p:clrMapOvr>
</p:sld>
</file>

<file path=ppt/slides/slide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NACL and Security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44006" y="1801368"/>
            <a:ext cx="967350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51_0.png"/>
          <p:cNvPicPr>
            <a:picLocks noChangeAspect="1"/>
          </p:cNvPicPr>
          <p:nvPr/>
        </p:nvPicPr>
        <p:blipFill>
          <a:blip r:embed="rId2"/>
          <a:stretch>
            <a:fillRect/>
          </a:stretch>
        </p:blipFill>
        <p:spPr>
          <a:xfrm>
            <a:off x="1271438" y="1828800"/>
            <a:ext cx="961864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855</a:t>
            </a:r>
          </a:p>
        </p:txBody>
      </p:sp>
    </p:spTree>
  </p:cSld>
  <p:clrMapOvr>
    <a:masterClrMapping/>
  </p:clrMapOvr>
</p:sld>
</file>

<file path=ppt/slides/slide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 Reachability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network diagnostics tool that troubleshoots</a:t>
            </a:r>
          </a:p>
          <a:p>
            <a:pPr>
              <a:spcAft>
                <a:spcPts val="1000"/>
              </a:spcAft>
            </a:pPr>
            <a:r>
              <a:rPr sz="1800" b="0">
                <a:solidFill>
                  <a:srgbClr val="161B26"/>
                </a:solidFill>
                <a:latin typeface="Arial"/>
              </a:rPr>
              <a:t>•  network connectivity between two endpoints in your VPC(s)</a:t>
            </a:r>
          </a:p>
          <a:p>
            <a:pPr>
              <a:spcAft>
                <a:spcPts val="1000"/>
              </a:spcAft>
            </a:pPr>
            <a:r>
              <a:rPr sz="1800" b="0">
                <a:solidFill>
                  <a:srgbClr val="161B26"/>
                </a:solidFill>
                <a:latin typeface="Arial"/>
              </a:rPr>
              <a:t>•  It builds a model of the network configuration,</a:t>
            </a:r>
          </a:p>
          <a:p>
            <a:pPr>
              <a:spcAft>
                <a:spcPts val="1000"/>
              </a:spcAft>
            </a:pPr>
            <a:r>
              <a:rPr sz="1800" b="0">
                <a:solidFill>
                  <a:srgbClr val="161B26"/>
                </a:solidFill>
                <a:latin typeface="Arial"/>
              </a:rPr>
              <a:t>•  then checks the reachability based on these configurations (it doesn't send packets) When the destination is</a:t>
            </a:r>
          </a:p>
          <a:p>
            <a:pPr>
              <a:spcAft>
                <a:spcPts val="1000"/>
              </a:spcAft>
            </a:pPr>
            <a:r>
              <a:rPr sz="1800" b="0">
                <a:solidFill>
                  <a:srgbClr val="161B26"/>
                </a:solidFill>
                <a:latin typeface="Arial"/>
              </a:rPr>
              <a:t>•  Reachable - it produces hop-by-hop details of the virtual network path</a:t>
            </a:r>
          </a:p>
          <a:p>
            <a:pPr>
              <a:spcAft>
                <a:spcPts val="1000"/>
              </a:spcAft>
            </a:pPr>
            <a:r>
              <a:rPr sz="1800" b="0">
                <a:solidFill>
                  <a:srgbClr val="161B26"/>
                </a:solidFill>
                <a:latin typeface="Arial"/>
              </a:rPr>
              <a:t>•  Not Reachable - it identifies the blocking</a:t>
            </a:r>
          </a:p>
          <a:p>
            <a:pPr>
              <a:spcAft>
                <a:spcPts val="1000"/>
              </a:spcAft>
            </a:pPr>
            <a:r>
              <a:rPr sz="1800" b="0">
                <a:solidFill>
                  <a:srgbClr val="161B26"/>
                </a:solidFill>
                <a:latin typeface="Arial"/>
              </a:rPr>
              <a:t>•  component(s) (e.g., configuration issues in SGs, NACLs, Route Tables, …)</a:t>
            </a:r>
          </a:p>
          <a:p>
            <a:pPr>
              <a:spcAft>
                <a:spcPts val="1000"/>
              </a:spcAft>
            </a:pPr>
            <a:r>
              <a:rPr sz="1800" b="0">
                <a:solidFill>
                  <a:srgbClr val="161B26"/>
                </a:solidFill>
                <a:latin typeface="Arial"/>
              </a:rPr>
              <a:t>•  Use cases: troubleshoot connectivity issues, ensure network configuration is as intended, …</a:t>
            </a:r>
          </a:p>
          <a:p>
            <a:pPr>
              <a:spcAft>
                <a:spcPts val="1000"/>
              </a:spcAft>
            </a:pPr>
            <a:r>
              <a:rPr sz="1800" b="0">
                <a:solidFill>
                  <a:srgbClr val="161B26"/>
                </a:solidFill>
                <a:latin typeface="Arial"/>
              </a:rPr>
              <a:t>•  Security Group - A</a:t>
            </a:r>
          </a:p>
          <a:p>
            <a:pPr>
              <a:spcAft>
                <a:spcPts val="1000"/>
              </a:spcAft>
            </a:pPr>
            <a:r>
              <a:rPr sz="1800" b="0">
                <a:solidFill>
                  <a:srgbClr val="161B26"/>
                </a:solidFill>
                <a:latin typeface="Arial"/>
              </a:rPr>
              <a:t>•  EC2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Security Group - B</a:t>
            </a:r>
          </a:p>
          <a:p>
            <a:pPr>
              <a:spcAft>
                <a:spcPts val="1000"/>
              </a:spcAft>
            </a:pPr>
            <a:r>
              <a:rPr sz="1800" b="0">
                <a:solidFill>
                  <a:srgbClr val="161B26"/>
                </a:solidFill>
                <a:latin typeface="Arial"/>
              </a:rPr>
              <a:t>•  ENI - B</a:t>
            </a:r>
          </a:p>
          <a:p>
            <a:pPr>
              <a:spcAft>
                <a:spcPts val="1000"/>
              </a:spcAft>
            </a:pPr>
            <a:r>
              <a:rPr sz="1800" b="0">
                <a:solidFill>
                  <a:srgbClr val="161B26"/>
                </a:solidFill>
                <a:latin typeface="Arial"/>
              </a:rPr>
              <a:t>•  EC2 Instance - B</a:t>
            </a:r>
          </a:p>
          <a:p>
            <a:pPr>
              <a:spcAft>
                <a:spcPts val="1000"/>
              </a:spcAft>
            </a:pPr>
            <a:r>
              <a:rPr sz="1800" b="0">
                <a:solidFill>
                  <a:srgbClr val="161B26"/>
                </a:solidFill>
                <a:latin typeface="Arial"/>
              </a:rPr>
              <a:t>•  Reachable</a:t>
            </a:r>
          </a:p>
          <a:p>
            <a:pPr>
              <a:spcAft>
                <a:spcPts val="1000"/>
              </a:spcAft>
            </a:pPr>
            <a:r>
              <a:rPr sz="1800" b="0">
                <a:solidFill>
                  <a:srgbClr val="161B26"/>
                </a:solidFill>
                <a:latin typeface="Arial"/>
              </a:rPr>
              <a:t>•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SG - A</a:t>
            </a:r>
          </a:p>
          <a:p>
            <a:pPr>
              <a:spcAft>
                <a:spcPts val="1000"/>
              </a:spcAft>
            </a:pPr>
            <a:r>
              <a:rPr sz="1800" b="0">
                <a:solidFill>
                  <a:srgbClr val="161B26"/>
                </a:solidFill>
                <a:latin typeface="Arial"/>
              </a:rPr>
              <a:t>•  SG - B</a:t>
            </a:r>
          </a:p>
          <a:p>
            <a:pPr>
              <a:spcAft>
                <a:spcPts val="1000"/>
              </a:spcAft>
            </a:pPr>
            <a:r>
              <a:rPr sz="1800" b="0">
                <a:solidFill>
                  <a:srgbClr val="161B26"/>
                </a:solidFill>
                <a:latin typeface="Arial"/>
              </a:rPr>
              <a:t>•  ENI - B</a:t>
            </a:r>
          </a:p>
          <a:p>
            <a:pPr>
              <a:spcAft>
                <a:spcPts val="1000"/>
              </a:spcAft>
            </a:pPr>
            <a:r>
              <a:rPr sz="1800" b="0">
                <a:solidFill>
                  <a:srgbClr val="161B26"/>
                </a:solidFill>
                <a:latin typeface="Arial"/>
              </a:rPr>
              <a:t>•  Instance - B</a:t>
            </a:r>
          </a:p>
          <a:p>
            <a:pPr>
              <a:spcAft>
                <a:spcPts val="1000"/>
              </a:spcAft>
            </a:pPr>
            <a:r>
              <a:rPr sz="1800" b="0">
                <a:solidFill>
                  <a:srgbClr val="161B26"/>
                </a:solidFill>
                <a:latin typeface="Arial"/>
              </a:rPr>
              <a:t>•  Security Group - A</a:t>
            </a:r>
          </a:p>
          <a:p>
            <a:pPr>
              <a:spcAft>
                <a:spcPts val="1000"/>
              </a:spcAft>
            </a:pPr>
            <a:r>
              <a:rPr sz="1800" b="0">
                <a:solidFill>
                  <a:srgbClr val="161B26"/>
                </a:solidFill>
                <a:latin typeface="Arial"/>
              </a:rPr>
              <a:t>•  EC2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Security Group - B</a:t>
            </a:r>
          </a:p>
          <a:p>
            <a:pPr>
              <a:spcAft>
                <a:spcPts val="1000"/>
              </a:spcAft>
            </a:pPr>
            <a:r>
              <a:rPr sz="1800" b="0">
                <a:solidFill>
                  <a:srgbClr val="161B26"/>
                </a:solidFill>
                <a:latin typeface="Arial"/>
              </a:rPr>
              <a:t>•  ENI - B</a:t>
            </a:r>
          </a:p>
          <a:p>
            <a:pPr>
              <a:spcAft>
                <a:spcPts val="1000"/>
              </a:spcAft>
            </a:pPr>
            <a:r>
              <a:rPr sz="1800" b="0">
                <a:solidFill>
                  <a:srgbClr val="161B26"/>
                </a:solidFill>
                <a:latin typeface="Arial"/>
              </a:rPr>
              <a:t>•  EC2 Instance - B</a:t>
            </a:r>
          </a:p>
          <a:p>
            <a:pPr>
              <a:spcAft>
                <a:spcPts val="1000"/>
              </a:spcAft>
            </a:pPr>
            <a:r>
              <a:rPr sz="1800" b="0">
                <a:solidFill>
                  <a:srgbClr val="161B26"/>
                </a:solidFill>
                <a:latin typeface="Arial"/>
              </a:rPr>
              <a:t>•  Not reachable</a:t>
            </a:r>
          </a:p>
          <a:p>
            <a:pPr>
              <a:spcAft>
                <a:spcPts val="1000"/>
              </a:spcAft>
            </a:pPr>
            <a:r>
              <a:rPr sz="1800" b="0">
                <a:solidFill>
                  <a:srgbClr val="161B26"/>
                </a:solidFill>
                <a:latin typeface="Arial"/>
              </a:rPr>
              <a:t>•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SG - A</a:t>
            </a:r>
          </a:p>
          <a:p>
            <a:pPr>
              <a:spcAft>
                <a:spcPts val="1000"/>
              </a:spcAft>
            </a:pPr>
            <a:r>
              <a:rPr sz="1800" b="0">
                <a:solidFill>
                  <a:srgbClr val="161B26"/>
                </a:solidFill>
                <a:latin typeface="Arial"/>
              </a:rPr>
              <a:t>•  SG - 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856</a:t>
            </a:r>
          </a:p>
        </p:txBody>
      </p:sp>
    </p:spTree>
  </p:cSld>
  <p:clrMapOvr>
    <a:masterClrMapping/>
  </p:clrMapOvr>
</p:sld>
</file>

<file path=ppt/slides/slide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Privately connect two VPCs using AWS’ network</a:t>
            </a:r>
          </a:p>
          <a:p>
            <a:pPr>
              <a:spcAft>
                <a:spcPts val="1000"/>
              </a:spcAft>
            </a:pPr>
            <a:r>
              <a:rPr sz="1800" b="0">
                <a:solidFill>
                  <a:srgbClr val="161B26"/>
                </a:solidFill>
                <a:latin typeface="Arial"/>
              </a:rPr>
              <a:t>•  Make them behave as if they were in the same network</a:t>
            </a:r>
          </a:p>
          <a:p>
            <a:pPr>
              <a:spcAft>
                <a:spcPts val="1000"/>
              </a:spcAft>
            </a:pPr>
            <a:r>
              <a:rPr sz="1800" b="0">
                <a:solidFill>
                  <a:srgbClr val="161B26"/>
                </a:solidFill>
                <a:latin typeface="Arial"/>
              </a:rPr>
              <a:t>•  Must not have overlapping CIDRs</a:t>
            </a:r>
          </a:p>
          <a:p>
            <a:pPr>
              <a:spcAft>
                <a:spcPts val="1000"/>
              </a:spcAft>
            </a:pPr>
            <a:r>
              <a:rPr sz="1800" b="0">
                <a:solidFill>
                  <a:srgbClr val="161B26"/>
                </a:solidFill>
                <a:latin typeface="Arial"/>
              </a:rPr>
              <a:t>•  VPC Peering connection is NOT transitive (must be established for each VPC that need to communicate with one another)</a:t>
            </a:r>
          </a:p>
          <a:p>
            <a:pPr>
              <a:spcAft>
                <a:spcPts val="1000"/>
              </a:spcAft>
            </a:pPr>
            <a:r>
              <a:rPr sz="1800" b="0">
                <a:solidFill>
                  <a:srgbClr val="161B26"/>
                </a:solidFill>
                <a:latin typeface="Arial"/>
              </a:rPr>
              <a:t>•  You must update route tables in each VPC’s subnets to ensure EC2 instances can communicate with each other</a:t>
            </a:r>
          </a:p>
          <a:p>
            <a:pPr>
              <a:spcAft>
                <a:spcPts val="1000"/>
              </a:spcAft>
            </a:pPr>
            <a:r>
              <a:rPr sz="1800" b="0">
                <a:solidFill>
                  <a:srgbClr val="161B26"/>
                </a:solidFill>
                <a:latin typeface="Arial"/>
              </a:rPr>
              <a:t>•  VPC - A</a:t>
            </a:r>
          </a:p>
          <a:p>
            <a:pPr>
              <a:spcAft>
                <a:spcPts val="1000"/>
              </a:spcAft>
            </a:pPr>
            <a:r>
              <a:rPr sz="1800" b="0">
                <a:solidFill>
                  <a:srgbClr val="161B26"/>
                </a:solidFill>
                <a:latin typeface="Arial"/>
              </a:rPr>
              <a:t>•  VPC - B</a:t>
            </a:r>
          </a:p>
          <a:p>
            <a:pPr>
              <a:spcAft>
                <a:spcPts val="1000"/>
              </a:spcAft>
            </a:pPr>
            <a:r>
              <a:rPr sz="1800" b="0">
                <a:solidFill>
                  <a:srgbClr val="161B26"/>
                </a:solidFill>
                <a:latin typeface="Arial"/>
              </a:rPr>
              <a:t>•  VPC - C</a:t>
            </a:r>
          </a:p>
          <a:p>
            <a:pPr>
              <a:spcAft>
                <a:spcPts val="1000"/>
              </a:spcAft>
            </a:pPr>
            <a:r>
              <a:rPr sz="1800" b="0">
                <a:solidFill>
                  <a:srgbClr val="161B26"/>
                </a:solidFill>
                <a:latin typeface="Arial"/>
              </a:rPr>
              <a:t>•  VPC Peering</a:t>
            </a:r>
          </a:p>
          <a:p>
            <a:pPr>
              <a:spcAft>
                <a:spcPts val="1000"/>
              </a:spcAft>
            </a:pPr>
            <a:r>
              <a:rPr sz="1800" b="0">
                <a:solidFill>
                  <a:srgbClr val="161B26"/>
                </a:solidFill>
                <a:latin typeface="Arial"/>
              </a:rPr>
              <a:t>•  (A – B)</a:t>
            </a:r>
          </a:p>
          <a:p>
            <a:pPr>
              <a:spcAft>
                <a:spcPts val="1000"/>
              </a:spcAft>
            </a:pPr>
            <a:r>
              <a:rPr sz="1800" b="0">
                <a:solidFill>
                  <a:srgbClr val="161B26"/>
                </a:solidFill>
                <a:latin typeface="Arial"/>
              </a:rPr>
              <a:t>•  VPC Peering</a:t>
            </a:r>
          </a:p>
          <a:p>
            <a:pPr>
              <a:spcAft>
                <a:spcPts val="1000"/>
              </a:spcAft>
            </a:pPr>
            <a:r>
              <a:rPr sz="1800" b="0">
                <a:solidFill>
                  <a:srgbClr val="161B26"/>
                </a:solidFill>
                <a:latin typeface="Arial"/>
              </a:rPr>
              <a:t>•  (B – C)</a:t>
            </a:r>
          </a:p>
          <a:p>
            <a:pPr>
              <a:spcAft>
                <a:spcPts val="1000"/>
              </a:spcAft>
            </a:pPr>
            <a:r>
              <a:rPr sz="1800" b="0">
                <a:solidFill>
                  <a:srgbClr val="161B26"/>
                </a:solidFill>
                <a:latin typeface="Arial"/>
              </a:rPr>
              <a:t>•  VPC Peering</a:t>
            </a:r>
          </a:p>
          <a:p>
            <a:pPr>
              <a:spcAft>
                <a:spcPts val="1000"/>
              </a:spcAft>
            </a:pPr>
            <a:r>
              <a:rPr sz="1800" b="0">
                <a:solidFill>
                  <a:srgbClr val="161B26"/>
                </a:solidFill>
                <a:latin typeface="Arial"/>
              </a:rPr>
              <a:t>•  (A – 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857</a:t>
            </a:r>
          </a:p>
        </p:txBody>
      </p:sp>
    </p:spTree>
  </p:cSld>
  <p:clrMapOvr>
    <a:masterClrMapping/>
  </p:clrMapOvr>
</p:sld>
</file>

<file path=ppt/slides/slide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 -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 can create VPC Peering connection between VPCs in different AWS accounts/regions</a:t>
            </a:r>
          </a:p>
          <a:p>
            <a:pPr>
              <a:spcAft>
                <a:spcPts val="1000"/>
              </a:spcAft>
            </a:pPr>
            <a:r>
              <a:rPr sz="2000" b="0">
                <a:solidFill>
                  <a:srgbClr val="161B26"/>
                </a:solidFill>
                <a:latin typeface="Arial"/>
              </a:rPr>
              <a:t>•  You can reference a security group in a peered VPC (works cross accounts – same region)</a:t>
            </a:r>
          </a:p>
          <a:p>
            <a:pPr>
              <a:spcAft>
                <a:spcPts val="1000"/>
              </a:spcAft>
            </a:pPr>
            <a:r>
              <a:rPr sz="2000" b="0">
                <a:solidFill>
                  <a:srgbClr val="161B26"/>
                </a:solidFill>
                <a:latin typeface="Arial"/>
              </a:rPr>
              <a:t>•  Account ID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858</a:t>
            </a:r>
          </a:p>
        </p:txBody>
      </p:sp>
    </p:spTree>
  </p:cSld>
  <p:clrMapOvr>
    <a:masterClrMapping/>
  </p:clrMapOvr>
</p:sld>
</file>

<file path=ppt/slides/slide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859</a:t>
            </a:r>
          </a:p>
        </p:txBody>
      </p:sp>
    </p:spTree>
  </p:cSld>
  <p:clrMapOvr>
    <a:masterClrMapping/>
  </p:clrMapOvr>
</p:sld>
</file>

<file path=ppt/slides/slide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68914"/>
            <a:ext cx="10479024" cy="34345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61_0.png"/>
          <p:cNvPicPr>
            <a:picLocks noChangeAspect="1"/>
          </p:cNvPicPr>
          <p:nvPr/>
        </p:nvPicPr>
        <p:blipFill>
          <a:blip r:embed="rId2"/>
          <a:stretch>
            <a:fillRect/>
          </a:stretch>
        </p:blipFill>
        <p:spPr>
          <a:xfrm>
            <a:off x="868680" y="2196346"/>
            <a:ext cx="10424160" cy="337970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VPC Peering between two VPCs.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860</a:t>
            </a:r>
          </a:p>
        </p:txBody>
      </p:sp>
    </p:spTree>
  </p:cSld>
  <p:clrMapOvr>
    <a:masterClrMapping/>
  </p:clrMapOvr>
</p:sld>
</file>

<file path=ppt/slides/slide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a:t>
            </a:r>
          </a:p>
          <a:p>
            <a:pPr>
              <a:spcAft>
                <a:spcPts val="1000"/>
              </a:spcAft>
            </a:pPr>
            <a:r>
              <a:rPr sz="1800" b="0">
                <a:solidFill>
                  <a:srgbClr val="161B26"/>
                </a:solidFill>
                <a:latin typeface="Arial"/>
              </a:rPr>
              <a:t>•  Amazon DynamoDB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861</a:t>
            </a:r>
          </a:p>
        </p:txBody>
      </p:sp>
    </p:spTree>
  </p:cSld>
  <p:clrMapOvr>
    <a:masterClrMapping/>
  </p:clrMapOvr>
</p:sld>
</file>

<file path=ppt/slides/slide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Endpoints (AWS PrivateLink)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Every AWS service is publicly exposed (public URL)</a:t>
            </a:r>
          </a:p>
          <a:p>
            <a:pPr>
              <a:spcAft>
                <a:spcPts val="1000"/>
              </a:spcAft>
            </a:pPr>
            <a:r>
              <a:rPr sz="1800" b="0">
                <a:solidFill>
                  <a:srgbClr val="161B26"/>
                </a:solidFill>
                <a:latin typeface="Arial"/>
              </a:rPr>
              <a:t>•  VPC Endpoints (powered by AWS PrivateLink) allows you to connect to AWS services using a private network instead of using the public Internet</a:t>
            </a:r>
          </a:p>
          <a:p>
            <a:pPr>
              <a:spcAft>
                <a:spcPts val="1000"/>
              </a:spcAft>
            </a:pPr>
            <a:r>
              <a:rPr sz="1800" b="0">
                <a:solidFill>
                  <a:srgbClr val="161B26"/>
                </a:solidFill>
                <a:latin typeface="Arial"/>
              </a:rPr>
              <a:t>•  They’re redundant and scale horizontally</a:t>
            </a:r>
          </a:p>
          <a:p>
            <a:pPr>
              <a:spcAft>
                <a:spcPts val="1000"/>
              </a:spcAft>
            </a:pPr>
            <a:r>
              <a:rPr sz="1800" b="0">
                <a:solidFill>
                  <a:srgbClr val="161B26"/>
                </a:solidFill>
                <a:latin typeface="Arial"/>
              </a:rPr>
              <a:t>•  They remove the need of IGW, NATGW, … to access AWS Services</a:t>
            </a:r>
          </a:p>
          <a:p>
            <a:pPr>
              <a:spcAft>
                <a:spcPts val="1000"/>
              </a:spcAft>
            </a:pPr>
            <a:r>
              <a:rPr sz="1800" b="0">
                <a:solidFill>
                  <a:srgbClr val="161B26"/>
                </a:solidFill>
                <a:latin typeface="Arial"/>
              </a:rPr>
              <a:t>•  In case of issues:</a:t>
            </a:r>
          </a:p>
          <a:p>
            <a:pPr>
              <a:spcAft>
                <a:spcPts val="1000"/>
              </a:spcAft>
            </a:pPr>
            <a:r>
              <a:rPr sz="1800" b="0">
                <a:solidFill>
                  <a:srgbClr val="161B26"/>
                </a:solidFill>
                <a:latin typeface="Arial"/>
              </a:rPr>
              <a:t>•  Check DNS Setting Resolution in your VPC</a:t>
            </a:r>
          </a:p>
          <a:p>
            <a:pPr>
              <a:spcAft>
                <a:spcPts val="1000"/>
              </a:spcAft>
            </a:pPr>
            <a:r>
              <a:rPr sz="1800" b="0">
                <a:solidFill>
                  <a:srgbClr val="161B26"/>
                </a:solidFill>
                <a:latin typeface="Arial"/>
              </a:rPr>
              <a:t>•  Check Route Tables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Option 1</a:t>
            </a:r>
          </a:p>
          <a:p>
            <a:pPr>
              <a:spcAft>
                <a:spcPts val="1000"/>
              </a:spcAft>
            </a:pPr>
            <a:r>
              <a:rPr sz="1800" b="0">
                <a:solidFill>
                  <a:srgbClr val="161B26"/>
                </a:solidFill>
                <a:latin typeface="Arial"/>
              </a:rPr>
              <a:t>•  Option 2</a:t>
            </a:r>
          </a:p>
          <a:p>
            <a:pPr>
              <a:spcAft>
                <a:spcPts val="1000"/>
              </a:spcAft>
            </a:pPr>
            <a:r>
              <a:rPr sz="1800" b="0">
                <a:solidFill>
                  <a:srgbClr val="161B26"/>
                </a:solidFill>
                <a:latin typeface="Arial"/>
              </a:rPr>
              <a:t>•  Amazon SNS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862</a:t>
            </a:r>
          </a:p>
        </p:txBody>
      </p:sp>
    </p:spTree>
  </p:cSld>
  <p:clrMapOvr>
    <a:masterClrMapping/>
  </p:clrMapOvr>
</p:sld>
</file>

<file path=ppt/slides/slide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Interface endpoints (powered by PrivateLink)</a:t>
            </a:r>
          </a:p>
          <a:p>
            <a:pPr>
              <a:spcAft>
                <a:spcPts val="1000"/>
              </a:spcAft>
            </a:pPr>
            <a:r>
              <a:rPr sz="1800" b="0">
                <a:solidFill>
                  <a:srgbClr val="161B26"/>
                </a:solidFill>
                <a:latin typeface="Arial"/>
              </a:rPr>
              <a:t>•  Provisions an ENI (private IP address) as an entry point (must attach a Security Group)</a:t>
            </a:r>
          </a:p>
          <a:p>
            <a:pPr>
              <a:spcAft>
                <a:spcPts val="1000"/>
              </a:spcAft>
            </a:pPr>
            <a:r>
              <a:rPr sz="1800" b="0">
                <a:solidFill>
                  <a:srgbClr val="161B26"/>
                </a:solidFill>
                <a:latin typeface="Arial"/>
              </a:rPr>
              <a:t>•  Supports most AWS services</a:t>
            </a:r>
          </a:p>
          <a:p>
            <a:pPr>
              <a:spcAft>
                <a:spcPts val="1000"/>
              </a:spcAft>
            </a:pPr>
            <a:r>
              <a:rPr sz="1800" b="0">
                <a:solidFill>
                  <a:srgbClr val="161B26"/>
                </a:solidFill>
                <a:latin typeface="Arial"/>
              </a:rPr>
              <a:t>•  $ per hour + $ per GB of data processed</a:t>
            </a:r>
          </a:p>
          <a:p>
            <a:pPr>
              <a:spcAft>
                <a:spcPts val="1000"/>
              </a:spcAft>
            </a:pPr>
            <a:r>
              <a:rPr sz="1800" b="0">
                <a:solidFill>
                  <a:srgbClr val="161B26"/>
                </a:solidFill>
                <a:latin typeface="Arial"/>
              </a:rPr>
              <a:t>•  Gateway Endpoints</a:t>
            </a:r>
          </a:p>
          <a:p>
            <a:pPr>
              <a:spcAft>
                <a:spcPts val="1000"/>
              </a:spcAft>
            </a:pPr>
            <a:r>
              <a:rPr sz="1800" b="0">
                <a:solidFill>
                  <a:srgbClr val="161B26"/>
                </a:solidFill>
                <a:latin typeface="Arial"/>
              </a:rPr>
              <a:t>•  Provisions a gateway and must be used as a target in a route table (does not use security groups)</a:t>
            </a:r>
          </a:p>
          <a:p>
            <a:pPr>
              <a:spcAft>
                <a:spcPts val="1000"/>
              </a:spcAft>
            </a:pPr>
            <a:r>
              <a:rPr sz="1800" b="0">
                <a:solidFill>
                  <a:srgbClr val="161B26"/>
                </a:solidFill>
                <a:latin typeface="Arial"/>
              </a:rPr>
              <a:t>•  Supports both S3 and DynamoDB</a:t>
            </a:r>
          </a:p>
          <a:p>
            <a:pPr>
              <a:spcAft>
                <a:spcPts val="1000"/>
              </a:spcAft>
            </a:pPr>
            <a:r>
              <a:rPr sz="1800" b="0">
                <a:solidFill>
                  <a:srgbClr val="161B26"/>
                </a:solidFill>
                <a:latin typeface="Arial"/>
              </a:rPr>
              <a:t>•  Free</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(Interface)</a:t>
            </a:r>
          </a:p>
          <a:p>
            <a:pPr>
              <a:spcAft>
                <a:spcPts val="1000"/>
              </a:spcAft>
            </a:pPr>
            <a:r>
              <a:rPr sz="1800" b="0">
                <a:solidFill>
                  <a:srgbClr val="161B26"/>
                </a:solidFill>
                <a:latin typeface="Arial"/>
              </a:rPr>
              <a:t>•  ENI (PrivateLink)</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863</a:t>
            </a:r>
          </a:p>
        </p:txBody>
      </p:sp>
    </p:spTree>
  </p:cSld>
  <p:clrMapOvr>
    <a:masterClrMapping/>
  </p:clrMapOvr>
</p:sld>
</file>

<file path=ppt/slides/slide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Gateway or Interface Endpoint for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Cost: free for Gateway, $ for interface endpoint</a:t>
            </a:r>
          </a:p>
          <a:p>
            <a:pPr>
              <a:spcAft>
                <a:spcPts val="1000"/>
              </a:spcAft>
            </a:pPr>
            <a:r>
              <a:rPr sz="1800" b="0">
                <a:solidFill>
                  <a:srgbClr val="161B26"/>
                </a:solidFill>
                <a:latin typeface="Arial"/>
              </a:rPr>
              <a:t>•  Interface Endpoint is preferred access is required from on- premises (Site to Site VPN or Direct Connect), a different VPC or a different region</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S2S VPN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Interface Endpoint</a:t>
            </a:r>
          </a:p>
          <a:p>
            <a:pPr>
              <a:spcAft>
                <a:spcPts val="1000"/>
              </a:spcAft>
            </a:pPr>
            <a:r>
              <a:rPr sz="1800" b="0">
                <a:solidFill>
                  <a:srgbClr val="161B26"/>
                </a:solidFill>
                <a:latin typeface="Arial"/>
              </a:rPr>
              <a:t>•  In-VPC</a:t>
            </a:r>
          </a:p>
          <a:p>
            <a:pPr>
              <a:spcAft>
                <a:spcPts val="1000"/>
              </a:spcAft>
            </a:pPr>
            <a:r>
              <a:rPr sz="1800" b="0">
                <a:solidFill>
                  <a:srgbClr val="161B26"/>
                </a:solidFill>
                <a:latin typeface="Arial"/>
              </a:rPr>
              <a:t>•  Apps</a:t>
            </a:r>
          </a:p>
          <a:p>
            <a:pPr>
              <a:spcAft>
                <a:spcPts val="1000"/>
              </a:spcAft>
            </a:pPr>
            <a:r>
              <a:rPr sz="1800" b="0">
                <a:solidFill>
                  <a:srgbClr val="161B26"/>
                </a:solidFill>
                <a:latin typeface="Arial"/>
              </a:rPr>
              <a:t>•  Gateway Endpoint</a:t>
            </a:r>
          </a:p>
          <a:p>
            <a:pPr>
              <a:spcAft>
                <a:spcPts val="1000"/>
              </a:spcAft>
            </a:pPr>
            <a:r>
              <a:rPr sz="1800" b="0">
                <a:solidFill>
                  <a:srgbClr val="161B26"/>
                </a:solidFill>
                <a:latin typeface="Arial"/>
              </a:rPr>
              <a:t>•  PrivateLink</a:t>
            </a:r>
          </a:p>
          <a:p>
            <a:pPr>
              <a:spcAft>
                <a:spcPts val="1000"/>
              </a:spcAft>
            </a:pPr>
            <a:r>
              <a:rPr sz="1800" b="0">
                <a:solidFill>
                  <a:srgbClr val="161B26"/>
                </a:solidFill>
                <a:latin typeface="Arial"/>
              </a:rPr>
              <a:t>•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864</a:t>
            </a:r>
          </a:p>
        </p:txBody>
      </p:sp>
    </p:spTree>
  </p:cSld>
  <p:clrMapOvr>
    <a:masterClrMapping/>
  </p:clrMapOvr>
</p:sld>
</file>

<file path=ppt/slides/slide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VPC Endpoint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07961" y="1801368"/>
            <a:ext cx="914559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866_0.png"/>
          <p:cNvPicPr>
            <a:picLocks noChangeAspect="1"/>
          </p:cNvPicPr>
          <p:nvPr/>
        </p:nvPicPr>
        <p:blipFill>
          <a:blip r:embed="rId2"/>
          <a:stretch>
            <a:fillRect/>
          </a:stretch>
        </p:blipFill>
        <p:spPr>
          <a:xfrm>
            <a:off x="1535393" y="1828800"/>
            <a:ext cx="909073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VPC Endpoint to access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865</a:t>
            </a:r>
          </a:p>
        </p:txBody>
      </p:sp>
    </p:spTree>
  </p:cSld>
  <p:clrMapOvr>
    <a:masterClrMapping/>
  </p:clrMapOvr>
</p:sld>
</file>

<file path=ppt/slides/slide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	in VPC accessing DynamoDB</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NAT</a:t>
            </a:r>
          </a:p>
          <a:p>
            <a:pPr>
              <a:spcAft>
                <a:spcPts val="1000"/>
              </a:spcAft>
            </a:pPr>
            <a:r>
              <a:rPr sz="1800" b="0">
                <a:solidFill>
                  <a:srgbClr val="161B26"/>
                </a:solidFill>
                <a:latin typeface="Arial"/>
              </a:rPr>
              <a:t>•  IGW</a:t>
            </a:r>
          </a:p>
          <a:p>
            <a:pPr>
              <a:spcAft>
                <a:spcPts val="1000"/>
              </a:spcAft>
            </a:pPr>
            <a:r>
              <a:rPr sz="1800" b="0">
                <a:solidFill>
                  <a:srgbClr val="161B26"/>
                </a:solidFill>
                <a:latin typeface="Arial"/>
              </a:rPr>
              <a:t>•  VPC Gateway Endpoint For DynamoDB</a:t>
            </a:r>
          </a:p>
          <a:p>
            <a:pPr>
              <a:spcAft>
                <a:spcPts val="1000"/>
              </a:spcAft>
            </a:pPr>
            <a:r>
              <a:rPr sz="1800" b="0">
                <a:solidFill>
                  <a:srgbClr val="161B26"/>
                </a:solidFill>
                <a:latin typeface="Arial"/>
              </a:rPr>
              <a:t>•  DynamoDB is a public service from AWS</a:t>
            </a:r>
          </a:p>
          <a:p>
            <a:pPr>
              <a:spcAft>
                <a:spcPts val="1000"/>
              </a:spcAft>
            </a:pPr>
            <a:r>
              <a:rPr sz="1800" b="0">
                <a:solidFill>
                  <a:srgbClr val="161B26"/>
                </a:solidFill>
                <a:latin typeface="Arial"/>
              </a:rPr>
              <a:t>•  Option 1: Access from the public internet</a:t>
            </a:r>
          </a:p>
          <a:p>
            <a:pPr>
              <a:spcAft>
                <a:spcPts val="1000"/>
              </a:spcAft>
            </a:pPr>
            <a:r>
              <a:rPr sz="1800" b="0">
                <a:solidFill>
                  <a:srgbClr val="161B26"/>
                </a:solidFill>
                <a:latin typeface="Arial"/>
              </a:rPr>
              <a:t>•  Because Lambda is in a VPC, it needs a NAT Gateway in a public subnet and an internet gateway</a:t>
            </a:r>
          </a:p>
          <a:p>
            <a:pPr>
              <a:spcAft>
                <a:spcPts val="1000"/>
              </a:spcAft>
            </a:pPr>
            <a:r>
              <a:rPr sz="1800" b="0">
                <a:solidFill>
                  <a:srgbClr val="161B26"/>
                </a:solidFill>
                <a:latin typeface="Arial"/>
              </a:rPr>
              <a:t>•  Option 2 better and free access from the private VPC network</a:t>
            </a:r>
          </a:p>
          <a:p>
            <a:pPr>
              <a:spcAft>
                <a:spcPts val="1000"/>
              </a:spcAft>
            </a:pPr>
            <a:r>
              <a:rPr sz="1800" b="0">
                <a:solidFill>
                  <a:srgbClr val="161B26"/>
                </a:solidFill>
                <a:latin typeface="Arial"/>
              </a:rPr>
              <a:t>•  Deploy a VPC Gateway endpoint for DynamoDB</a:t>
            </a:r>
          </a:p>
          <a:p>
            <a:pPr>
              <a:spcAft>
                <a:spcPts val="1000"/>
              </a:spcAft>
            </a:pPr>
            <a:r>
              <a:rPr sz="1800" b="0">
                <a:solidFill>
                  <a:srgbClr val="161B26"/>
                </a:solidFill>
                <a:latin typeface="Arial"/>
              </a:rPr>
              <a:t>•  Change the Route Tables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866</a:t>
            </a:r>
          </a:p>
        </p:txBody>
      </p:sp>
    </p:spTree>
  </p:cSld>
  <p:clrMapOvr>
    <a:masterClrMapping/>
  </p:clrMapOvr>
</p:sld>
</file>

<file path=ppt/slides/slide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Capture information about IP traffic going into your interfaces:</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Subnet Flow Logs</a:t>
            </a:r>
          </a:p>
          <a:p>
            <a:pPr>
              <a:spcAft>
                <a:spcPts val="1000"/>
              </a:spcAft>
            </a:pPr>
            <a:r>
              <a:rPr sz="1800" b="0">
                <a:solidFill>
                  <a:srgbClr val="161B26"/>
                </a:solidFill>
                <a:latin typeface="Arial"/>
              </a:rPr>
              <a:t>•  Elastic Network Interface (ENI) Flow Logs</a:t>
            </a:r>
          </a:p>
          <a:p>
            <a:pPr>
              <a:spcAft>
                <a:spcPts val="1000"/>
              </a:spcAft>
            </a:pPr>
            <a:r>
              <a:rPr sz="1800" b="0">
                <a:solidFill>
                  <a:srgbClr val="161B26"/>
                </a:solidFill>
                <a:latin typeface="Arial"/>
              </a:rPr>
              <a:t>•  Helps to monitor &amp; troubleshoot connectivity issues</a:t>
            </a:r>
          </a:p>
          <a:p>
            <a:pPr>
              <a:spcAft>
                <a:spcPts val="1000"/>
              </a:spcAft>
            </a:pPr>
            <a:r>
              <a:rPr sz="1800" b="0">
                <a:solidFill>
                  <a:srgbClr val="161B26"/>
                </a:solidFill>
                <a:latin typeface="Arial"/>
              </a:rPr>
              <a:t>•  Flow logs data can go to S3, CloudWatch Logs, and Kinesis Data Firehose</a:t>
            </a:r>
          </a:p>
          <a:p>
            <a:pPr>
              <a:spcAft>
                <a:spcPts val="1000"/>
              </a:spcAft>
            </a:pPr>
            <a:r>
              <a:rPr sz="1800" b="0">
                <a:solidFill>
                  <a:srgbClr val="161B26"/>
                </a:solidFill>
                <a:latin typeface="Arial"/>
              </a:rPr>
              <a:t>•  Captures network information from AWS managed interfaces too: ELB, RDS, ElastiCache, Redshift, WorkSpaces, NATGW,Transit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867</a:t>
            </a:r>
          </a:p>
        </p:txBody>
      </p:sp>
    </p:spTree>
  </p:cSld>
  <p:clrMapOvr>
    <a:masterClrMapping/>
  </p:clrMapOvr>
</p:sld>
</file>

<file path=ppt/slides/slide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VPC Flow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868</a:t>
            </a:r>
          </a:p>
        </p:txBody>
      </p:sp>
    </p:spTree>
  </p:cSld>
  <p:clrMapOvr>
    <a:masterClrMapping/>
  </p:clrMapOvr>
</p:sld>
</file>

<file path=ppt/slides/slide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 Syntax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srcaddr &amp; dstaddr - help identify problematic IP</a:t>
            </a:r>
          </a:p>
          <a:p>
            <a:pPr>
              <a:spcAft>
                <a:spcPts val="1000"/>
              </a:spcAft>
            </a:pPr>
            <a:r>
              <a:rPr sz="1800" b="0">
                <a:solidFill>
                  <a:srgbClr val="161B26"/>
                </a:solidFill>
                <a:latin typeface="Arial"/>
              </a:rPr>
              <a:t>•  srcport &amp; dstport - help identity problematic ports</a:t>
            </a:r>
          </a:p>
          <a:p>
            <a:pPr>
              <a:spcAft>
                <a:spcPts val="1000"/>
              </a:spcAft>
            </a:pPr>
            <a:r>
              <a:rPr sz="1800" b="0">
                <a:solidFill>
                  <a:srgbClr val="161B26"/>
                </a:solidFill>
                <a:latin typeface="Arial"/>
              </a:rPr>
              <a:t>•  action - success or failure of the request due to Security Group / NACL</a:t>
            </a:r>
          </a:p>
          <a:p>
            <a:pPr>
              <a:spcAft>
                <a:spcPts val="1000"/>
              </a:spcAft>
            </a:pPr>
            <a:r>
              <a:rPr sz="1800" b="0">
                <a:solidFill>
                  <a:srgbClr val="161B26"/>
                </a:solidFill>
                <a:latin typeface="Arial"/>
              </a:rPr>
              <a:t>•  Can be used for analytics on usage patterns, or malicious behavior</a:t>
            </a:r>
          </a:p>
          <a:p>
            <a:pPr>
              <a:spcAft>
                <a:spcPts val="1000"/>
              </a:spcAft>
            </a:pPr>
            <a:r>
              <a:rPr sz="1800" b="0">
                <a:solidFill>
                  <a:srgbClr val="161B26"/>
                </a:solidFill>
                <a:latin typeface="Arial"/>
              </a:rPr>
              <a:t>•  Query VPC flow logs using athena on S3 or CloudWatch Logs Insights</a:t>
            </a:r>
          </a:p>
          <a:p>
            <a:pPr>
              <a:spcAft>
                <a:spcPts val="1000"/>
              </a:spcAft>
            </a:pPr>
            <a:r>
              <a:rPr sz="1800" b="0">
                <a:solidFill>
                  <a:srgbClr val="161B26"/>
                </a:solidFill>
                <a:latin typeface="Arial"/>
              </a:rPr>
              <a:t>•  Flow Logs examples: https://docs.aws.amazon.com/vpc/latest/userguide/flow-logs- 	records-examples.html</a:t>
            </a:r>
          </a:p>
          <a:p>
            <a:pPr>
              <a:spcAft>
                <a:spcPts val="1000"/>
              </a:spcAft>
            </a:pPr>
            <a:r>
              <a:rPr sz="1800" b="0">
                <a:solidFill>
                  <a:srgbClr val="161B26"/>
                </a:solidFill>
                <a:latin typeface="Arial"/>
              </a:rPr>
              <a:t>•  version</a:t>
            </a:r>
          </a:p>
          <a:p>
            <a:pPr>
              <a:spcAft>
                <a:spcPts val="1000"/>
              </a:spcAft>
            </a:pPr>
            <a:r>
              <a:rPr sz="1800" b="0">
                <a:solidFill>
                  <a:srgbClr val="161B26"/>
                </a:solidFill>
                <a:latin typeface="Arial"/>
              </a:rPr>
              <a:t>•  account-id</a:t>
            </a:r>
          </a:p>
          <a:p>
            <a:pPr>
              <a:spcAft>
                <a:spcPts val="1000"/>
              </a:spcAft>
            </a:pPr>
            <a:r>
              <a:rPr sz="1800" b="0">
                <a:solidFill>
                  <a:srgbClr val="161B26"/>
                </a:solidFill>
                <a:latin typeface="Arial"/>
              </a:rPr>
              <a:t>•  interface-id</a:t>
            </a:r>
          </a:p>
          <a:p>
            <a:pPr>
              <a:spcAft>
                <a:spcPts val="1000"/>
              </a:spcAft>
            </a:pPr>
            <a:r>
              <a:rPr sz="1800" b="0">
                <a:solidFill>
                  <a:srgbClr val="161B26"/>
                </a:solidFill>
                <a:latin typeface="Arial"/>
              </a:rPr>
              <a:t>•  srcaddr</a:t>
            </a:r>
          </a:p>
          <a:p>
            <a:pPr>
              <a:spcAft>
                <a:spcPts val="1000"/>
              </a:spcAft>
            </a:pPr>
            <a:r>
              <a:rPr sz="1800" b="0">
                <a:solidFill>
                  <a:srgbClr val="161B26"/>
                </a:solidFill>
                <a:latin typeface="Arial"/>
              </a:rPr>
              <a:t>•  dstaddr</a:t>
            </a:r>
          </a:p>
          <a:p>
            <a:pPr>
              <a:spcAft>
                <a:spcPts val="1000"/>
              </a:spcAft>
            </a:pPr>
            <a:r>
              <a:rPr sz="1800" b="0">
                <a:solidFill>
                  <a:srgbClr val="161B26"/>
                </a:solidFill>
                <a:latin typeface="Arial"/>
              </a:rPr>
              <a:t>•  srcport protocol bytes</a:t>
            </a:r>
          </a:p>
          <a:p>
            <a:pPr>
              <a:spcAft>
                <a:spcPts val="1000"/>
              </a:spcAft>
            </a:pPr>
            <a:r>
              <a:rPr sz="1800" b="0">
                <a:solidFill>
                  <a:srgbClr val="161B26"/>
                </a:solidFill>
                <a:latin typeface="Arial"/>
              </a:rPr>
              <a:t>•  dstport</a:t>
            </a:r>
          </a:p>
          <a:p>
            <a:pPr>
              <a:spcAft>
                <a:spcPts val="1000"/>
              </a:spcAft>
            </a:pPr>
            <a:r>
              <a:rPr sz="1800" b="0">
                <a:solidFill>
                  <a:srgbClr val="161B26"/>
                </a:solidFill>
                <a:latin typeface="Arial"/>
              </a:rPr>
              <a:t>•  packets</a:t>
            </a:r>
          </a:p>
          <a:p>
            <a:pPr>
              <a:spcAft>
                <a:spcPts val="1000"/>
              </a:spcAft>
            </a:pPr>
            <a:r>
              <a:rPr sz="1800" b="0">
                <a:solidFill>
                  <a:srgbClr val="161B26"/>
                </a:solidFill>
                <a:latin typeface="Arial"/>
              </a:rPr>
              <a:t>•  start</a:t>
            </a:r>
          </a:p>
          <a:p>
            <a:pPr>
              <a:spcAft>
                <a:spcPts val="1000"/>
              </a:spcAft>
            </a:pPr>
            <a:r>
              <a:rPr sz="1800" b="0">
                <a:solidFill>
                  <a:srgbClr val="161B26"/>
                </a:solidFill>
                <a:latin typeface="Arial"/>
              </a:rPr>
              <a:t>•  end</a:t>
            </a:r>
          </a:p>
          <a:p>
            <a:pPr>
              <a:spcAft>
                <a:spcPts val="1000"/>
              </a:spcAft>
            </a:pPr>
            <a:r>
              <a:rPr sz="1800" b="0">
                <a:solidFill>
                  <a:srgbClr val="161B26"/>
                </a:solidFill>
                <a:latin typeface="Arial"/>
              </a:rPr>
              <a:t>•  action</a:t>
            </a:r>
          </a:p>
          <a:p>
            <a:pPr>
              <a:spcAft>
                <a:spcPts val="1000"/>
              </a:spcAft>
            </a:pPr>
            <a:r>
              <a:rPr sz="1800" b="0">
                <a:solidFill>
                  <a:srgbClr val="161B26"/>
                </a:solidFill>
                <a:latin typeface="Arial"/>
              </a:rPr>
              <a:t>•  log-status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869</a:t>
            </a:r>
          </a:p>
        </p:txBody>
      </p:sp>
    </p:spTree>
  </p:cSld>
  <p:clrMapOvr>
    <a:masterClrMapping/>
  </p:clrMapOvr>
</p:sld>
</file>

<file path=ppt/slides/slide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VPC Flow Logs - Troubleshoot SG &amp; NACL issues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Inbound Rules</a:t>
            </a:r>
          </a:p>
          <a:p>
            <a:pPr>
              <a:spcAft>
                <a:spcPts val="1000"/>
              </a:spcAft>
            </a:pPr>
            <a:r>
              <a:rPr sz="1800" b="0">
                <a:solidFill>
                  <a:srgbClr val="161B26"/>
                </a:solidFill>
                <a:latin typeface="Arial"/>
              </a:rPr>
              <a:t>•  Subnet</a:t>
            </a:r>
          </a:p>
          <a:p>
            <a:pPr>
              <a:spcAft>
                <a:spcPts val="1000"/>
              </a:spcAft>
            </a:pPr>
            <a:r>
              <a:rPr sz="1800" b="0">
                <a:solidFill>
                  <a:srgbClr val="161B26"/>
                </a:solidFill>
                <a:latin typeface="Arial"/>
              </a:rPr>
              <a:t>•  SG Inbound Rules</a:t>
            </a:r>
          </a:p>
          <a:p>
            <a:pPr>
              <a:spcAft>
                <a:spcPts val="1000"/>
              </a:spcAft>
            </a:pPr>
            <a:r>
              <a:rPr sz="1800" b="0">
                <a:solidFill>
                  <a:srgbClr val="161B26"/>
                </a:solidFill>
                <a:latin typeface="Arial"/>
              </a:rPr>
              <a:t>•  Outbound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Outbound Rules (Stateless)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Outbound Rules</a:t>
            </a:r>
          </a:p>
          <a:p>
            <a:pPr>
              <a:spcAft>
                <a:spcPts val="1000"/>
              </a:spcAft>
            </a:pPr>
            <a:r>
              <a:rPr sz="1800" b="0">
                <a:solidFill>
                  <a:srgbClr val="161B26"/>
                </a:solidFill>
                <a:latin typeface="Arial"/>
              </a:rPr>
              <a:t>•  Subnet</a:t>
            </a:r>
          </a:p>
          <a:p>
            <a:pPr>
              <a:spcAft>
                <a:spcPts val="1000"/>
              </a:spcAft>
            </a:pPr>
            <a:r>
              <a:rPr sz="1800" b="0">
                <a:solidFill>
                  <a:srgbClr val="161B26"/>
                </a:solidFill>
                <a:latin typeface="Arial"/>
              </a:rPr>
              <a:t>•  SG Outbound Rules</a:t>
            </a:r>
          </a:p>
          <a:p>
            <a:pPr>
              <a:spcAft>
                <a:spcPts val="1000"/>
              </a:spcAft>
            </a:pPr>
            <a:r>
              <a:rPr sz="1800" b="0">
                <a:solidFill>
                  <a:srgbClr val="161B26"/>
                </a:solidFill>
                <a:latin typeface="Arial"/>
              </a:rPr>
              <a:t>•  Inbound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Inbound Rules (Stateless)</a:t>
            </a:r>
          </a:p>
          <a:p>
            <a:pPr>
              <a:spcAft>
                <a:spcPts val="1000"/>
              </a:spcAft>
            </a:pPr>
            <a:r>
              <a:rPr sz="1800" b="0">
                <a:solidFill>
                  <a:srgbClr val="161B26"/>
                </a:solidFill>
                <a:latin typeface="Arial"/>
              </a:rPr>
              <a:t>•  Incoming Requests</a:t>
            </a:r>
          </a:p>
          <a:p>
            <a:pPr>
              <a:spcAft>
                <a:spcPts val="1000"/>
              </a:spcAft>
            </a:pPr>
            <a:r>
              <a:rPr sz="1800" b="0">
                <a:solidFill>
                  <a:srgbClr val="161B26"/>
                </a:solidFill>
                <a:latin typeface="Arial"/>
              </a:rPr>
              <a:t>•  Inbound REJECT =&gt; NACL or SG</a:t>
            </a:r>
          </a:p>
          <a:p>
            <a:pPr>
              <a:spcAft>
                <a:spcPts val="1000"/>
              </a:spcAft>
            </a:pPr>
            <a:r>
              <a:rPr sz="1800" b="0">
                <a:solidFill>
                  <a:srgbClr val="161B26"/>
                </a:solidFill>
                <a:latin typeface="Arial"/>
              </a:rPr>
              <a:t>•  Inbound ACCEPT, Outbound REJECT =&gt; NACL</a:t>
            </a:r>
          </a:p>
          <a:p>
            <a:pPr>
              <a:spcAft>
                <a:spcPts val="1000"/>
              </a:spcAft>
            </a:pPr>
            <a:r>
              <a:rPr sz="1800" b="0">
                <a:solidFill>
                  <a:srgbClr val="161B26"/>
                </a:solidFill>
                <a:latin typeface="Arial"/>
              </a:rPr>
              <a:t>•  Outgoing Requests</a:t>
            </a:r>
          </a:p>
          <a:p>
            <a:pPr>
              <a:spcAft>
                <a:spcPts val="1000"/>
              </a:spcAft>
            </a:pPr>
            <a:r>
              <a:rPr sz="1800" b="0">
                <a:solidFill>
                  <a:srgbClr val="161B26"/>
                </a:solidFill>
                <a:latin typeface="Arial"/>
              </a:rPr>
              <a:t>•  Outbound REJECT =&gt; NACL or SG</a:t>
            </a:r>
          </a:p>
          <a:p>
            <a:pPr>
              <a:spcAft>
                <a:spcPts val="1000"/>
              </a:spcAft>
            </a:pPr>
            <a:r>
              <a:rPr sz="1800" b="0">
                <a:solidFill>
                  <a:srgbClr val="161B26"/>
                </a:solidFill>
                <a:latin typeface="Arial"/>
              </a:rPr>
              <a:t>•  Outbound ACCEPT, Inbound REJECT =&gt; NACL</a:t>
            </a:r>
          </a:p>
          <a:p>
            <a:pPr>
              <a:spcAft>
                <a:spcPts val="1000"/>
              </a:spcAft>
            </a:pPr>
            <a:r>
              <a:rPr sz="1800" b="0">
                <a:solidFill>
                  <a:srgbClr val="161B26"/>
                </a:solidFill>
                <a:latin typeface="Arial"/>
              </a:rPr>
              <a:t>•  Look at the “ACTION” field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870</a:t>
            </a:r>
          </a:p>
        </p:txBody>
      </p:sp>
    </p:spTree>
  </p:cSld>
  <p:clrMapOvr>
    <a:masterClrMapping/>
  </p:clrMapOvr>
</p:sld>
</file>

<file path=ppt/slides/slide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 - Architectures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CloudWatch Contributor Insights</a:t>
            </a:r>
          </a:p>
          <a:p>
            <a:pPr>
              <a:spcAft>
                <a:spcPts val="1000"/>
              </a:spcAft>
            </a:pPr>
            <a:r>
              <a:rPr sz="1800" b="0">
                <a:solidFill>
                  <a:srgbClr val="161B26"/>
                </a:solidFill>
                <a:latin typeface="Arial"/>
              </a:rPr>
              <a:t>•  Top-10 IP addresses</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Metric Filter</a:t>
            </a:r>
          </a:p>
          <a:p>
            <a:pPr>
              <a:spcAft>
                <a:spcPts val="1000"/>
              </a:spcAft>
            </a:pPr>
            <a:r>
              <a:rPr sz="1800" b="0">
                <a:solidFill>
                  <a:srgbClr val="161B26"/>
                </a:solidFill>
                <a:latin typeface="Arial"/>
              </a:rPr>
              <a:t>•  SSH, RDP…</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Amazon Athena</a:t>
            </a:r>
          </a:p>
          <a:p>
            <a:pPr>
              <a:spcAft>
                <a:spcPts val="1000"/>
              </a:spcAft>
            </a:pPr>
            <a:r>
              <a:rPr sz="1800" b="0">
                <a:solidFill>
                  <a:srgbClr val="161B26"/>
                </a:solidFill>
                <a:latin typeface="Arial"/>
              </a:rPr>
              <a:t>•  Amazon QuickSight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871</a:t>
            </a:r>
          </a:p>
        </p:txBody>
      </p:sp>
    </p:spTree>
  </p:cSld>
  <p:clrMapOvr>
    <a:masterClrMapping/>
  </p:clrMapOvr>
</p:sld>
</file>

<file path=ppt/slides/slide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Site-to-Site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872</a:t>
            </a:r>
          </a:p>
        </p:txBody>
      </p:sp>
    </p:spTree>
  </p:cSld>
  <p:clrMapOvr>
    <a:masterClrMapping/>
  </p:clrMapOvr>
</p:sld>
</file>

<file path=ppt/slides/slide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Site-to-Site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VPN</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S2S VPN</a:t>
            </a:r>
          </a:p>
          <a:p>
            <a:pPr>
              <a:spcAft>
                <a:spcPts val="1000"/>
              </a:spcAft>
            </a:pPr>
            <a:r>
              <a:rPr sz="1800" b="0">
                <a:solidFill>
                  <a:srgbClr val="161B26"/>
                </a:solidFill>
                <a:latin typeface="Arial"/>
              </a:rPr>
              <a:t>•  Connection</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873</a:t>
            </a:r>
          </a:p>
        </p:txBody>
      </p:sp>
    </p:spTree>
  </p:cSld>
  <p:clrMapOvr>
    <a:masterClrMapping/>
  </p:clrMapOvr>
</p:sld>
</file>

<file path=ppt/slides/slide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Site-to-Site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Private Gateway (VGW)</a:t>
            </a:r>
          </a:p>
          <a:p>
            <a:pPr>
              <a:spcAft>
                <a:spcPts val="1000"/>
              </a:spcAft>
            </a:pPr>
            <a:r>
              <a:rPr sz="1800" b="0">
                <a:solidFill>
                  <a:srgbClr val="161B26"/>
                </a:solidFill>
                <a:latin typeface="Arial"/>
              </a:rPr>
              <a:t>•  VPN concentrator on the AWS side of the VPN connection</a:t>
            </a:r>
          </a:p>
          <a:p>
            <a:pPr>
              <a:spcAft>
                <a:spcPts val="1000"/>
              </a:spcAft>
            </a:pPr>
            <a:r>
              <a:rPr sz="1800" b="0">
                <a:solidFill>
                  <a:srgbClr val="161B26"/>
                </a:solidFill>
                <a:latin typeface="Arial"/>
              </a:rPr>
              <a:t>•  VGW is created and attached to the VPC from which you want to create the Site-to-Site VPN connection</a:t>
            </a:r>
          </a:p>
          <a:p>
            <a:pPr>
              <a:spcAft>
                <a:spcPts val="1000"/>
              </a:spcAft>
            </a:pPr>
            <a:r>
              <a:rPr sz="1800" b="0">
                <a:solidFill>
                  <a:srgbClr val="161B26"/>
                </a:solidFill>
                <a:latin typeface="Arial"/>
              </a:rPr>
              <a:t>•  Possibility to customize the ASN (Autonomous System Number)</a:t>
            </a:r>
          </a:p>
          <a:p>
            <a:pPr>
              <a:spcAft>
                <a:spcPts val="1000"/>
              </a:spcAft>
            </a:pPr>
            <a:r>
              <a:rPr sz="1800" b="0">
                <a:solidFill>
                  <a:srgbClr val="161B26"/>
                </a:solidFill>
                <a:latin typeface="Arial"/>
              </a:rPr>
              <a:t>•  Customer Gateway (CGW)</a:t>
            </a:r>
          </a:p>
          <a:p>
            <a:pPr>
              <a:spcAft>
                <a:spcPts val="1000"/>
              </a:spcAft>
            </a:pPr>
            <a:r>
              <a:rPr sz="1800" b="0">
                <a:solidFill>
                  <a:srgbClr val="161B26"/>
                </a:solidFill>
                <a:latin typeface="Arial"/>
              </a:rPr>
              <a:t>•  Software application or physical device on customer side of the VPN connection</a:t>
            </a:r>
          </a:p>
          <a:p>
            <a:pPr>
              <a:spcAft>
                <a:spcPts val="1000"/>
              </a:spcAft>
            </a:pPr>
            <a:r>
              <a:rPr sz="1800" b="0">
                <a:solidFill>
                  <a:srgbClr val="161B26"/>
                </a:solidFill>
                <a:latin typeface="Arial"/>
              </a:rPr>
              <a:t>•  https://docs.aws.amazon.com/vpn/latest/s2svpn/your-cgw.html#DevicesTested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874</a:t>
            </a:r>
          </a:p>
        </p:txBody>
      </p:sp>
    </p:spTree>
  </p:cSld>
  <p:clrMapOvr>
    <a:masterClrMapping/>
  </p:clrMapOvr>
</p:sld>
</file>

<file path=ppt/slides/slide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Site-to-Site VPN Connections</a:t>
            </a:r>
          </a:p>
          <a:p>
            <a:pPr>
              <a:spcAft>
                <a:spcPts val="1000"/>
              </a:spcAft>
            </a:pPr>
            <a:r>
              <a:rPr sz="1800" b="0">
                <a:solidFill>
                  <a:srgbClr val="161B26"/>
                </a:solidFill>
                <a:latin typeface="Arial"/>
              </a:rPr>
              <a:t>•  Customer Gateway Device (On-premises)</a:t>
            </a:r>
          </a:p>
          <a:p>
            <a:pPr>
              <a:spcAft>
                <a:spcPts val="1000"/>
              </a:spcAft>
            </a:pPr>
            <a:r>
              <a:rPr sz="1800" b="0">
                <a:solidFill>
                  <a:srgbClr val="161B26"/>
                </a:solidFill>
                <a:latin typeface="Arial"/>
              </a:rPr>
              <a:t>•  What IP address to use?</a:t>
            </a:r>
          </a:p>
          <a:p>
            <a:pPr>
              <a:spcAft>
                <a:spcPts val="1000"/>
              </a:spcAft>
            </a:pPr>
            <a:r>
              <a:rPr sz="1800" b="0">
                <a:solidFill>
                  <a:srgbClr val="161B26"/>
                </a:solidFill>
                <a:latin typeface="Arial"/>
              </a:rPr>
              <a:t>•  Public Internet-routable IP address for your Customer Gateway device</a:t>
            </a:r>
          </a:p>
          <a:p>
            <a:pPr>
              <a:spcAft>
                <a:spcPts val="1000"/>
              </a:spcAft>
            </a:pPr>
            <a:r>
              <a:rPr sz="1800" b="0">
                <a:solidFill>
                  <a:srgbClr val="161B26"/>
                </a:solidFill>
                <a:latin typeface="Arial"/>
              </a:rPr>
              <a:t>•  If it’s behind a NAT device that’s enabled for NAT traversal (NAT-T), use the public IP address of the NAT device</a:t>
            </a:r>
          </a:p>
          <a:p>
            <a:pPr>
              <a:spcAft>
                <a:spcPts val="1000"/>
              </a:spcAft>
            </a:pPr>
            <a:r>
              <a:rPr sz="1800" b="0">
                <a:solidFill>
                  <a:srgbClr val="161B26"/>
                </a:solidFill>
                <a:latin typeface="Arial"/>
              </a:rPr>
              <a:t>•  Important step: enable Route Propagation for the Virtual Private Gateway in the route table that is associated with your subnets</a:t>
            </a:r>
          </a:p>
          <a:p>
            <a:pPr>
              <a:spcAft>
                <a:spcPts val="1000"/>
              </a:spcAft>
            </a:pPr>
            <a:r>
              <a:rPr sz="1800" b="0">
                <a:solidFill>
                  <a:srgbClr val="161B26"/>
                </a:solidFill>
                <a:latin typeface="Arial"/>
              </a:rPr>
              <a:t>•  If you need to ping your EC2 instances from on-premises, make sure you add the ICMP protocol on the inbound of your security groups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Virtual Private</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 Gateway (Public IP)</a:t>
            </a:r>
          </a:p>
          <a:p>
            <a:pPr>
              <a:spcAft>
                <a:spcPts val="1000"/>
              </a:spcAft>
            </a:pPr>
            <a:r>
              <a:rPr sz="1800" b="0">
                <a:solidFill>
                  <a:srgbClr val="161B26"/>
                </a:solidFill>
                <a:latin typeface="Arial"/>
              </a:rPr>
              <a:t>•  Route Table</a:t>
            </a:r>
          </a:p>
          <a:p>
            <a:pPr>
              <a:spcAft>
                <a:spcPts val="1000"/>
              </a:spcAft>
            </a:pPr>
            <a:r>
              <a:rPr sz="1800" b="0">
                <a:solidFill>
                  <a:srgbClr val="161B26"/>
                </a:solidFill>
                <a:latin typeface="Arial"/>
              </a:rPr>
              <a:t>•  (Route Propagation enabled)</a:t>
            </a:r>
          </a:p>
          <a:p>
            <a:pPr>
              <a:spcAft>
                <a:spcPts val="1000"/>
              </a:spcAft>
            </a:pPr>
            <a:r>
              <a:rPr sz="1800" b="0">
                <a:solidFill>
                  <a:srgbClr val="161B26"/>
                </a:solidFill>
                <a:latin typeface="Arial"/>
              </a:rPr>
              <a:t>•  NAT Device (Public IP)</a:t>
            </a:r>
          </a:p>
          <a:p>
            <a:pPr>
              <a:spcAft>
                <a:spcPts val="1000"/>
              </a:spcAft>
            </a:pPr>
            <a:r>
              <a:rPr sz="1800" b="0">
                <a:solidFill>
                  <a:srgbClr val="161B26"/>
                </a:solidFill>
                <a:latin typeface="Arial"/>
              </a:rPr>
              <a:t>•  Customer Gateway (Private IP)</a:t>
            </a:r>
          </a:p>
          <a:p>
            <a:pPr>
              <a:spcAft>
                <a:spcPts val="1000"/>
              </a:spcAft>
            </a:pPr>
            <a:r>
              <a:rPr sz="1800" b="0">
                <a:solidFill>
                  <a:srgbClr val="161B26"/>
                </a:solidFill>
                <a:latin typeface="Arial"/>
              </a:rPr>
              <a:t>•  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875</a:t>
            </a:r>
          </a:p>
        </p:txBody>
      </p:sp>
    </p:spTree>
  </p:cSld>
  <p:clrMapOvr>
    <a:masterClrMapping/>
  </p:clrMapOvr>
</p:sld>
</file>

<file path=ppt/slides/slide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VPN CloudHub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 secure communication between</a:t>
            </a:r>
          </a:p>
          <a:p>
            <a:pPr>
              <a:spcAft>
                <a:spcPts val="1000"/>
              </a:spcAft>
            </a:pPr>
            <a:r>
              <a:rPr sz="1800" b="0">
                <a:solidFill>
                  <a:srgbClr val="161B26"/>
                </a:solidFill>
                <a:latin typeface="Arial"/>
              </a:rPr>
              <a:t>•  multiple sites, if you have multiple VPN connections</a:t>
            </a:r>
          </a:p>
          <a:p>
            <a:pPr>
              <a:spcAft>
                <a:spcPts val="1000"/>
              </a:spcAft>
            </a:pPr>
            <a:r>
              <a:rPr sz="1800" b="0">
                <a:solidFill>
                  <a:srgbClr val="161B26"/>
                </a:solidFill>
                <a:latin typeface="Arial"/>
              </a:rPr>
              <a:t>•  Low-cost hub-and-spoke model for</a:t>
            </a:r>
          </a:p>
          <a:p>
            <a:pPr>
              <a:spcAft>
                <a:spcPts val="1000"/>
              </a:spcAft>
            </a:pPr>
            <a:r>
              <a:rPr sz="1800" b="0">
                <a:solidFill>
                  <a:srgbClr val="161B26"/>
                </a:solidFill>
                <a:latin typeface="Arial"/>
              </a:rPr>
              <a:t>•  primary or secondary network connectivity between different locations (VPN only)</a:t>
            </a:r>
          </a:p>
          <a:p>
            <a:pPr>
              <a:spcAft>
                <a:spcPts val="1000"/>
              </a:spcAft>
            </a:pPr>
            <a:r>
              <a:rPr sz="1800" b="0">
                <a:solidFill>
                  <a:srgbClr val="161B26"/>
                </a:solidFill>
                <a:latin typeface="Arial"/>
              </a:rPr>
              <a:t>•  It’s a VPN connection so it goes over the public Internet</a:t>
            </a:r>
          </a:p>
          <a:p>
            <a:pPr>
              <a:spcAft>
                <a:spcPts val="1000"/>
              </a:spcAft>
            </a:pPr>
            <a:r>
              <a:rPr sz="1800" b="0">
                <a:solidFill>
                  <a:srgbClr val="161B26"/>
                </a:solidFill>
                <a:latin typeface="Arial"/>
              </a:rPr>
              <a:t>•  To set it up, connect multiple VPN connections on the same VGW, setup dynamic routing and configure route tables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Private Subnet 2</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Virtual Private Gateway (VGW)</a:t>
            </a:r>
          </a:p>
          <a:p>
            <a:pPr>
              <a:spcAft>
                <a:spcPts val="1000"/>
              </a:spcAft>
            </a:pPr>
            <a:r>
              <a:rPr sz="1800" b="0">
                <a:solidFill>
                  <a:srgbClr val="161B26"/>
                </a:solidFill>
                <a:latin typeface="Arial"/>
              </a:rPr>
              <a:t>•  Customer</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876</a:t>
            </a:r>
          </a:p>
        </p:txBody>
      </p:sp>
    </p:spTree>
  </p:cSld>
  <p:clrMapOvr>
    <a:masterClrMapping/>
  </p:clrMapOvr>
</p:sld>
</file>

<file path=ppt/slides/slide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(DX)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Provides a dedicated private connection from a remote network to your VPC</a:t>
            </a:r>
          </a:p>
          <a:p>
            <a:pPr>
              <a:spcAft>
                <a:spcPts val="1000"/>
              </a:spcAft>
            </a:pPr>
            <a:r>
              <a:rPr sz="1800" b="0">
                <a:solidFill>
                  <a:srgbClr val="161B26"/>
                </a:solidFill>
                <a:latin typeface="Arial"/>
              </a:rPr>
              <a:t>•  Dedicated connection must be setup between your DC and AWS Direct Connect locations</a:t>
            </a:r>
          </a:p>
          <a:p>
            <a:pPr>
              <a:spcAft>
                <a:spcPts val="1000"/>
              </a:spcAft>
            </a:pPr>
            <a:r>
              <a:rPr sz="1800" b="0">
                <a:solidFill>
                  <a:srgbClr val="161B26"/>
                </a:solidFill>
                <a:latin typeface="Arial"/>
              </a:rPr>
              <a:t>•  You need to setup a Virtual Private Gateway on your VPC</a:t>
            </a:r>
          </a:p>
          <a:p>
            <a:pPr>
              <a:spcAft>
                <a:spcPts val="1000"/>
              </a:spcAft>
            </a:pPr>
            <a:r>
              <a:rPr sz="1800" b="0">
                <a:solidFill>
                  <a:srgbClr val="161B26"/>
                </a:solidFill>
                <a:latin typeface="Arial"/>
              </a:rPr>
              <a:t>•  Access public resources (S3) and private (EC2) on same connection</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Increase bandwidth throughput - working with large data sets - lower cost</a:t>
            </a:r>
          </a:p>
          <a:p>
            <a:pPr>
              <a:spcAft>
                <a:spcPts val="1000"/>
              </a:spcAft>
            </a:pPr>
            <a:r>
              <a:rPr sz="1800" b="0">
                <a:solidFill>
                  <a:srgbClr val="161B26"/>
                </a:solidFill>
                <a:latin typeface="Arial"/>
              </a:rPr>
              <a:t>•  More consistent network experience - applications using real-time data feeds</a:t>
            </a:r>
          </a:p>
          <a:p>
            <a:pPr>
              <a:spcAft>
                <a:spcPts val="1000"/>
              </a:spcAft>
            </a:pPr>
            <a:r>
              <a:rPr sz="1800" b="0">
                <a:solidFill>
                  <a:srgbClr val="161B26"/>
                </a:solidFill>
                <a:latin typeface="Arial"/>
              </a:rPr>
              <a:t>•  Hybrid Environments (on prem + cloud)</a:t>
            </a:r>
          </a:p>
          <a:p>
            <a:pPr>
              <a:spcAft>
                <a:spcPts val="1000"/>
              </a:spcAft>
            </a:pPr>
            <a:r>
              <a:rPr sz="1800" b="0">
                <a:solidFill>
                  <a:srgbClr val="161B26"/>
                </a:solidFill>
                <a:latin typeface="Arial"/>
              </a:rPr>
              <a:t>•  Supports both IPv4 and IPv6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877</a:t>
            </a:r>
          </a:p>
        </p:txBody>
      </p:sp>
    </p:spTree>
  </p:cSld>
  <p:clrMapOvr>
    <a:masterClrMapping/>
  </p:clrMapOvr>
</p:sld>
</file>

<file path=ppt/slides/slide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Virtual</a:t>
            </a:r>
          </a:p>
          <a:p>
            <a:pPr>
              <a:spcAft>
                <a:spcPts val="1000"/>
              </a:spcAft>
            </a:pPr>
            <a:r>
              <a:rPr sz="1800" b="0">
                <a:solidFill>
                  <a:srgbClr val="161B26"/>
                </a:solidFill>
                <a:latin typeface="Arial"/>
              </a:rPr>
              <a:t>•  Private Gateway</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Glacier</a:t>
            </a:r>
          </a:p>
          <a:p>
            <a:pPr>
              <a:spcAft>
                <a:spcPts val="1000"/>
              </a:spcAft>
            </a:pPr>
            <a:r>
              <a:rPr sz="1800" b="0">
                <a:solidFill>
                  <a:srgbClr val="161B26"/>
                </a:solidFill>
                <a:latin typeface="Arial"/>
              </a:rPr>
              <a:t>•  AWS Direct Connect Location</a:t>
            </a:r>
          </a:p>
          <a:p>
            <a:pPr>
              <a:spcAft>
                <a:spcPts val="1000"/>
              </a:spcAft>
            </a:pPr>
            <a:r>
              <a:rPr sz="1800" b="0">
                <a:solidFill>
                  <a:srgbClr val="161B26"/>
                </a:solidFill>
                <a:latin typeface="Arial"/>
              </a:rPr>
              <a:t>•  AWS Cage</a:t>
            </a:r>
          </a:p>
          <a:p>
            <a:pPr>
              <a:spcAft>
                <a:spcPts val="1000"/>
              </a:spcAft>
            </a:pPr>
            <a:r>
              <a:rPr sz="1800" b="0">
                <a:solidFill>
                  <a:srgbClr val="161B26"/>
                </a:solidFill>
                <a:latin typeface="Arial"/>
              </a:rPr>
              <a:t>•  Customer or partner cage</a:t>
            </a:r>
          </a:p>
          <a:p>
            <a:pPr>
              <a:spcAft>
                <a:spcPts val="1000"/>
              </a:spcAft>
            </a:pPr>
            <a:r>
              <a:rPr sz="1800" b="0">
                <a:solidFill>
                  <a:srgbClr val="161B26"/>
                </a:solidFill>
                <a:latin typeface="Arial"/>
              </a:rPr>
              <a:t>•  AWS Direct Connect Endpoint</a:t>
            </a:r>
          </a:p>
          <a:p>
            <a:pPr>
              <a:spcAft>
                <a:spcPts val="1000"/>
              </a:spcAft>
            </a:pPr>
            <a:r>
              <a:rPr sz="1800" b="0">
                <a:solidFill>
                  <a:srgbClr val="161B26"/>
                </a:solidFill>
                <a:latin typeface="Arial"/>
              </a:rPr>
              <a:t>•  Customer or partner router</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Customer router/firewall</a:t>
            </a:r>
          </a:p>
          <a:p>
            <a:pPr>
              <a:spcAft>
                <a:spcPts val="1000"/>
              </a:spcAft>
            </a:pPr>
            <a:r>
              <a:rPr sz="1800" b="0">
                <a:solidFill>
                  <a:srgbClr val="161B26"/>
                </a:solidFill>
                <a:latin typeface="Arial"/>
              </a:rPr>
              <a:t>•  VLAN 1</a:t>
            </a:r>
          </a:p>
          <a:p>
            <a:pPr>
              <a:spcAft>
                <a:spcPts val="1000"/>
              </a:spcAft>
            </a:pPr>
            <a:r>
              <a:rPr sz="1800" b="0">
                <a:solidFill>
                  <a:srgbClr val="161B26"/>
                </a:solidFill>
                <a:latin typeface="Arial"/>
              </a:rPr>
              <a:t>•  VLAN 2</a:t>
            </a:r>
          </a:p>
          <a:p>
            <a:pPr>
              <a:spcAft>
                <a:spcPts val="1000"/>
              </a:spcAft>
            </a:pPr>
            <a:r>
              <a:rPr sz="1800" b="0">
                <a:solidFill>
                  <a:srgbClr val="161B26"/>
                </a:solidFill>
                <a:latin typeface="Arial"/>
              </a:rPr>
              <a:t>•  Private virtual interface Public virtual interface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878</a:t>
            </a:r>
          </a:p>
        </p:txBody>
      </p:sp>
    </p:spTree>
  </p:cSld>
  <p:clrMapOvr>
    <a:masterClrMapping/>
  </p:clrMapOvr>
</p:sld>
</file>

<file path=ppt/slides/slide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want to setup a Direct Connect to one or more VPC in many different regions (same account), you must use a Direct Connect Gateway</a:t>
            </a:r>
          </a:p>
          <a:p>
            <a:pPr>
              <a:spcAft>
                <a:spcPts val="1000"/>
              </a:spcAft>
            </a:pPr>
            <a:r>
              <a:rPr sz="1800" b="0">
                <a:solidFill>
                  <a:srgbClr val="161B26"/>
                </a:solidFill>
                <a:latin typeface="Arial"/>
              </a:rPr>
              <a:t>•  Region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Region (us-west-1)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10.0.0.0/16</a:t>
            </a:r>
          </a:p>
          <a:p>
            <a:pPr>
              <a:spcAft>
                <a:spcPts val="1000"/>
              </a:spcAft>
            </a:pPr>
            <a:r>
              <a:rPr sz="1800" b="0">
                <a:solidFill>
                  <a:srgbClr val="161B26"/>
                </a:solidFill>
                <a:latin typeface="Arial"/>
              </a:rPr>
              <a:t>•  172.16.0.0/16</a:t>
            </a:r>
          </a:p>
          <a:p>
            <a:pPr>
              <a:spcAft>
                <a:spcPts val="1000"/>
              </a:spcAft>
            </a:pPr>
            <a:r>
              <a:rPr sz="1800" b="0">
                <a:solidFill>
                  <a:srgbClr val="161B26"/>
                </a:solidFill>
                <a:latin typeface="Arial"/>
              </a:rPr>
              <a:t>•  Direct Connect Gateway</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AWS Direct Connect</a:t>
            </a:r>
          </a:p>
          <a:p>
            <a:pPr>
              <a:spcAft>
                <a:spcPts val="1000"/>
              </a:spcAft>
            </a:pPr>
            <a:r>
              <a:rPr sz="1800" b="0">
                <a:solidFill>
                  <a:srgbClr val="161B26"/>
                </a:solidFill>
                <a:latin typeface="Arial"/>
              </a:rPr>
              <a:t>•  Private virtual interface</a:t>
            </a:r>
          </a:p>
          <a:p>
            <a:pPr>
              <a:spcAft>
                <a:spcPts val="1000"/>
              </a:spcAft>
            </a:pPr>
            <a:r>
              <a:rPr sz="1800" b="0">
                <a:solidFill>
                  <a:srgbClr val="161B26"/>
                </a:solidFill>
                <a:latin typeface="Arial"/>
              </a:rPr>
              <a:t>•  Private virtual interface</a:t>
            </a:r>
          </a:p>
          <a:p>
            <a:pPr>
              <a:spcAft>
                <a:spcPts val="1000"/>
              </a:spcAft>
            </a:pPr>
            <a:r>
              <a:rPr sz="1800" b="0">
                <a:solidFill>
                  <a:srgbClr val="161B26"/>
                </a:solidFill>
                <a:latin typeface="Arial"/>
              </a:rPr>
              <a:t>•  Private virtual interface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879</a:t>
            </a:r>
          </a:p>
        </p:txBody>
      </p:sp>
    </p:spTree>
  </p:cSld>
  <p:clrMapOvr>
    <a:masterClrMapping/>
  </p:clrMapOvr>
</p:sld>
</file>

<file path=ppt/slides/slide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 Connection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Dedicated Connections: 1Gbps,10 Gbps and 100 Gbps capacity</a:t>
            </a:r>
          </a:p>
          <a:p>
            <a:pPr>
              <a:spcAft>
                <a:spcPts val="1000"/>
              </a:spcAft>
            </a:pPr>
            <a:r>
              <a:rPr sz="1800" b="0">
                <a:solidFill>
                  <a:srgbClr val="161B26"/>
                </a:solidFill>
                <a:latin typeface="Arial"/>
              </a:rPr>
              <a:t>•  Physical ethernet port dedicated to a customer</a:t>
            </a:r>
          </a:p>
          <a:p>
            <a:pPr>
              <a:spcAft>
                <a:spcPts val="1000"/>
              </a:spcAft>
            </a:pPr>
            <a:r>
              <a:rPr sz="1800" b="0">
                <a:solidFill>
                  <a:srgbClr val="161B26"/>
                </a:solidFill>
                <a:latin typeface="Arial"/>
              </a:rPr>
              <a:t>•  Request made to AWS first, then completed by AWS Direct Connect Partners</a:t>
            </a:r>
          </a:p>
          <a:p>
            <a:pPr>
              <a:spcAft>
                <a:spcPts val="1000"/>
              </a:spcAft>
            </a:pPr>
            <a:r>
              <a:rPr sz="1800" b="0">
                <a:solidFill>
                  <a:srgbClr val="161B26"/>
                </a:solidFill>
                <a:latin typeface="Arial"/>
              </a:rPr>
              <a:t>•  Hosted Connections: 50Mbps, 500 Mbps, to 10 Gbps</a:t>
            </a:r>
          </a:p>
          <a:p>
            <a:pPr>
              <a:spcAft>
                <a:spcPts val="1000"/>
              </a:spcAft>
            </a:pPr>
            <a:r>
              <a:rPr sz="1800" b="0">
                <a:solidFill>
                  <a:srgbClr val="161B26"/>
                </a:solidFill>
                <a:latin typeface="Arial"/>
              </a:rPr>
              <a:t>•  Connection requests are made via AWS Direct Connect Partners</a:t>
            </a:r>
          </a:p>
          <a:p>
            <a:pPr>
              <a:spcAft>
                <a:spcPts val="1000"/>
              </a:spcAft>
            </a:pPr>
            <a:r>
              <a:rPr sz="1800" b="0">
                <a:solidFill>
                  <a:srgbClr val="161B26"/>
                </a:solidFill>
                <a:latin typeface="Arial"/>
              </a:rPr>
              <a:t>•  Capacity can be added or removed on demand</a:t>
            </a:r>
          </a:p>
          <a:p>
            <a:pPr>
              <a:spcAft>
                <a:spcPts val="1000"/>
              </a:spcAft>
            </a:pPr>
            <a:r>
              <a:rPr sz="1800" b="0">
                <a:solidFill>
                  <a:srgbClr val="161B26"/>
                </a:solidFill>
                <a:latin typeface="Arial"/>
              </a:rPr>
              <a:t>•  1, 2, 5, 10 Gbps available at select AWS Direct Connect Partners</a:t>
            </a:r>
          </a:p>
          <a:p>
            <a:pPr>
              <a:spcAft>
                <a:spcPts val="1000"/>
              </a:spcAft>
            </a:pPr>
            <a:r>
              <a:rPr sz="1800" b="0">
                <a:solidFill>
                  <a:srgbClr val="161B26"/>
                </a:solidFill>
                <a:latin typeface="Arial"/>
              </a:rPr>
              <a:t>•  Lead times are often longer than 1 month to establish a new connection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880</a:t>
            </a:r>
          </a:p>
        </p:txBody>
      </p:sp>
    </p:spTree>
  </p:cSld>
  <p:clrMapOvr>
    <a:masterClrMapping/>
  </p:clrMapOvr>
</p:sld>
</file>

<file path=ppt/slides/slide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Data in transit is not encrypted but is private</a:t>
            </a:r>
          </a:p>
          <a:p>
            <a:pPr>
              <a:spcAft>
                <a:spcPts val="1000"/>
              </a:spcAft>
            </a:pPr>
            <a:r>
              <a:rPr sz="1800" b="0">
                <a:solidFill>
                  <a:srgbClr val="161B26"/>
                </a:solidFill>
                <a:latin typeface="Arial"/>
              </a:rPr>
              <a:t>•  AWS Direct Connect + VPN provides an IPsec-encrypted private connection</a:t>
            </a:r>
          </a:p>
          <a:p>
            <a:pPr>
              <a:spcAft>
                <a:spcPts val="1000"/>
              </a:spcAft>
            </a:pPr>
            <a:r>
              <a:rPr sz="1800" b="0">
                <a:solidFill>
                  <a:srgbClr val="161B26"/>
                </a:solidFill>
                <a:latin typeface="Arial"/>
              </a:rPr>
              <a:t>•  Good for an extra level of security, but slightly more complex to put in place</a:t>
            </a:r>
          </a:p>
          <a:p>
            <a:pPr>
              <a:spcAft>
                <a:spcPts val="1000"/>
              </a:spcAft>
            </a:pPr>
            <a:r>
              <a:rPr sz="1800" b="0">
                <a:solidFill>
                  <a:srgbClr val="161B26"/>
                </a:solidFill>
                <a:latin typeface="Arial"/>
              </a:rPr>
              <a:t>•  Region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Availability Zone (us-east-1a)</a:t>
            </a:r>
          </a:p>
          <a:p>
            <a:pPr>
              <a:spcAft>
                <a:spcPts val="1000"/>
              </a:spcAft>
            </a:pPr>
            <a:r>
              <a:rPr sz="1800" b="0">
                <a:solidFill>
                  <a:srgbClr val="161B26"/>
                </a:solidFill>
                <a:latin typeface="Arial"/>
              </a:rPr>
              <a:t>•  Availability Zone (us-east-1b)</a:t>
            </a:r>
          </a:p>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Private Subnet 2</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AWS Direct Connect Location</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Direct</a:t>
            </a:r>
          </a:p>
          <a:p>
            <a:pPr>
              <a:spcAft>
                <a:spcPts val="1000"/>
              </a:spcAft>
            </a:pPr>
            <a:r>
              <a:rPr sz="1800" b="0">
                <a:solidFill>
                  <a:srgbClr val="161B26"/>
                </a:solidFill>
                <a:latin typeface="Arial"/>
              </a:rPr>
              <a:t>•  Connect Endpoint</a:t>
            </a:r>
          </a:p>
          <a:p>
            <a:pPr>
              <a:spcAft>
                <a:spcPts val="1000"/>
              </a:spcAft>
            </a:pPr>
            <a:r>
              <a:rPr sz="1800" b="0">
                <a:solidFill>
                  <a:srgbClr val="161B26"/>
                </a:solidFill>
                <a:latin typeface="Arial"/>
              </a:rPr>
              <a:t>•  Customer</a:t>
            </a:r>
          </a:p>
          <a:p>
            <a:pPr>
              <a:spcAft>
                <a:spcPts val="1000"/>
              </a:spcAft>
            </a:pPr>
            <a:r>
              <a:rPr sz="1800" b="0">
                <a:solidFill>
                  <a:srgbClr val="161B26"/>
                </a:solidFill>
                <a:latin typeface="Arial"/>
              </a:rPr>
              <a:t>•  router/firewall</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881</a:t>
            </a:r>
          </a:p>
        </p:txBody>
      </p:sp>
    </p:spTree>
  </p:cSld>
  <p:clrMapOvr>
    <a:masterClrMapping/>
  </p:clrMapOvr>
</p:sld>
</file>

<file path=ppt/slides/slide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 Resiliency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High Resiliency for Critical Workloads</a:t>
            </a:r>
          </a:p>
          <a:p>
            <a:pPr>
              <a:spcAft>
                <a:spcPts val="1000"/>
              </a:spcAft>
            </a:pPr>
            <a:r>
              <a:rPr sz="1800" b="0">
                <a:solidFill>
                  <a:srgbClr val="161B26"/>
                </a:solidFill>
                <a:latin typeface="Arial"/>
              </a:rPr>
              <a:t>•  One connection at multiple locations</a:t>
            </a:r>
          </a:p>
          <a:p>
            <a:pPr>
              <a:spcAft>
                <a:spcPts val="1000"/>
              </a:spcAft>
            </a:pPr>
            <a:r>
              <a:rPr sz="1800" b="0">
                <a:solidFill>
                  <a:srgbClr val="161B26"/>
                </a:solidFill>
                <a:latin typeface="Arial"/>
              </a:rPr>
              <a:t>•  Maximum Resiliency for Critical Workloads</a:t>
            </a:r>
          </a:p>
          <a:p>
            <a:pPr>
              <a:spcAft>
                <a:spcPts val="1000"/>
              </a:spcAft>
            </a:pPr>
            <a:r>
              <a:rPr sz="1800" b="0">
                <a:solidFill>
                  <a:srgbClr val="161B26"/>
                </a:solidFill>
                <a:latin typeface="Arial"/>
              </a:rPr>
              <a:t>•  Maximum resilience is achieved by separate connections terminating on separate devices in more than one location.</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AWS Direct Connect Location - 1</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Direct Connect Location - 2</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AWS Direct Connect Location - 1</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Direct Connect Location - 2</a:t>
            </a:r>
          </a:p>
          <a:p>
            <a:pPr>
              <a:spcAft>
                <a:spcPts val="1000"/>
              </a:spcAft>
            </a:pPr>
            <a:r>
              <a:rPr sz="1800" b="0">
                <a:solidFill>
                  <a:srgbClr val="161B26"/>
                </a:solidFill>
                <a:latin typeface="Arial"/>
              </a:rPr>
              <a:t>•  Corporate data center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882</a:t>
            </a:r>
          </a:p>
        </p:txBody>
      </p:sp>
    </p:spTree>
  </p:cSld>
  <p:clrMapOvr>
    <a:masterClrMapping/>
  </p:clrMapOvr>
</p:sld>
</file>

<file path=ppt/slides/slide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Site-to-Site VPN connection as a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 case Direct Connect fails, you can set up a backup Direct Connect connection (expensive), or a Site-to-Site VPN connection</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Primary Connection</a:t>
            </a:r>
          </a:p>
          <a:p>
            <a:pPr>
              <a:spcAft>
                <a:spcPts val="1000"/>
              </a:spcAft>
            </a:pPr>
            <a:r>
              <a:rPr sz="1800" b="0">
                <a:solidFill>
                  <a:srgbClr val="161B26"/>
                </a:solidFill>
                <a:latin typeface="Arial"/>
              </a:rPr>
              <a:t>•  Site-to-Site VPN</a:t>
            </a:r>
          </a:p>
          <a:p>
            <a:pPr>
              <a:spcAft>
                <a:spcPts val="1000"/>
              </a:spcAft>
            </a:pPr>
            <a:r>
              <a:rPr sz="1800" b="0">
                <a:solidFill>
                  <a:srgbClr val="161B26"/>
                </a:solidFill>
                <a:latin typeface="Arial"/>
              </a:rPr>
              <a:t>•  Backup Connection</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Corporate DC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883</a:t>
            </a:r>
          </a:p>
        </p:txBody>
      </p:sp>
    </p:spTree>
  </p:cSld>
  <p:clrMapOvr>
    <a:masterClrMapping/>
  </p:clrMapOvr>
</p:sld>
</file>

<file path=ppt/slides/slide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Exposing services in your VPC to other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Option 1: make it public</a:t>
            </a:r>
          </a:p>
          <a:p>
            <a:pPr>
              <a:spcAft>
                <a:spcPts val="1000"/>
              </a:spcAft>
            </a:pPr>
            <a:r>
              <a:rPr sz="1800" b="0">
                <a:solidFill>
                  <a:srgbClr val="161B26"/>
                </a:solidFill>
                <a:latin typeface="Arial"/>
              </a:rPr>
              <a:t>•  Goes through the public www</a:t>
            </a:r>
          </a:p>
          <a:p>
            <a:pPr>
              <a:spcAft>
                <a:spcPts val="1000"/>
              </a:spcAft>
            </a:pPr>
            <a:r>
              <a:rPr sz="1800" b="0">
                <a:solidFill>
                  <a:srgbClr val="161B26"/>
                </a:solidFill>
                <a:latin typeface="Arial"/>
              </a:rPr>
              <a:t>•  Tough to manage access</a:t>
            </a:r>
          </a:p>
          <a:p>
            <a:pPr>
              <a:spcAft>
                <a:spcPts val="1000"/>
              </a:spcAft>
            </a:pPr>
            <a:r>
              <a:rPr sz="1800" b="0">
                <a:solidFill>
                  <a:srgbClr val="161B26"/>
                </a:solidFill>
                <a:latin typeface="Arial"/>
              </a:rPr>
              <a:t>•  Option 2:VPC peering</a:t>
            </a:r>
          </a:p>
          <a:p>
            <a:pPr>
              <a:spcAft>
                <a:spcPts val="1000"/>
              </a:spcAft>
            </a:pPr>
            <a:r>
              <a:rPr sz="1800" b="0">
                <a:solidFill>
                  <a:srgbClr val="161B26"/>
                </a:solidFill>
                <a:latin typeface="Arial"/>
              </a:rPr>
              <a:t>•  Must create many peering relations</a:t>
            </a:r>
          </a:p>
          <a:p>
            <a:pPr>
              <a:spcAft>
                <a:spcPts val="1000"/>
              </a:spcAft>
            </a:pPr>
            <a:r>
              <a:rPr sz="1800" b="0">
                <a:solidFill>
                  <a:srgbClr val="161B26"/>
                </a:solidFill>
                <a:latin typeface="Arial"/>
              </a:rPr>
              <a:t>•  Opens the whole network</a:t>
            </a:r>
          </a:p>
          <a:p>
            <a:pPr>
              <a:spcAft>
                <a:spcPts val="1000"/>
              </a:spcAft>
            </a:pPr>
            <a:r>
              <a:rPr sz="1800" b="0">
                <a:solidFill>
                  <a:srgbClr val="161B26"/>
                </a:solidFill>
                <a:latin typeface="Arial"/>
              </a:rPr>
              <a:t>•  Peering connection</a:t>
            </a:r>
          </a:p>
          <a:p>
            <a:pPr>
              <a:spcAft>
                <a:spcPts val="1000"/>
              </a:spcAft>
            </a:pPr>
            <a:r>
              <a:rPr sz="1800" b="0">
                <a:solidFill>
                  <a:srgbClr val="161B26"/>
                </a:solidFill>
                <a:latin typeface="Arial"/>
              </a:rPr>
              <a:t>•  Service VPC</a:t>
            </a:r>
          </a:p>
          <a:p>
            <a:pPr>
              <a:spcAft>
                <a:spcPts val="1000"/>
              </a:spcAft>
            </a:pPr>
            <a:r>
              <a:rPr sz="1800" b="0">
                <a:solidFill>
                  <a:srgbClr val="161B26"/>
                </a:solidFill>
                <a:latin typeface="Arial"/>
              </a:rPr>
              <a:t>•  Customer VPC</a:t>
            </a:r>
          </a:p>
          <a:p>
            <a:pPr>
              <a:spcAft>
                <a:spcPts val="1000"/>
              </a:spcAft>
            </a:pPr>
            <a:r>
              <a:rPr sz="1800" b="0">
                <a:solidFill>
                  <a:srgbClr val="161B26"/>
                </a:solidFill>
                <a:latin typeface="Arial"/>
              </a:rPr>
              <a:t>•  Application service</a:t>
            </a:r>
          </a:p>
          <a:p>
            <a:pPr>
              <a:spcAft>
                <a:spcPts val="1000"/>
              </a:spcAft>
            </a:pPr>
            <a:r>
              <a:rPr sz="1800" b="0">
                <a:solidFill>
                  <a:srgbClr val="161B26"/>
                </a:solidFill>
                <a:latin typeface="Arial"/>
              </a:rPr>
              <a:t>•  Service VPC</a:t>
            </a:r>
          </a:p>
          <a:p>
            <a:pPr>
              <a:spcAft>
                <a:spcPts val="1000"/>
              </a:spcAft>
            </a:pPr>
            <a:r>
              <a:rPr sz="1800" b="0">
                <a:solidFill>
                  <a:srgbClr val="161B26"/>
                </a:solidFill>
                <a:latin typeface="Arial"/>
              </a:rPr>
              <a:t>•  Customer VPC With IGW</a:t>
            </a:r>
          </a:p>
          <a:p>
            <a:pPr>
              <a:spcAft>
                <a:spcPts val="1000"/>
              </a:spcAft>
            </a:pPr>
            <a:r>
              <a:rPr sz="1800" b="0">
                <a:solidFill>
                  <a:srgbClr val="161B26"/>
                </a:solidFill>
                <a:latin typeface="Arial"/>
              </a:rPr>
              <a:t>•  Application service</a:t>
            </a:r>
          </a:p>
          <a:p>
            <a:pPr>
              <a:spcAft>
                <a:spcPts val="1000"/>
              </a:spcAft>
            </a:pPr>
            <a:r>
              <a:rPr sz="1800" b="0">
                <a:solidFill>
                  <a:srgbClr val="161B26"/>
                </a:solidFill>
                <a:latin typeface="Arial"/>
              </a:rPr>
              <a:t>•  Public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884</a:t>
            </a:r>
          </a:p>
        </p:txBody>
      </p:sp>
    </p:spTree>
  </p:cSld>
  <p:clrMapOvr>
    <a:masterClrMapping/>
  </p:clrMapOvr>
</p:sld>
</file>

<file path=ppt/slides/slide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PrivateLink (VPC Endpoint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Most secure &amp; scalable way to expose a service to 1000s of VPC (own or other accounts)</a:t>
            </a:r>
          </a:p>
          <a:p>
            <a:pPr>
              <a:spcAft>
                <a:spcPts val="1000"/>
              </a:spcAft>
            </a:pPr>
            <a:r>
              <a:rPr sz="1800" b="0">
                <a:solidFill>
                  <a:srgbClr val="161B26"/>
                </a:solidFill>
                <a:latin typeface="Arial"/>
              </a:rPr>
              <a:t>•  Does not require VPC peering, internet gateway, NAT, route tables…</a:t>
            </a:r>
          </a:p>
          <a:p>
            <a:pPr>
              <a:spcAft>
                <a:spcPts val="1000"/>
              </a:spcAft>
            </a:pPr>
            <a:r>
              <a:rPr sz="1800" b="0">
                <a:solidFill>
                  <a:srgbClr val="161B26"/>
                </a:solidFill>
                <a:latin typeface="Arial"/>
              </a:rPr>
              <a:t>•  Requires a network load balancer (Service VPC) and ENI (Customer VPC) or GWLB</a:t>
            </a:r>
          </a:p>
          <a:p>
            <a:pPr>
              <a:spcAft>
                <a:spcPts val="1000"/>
              </a:spcAft>
            </a:pPr>
            <a:r>
              <a:rPr sz="1800" b="0">
                <a:solidFill>
                  <a:srgbClr val="161B26"/>
                </a:solidFill>
                <a:latin typeface="Arial"/>
              </a:rPr>
              <a:t>•  If the NLB is in multiple AZ, and the ENIs in multiple AZ, the solution is fault tolerant!</a:t>
            </a:r>
          </a:p>
          <a:p>
            <a:pPr>
              <a:spcAft>
                <a:spcPts val="1000"/>
              </a:spcAft>
            </a:pPr>
            <a:r>
              <a:rPr sz="1800" b="0">
                <a:solidFill>
                  <a:srgbClr val="161B26"/>
                </a:solidFill>
                <a:latin typeface="Arial"/>
              </a:rPr>
              <a:t>•  Service VPC</a:t>
            </a:r>
          </a:p>
          <a:p>
            <a:pPr>
              <a:spcAft>
                <a:spcPts val="1000"/>
              </a:spcAft>
            </a:pPr>
            <a:r>
              <a:rPr sz="1800" b="0">
                <a:solidFill>
                  <a:srgbClr val="161B26"/>
                </a:solidFill>
                <a:latin typeface="Arial"/>
              </a:rPr>
              <a:t>•  Customer VPC</a:t>
            </a:r>
          </a:p>
          <a:p>
            <a:pPr>
              <a:spcAft>
                <a:spcPts val="1000"/>
              </a:spcAft>
            </a:pPr>
            <a:r>
              <a:rPr sz="1800" b="0">
                <a:solidFill>
                  <a:srgbClr val="161B26"/>
                </a:solidFill>
                <a:latin typeface="Arial"/>
              </a:rPr>
              <a:t>•  Application service</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Elastic Network Interface (ENI)</a:t>
            </a:r>
          </a:p>
          <a:p>
            <a:pPr>
              <a:spcAft>
                <a:spcPts val="1000"/>
              </a:spcAft>
            </a:pPr>
            <a:r>
              <a:rPr sz="1800" b="0">
                <a:solidFill>
                  <a:srgbClr val="161B26"/>
                </a:solidFill>
                <a:latin typeface="Arial"/>
              </a:rPr>
              <a:t>•  AWS Private Link</a:t>
            </a:r>
          </a:p>
          <a:p>
            <a:pPr>
              <a:spcAft>
                <a:spcPts val="1000"/>
              </a:spcAft>
            </a:pPr>
            <a:r>
              <a:rPr sz="1800" b="0">
                <a:solidFill>
                  <a:srgbClr val="161B26"/>
                </a:solidFill>
                <a:latin typeface="Arial"/>
              </a:rPr>
              <a:t>•  Consumer Application</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private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885</a:t>
            </a:r>
          </a:p>
        </p:txBody>
      </p:sp>
    </p:spTree>
  </p:cSld>
  <p:clrMapOvr>
    <a:masterClrMapping/>
  </p:clrMapOvr>
</p:sld>
</file>

<file path=ppt/slides/slide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Private Link &amp; ECS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AWS PrivateLink</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Virtual Private Gateway</a:t>
            </a:r>
          </a:p>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VPN</a:t>
            </a:r>
          </a:p>
          <a:p>
            <a:pPr>
              <a:spcAft>
                <a:spcPts val="1000"/>
              </a:spcAft>
            </a:pPr>
            <a:r>
              <a:rPr sz="1800" b="0">
                <a:solidFill>
                  <a:srgbClr val="161B26"/>
                </a:solidFill>
                <a:latin typeface="Arial"/>
              </a:rPr>
              <a:t>•  Connection</a:t>
            </a:r>
          </a:p>
          <a:p>
            <a:pPr>
              <a:spcAft>
                <a:spcPts val="1000"/>
              </a:spcAft>
            </a:pPr>
            <a:r>
              <a:rPr sz="1800" b="0">
                <a:solidFill>
                  <a:srgbClr val="161B26"/>
                </a:solidFill>
                <a:latin typeface="Arial"/>
              </a:rPr>
              <a:t>•  Amazon ECS service</a:t>
            </a:r>
          </a:p>
          <a:p>
            <a:pPr>
              <a:spcAft>
                <a:spcPts val="1000"/>
              </a:spcAft>
            </a:pPr>
            <a:r>
              <a:rPr sz="1800" b="0">
                <a:solidFill>
                  <a:srgbClr val="161B26"/>
                </a:solidFill>
                <a:latin typeface="Arial"/>
              </a:rPr>
              <a:t>•  Task 1</a:t>
            </a:r>
          </a:p>
          <a:p>
            <a:pPr>
              <a:spcAft>
                <a:spcPts val="1000"/>
              </a:spcAft>
            </a:pPr>
            <a:r>
              <a:rPr sz="1800" b="0">
                <a:solidFill>
                  <a:srgbClr val="161B26"/>
                </a:solidFill>
                <a:latin typeface="Arial"/>
              </a:rPr>
              <a:t>•  Task 2</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Task 4</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Task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886</a:t>
            </a:r>
          </a:p>
        </p:txBody>
      </p:sp>
    </p:spTree>
  </p:cSld>
  <p:clrMapOvr>
    <a:masterClrMapping/>
  </p:clrMapOvr>
</p:sld>
</file>

<file path=ppt/slides/slide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EC2-Classic &amp; AWS ClassicLink (deprecated)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Classic: instances run in a single network shared with other customers</a:t>
            </a:r>
          </a:p>
          <a:p>
            <a:pPr>
              <a:spcAft>
                <a:spcPts val="1000"/>
              </a:spcAft>
            </a:pPr>
            <a:r>
              <a:rPr sz="1800" b="0">
                <a:solidFill>
                  <a:srgbClr val="161B26"/>
                </a:solidFill>
                <a:latin typeface="Arial"/>
              </a:rPr>
              <a:t>•  Amazon VPC: your instances run logically isolated to your AWS account</a:t>
            </a:r>
          </a:p>
          <a:p>
            <a:pPr>
              <a:spcAft>
                <a:spcPts val="1000"/>
              </a:spcAft>
            </a:pPr>
            <a:r>
              <a:rPr sz="1800" b="0">
                <a:solidFill>
                  <a:srgbClr val="161B26"/>
                </a:solidFill>
                <a:latin typeface="Arial"/>
              </a:rPr>
              <a:t>•  ClassicLink: allows you to link EC2-Classic instances to a VPC in your account</a:t>
            </a:r>
          </a:p>
          <a:p>
            <a:pPr>
              <a:spcAft>
                <a:spcPts val="1000"/>
              </a:spcAft>
            </a:pPr>
            <a:r>
              <a:rPr sz="1800" b="0">
                <a:solidFill>
                  <a:srgbClr val="161B26"/>
                </a:solidFill>
                <a:latin typeface="Arial"/>
              </a:rPr>
              <a:t>•  Must associate a security group</a:t>
            </a:r>
          </a:p>
          <a:p>
            <a:pPr>
              <a:spcAft>
                <a:spcPts val="1000"/>
              </a:spcAft>
            </a:pPr>
            <a:r>
              <a:rPr sz="1800" b="0">
                <a:solidFill>
                  <a:srgbClr val="161B26"/>
                </a:solidFill>
                <a:latin typeface="Arial"/>
              </a:rPr>
              <a:t>•  Enables communication using private IPv4 addresses</a:t>
            </a:r>
          </a:p>
          <a:p>
            <a:pPr>
              <a:spcAft>
                <a:spcPts val="1000"/>
              </a:spcAft>
            </a:pPr>
            <a:r>
              <a:rPr sz="1800" b="0">
                <a:solidFill>
                  <a:srgbClr val="161B26"/>
                </a:solidFill>
                <a:latin typeface="Arial"/>
              </a:rPr>
              <a:t>•  Removes the need to make use of public IPv4 addresses or Elastic IP addresses</a:t>
            </a:r>
          </a:p>
          <a:p>
            <a:pPr>
              <a:spcAft>
                <a:spcPts val="1000"/>
              </a:spcAft>
            </a:pPr>
            <a:r>
              <a:rPr sz="1800" b="0">
                <a:solidFill>
                  <a:srgbClr val="161B26"/>
                </a:solidFill>
                <a:latin typeface="Arial"/>
              </a:rPr>
              <a:t>•  Likely to be distractors at the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887</a:t>
            </a:r>
          </a:p>
        </p:txBody>
      </p:sp>
    </p:spTree>
  </p:cSld>
  <p:clrMapOvr>
    <a:masterClrMapping/>
  </p:clrMapOvr>
</p:sld>
</file>

<file path=ppt/slides/slide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topologies can become complicated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Direct Connect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888</a:t>
            </a:r>
          </a:p>
        </p:txBody>
      </p:sp>
    </p:spTree>
  </p:cSld>
  <p:clrMapOvr>
    <a:masterClrMapping/>
  </p:clrMapOvr>
</p:sld>
</file>

<file path=ppt/slides/slide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having transitive peering between thousands of VPC and on-premises, hub-and-spoke (star) connection</a:t>
            </a:r>
          </a:p>
          <a:p>
            <a:pPr>
              <a:spcAft>
                <a:spcPts val="1000"/>
              </a:spcAft>
            </a:pPr>
            <a:r>
              <a:rPr sz="1800" b="0">
                <a:solidFill>
                  <a:srgbClr val="161B26"/>
                </a:solidFill>
                <a:latin typeface="Arial"/>
              </a:rPr>
              <a:t>•  Regional resource, can work cross-region</a:t>
            </a:r>
          </a:p>
          <a:p>
            <a:pPr>
              <a:spcAft>
                <a:spcPts val="1000"/>
              </a:spcAft>
            </a:pPr>
            <a:r>
              <a:rPr sz="1800" b="0">
                <a:solidFill>
                  <a:srgbClr val="161B26"/>
                </a:solidFill>
                <a:latin typeface="Arial"/>
              </a:rPr>
              <a:t>•  Share cross-account using Resource Access Manager (RAM)</a:t>
            </a:r>
          </a:p>
          <a:p>
            <a:pPr>
              <a:spcAft>
                <a:spcPts val="1000"/>
              </a:spcAft>
            </a:pPr>
            <a:r>
              <a:rPr sz="1800" b="0">
                <a:solidFill>
                  <a:srgbClr val="161B26"/>
                </a:solidFill>
                <a:latin typeface="Arial"/>
              </a:rPr>
              <a:t>•  You can peer Transit Gateways across regions</a:t>
            </a:r>
          </a:p>
          <a:p>
            <a:pPr>
              <a:spcAft>
                <a:spcPts val="1000"/>
              </a:spcAft>
            </a:pPr>
            <a:r>
              <a:rPr sz="1800" b="0">
                <a:solidFill>
                  <a:srgbClr val="161B26"/>
                </a:solidFill>
                <a:latin typeface="Arial"/>
              </a:rPr>
              <a:t>•  Route Tables: limit which VPC can talk with other VPC</a:t>
            </a:r>
          </a:p>
          <a:p>
            <a:pPr>
              <a:spcAft>
                <a:spcPts val="1000"/>
              </a:spcAft>
            </a:pPr>
            <a:r>
              <a:rPr sz="1800" b="0">
                <a:solidFill>
                  <a:srgbClr val="161B26"/>
                </a:solidFill>
                <a:latin typeface="Arial"/>
              </a:rPr>
              <a:t>•  Works with Direct Connect Gateway,VPN connections</a:t>
            </a:r>
          </a:p>
          <a:p>
            <a:pPr>
              <a:spcAft>
                <a:spcPts val="1000"/>
              </a:spcAft>
            </a:pPr>
            <a:r>
              <a:rPr sz="1800" b="0">
                <a:solidFill>
                  <a:srgbClr val="161B26"/>
                </a:solidFill>
                <a:latin typeface="Arial"/>
              </a:rPr>
              <a:t>•  Supports IP Multicast (not supported by any other AWS service)</a:t>
            </a:r>
          </a:p>
          <a:p>
            <a:pPr>
              <a:spcAft>
                <a:spcPts val="1000"/>
              </a:spcAft>
            </a:pPr>
            <a:r>
              <a:rPr sz="1800" b="0">
                <a:solidFill>
                  <a:srgbClr val="161B26"/>
                </a:solidFill>
                <a:latin typeface="Arial"/>
              </a:rPr>
              <a:t>•  AWS Direct Connect Gateway</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Transit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889</a:t>
            </a:r>
          </a:p>
        </p:txBody>
      </p:sp>
    </p:spTree>
  </p:cSld>
  <p:clrMapOvr>
    <a:masterClrMapping/>
  </p:clrMapOvr>
</p:sld>
</file>

<file path=ppt/slides/slide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 Site-to-Site VPN ECMP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ECMP = Equal-cost multi-path routing</a:t>
            </a:r>
          </a:p>
          <a:p>
            <a:pPr>
              <a:spcAft>
                <a:spcPts val="1000"/>
              </a:spcAft>
            </a:pPr>
            <a:r>
              <a:rPr sz="1800" b="0">
                <a:solidFill>
                  <a:srgbClr val="161B26"/>
                </a:solidFill>
                <a:latin typeface="Arial"/>
              </a:rPr>
              <a:t>•  Routing strategy to allow to forward a packet over multiple best path</a:t>
            </a:r>
          </a:p>
          <a:p>
            <a:pPr>
              <a:spcAft>
                <a:spcPts val="1000"/>
              </a:spcAft>
            </a:pPr>
            <a:r>
              <a:rPr sz="1800" b="0">
                <a:solidFill>
                  <a:srgbClr val="161B26"/>
                </a:solidFill>
                <a:latin typeface="Arial"/>
              </a:rPr>
              <a:t>•  Use case: create multiple Site- to-Site VPN connections to</a:t>
            </a:r>
          </a:p>
          <a:p>
            <a:pPr>
              <a:spcAft>
                <a:spcPts val="1000"/>
              </a:spcAft>
            </a:pPr>
            <a:r>
              <a:rPr sz="1800" b="0">
                <a:solidFill>
                  <a:srgbClr val="161B26"/>
                </a:solidFill>
                <a:latin typeface="Arial"/>
              </a:rPr>
              <a:t>•  increase the bandwidth of</a:t>
            </a:r>
          </a:p>
          <a:p>
            <a:pPr>
              <a:spcAft>
                <a:spcPts val="1000"/>
              </a:spcAft>
            </a:pPr>
            <a:r>
              <a:rPr sz="1800" b="0">
                <a:solidFill>
                  <a:srgbClr val="161B26"/>
                </a:solidFill>
                <a:latin typeface="Arial"/>
              </a:rPr>
              <a:t>•  your connection to AWS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AWS Transit Gateway</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Corporate data center 172.16.0.0/16</a:t>
            </a:r>
          </a:p>
          <a:p>
            <a:pPr>
              <a:spcAft>
                <a:spcPts val="1000"/>
              </a:spcAft>
            </a:pPr>
            <a:r>
              <a:rPr sz="1800" b="0">
                <a:solidFill>
                  <a:srgbClr val="161B26"/>
                </a:solidFill>
                <a:latin typeface="Arial"/>
              </a:rPr>
              <a:t>•  VPN attachment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890</a:t>
            </a:r>
          </a:p>
        </p:txBody>
      </p:sp>
    </p:spTree>
  </p:cSld>
  <p:clrMapOvr>
    <a:masterClrMapping/>
  </p:clrMapOvr>
</p:sld>
</file>

<file path=ppt/slides/slide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 throughput with ECMP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VPN to virtual private gateway</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1.25 Gbps</a:t>
            </a:r>
          </a:p>
          <a:p>
            <a:pPr>
              <a:spcAft>
                <a:spcPts val="1000"/>
              </a:spcAft>
            </a:pPr>
            <a:r>
              <a:rPr sz="1800" b="0">
                <a:solidFill>
                  <a:srgbClr val="161B26"/>
                </a:solidFill>
                <a:latin typeface="Arial"/>
              </a:rPr>
              <a:t>•  VPN connection (2 tunnels)</a:t>
            </a:r>
          </a:p>
          <a:p>
            <a:pPr>
              <a:spcAft>
                <a:spcPts val="1000"/>
              </a:spcAft>
            </a:pPr>
            <a:r>
              <a:rPr sz="1800" b="0">
                <a:solidFill>
                  <a:srgbClr val="161B26"/>
                </a:solidFill>
                <a:latin typeface="Arial"/>
              </a:rPr>
              <a:t>•  VPN to transit gateway</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	1x</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a:t>
            </a:r>
          </a:p>
          <a:p>
            <a:pPr>
              <a:spcAft>
                <a:spcPts val="1000"/>
              </a:spcAft>
            </a:pPr>
            <a:r>
              <a:rPr sz="1800" b="0">
                <a:solidFill>
                  <a:srgbClr val="161B26"/>
                </a:solidFill>
                <a:latin typeface="Arial"/>
              </a:rPr>
              <a:t>•  PC</a:t>
            </a:r>
          </a:p>
          <a:p>
            <a:pPr>
              <a:spcAft>
                <a:spcPts val="1000"/>
              </a:spcAft>
            </a:pPr>
            <a:r>
              <a:rPr sz="1800" b="0">
                <a:solidFill>
                  <a:srgbClr val="161B26"/>
                </a:solidFill>
                <a:latin typeface="Arial"/>
              </a:rPr>
              <a:t>•  V</a:t>
            </a:r>
          </a:p>
          <a:p>
            <a:pPr>
              <a:spcAft>
                <a:spcPts val="1000"/>
              </a:spcAft>
            </a:pPr>
            <a:r>
              <a:rPr sz="1800" b="0">
                <a:solidFill>
                  <a:srgbClr val="161B26"/>
                </a:solidFill>
                <a:latin typeface="Arial"/>
              </a:rPr>
              <a:t>•  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2x</a:t>
            </a:r>
          </a:p>
          <a:p>
            <a:pPr>
              <a:spcAft>
                <a:spcPts val="1000"/>
              </a:spcAft>
            </a:pPr>
            <a:r>
              <a:rPr sz="1800" b="0">
                <a:solidFill>
                  <a:srgbClr val="161B26"/>
                </a:solidFill>
                <a:latin typeface="Arial"/>
              </a:rPr>
              <a:t>•  3x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2.5 Gbps (ECMP) – 2 tunnels used</a:t>
            </a:r>
          </a:p>
          <a:p>
            <a:pPr>
              <a:spcAft>
                <a:spcPts val="1000"/>
              </a:spcAft>
            </a:pPr>
            <a:r>
              <a:rPr sz="1800" b="0">
                <a:solidFill>
                  <a:srgbClr val="161B26"/>
                </a:solidFill>
                <a:latin typeface="Arial"/>
              </a:rPr>
              <a:t>•  5.0 Gbps (ECMP)</a:t>
            </a:r>
          </a:p>
          <a:p>
            <a:pPr>
              <a:spcAft>
                <a:spcPts val="1000"/>
              </a:spcAft>
            </a:pPr>
            <a:r>
              <a:rPr sz="1800" b="0">
                <a:solidFill>
                  <a:srgbClr val="161B26"/>
                </a:solidFill>
                <a:latin typeface="Arial"/>
              </a:rPr>
              <a:t>•  7.5 Gbps (ECMP)</a:t>
            </a:r>
          </a:p>
          <a:p>
            <a:pPr>
              <a:spcAft>
                <a:spcPts val="1000"/>
              </a:spcAft>
            </a:pPr>
            <a:r>
              <a:rPr sz="1800" b="0">
                <a:solidFill>
                  <a:srgbClr val="161B26"/>
                </a:solidFill>
                <a:latin typeface="Arial"/>
              </a:rPr>
              <a:t>•  per GB of TGW processed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891</a:t>
            </a:r>
          </a:p>
        </p:txBody>
      </p:sp>
    </p:spTree>
  </p:cSld>
  <p:clrMapOvr>
    <a:masterClrMapping/>
  </p:clrMapOvr>
</p:sld>
</file>

<file path=ppt/slides/slide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Transit Gateway - Share Direct Connect between multiple accounts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Direct Connect Location</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Clients</a:t>
            </a:r>
          </a:p>
          <a:p>
            <a:pPr>
              <a:spcAft>
                <a:spcPts val="1000"/>
              </a:spcAft>
            </a:pPr>
            <a:r>
              <a:rPr sz="1800" b="0">
                <a:solidFill>
                  <a:srgbClr val="161B26"/>
                </a:solidFill>
                <a:latin typeface="Arial"/>
              </a:rPr>
              <a:t>•  Clients</a:t>
            </a:r>
          </a:p>
          <a:p>
            <a:pPr>
              <a:spcAft>
                <a:spcPts val="1000"/>
              </a:spcAft>
            </a:pPr>
            <a:r>
              <a:rPr sz="1800" b="0">
                <a:solidFill>
                  <a:srgbClr val="161B26"/>
                </a:solidFill>
                <a:latin typeface="Arial"/>
              </a:rPr>
              <a:t>•  Servers</a:t>
            </a:r>
          </a:p>
          <a:p>
            <a:pPr>
              <a:spcAft>
                <a:spcPts val="1000"/>
              </a:spcAft>
            </a:pPr>
            <a:r>
              <a:rPr sz="1800" b="0">
                <a:solidFill>
                  <a:srgbClr val="161B26"/>
                </a:solidFill>
                <a:latin typeface="Arial"/>
              </a:rPr>
              <a:t>•  AWS Direct Connect endpoint</a:t>
            </a:r>
          </a:p>
          <a:p>
            <a:pPr>
              <a:spcAft>
                <a:spcPts val="1000"/>
              </a:spcAft>
            </a:pPr>
            <a:r>
              <a:rPr sz="1800" b="0">
                <a:solidFill>
                  <a:srgbClr val="161B26"/>
                </a:solidFill>
                <a:latin typeface="Arial"/>
              </a:rPr>
              <a:t>•  Customer router/firewall</a:t>
            </a:r>
          </a:p>
          <a:p>
            <a:pPr>
              <a:spcAft>
                <a:spcPts val="1000"/>
              </a:spcAft>
            </a:pPr>
            <a:r>
              <a:rPr sz="1800" b="0">
                <a:solidFill>
                  <a:srgbClr val="161B26"/>
                </a:solidFill>
                <a:latin typeface="Arial"/>
              </a:rPr>
              <a:t>•  Transit VIF</a:t>
            </a:r>
          </a:p>
          <a:p>
            <a:pPr>
              <a:spcAft>
                <a:spcPts val="1000"/>
              </a:spcAft>
            </a:pPr>
            <a:r>
              <a:rPr sz="1800" b="0">
                <a:solidFill>
                  <a:srgbClr val="161B26"/>
                </a:solidFill>
                <a:latin typeface="Arial"/>
              </a:rPr>
              <a:t>•  VLAN</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Direct Connect Gateway</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Transit Gateway</a:t>
            </a:r>
          </a:p>
          <a:p>
            <a:pPr>
              <a:spcAft>
                <a:spcPts val="1000"/>
              </a:spcAft>
            </a:pPr>
            <a:r>
              <a:rPr sz="1800" b="0">
                <a:solidFill>
                  <a:srgbClr val="161B26"/>
                </a:solidFill>
                <a:latin typeface="Arial"/>
              </a:rPr>
              <a:t>•  Account 2</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You can use AWS Resource Access Manager to share Transit Gateway with other accounts.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892</a:t>
            </a:r>
          </a:p>
        </p:txBody>
      </p:sp>
    </p:spTree>
  </p:cSld>
  <p:clrMapOvr>
    <a:masterClrMapping/>
  </p:clrMapOvr>
</p:sld>
</file>

<file path=ppt/slides/slide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 Traffic Mirroring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you to capture and inspect network traffic in your VPC</a:t>
            </a:r>
          </a:p>
          <a:p>
            <a:pPr>
              <a:spcAft>
                <a:spcPts val="1000"/>
              </a:spcAft>
            </a:pPr>
            <a:r>
              <a:rPr sz="1800" b="0">
                <a:solidFill>
                  <a:srgbClr val="161B26"/>
                </a:solidFill>
                <a:latin typeface="Arial"/>
              </a:rPr>
              <a:t>•  Route the traffic to security appliances that you manage</a:t>
            </a:r>
          </a:p>
          <a:p>
            <a:pPr>
              <a:spcAft>
                <a:spcPts val="1000"/>
              </a:spcAft>
            </a:pPr>
            <a:r>
              <a:rPr sz="1800" b="0">
                <a:solidFill>
                  <a:srgbClr val="161B26"/>
                </a:solidFill>
                <a:latin typeface="Arial"/>
              </a:rPr>
              <a:t>•  Capture the traffic</a:t>
            </a:r>
          </a:p>
          <a:p>
            <a:pPr>
              <a:spcAft>
                <a:spcPts val="1000"/>
              </a:spcAft>
            </a:pPr>
            <a:r>
              <a:rPr sz="1800" b="0">
                <a:solidFill>
                  <a:srgbClr val="161B26"/>
                </a:solidFill>
                <a:latin typeface="Arial"/>
              </a:rPr>
              <a:t>•  From (Source) - ENIs</a:t>
            </a:r>
          </a:p>
          <a:p>
            <a:pPr>
              <a:spcAft>
                <a:spcPts val="1000"/>
              </a:spcAft>
            </a:pPr>
            <a:r>
              <a:rPr sz="1800" b="0">
                <a:solidFill>
                  <a:srgbClr val="161B26"/>
                </a:solidFill>
                <a:latin typeface="Arial"/>
              </a:rPr>
              <a:t>•  To (Targets) - an ENI or a Network Load Balancer</a:t>
            </a:r>
          </a:p>
          <a:p>
            <a:pPr>
              <a:spcAft>
                <a:spcPts val="1000"/>
              </a:spcAft>
            </a:pPr>
            <a:r>
              <a:rPr sz="1800" b="0">
                <a:solidFill>
                  <a:srgbClr val="161B26"/>
                </a:solidFill>
                <a:latin typeface="Arial"/>
              </a:rPr>
              <a:t>•  Capture all packets or capture the packets of your interest (optionally, truncate packets)</a:t>
            </a:r>
          </a:p>
          <a:p>
            <a:pPr>
              <a:spcAft>
                <a:spcPts val="1000"/>
              </a:spcAft>
            </a:pPr>
            <a:r>
              <a:rPr sz="1800" b="0">
                <a:solidFill>
                  <a:srgbClr val="161B26"/>
                </a:solidFill>
                <a:latin typeface="Arial"/>
              </a:rPr>
              <a:t>•  Source and Target can be in the same VPC or different VPCs (VPC Peering)</a:t>
            </a:r>
          </a:p>
          <a:p>
            <a:pPr>
              <a:spcAft>
                <a:spcPts val="1000"/>
              </a:spcAft>
            </a:pPr>
            <a:r>
              <a:rPr sz="1800" b="0">
                <a:solidFill>
                  <a:srgbClr val="161B26"/>
                </a:solidFill>
                <a:latin typeface="Arial"/>
              </a:rPr>
              <a:t>•  Use cases: content inspection, threat monitoring, troubleshooting, …</a:t>
            </a:r>
          </a:p>
          <a:p>
            <a:pPr>
              <a:spcAft>
                <a:spcPts val="1000"/>
              </a:spcAft>
            </a:pPr>
            <a:r>
              <a:rPr sz="1800" b="0">
                <a:solidFill>
                  <a:srgbClr val="161B26"/>
                </a:solidFill>
                <a:latin typeface="Arial"/>
              </a:rPr>
              <a:t>•  Source B</a:t>
            </a:r>
          </a:p>
          <a:p>
            <a:pPr>
              <a:spcAft>
                <a:spcPts val="1000"/>
              </a:spcAft>
            </a:pPr>
            <a:r>
              <a:rPr sz="1800" b="0">
                <a:solidFill>
                  <a:srgbClr val="161B26"/>
                </a:solidFill>
                <a:latin typeface="Arial"/>
              </a:rPr>
              <a:t>•  Source A</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Inbound &amp; Outbound traffic</a:t>
            </a:r>
          </a:p>
          <a:p>
            <a:pPr>
              <a:spcAft>
                <a:spcPts val="1000"/>
              </a:spcAft>
            </a:pPr>
            <a:r>
              <a:rPr sz="1800" b="0">
                <a:solidFill>
                  <a:srgbClr val="161B26"/>
                </a:solidFill>
                <a:latin typeface="Arial"/>
              </a:rPr>
              <a:t>•  Inbound &amp; Outbound traffic</a:t>
            </a:r>
          </a:p>
          <a:p>
            <a:pPr>
              <a:spcAft>
                <a:spcPts val="1000"/>
              </a:spcAft>
            </a:pPr>
            <a:r>
              <a:rPr sz="1800" b="0">
                <a:solidFill>
                  <a:srgbClr val="161B26"/>
                </a:solidFill>
                <a:latin typeface="Arial"/>
              </a:rPr>
              <a:t>•  Traffic Mirroring</a:t>
            </a:r>
          </a:p>
          <a:p>
            <a:pPr>
              <a:spcAft>
                <a:spcPts val="1000"/>
              </a:spcAft>
            </a:pPr>
            <a:r>
              <a:rPr sz="1800" b="0">
                <a:solidFill>
                  <a:srgbClr val="161B26"/>
                </a:solidFill>
                <a:latin typeface="Arial"/>
              </a:rPr>
              <a:t>•  (filter traffic, optional)</a:t>
            </a:r>
          </a:p>
          <a:p>
            <a:pPr>
              <a:spcAft>
                <a:spcPts val="1000"/>
              </a:spcAft>
            </a:pPr>
            <a:r>
              <a:rPr sz="1800" b="0">
                <a:solidFill>
                  <a:srgbClr val="161B26"/>
                </a:solidFill>
                <a:latin typeface="Arial"/>
              </a:rPr>
              <a:t>•  EC2 instances with Security Appliances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893</a:t>
            </a:r>
          </a:p>
        </p:txBody>
      </p:sp>
    </p:spTree>
  </p:cSld>
  <p:clrMapOvr>
    <a:masterClrMapping/>
  </p:clrMapOvr>
</p:sld>
</file>

<file path=ppt/slides/slide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IPv6?</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designed to provide 4.3 Billion addresses (they’ll be exhausted soon)</a:t>
            </a:r>
          </a:p>
          <a:p>
            <a:pPr>
              <a:spcAft>
                <a:spcPts val="1000"/>
              </a:spcAft>
            </a:pPr>
            <a:r>
              <a:rPr sz="1800" b="0">
                <a:solidFill>
                  <a:srgbClr val="161B26"/>
                </a:solidFill>
                <a:latin typeface="Arial"/>
              </a:rPr>
              <a:t>•  IPv6 is the successor of IPv4</a:t>
            </a:r>
          </a:p>
          <a:p>
            <a:pPr>
              <a:spcAft>
                <a:spcPts val="1000"/>
              </a:spcAft>
            </a:pPr>
            <a:r>
              <a:rPr sz="1800" b="0">
                <a:solidFill>
                  <a:srgbClr val="161B26"/>
                </a:solidFill>
                <a:latin typeface="Arial"/>
              </a:rPr>
              <a:t>•  IPv6 is designed to provide 3.4 × 10!" unique IP addresses</a:t>
            </a:r>
          </a:p>
          <a:p>
            <a:pPr>
              <a:spcAft>
                <a:spcPts val="1000"/>
              </a:spcAft>
            </a:pPr>
            <a:r>
              <a:rPr sz="1800" b="0">
                <a:solidFill>
                  <a:srgbClr val="161B26"/>
                </a:solidFill>
                <a:latin typeface="Arial"/>
              </a:rPr>
              <a:t>•  Every IPv6 address in AWS is public and Internet-routable (no private range)</a:t>
            </a:r>
          </a:p>
          <a:p>
            <a:pPr>
              <a:spcAft>
                <a:spcPts val="1000"/>
              </a:spcAft>
            </a:pPr>
            <a:r>
              <a:rPr sz="1800" b="0">
                <a:solidFill>
                  <a:srgbClr val="161B26"/>
                </a:solidFill>
                <a:latin typeface="Arial"/>
              </a:rPr>
              <a:t>•  Format -+ x.x.x.x.x.x.x.x (x is hexadecimal, range can be from 0000 to ffff)</a:t>
            </a:r>
          </a:p>
          <a:p>
            <a:pPr>
              <a:spcAft>
                <a:spcPts val="1000"/>
              </a:spcAft>
            </a:pPr>
            <a:r>
              <a:rPr sz="1800" b="0">
                <a:solidFill>
                  <a:srgbClr val="161B26"/>
                </a:solidFill>
                <a:latin typeface="Arial"/>
              </a:rPr>
              <a:t>•  Examples:</a:t>
            </a:r>
          </a:p>
          <a:p>
            <a:pPr>
              <a:spcAft>
                <a:spcPts val="1000"/>
              </a:spcAft>
            </a:pPr>
            <a:r>
              <a:rPr sz="1800" b="0">
                <a:solidFill>
                  <a:srgbClr val="161B26"/>
                </a:solidFill>
                <a:latin typeface="Arial"/>
              </a:rPr>
              <a:t>•  2001:db8:3333:4444:5555:6666:7777:8888</a:t>
            </a:r>
          </a:p>
          <a:p>
            <a:pPr>
              <a:spcAft>
                <a:spcPts val="1000"/>
              </a:spcAft>
            </a:pPr>
            <a:r>
              <a:rPr sz="1800" b="0">
                <a:solidFill>
                  <a:srgbClr val="161B26"/>
                </a:solidFill>
                <a:latin typeface="Arial"/>
              </a:rPr>
              <a:t>•  2001:db8:3333:4444:cccc:dddd:eeee:ffff</a:t>
            </a:r>
          </a:p>
          <a:p>
            <a:pPr>
              <a:spcAft>
                <a:spcPts val="1000"/>
              </a:spcAft>
            </a:pPr>
            <a:r>
              <a:rPr sz="1800" b="0">
                <a:solidFill>
                  <a:srgbClr val="161B26"/>
                </a:solidFill>
                <a:latin typeface="Arial"/>
              </a:rPr>
              <a:t>•  :: ➔ all 8 segments are zero</a:t>
            </a:r>
          </a:p>
          <a:p>
            <a:pPr>
              <a:spcAft>
                <a:spcPts val="1000"/>
              </a:spcAft>
            </a:pPr>
            <a:r>
              <a:rPr sz="1800" b="0">
                <a:solidFill>
                  <a:srgbClr val="161B26"/>
                </a:solidFill>
                <a:latin typeface="Arial"/>
              </a:rPr>
              <a:t>•  2001:db8:: ➔ the last 6 segments are zero</a:t>
            </a:r>
          </a:p>
          <a:p>
            <a:pPr>
              <a:spcAft>
                <a:spcPts val="1000"/>
              </a:spcAft>
            </a:pPr>
            <a:r>
              <a:rPr sz="1800" b="0">
                <a:solidFill>
                  <a:srgbClr val="161B26"/>
                </a:solidFill>
                <a:latin typeface="Arial"/>
              </a:rPr>
              <a:t>•  ::1234:5678 ➔ the first 6 segments are zero</a:t>
            </a:r>
          </a:p>
          <a:p>
            <a:pPr>
              <a:spcAft>
                <a:spcPts val="1000"/>
              </a:spcAft>
            </a:pPr>
            <a:r>
              <a:rPr sz="1800" b="0">
                <a:solidFill>
                  <a:srgbClr val="161B26"/>
                </a:solidFill>
                <a:latin typeface="Arial"/>
              </a:rPr>
              <a:t>•  2001:db8::1234:5678 ➔ the middle 4 segments are zero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894</a:t>
            </a:r>
          </a:p>
        </p:txBody>
      </p:sp>
    </p:spTree>
  </p:cSld>
  <p:clrMapOvr>
    <a:masterClrMapping/>
  </p:clrMapOvr>
</p:sld>
</file>

<file path=ppt/slides/slide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IPv6 in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cannot be disabled for your VPC and subnets</a:t>
            </a:r>
          </a:p>
          <a:p>
            <a:pPr>
              <a:spcAft>
                <a:spcPts val="1000"/>
              </a:spcAft>
            </a:pPr>
            <a:r>
              <a:rPr sz="1800" b="0">
                <a:solidFill>
                  <a:srgbClr val="161B26"/>
                </a:solidFill>
                <a:latin typeface="Arial"/>
              </a:rPr>
              <a:t>•  You can enable IPv6 (they’re public IP addresses) to operate in dual-stack mode</a:t>
            </a:r>
          </a:p>
          <a:p>
            <a:pPr>
              <a:spcAft>
                <a:spcPts val="1000"/>
              </a:spcAft>
            </a:pPr>
            <a:r>
              <a:rPr sz="1800" b="0">
                <a:solidFill>
                  <a:srgbClr val="161B26"/>
                </a:solidFill>
                <a:latin typeface="Arial"/>
              </a:rPr>
              <a:t>•  Your EC2 instances will get at least a private internal IPv4 and a public IPv6</a:t>
            </a:r>
          </a:p>
          <a:p>
            <a:pPr>
              <a:spcAft>
                <a:spcPts val="1000"/>
              </a:spcAft>
            </a:pPr>
            <a:r>
              <a:rPr sz="1800" b="0">
                <a:solidFill>
                  <a:srgbClr val="161B26"/>
                </a:solidFill>
                <a:latin typeface="Arial"/>
              </a:rPr>
              <a:t>•  They can communicate using either IPv4 or IPv6 to the internet through an Internet Gateway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(Private IP: 10.0.0.5) (IPv6: 2001:db8::ff00:42:8329)</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Gateway IPv4 &amp; IPv6</a:t>
            </a:r>
          </a:p>
          <a:p>
            <a:pPr>
              <a:spcAft>
                <a:spcPts val="1000"/>
              </a:spcAft>
            </a:pPr>
            <a:r>
              <a:rPr sz="1800" b="0">
                <a:solidFill>
                  <a:srgbClr val="161B26"/>
                </a:solidFill>
                <a:latin typeface="Arial"/>
              </a:rPr>
              <a:t>•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895</a:t>
            </a:r>
          </a:p>
        </p:txBody>
      </p:sp>
    </p:spTree>
  </p:cSld>
  <p:clrMapOvr>
    <a:masterClrMapping/>
  </p:clrMapOvr>
</p:sld>
</file>

<file path=ppt/slides/slide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IPv6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cannot be disabled for your VPC and subnets</a:t>
            </a:r>
          </a:p>
          <a:p>
            <a:pPr>
              <a:spcAft>
                <a:spcPts val="1000"/>
              </a:spcAft>
            </a:pPr>
            <a:r>
              <a:rPr sz="1800" b="0">
                <a:solidFill>
                  <a:srgbClr val="161B26"/>
                </a:solidFill>
                <a:latin typeface="Arial"/>
              </a:rPr>
              <a:t>•  So, if you cannot launch an EC2 instance in your subnet</a:t>
            </a:r>
          </a:p>
          <a:p>
            <a:pPr>
              <a:spcAft>
                <a:spcPts val="1000"/>
              </a:spcAft>
            </a:pPr>
            <a:r>
              <a:rPr sz="1800" b="0">
                <a:solidFill>
                  <a:srgbClr val="161B26"/>
                </a:solidFill>
                <a:latin typeface="Arial"/>
              </a:rPr>
              <a:t>•  It’s not because it cannot acquire an IPv6 (the space is very large)</a:t>
            </a:r>
          </a:p>
          <a:p>
            <a:pPr>
              <a:spcAft>
                <a:spcPts val="1000"/>
              </a:spcAft>
            </a:pPr>
            <a:r>
              <a:rPr sz="1800" b="0">
                <a:solidFill>
                  <a:srgbClr val="161B26"/>
                </a:solidFill>
                <a:latin typeface="Arial"/>
              </a:rPr>
              <a:t>•  It’s because there are no available IPv4 in 	your subnet</a:t>
            </a:r>
          </a:p>
          <a:p>
            <a:pPr>
              <a:spcAft>
                <a:spcPts val="1000"/>
              </a:spcAft>
            </a:pPr>
            <a:r>
              <a:rPr sz="1800" b="0">
                <a:solidFill>
                  <a:srgbClr val="161B26"/>
                </a:solidFill>
                <a:latin typeface="Arial"/>
              </a:rPr>
              <a:t>•  Solution: create a new IPv4 CIDR in your subnet</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(IPv4: 192.168.0.0/24) (IPv4: 10.0.0.0/24)</a:t>
            </a:r>
          </a:p>
          <a:p>
            <a:pPr>
              <a:spcAft>
                <a:spcPts val="1000"/>
              </a:spcAft>
            </a:pPr>
            <a:r>
              <a:rPr sz="1800" b="0">
                <a:solidFill>
                  <a:srgbClr val="161B26"/>
                </a:solidFill>
                <a:latin typeface="Arial"/>
              </a:rPr>
              <a:t>•  (IPv6: 2001:db8:1234:5678::/56)</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192.168.0.10	192.168.0.15</a:t>
            </a:r>
          </a:p>
          <a:p>
            <a:pPr>
              <a:spcAft>
                <a:spcPts val="1000"/>
              </a:spcAft>
            </a:pPr>
            <a:r>
              <a:rPr sz="1800" b="0">
                <a:solidFill>
                  <a:srgbClr val="161B26"/>
                </a:solidFill>
                <a:latin typeface="Arial"/>
              </a:rPr>
              <a:t>•  10.0.0.35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896</a:t>
            </a:r>
          </a:p>
        </p:txBody>
      </p:sp>
    </p:spTree>
  </p:cSld>
  <p:clrMapOvr>
    <a:masterClrMapping/>
  </p:clrMapOvr>
</p:sld>
</file>

<file path=ppt/slides/slide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Egress-only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for IPv6 only</a:t>
            </a:r>
          </a:p>
          <a:p>
            <a:pPr>
              <a:spcAft>
                <a:spcPts val="1000"/>
              </a:spcAft>
            </a:pPr>
            <a:r>
              <a:rPr sz="1800" b="0">
                <a:solidFill>
                  <a:srgbClr val="161B26"/>
                </a:solidFill>
                <a:latin typeface="Arial"/>
              </a:rPr>
              <a:t>•  (similar to a NAT Gateway but for IPv6)</a:t>
            </a:r>
          </a:p>
          <a:p>
            <a:pPr>
              <a:spcAft>
                <a:spcPts val="1000"/>
              </a:spcAft>
            </a:pPr>
            <a:r>
              <a:rPr sz="1800" b="0">
                <a:solidFill>
                  <a:srgbClr val="161B26"/>
                </a:solidFill>
                <a:latin typeface="Arial"/>
              </a:rPr>
              <a:t>•  Allows instances in your VPC outbound connections over IPv6 while preventing the internet to initiate an IPv6 connection to your instances</a:t>
            </a:r>
          </a:p>
          <a:p>
            <a:pPr>
              <a:spcAft>
                <a:spcPts val="1000"/>
              </a:spcAft>
            </a:pPr>
            <a:r>
              <a:rPr sz="1800" b="0">
                <a:solidFill>
                  <a:srgbClr val="161B26"/>
                </a:solidFill>
                <a:latin typeface="Arial"/>
              </a:rPr>
              <a:t>•  You must update the Route Tables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IPv6: 2001:db8::b1c2</a:t>
            </a:r>
          </a:p>
          <a:p>
            <a:pPr>
              <a:spcAft>
                <a:spcPts val="1000"/>
              </a:spcAft>
            </a:pPr>
            <a:r>
              <a:rPr sz="1800" b="0">
                <a:solidFill>
                  <a:srgbClr val="161B26"/>
                </a:solidFill>
                <a:latin typeface="Arial"/>
              </a:rPr>
              <a:t>•  Egress-only Internet Gateway</a:t>
            </a:r>
          </a:p>
          <a:p>
            <a:pPr>
              <a:spcAft>
                <a:spcPts val="1000"/>
              </a:spcAft>
            </a:pPr>
            <a:r>
              <a:rPr sz="1800" b="0">
                <a:solidFill>
                  <a:srgbClr val="161B26"/>
                </a:solidFill>
                <a:latin typeface="Arial"/>
              </a:rPr>
              <a:t>•  initiate connections from both sides</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can’t initiate connections from Internet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IPv6: 2001:db8::e1c3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897</a:t>
            </a:r>
          </a:p>
        </p:txBody>
      </p:sp>
    </p:spTree>
  </p:cSld>
  <p:clrMapOvr>
    <a:masterClrMapping/>
  </p:clrMapOvr>
</p:sld>
</file>

<file path=ppt/slides/slide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(IPv4: 10.0.1.0/24)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(IPv6: 2001:db8:1234:1a02::/64)</a:t>
            </a:r>
          </a:p>
          <a:p>
            <a:pPr>
              <a:spcAft>
                <a:spcPts val="1000"/>
              </a:spcAft>
            </a:pPr>
            <a:r>
              <a:rPr sz="1800" b="0">
                <a:solidFill>
                  <a:srgbClr val="161B26"/>
                </a:solidFill>
                <a:latin typeface="Arial"/>
              </a:rPr>
              <a:t>•  Public Subnet (IPv4: 10.0.0.0/24)</a:t>
            </a:r>
          </a:p>
          <a:p>
            <a:pPr>
              <a:spcAft>
                <a:spcPts val="1000"/>
              </a:spcAft>
            </a:pPr>
            <a:r>
              <a:rPr sz="1800" b="0">
                <a:solidFill>
                  <a:srgbClr val="161B26"/>
                </a:solidFill>
                <a:latin typeface="Arial"/>
              </a:rPr>
              <a:t>•  (IPv6: 2001:db8:1234:1a00::/64)</a:t>
            </a:r>
          </a:p>
          <a:p>
            <a:pPr>
              <a:spcAft>
                <a:spcPts val="1000"/>
              </a:spcAft>
            </a:pPr>
            <a:r>
              <a:rPr sz="1800" b="0">
                <a:solidFill>
                  <a:srgbClr val="161B26"/>
                </a:solidFill>
                <a:latin typeface="Arial"/>
              </a:rPr>
              <a:t>•  IPv6 Routing</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(IPv4: 10.0.0.0/16)</a:t>
            </a:r>
          </a:p>
          <a:p>
            <a:pPr>
              <a:spcAft>
                <a:spcPts val="1000"/>
              </a:spcAft>
            </a:pPr>
            <a:r>
              <a:rPr sz="1800" b="0">
                <a:solidFill>
                  <a:srgbClr val="161B26"/>
                </a:solidFill>
                <a:latin typeface="Arial"/>
              </a:rPr>
              <a:t>•  (IPv6: 2001:db8:1234:1a00::/56)</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Private IPv4: 10.0.0.5</a:t>
            </a:r>
          </a:p>
          <a:p>
            <a:pPr>
              <a:spcAft>
                <a:spcPts val="1000"/>
              </a:spcAft>
            </a:pPr>
            <a:r>
              <a:rPr sz="1800" b="0">
                <a:solidFill>
                  <a:srgbClr val="161B26"/>
                </a:solidFill>
                <a:latin typeface="Arial"/>
              </a:rPr>
              <a:t>•  EIP: 198.51.100.1</a:t>
            </a:r>
          </a:p>
          <a:p>
            <a:pPr>
              <a:spcAft>
                <a:spcPts val="1000"/>
              </a:spcAft>
            </a:pPr>
            <a:r>
              <a:rPr sz="1800" b="0">
                <a:solidFill>
                  <a:srgbClr val="161B26"/>
                </a:solidFill>
                <a:latin typeface="Arial"/>
              </a:rPr>
              <a:t>•  IPv6: 2001:db8:1234:1a00::123</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Private IPv4: 10.0.1.5</a:t>
            </a:r>
          </a:p>
          <a:p>
            <a:pPr>
              <a:spcAft>
                <a:spcPts val="1000"/>
              </a:spcAft>
            </a:pPr>
            <a:r>
              <a:rPr sz="1800" b="0">
                <a:solidFill>
                  <a:srgbClr val="161B26"/>
                </a:solidFill>
                <a:latin typeface="Arial"/>
              </a:rPr>
              <a:t>•  IPv6: 2001:db8:1234:1a02::456</a:t>
            </a:r>
          </a:p>
          <a:p>
            <a:pPr>
              <a:spcAft>
                <a:spcPts val="1000"/>
              </a:spcAft>
            </a:pPr>
            <a:r>
              <a:rPr sz="1800" b="0">
                <a:solidFill>
                  <a:srgbClr val="161B26"/>
                </a:solidFill>
                <a:latin typeface="Arial"/>
              </a:rPr>
              <a:t>•  NAT Gateway (IPv4)</a:t>
            </a:r>
          </a:p>
          <a:p>
            <a:pPr>
              <a:spcAft>
                <a:spcPts val="1000"/>
              </a:spcAft>
            </a:pPr>
            <a:r>
              <a:rPr sz="1800" b="0">
                <a:solidFill>
                  <a:srgbClr val="161B26"/>
                </a:solidFill>
                <a:latin typeface="Arial"/>
              </a:rPr>
              <a:t>•  EIP: 198.51.100.1</a:t>
            </a:r>
          </a:p>
          <a:p>
            <a:pPr>
              <a:spcAft>
                <a:spcPts val="1000"/>
              </a:spcAft>
            </a:pPr>
            <a:r>
              <a:rPr sz="1800" b="0">
                <a:solidFill>
                  <a:srgbClr val="161B26"/>
                </a:solidFill>
                <a:latin typeface="Arial"/>
              </a:rPr>
              <a:t>•  Internet Gateway (IPv4 &amp; IPv6)</a:t>
            </a:r>
          </a:p>
          <a:p>
            <a:pPr>
              <a:spcAft>
                <a:spcPts val="1000"/>
              </a:spcAft>
            </a:pPr>
            <a:r>
              <a:rPr sz="1800" b="0">
                <a:solidFill>
                  <a:srgbClr val="161B26"/>
                </a:solidFill>
                <a:latin typeface="Arial"/>
              </a:rPr>
              <a:t>•  Egress-only</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(IPv6)</a:t>
            </a:r>
          </a:p>
          <a:p>
            <a:pPr>
              <a:spcAft>
                <a:spcPts val="1000"/>
              </a:spcAft>
            </a:pPr>
            <a:r>
              <a:rPr sz="1800" b="0">
                <a:solidFill>
                  <a:srgbClr val="161B26"/>
                </a:solidFill>
                <a:latin typeface="Arial"/>
              </a:rPr>
              <a:t>•  Route Table</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Route Table</a:t>
            </a:r>
          </a:p>
          <a:p>
            <a:pPr>
              <a:spcAft>
                <a:spcPts val="1000"/>
              </a:spcAft>
            </a:pPr>
            <a:r>
              <a:rPr sz="1800" b="0">
                <a:solidFill>
                  <a:srgbClr val="161B26"/>
                </a:solidFill>
                <a:latin typeface="Arial"/>
              </a:rPr>
              <a:t>•  (Private Subnet)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898</a:t>
            </a:r>
          </a:p>
        </p:txBody>
      </p:sp>
    </p:spTree>
  </p:cSld>
  <p:clrMapOvr>
    <a:masterClrMapping/>
  </p:clrMapOvr>
</p:sld>
</file>

<file path=ppt/slides/slide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Egress-only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29330"/>
            <a:ext cx="10479024" cy="427949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900_0.png"/>
          <p:cNvPicPr>
            <a:picLocks noChangeAspect="1"/>
          </p:cNvPicPr>
          <p:nvPr/>
        </p:nvPicPr>
        <p:blipFill>
          <a:blip r:embed="rId2"/>
          <a:stretch>
            <a:fillRect/>
          </a:stretch>
        </p:blipFill>
        <p:spPr>
          <a:xfrm>
            <a:off x="868680" y="1956762"/>
            <a:ext cx="10424160" cy="42246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899</a:t>
            </a:r>
          </a:p>
        </p:txBody>
      </p:sp>
    </p:spTree>
  </p:cSld>
  <p:clrMapOvr>
    <a:masterClrMapping/>
  </p:clrMapOvr>
</p:sld>
</file>

<file path=ppt/slides/slide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Section Summary (1/3)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CIDR - IP Range</a:t>
            </a:r>
          </a:p>
          <a:p>
            <a:pPr>
              <a:spcAft>
                <a:spcPts val="1000"/>
              </a:spcAft>
            </a:pPr>
            <a:r>
              <a:rPr sz="1800" b="0">
                <a:solidFill>
                  <a:srgbClr val="161B26"/>
                </a:solidFill>
                <a:latin typeface="Arial"/>
              </a:rPr>
              <a:t>•  VPC - Virtual Private Cloud =&gt; we define a list of IPv4 &amp; IPv6 CIDR</a:t>
            </a:r>
          </a:p>
          <a:p>
            <a:pPr>
              <a:spcAft>
                <a:spcPts val="1000"/>
              </a:spcAft>
            </a:pPr>
            <a:r>
              <a:rPr sz="1800" b="0">
                <a:solidFill>
                  <a:srgbClr val="161B26"/>
                </a:solidFill>
                <a:latin typeface="Arial"/>
              </a:rPr>
              <a:t>•  Subnets - tied to an AZ, we define a CIDR</a:t>
            </a:r>
          </a:p>
          <a:p>
            <a:pPr>
              <a:spcAft>
                <a:spcPts val="1000"/>
              </a:spcAft>
            </a:pPr>
            <a:r>
              <a:rPr sz="1800" b="0">
                <a:solidFill>
                  <a:srgbClr val="161B26"/>
                </a:solidFill>
                <a:latin typeface="Arial"/>
              </a:rPr>
              <a:t>•  Internet Gateway - at the VPC level, provide IPv4 &amp; IPv6 Internet Access</a:t>
            </a:r>
          </a:p>
          <a:p>
            <a:pPr>
              <a:spcAft>
                <a:spcPts val="1000"/>
              </a:spcAft>
            </a:pPr>
            <a:r>
              <a:rPr sz="1800" b="0">
                <a:solidFill>
                  <a:srgbClr val="161B26"/>
                </a:solidFill>
                <a:latin typeface="Arial"/>
              </a:rPr>
              <a:t>•  Route Tables - must be edited to add routes from subnets to the IGW,VPC Peering Connections,VPC Endpoints, …</a:t>
            </a:r>
          </a:p>
          <a:p>
            <a:pPr>
              <a:spcAft>
                <a:spcPts val="1000"/>
              </a:spcAft>
            </a:pPr>
            <a:r>
              <a:rPr sz="1800" b="0">
                <a:solidFill>
                  <a:srgbClr val="161B26"/>
                </a:solidFill>
                <a:latin typeface="Arial"/>
              </a:rPr>
              <a:t>•  Bastion Host - public EC2 instance to SSH into, that has SSH connectivity to EC2 instances in private subnets</a:t>
            </a:r>
          </a:p>
          <a:p>
            <a:pPr>
              <a:spcAft>
                <a:spcPts val="1000"/>
              </a:spcAft>
            </a:pPr>
            <a:r>
              <a:rPr sz="1800" b="0">
                <a:solidFill>
                  <a:srgbClr val="161B26"/>
                </a:solidFill>
                <a:latin typeface="Arial"/>
              </a:rPr>
              <a:t>•  NAT instances - gives Internet access to EC2 instances in private subnets. Old, must be setup in a public subnet, disable Source / Destination check flag</a:t>
            </a:r>
          </a:p>
          <a:p>
            <a:pPr>
              <a:spcAft>
                <a:spcPts val="1000"/>
              </a:spcAft>
            </a:pPr>
            <a:r>
              <a:rPr sz="1800" b="0">
                <a:solidFill>
                  <a:srgbClr val="161B26"/>
                </a:solidFill>
                <a:latin typeface="Arial"/>
              </a:rPr>
              <a:t>•  NAT Gateway - managed by AWS, provides scalable Internet access to private EC2 instances, when the target is an IPv4 address</a:t>
            </a:r>
          </a:p>
          <a:p>
            <a:pPr>
              <a:spcAft>
                <a:spcPts val="1000"/>
              </a:spcAft>
            </a:pPr>
            <a:r>
              <a:rPr sz="1800" b="0">
                <a:solidFill>
                  <a:srgbClr val="161B26"/>
                </a:solidFill>
                <a:latin typeface="Arial"/>
              </a:rPr>
              <a:t>•  Private DNS + Route 53 enable DNS Resolution + DNS Hostnames (VPC)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900</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Section Summary (2/3)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NACL - stateless, subnet rules for inbound and outbound, don’t forget Ephemeral Ports</a:t>
            </a:r>
          </a:p>
          <a:p>
            <a:pPr>
              <a:spcAft>
                <a:spcPts val="1000"/>
              </a:spcAft>
            </a:pPr>
            <a:r>
              <a:rPr sz="1800" b="0">
                <a:solidFill>
                  <a:srgbClr val="161B26"/>
                </a:solidFill>
                <a:latin typeface="Arial"/>
              </a:rPr>
              <a:t>•  Security Groups - stateful, operate at the EC2 instance level</a:t>
            </a:r>
          </a:p>
          <a:p>
            <a:pPr>
              <a:spcAft>
                <a:spcPts val="1000"/>
              </a:spcAft>
            </a:pPr>
            <a:r>
              <a:rPr sz="1800" b="0">
                <a:solidFill>
                  <a:srgbClr val="161B26"/>
                </a:solidFill>
                <a:latin typeface="Arial"/>
              </a:rPr>
              <a:t>•  Reachability Analyzer - perform network connectivity testing between AWS resources</a:t>
            </a:r>
          </a:p>
          <a:p>
            <a:pPr>
              <a:spcAft>
                <a:spcPts val="1000"/>
              </a:spcAft>
            </a:pPr>
            <a:r>
              <a:rPr sz="1800" b="0">
                <a:solidFill>
                  <a:srgbClr val="161B26"/>
                </a:solidFill>
                <a:latin typeface="Arial"/>
              </a:rPr>
              <a:t>•  VPC Peering - connect two VPCs with non overlapping CIDR, non-transitive</a:t>
            </a:r>
          </a:p>
          <a:p>
            <a:pPr>
              <a:spcAft>
                <a:spcPts val="1000"/>
              </a:spcAft>
            </a:pPr>
            <a:r>
              <a:rPr sz="1800" b="0">
                <a:solidFill>
                  <a:srgbClr val="161B26"/>
                </a:solidFill>
                <a:latin typeface="Arial"/>
              </a:rPr>
              <a:t>•  VPC Endpoints - provide private access to AWS Services (S3, DynamoDB, CloudFormation, SSM) within a VPC</a:t>
            </a:r>
          </a:p>
          <a:p>
            <a:pPr>
              <a:spcAft>
                <a:spcPts val="1000"/>
              </a:spcAft>
            </a:pPr>
            <a:r>
              <a:rPr sz="1800" b="0">
                <a:solidFill>
                  <a:srgbClr val="161B26"/>
                </a:solidFill>
                <a:latin typeface="Arial"/>
              </a:rPr>
              <a:t>•  VPC Flow points - can be setup at the VPC / Subnet / ENI Level, for ACCEPT and</a:t>
            </a:r>
          </a:p>
          <a:p>
            <a:pPr>
              <a:spcAft>
                <a:spcPts val="1000"/>
              </a:spcAft>
            </a:pPr>
            <a:r>
              <a:rPr sz="1800" b="0">
                <a:solidFill>
                  <a:srgbClr val="161B26"/>
                </a:solidFill>
                <a:latin typeface="Arial"/>
              </a:rPr>
              <a:t>•  REJECT traffic, helps identifying attacks, analyze using Athena or CloudWatch Logs Insights</a:t>
            </a:r>
          </a:p>
          <a:p>
            <a:pPr>
              <a:spcAft>
                <a:spcPts val="1000"/>
              </a:spcAft>
            </a:pPr>
            <a:r>
              <a:rPr sz="1800" b="0">
                <a:solidFill>
                  <a:srgbClr val="161B26"/>
                </a:solidFill>
                <a:latin typeface="Arial"/>
              </a:rPr>
              <a:t>•  Site-to-Site VPN - setup a Customer Gateway on DC, a Virtual Private Gateway on VPC, and site-to-site VPN over public Internet</a:t>
            </a:r>
          </a:p>
          <a:p>
            <a:pPr>
              <a:spcAft>
                <a:spcPts val="1000"/>
              </a:spcAft>
            </a:pPr>
            <a:r>
              <a:rPr sz="1800" b="0">
                <a:solidFill>
                  <a:srgbClr val="161B26"/>
                </a:solidFill>
                <a:latin typeface="Arial"/>
              </a:rPr>
              <a:t>•  AWS VPN Cloudhub - hub-and-spoke VPN model to connect your sites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901</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Section Summary (3/3)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Direct connect - setup a Virtual Private Gateway on VPC, and establish a direct private connection to an AWS Direct Connect Location</a:t>
            </a:r>
          </a:p>
          <a:p>
            <a:pPr>
              <a:spcAft>
                <a:spcPts val="1000"/>
              </a:spcAft>
            </a:pPr>
            <a:r>
              <a:rPr sz="1800" b="0">
                <a:solidFill>
                  <a:srgbClr val="161B26"/>
                </a:solidFill>
                <a:latin typeface="Arial"/>
              </a:rPr>
              <a:t>•  Direct connect gateway - setup a Direct Connect to many VPCs in different AWS regions</a:t>
            </a:r>
          </a:p>
          <a:p>
            <a:pPr>
              <a:spcAft>
                <a:spcPts val="1000"/>
              </a:spcAft>
            </a:pPr>
            <a:r>
              <a:rPr sz="1800" b="0">
                <a:solidFill>
                  <a:srgbClr val="161B26"/>
                </a:solidFill>
                <a:latin typeface="Arial"/>
              </a:rPr>
              <a:t>•  AWS PrivateLink / VPC Endpoint Services:</a:t>
            </a:r>
          </a:p>
          <a:p>
            <a:pPr>
              <a:spcAft>
                <a:spcPts val="1000"/>
              </a:spcAft>
            </a:pPr>
            <a:r>
              <a:rPr sz="1800" b="0">
                <a:solidFill>
                  <a:srgbClr val="161B26"/>
                </a:solidFill>
                <a:latin typeface="Arial"/>
              </a:rPr>
              <a:t>•  Connect services privately from your service VPC to customers VPC</a:t>
            </a:r>
          </a:p>
          <a:p>
            <a:pPr>
              <a:spcAft>
                <a:spcPts val="1000"/>
              </a:spcAft>
            </a:pPr>
            <a:r>
              <a:rPr sz="1800" b="0">
                <a:solidFill>
                  <a:srgbClr val="161B26"/>
                </a:solidFill>
                <a:latin typeface="Arial"/>
              </a:rPr>
              <a:t>•  Doesn’t need VPC Peering, public Internet, NAT Gateway, Route Tables</a:t>
            </a:r>
          </a:p>
          <a:p>
            <a:pPr>
              <a:spcAft>
                <a:spcPts val="1000"/>
              </a:spcAft>
            </a:pPr>
            <a:r>
              <a:rPr sz="1800" b="0">
                <a:solidFill>
                  <a:srgbClr val="161B26"/>
                </a:solidFill>
                <a:latin typeface="Arial"/>
              </a:rPr>
              <a:t>•  Must be used with Network Load Balancer &amp; ENI</a:t>
            </a:r>
          </a:p>
          <a:p>
            <a:pPr>
              <a:spcAft>
                <a:spcPts val="1000"/>
              </a:spcAft>
            </a:pPr>
            <a:r>
              <a:rPr sz="1800" b="0">
                <a:solidFill>
                  <a:srgbClr val="161B26"/>
                </a:solidFill>
                <a:latin typeface="Arial"/>
              </a:rPr>
              <a:t>•  CLassic Link - connect EC2-Classic EC2 instances privately to your VPC</a:t>
            </a:r>
          </a:p>
          <a:p>
            <a:pPr>
              <a:spcAft>
                <a:spcPts val="1000"/>
              </a:spcAft>
            </a:pPr>
            <a:r>
              <a:rPr sz="1800" b="0">
                <a:solidFill>
                  <a:srgbClr val="161B26"/>
                </a:solidFill>
                <a:latin typeface="Arial"/>
              </a:rPr>
              <a:t>•  Transit gateway - transitive peering connections for VPC,VPN &amp; DX</a:t>
            </a:r>
          </a:p>
          <a:p>
            <a:pPr>
              <a:spcAft>
                <a:spcPts val="1000"/>
              </a:spcAft>
            </a:pPr>
            <a:r>
              <a:rPr sz="1800" b="0">
                <a:solidFill>
                  <a:srgbClr val="161B26"/>
                </a:solidFill>
                <a:latin typeface="Arial"/>
              </a:rPr>
              <a:t>•  Traffic Mirroring - copy network traffic from ENIs for further analysis</a:t>
            </a:r>
          </a:p>
          <a:p>
            <a:pPr>
              <a:spcAft>
                <a:spcPts val="1000"/>
              </a:spcAft>
            </a:pPr>
            <a:r>
              <a:rPr sz="1800" b="0">
                <a:solidFill>
                  <a:srgbClr val="161B26"/>
                </a:solidFill>
                <a:latin typeface="Arial"/>
              </a:rPr>
              <a:t>•  Egress-only Internet Gateway - like a NAT Gateway, but for IPv6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902</a:t>
            </a:r>
          </a:p>
        </p:txBody>
      </p:sp>
    </p:spTree>
  </p:cSld>
  <p:clrMapOvr>
    <a:masterClrMapping/>
  </p:clrMapOvr>
</p:sld>
</file>

<file path=ppt/slides/slide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Networking Costs in AWS per GB - Simplified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$0.02</a:t>
            </a:r>
          </a:p>
          <a:p>
            <a:pPr>
              <a:spcAft>
                <a:spcPts val="1000"/>
              </a:spcAft>
            </a:pPr>
            <a:r>
              <a:rPr sz="1800" b="0">
                <a:solidFill>
                  <a:srgbClr val="161B26"/>
                </a:solidFill>
                <a:latin typeface="Arial"/>
              </a:rPr>
              <a:t>•  Inter-region</a:t>
            </a:r>
          </a:p>
          <a:p>
            <a:pPr>
              <a:spcAft>
                <a:spcPts val="1000"/>
              </a:spcAft>
            </a:pPr>
            <a:r>
              <a:rPr sz="1800" b="0">
                <a:solidFill>
                  <a:srgbClr val="161B26"/>
                </a:solidFill>
                <a:latin typeface="Arial"/>
              </a:rPr>
              <a:t>•  $0.02 if using Public IP / Elastic IP</a:t>
            </a:r>
          </a:p>
          <a:p>
            <a:pPr>
              <a:spcAft>
                <a:spcPts val="1000"/>
              </a:spcAft>
            </a:pPr>
            <a:r>
              <a:rPr sz="1800" b="0">
                <a:solidFill>
                  <a:srgbClr val="161B26"/>
                </a:solidFill>
                <a:latin typeface="Arial"/>
              </a:rPr>
              <a:t>•  Free if using private IP</a:t>
            </a:r>
          </a:p>
          <a:p>
            <a:pPr>
              <a:spcAft>
                <a:spcPts val="1000"/>
              </a:spcAft>
            </a:pPr>
            <a:r>
              <a:rPr sz="1800" b="0">
                <a:solidFill>
                  <a:srgbClr val="161B26"/>
                </a:solidFill>
                <a:latin typeface="Arial"/>
              </a:rPr>
              <a:t>•  $0.01 if</a:t>
            </a:r>
          </a:p>
          <a:p>
            <a:pPr>
              <a:spcAft>
                <a:spcPts val="1000"/>
              </a:spcAft>
            </a:pPr>
            <a:r>
              <a:rPr sz="1800" b="0">
                <a:solidFill>
                  <a:srgbClr val="161B26"/>
                </a:solidFill>
                <a:latin typeface="Arial"/>
              </a:rPr>
              <a:t>•  Using private IP</a:t>
            </a:r>
          </a:p>
          <a:p>
            <a:pPr>
              <a:spcAft>
                <a:spcPts val="1000"/>
              </a:spcAft>
            </a:pPr>
            <a:r>
              <a:rPr sz="1800" b="0">
                <a:solidFill>
                  <a:srgbClr val="161B26"/>
                </a:solidFill>
                <a:latin typeface="Arial"/>
              </a:rPr>
              <a:t>•  Use Private IP instead of Public IP for good savings and better network performance</a:t>
            </a:r>
          </a:p>
          <a:p>
            <a:pPr>
              <a:spcAft>
                <a:spcPts val="1000"/>
              </a:spcAft>
            </a:pPr>
            <a:r>
              <a:rPr sz="1800" b="0">
                <a:solidFill>
                  <a:srgbClr val="161B26"/>
                </a:solidFill>
                <a:latin typeface="Arial"/>
              </a:rPr>
              <a:t>•  Use same AZ for maximum savings (at the cost of high availability)</a:t>
            </a:r>
          </a:p>
          <a:p>
            <a:pPr>
              <a:spcAft>
                <a:spcPts val="1000"/>
              </a:spcAft>
            </a:pPr>
            <a:r>
              <a:rPr sz="1800" b="0">
                <a:solidFill>
                  <a:srgbClr val="161B26"/>
                </a:solidFill>
                <a:latin typeface="Arial"/>
              </a:rPr>
              <a:t>•  Free for traffic 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903</a:t>
            </a:r>
          </a:p>
        </p:txBody>
      </p:sp>
    </p:spTree>
  </p:cSld>
  <p:clrMapOvr>
    <a:masterClrMapping/>
  </p:clrMapOvr>
</p:sld>
</file>

<file path=ppt/slides/slide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Minimizing egress traffic network cost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Egress traffic: outbound 	traffic (from AWS to outside)</a:t>
            </a:r>
          </a:p>
          <a:p>
            <a:pPr>
              <a:spcAft>
                <a:spcPts val="1000"/>
              </a:spcAft>
            </a:pPr>
            <a:r>
              <a:rPr sz="1800" b="0">
                <a:solidFill>
                  <a:srgbClr val="161B26"/>
                </a:solidFill>
                <a:latin typeface="Arial"/>
              </a:rPr>
              <a:t>•  Ingress traffic: inbound traffic - from outside to AWS (typically free)</a:t>
            </a:r>
          </a:p>
          <a:p>
            <a:pPr>
              <a:spcAft>
                <a:spcPts val="1000"/>
              </a:spcAft>
            </a:pPr>
            <a:r>
              <a:rPr sz="1800" b="0">
                <a:solidFill>
                  <a:srgbClr val="161B26"/>
                </a:solidFill>
                <a:latin typeface="Arial"/>
              </a:rPr>
              <a:t>•  Try to keep as much internet traffic within AWS to minimize costs</a:t>
            </a:r>
          </a:p>
          <a:p>
            <a:pPr>
              <a:spcAft>
                <a:spcPts val="1000"/>
              </a:spcAft>
            </a:pPr>
            <a:r>
              <a:rPr sz="1800" b="0">
                <a:solidFill>
                  <a:srgbClr val="161B26"/>
                </a:solidFill>
                <a:latin typeface="Arial"/>
              </a:rPr>
              <a:t>•  Direct Connect Location that are co-located in the same AWS Region result in lower cost for egress</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Database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Egress cost is minimized</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DB Query</a:t>
            </a:r>
          </a:p>
          <a:p>
            <a:pPr>
              <a:spcAft>
                <a:spcPts val="1000"/>
              </a:spcAft>
            </a:pPr>
            <a:r>
              <a:rPr sz="1800" b="0">
                <a:solidFill>
                  <a:srgbClr val="161B26"/>
                </a:solidFill>
                <a:latin typeface="Arial"/>
              </a:rPr>
              <a:t>•  100 MB</a:t>
            </a:r>
          </a:p>
          <a:p>
            <a:pPr>
              <a:spcAft>
                <a:spcPts val="1000"/>
              </a:spcAft>
            </a:pPr>
            <a:r>
              <a:rPr sz="1800" b="0">
                <a:solidFill>
                  <a:srgbClr val="161B26"/>
                </a:solidFill>
                <a:latin typeface="Arial"/>
              </a:rPr>
              <a:t>•  Database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Query Results</a:t>
            </a:r>
          </a:p>
          <a:p>
            <a:pPr>
              <a:spcAft>
                <a:spcPts val="1000"/>
              </a:spcAft>
            </a:pPr>
            <a:r>
              <a:rPr sz="1800" b="0">
                <a:solidFill>
                  <a:srgbClr val="161B26"/>
                </a:solidFill>
                <a:latin typeface="Arial"/>
              </a:rPr>
              <a:t>•  50 KB</a:t>
            </a:r>
          </a:p>
          <a:p>
            <a:pPr>
              <a:spcAft>
                <a:spcPts val="1000"/>
              </a:spcAft>
            </a:pPr>
            <a:r>
              <a:rPr sz="1800" b="0">
                <a:solidFill>
                  <a:srgbClr val="161B26"/>
                </a:solidFill>
                <a:latin typeface="Arial"/>
              </a:rPr>
              <a:t>•  DB Query</a:t>
            </a:r>
          </a:p>
          <a:p>
            <a:pPr>
              <a:spcAft>
                <a:spcPts val="1000"/>
              </a:spcAft>
            </a:pPr>
            <a:r>
              <a:rPr sz="1800" b="0">
                <a:solidFill>
                  <a:srgbClr val="161B26"/>
                </a:solidFill>
                <a:latin typeface="Arial"/>
              </a:rPr>
              <a:t>•  100 MB</a:t>
            </a:r>
          </a:p>
          <a:p>
            <a:pPr>
              <a:spcAft>
                <a:spcPts val="1000"/>
              </a:spcAft>
            </a:pPr>
            <a:r>
              <a:rPr sz="1800" b="0">
                <a:solidFill>
                  <a:srgbClr val="161B26"/>
                </a:solidFill>
                <a:latin typeface="Arial"/>
              </a:rPr>
              <a:t>•  Query Results</a:t>
            </a:r>
          </a:p>
          <a:p>
            <a:pPr>
              <a:spcAft>
                <a:spcPts val="1000"/>
              </a:spcAft>
            </a:pPr>
            <a:r>
              <a:rPr sz="1800" b="0">
                <a:solidFill>
                  <a:srgbClr val="161B26"/>
                </a:solidFill>
                <a:latin typeface="Arial"/>
              </a:rPr>
              <a:t>•  50 KB</a:t>
            </a:r>
          </a:p>
          <a:p>
            <a:pPr>
              <a:spcAft>
                <a:spcPts val="1000"/>
              </a:spcAft>
            </a:pPr>
            <a:r>
              <a:rPr sz="1800" b="0">
                <a:solidFill>
                  <a:srgbClr val="161B26"/>
                </a:solidFill>
                <a:latin typeface="Arial"/>
              </a:rPr>
              <a:t>•  Egress cost is high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904</a:t>
            </a:r>
          </a:p>
        </p:txBody>
      </p:sp>
    </p:spTree>
  </p:cSld>
  <p:clrMapOvr>
    <a:masterClrMapping/>
  </p:clrMapOvr>
</p:sld>
</file>

<file path=ppt/slides/slide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Data Transfer Pricing - Analysis for USA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ingress: free</a:t>
            </a:r>
          </a:p>
          <a:p>
            <a:pPr>
              <a:spcAft>
                <a:spcPts val="1000"/>
              </a:spcAft>
            </a:pPr>
            <a:r>
              <a:rPr sz="1800" b="0">
                <a:solidFill>
                  <a:srgbClr val="161B26"/>
                </a:solidFill>
                <a:latin typeface="Arial"/>
              </a:rPr>
              <a:t>•  S3 to internet: $0.09 per GB</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Faster transfer times (50 to 500% better)</a:t>
            </a:r>
          </a:p>
          <a:p>
            <a:pPr>
              <a:spcAft>
                <a:spcPts val="1000"/>
              </a:spcAft>
            </a:pPr>
            <a:r>
              <a:rPr sz="1800" b="0">
                <a:solidFill>
                  <a:srgbClr val="161B26"/>
                </a:solidFill>
                <a:latin typeface="Arial"/>
              </a:rPr>
              <a:t>•  Additional cost on top of Data Transfer Pricing: +$0.04 to $0.08 per GB</a:t>
            </a:r>
          </a:p>
          <a:p>
            <a:pPr>
              <a:spcAft>
                <a:spcPts val="1000"/>
              </a:spcAft>
            </a:pPr>
            <a:r>
              <a:rPr sz="1800" b="0">
                <a:solidFill>
                  <a:srgbClr val="161B26"/>
                </a:solidFill>
                <a:latin typeface="Arial"/>
              </a:rPr>
              <a:t>•  S3 to Cloudfront: $0.00 per GB</a:t>
            </a:r>
          </a:p>
          <a:p>
            <a:pPr>
              <a:spcAft>
                <a:spcPts val="1000"/>
              </a:spcAft>
            </a:pPr>
            <a:r>
              <a:rPr sz="1800" b="0">
                <a:solidFill>
                  <a:srgbClr val="161B26"/>
                </a:solidFill>
                <a:latin typeface="Arial"/>
              </a:rPr>
              <a:t>•  Cloudfront to Internet: $0.085 per GB (slightly cheaper than S3)</a:t>
            </a:r>
          </a:p>
          <a:p>
            <a:pPr>
              <a:spcAft>
                <a:spcPts val="1000"/>
              </a:spcAft>
            </a:pPr>
            <a:r>
              <a:rPr sz="1800" b="0">
                <a:solidFill>
                  <a:srgbClr val="161B26"/>
                </a:solidFill>
                <a:latin typeface="Arial"/>
              </a:rPr>
              <a:t>•  Caching capability (lower latency)</a:t>
            </a:r>
          </a:p>
          <a:p>
            <a:pPr>
              <a:spcAft>
                <a:spcPts val="1000"/>
              </a:spcAft>
            </a:pPr>
            <a:r>
              <a:rPr sz="1800" b="0">
                <a:solidFill>
                  <a:srgbClr val="161B26"/>
                </a:solidFill>
                <a:latin typeface="Arial"/>
              </a:rPr>
              <a:t>•  Reduce costs associated with S3 Requests Pricing (7x cheaper with CloudFront)</a:t>
            </a:r>
          </a:p>
          <a:p>
            <a:pPr>
              <a:spcAft>
                <a:spcPts val="1000"/>
              </a:spcAft>
            </a:pPr>
            <a:r>
              <a:rPr sz="1800" b="0">
                <a:solidFill>
                  <a:srgbClr val="161B26"/>
                </a:solidFill>
                <a:latin typeface="Arial"/>
              </a:rPr>
              <a:t>•  S3 Cross Region Replication: $0.02 per GB</a:t>
            </a:r>
          </a:p>
          <a:p>
            <a:pPr>
              <a:spcAft>
                <a:spcPts val="1000"/>
              </a:spcAft>
            </a:pPr>
            <a:r>
              <a:rPr sz="1800" b="0">
                <a:solidFill>
                  <a:srgbClr val="161B26"/>
                </a:solidFill>
                <a:latin typeface="Arial"/>
              </a:rPr>
              <a:t>•  Replication $0.02</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Transfer acceleration +$0.04</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$0.09</a:t>
            </a:r>
          </a:p>
          <a:p>
            <a:pPr>
              <a:spcAft>
                <a:spcPts val="1000"/>
              </a:spcAft>
            </a:pPr>
            <a:r>
              <a:rPr sz="1800" b="0">
                <a:solidFill>
                  <a:srgbClr val="161B26"/>
                </a:solidFill>
                <a:latin typeface="Arial"/>
              </a:rPr>
              <a:t>•  $0.00</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$0.085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905</a:t>
            </a:r>
          </a:p>
        </p:txBody>
      </p:sp>
    </p:spTree>
  </p:cSld>
  <p:clrMapOvr>
    <a:masterClrMapping/>
  </p:clrMapOvr>
</p:sld>
</file>

<file path=ppt/slides/slide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2 (10.0.1.0/24)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Pricing: NAT Gateway vs Gateway VPC Endpoint</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VPC (10.0.0.0/16)</a:t>
            </a:r>
          </a:p>
          <a:p>
            <a:pPr>
              <a:spcAft>
                <a:spcPts val="1000"/>
              </a:spcAft>
            </a:pPr>
            <a:r>
              <a:rPr sz="1800" b="0">
                <a:solidFill>
                  <a:srgbClr val="161B26"/>
                </a:solidFill>
                <a:latin typeface="Arial"/>
              </a:rPr>
              <a:t>•  Private subnet 1 (10.0.0.0/24)</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Subnet 1 route table</a:t>
            </a:r>
          </a:p>
          <a:p>
            <a:pPr>
              <a:spcAft>
                <a:spcPts val="1000"/>
              </a:spcAft>
            </a:pPr>
            <a:r>
              <a:rPr sz="1800" b="0">
                <a:solidFill>
                  <a:srgbClr val="161B26"/>
                </a:solidFill>
                <a:latin typeface="Arial"/>
              </a:rPr>
              <a:t>•  Subnet 2 route table</a:t>
            </a:r>
          </a:p>
          <a:p>
            <a:pPr>
              <a:spcAft>
                <a:spcPts val="1000"/>
              </a:spcAft>
            </a:pPr>
            <a:r>
              <a:rPr sz="1800" b="0">
                <a:solidFill>
                  <a:srgbClr val="161B26"/>
                </a:solidFill>
                <a:latin typeface="Arial"/>
              </a:rPr>
              <a:t>•  $0.045 NAT Gateway / hour</a:t>
            </a:r>
          </a:p>
          <a:p>
            <a:pPr>
              <a:spcAft>
                <a:spcPts val="1000"/>
              </a:spcAft>
            </a:pPr>
            <a:r>
              <a:rPr sz="1800" b="0">
                <a:solidFill>
                  <a:srgbClr val="161B26"/>
                </a:solidFill>
                <a:latin typeface="Arial"/>
              </a:rPr>
              <a:t>•  $0.045 NAT Gateway data processed / GB</a:t>
            </a:r>
          </a:p>
          <a:p>
            <a:pPr>
              <a:spcAft>
                <a:spcPts val="1000"/>
              </a:spcAft>
            </a:pPr>
            <a:r>
              <a:rPr sz="1800" b="0">
                <a:solidFill>
                  <a:srgbClr val="161B26"/>
                </a:solidFill>
                <a:latin typeface="Arial"/>
              </a:rPr>
              <a:t>•  $0.09 Data transfer out to S3 (cross-region)</a:t>
            </a:r>
          </a:p>
          <a:p>
            <a:pPr>
              <a:spcAft>
                <a:spcPts val="1000"/>
              </a:spcAft>
            </a:pPr>
            <a:r>
              <a:rPr sz="1800" b="0">
                <a:solidFill>
                  <a:srgbClr val="161B26"/>
                </a:solidFill>
                <a:latin typeface="Arial"/>
              </a:rPr>
              <a:t>•  $0.00 Data transfer out to S3 (same-region)</a:t>
            </a:r>
          </a:p>
          <a:p>
            <a:pPr>
              <a:spcAft>
                <a:spcPts val="1000"/>
              </a:spcAft>
            </a:pPr>
            <a:r>
              <a:rPr sz="1800" b="0">
                <a:solidFill>
                  <a:srgbClr val="161B26"/>
                </a:solidFill>
                <a:latin typeface="Arial"/>
              </a:rPr>
              <a:t>•  No cost for using Gateway Endpoint.</a:t>
            </a:r>
          </a:p>
          <a:p>
            <a:pPr>
              <a:spcAft>
                <a:spcPts val="1000"/>
              </a:spcAft>
            </a:pPr>
            <a:r>
              <a:rPr sz="1800" b="0">
                <a:solidFill>
                  <a:srgbClr val="161B26"/>
                </a:solidFill>
                <a:latin typeface="Arial"/>
              </a:rPr>
              <a:t>•  $0.01 Data transfer in/out (same- region)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906</a:t>
            </a:r>
          </a:p>
        </p:txBody>
      </p:sp>
    </p:spTree>
  </p:cSld>
  <p:clrMapOvr>
    <a:masterClrMapping/>
  </p:clrMapOvr>
</p:sld>
</file>

<file path=ppt/slides/slide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Protection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protect network on AWS, we’ve seen</a:t>
            </a:r>
          </a:p>
          <a:p>
            <a:pPr>
              <a:spcAft>
                <a:spcPts val="1000"/>
              </a:spcAft>
            </a:pPr>
            <a:r>
              <a:rPr sz="1800" b="0">
                <a:solidFill>
                  <a:srgbClr val="161B26"/>
                </a:solidFill>
                <a:latin typeface="Arial"/>
              </a:rPr>
              <a:t>•  Network Access Control Lists (NACLs)</a:t>
            </a:r>
          </a:p>
          <a:p>
            <a:pPr>
              <a:spcAft>
                <a:spcPts val="1000"/>
              </a:spcAft>
            </a:pPr>
            <a:r>
              <a:rPr sz="1800" b="0">
                <a:solidFill>
                  <a:srgbClr val="161B26"/>
                </a:solidFill>
                <a:latin typeface="Arial"/>
              </a:rPr>
              <a:t>•  Amazon VPC security groups</a:t>
            </a:r>
          </a:p>
          <a:p>
            <a:pPr>
              <a:spcAft>
                <a:spcPts val="1000"/>
              </a:spcAft>
            </a:pPr>
            <a:r>
              <a:rPr sz="1800" b="0">
                <a:solidFill>
                  <a:srgbClr val="161B26"/>
                </a:solidFill>
                <a:latin typeface="Arial"/>
              </a:rPr>
              <a:t>•  AWS WAF (protect against malicious requests)</a:t>
            </a:r>
          </a:p>
          <a:p>
            <a:pPr>
              <a:spcAft>
                <a:spcPts val="1000"/>
              </a:spcAft>
            </a:pPr>
            <a:r>
              <a:rPr sz="1800" b="0">
                <a:solidFill>
                  <a:srgbClr val="161B26"/>
                </a:solidFill>
                <a:latin typeface="Arial"/>
              </a:rPr>
              <a:t>•  AWS Shield &amp; AWS Shield Advanced</a:t>
            </a:r>
          </a:p>
          <a:p>
            <a:pPr>
              <a:spcAft>
                <a:spcPts val="1000"/>
              </a:spcAft>
            </a:pPr>
            <a:r>
              <a:rPr sz="1800" b="0">
                <a:solidFill>
                  <a:srgbClr val="161B26"/>
                </a:solidFill>
                <a:latin typeface="Arial"/>
              </a:rPr>
              <a:t>•  AWS Firewall Manager (to manage them across accounts)</a:t>
            </a:r>
          </a:p>
          <a:p>
            <a:pPr>
              <a:spcAft>
                <a:spcPts val="1000"/>
              </a:spcAft>
            </a:pPr>
            <a:r>
              <a:rPr sz="1800" b="0">
                <a:solidFill>
                  <a:srgbClr val="161B26"/>
                </a:solidFill>
                <a:latin typeface="Arial"/>
              </a:rPr>
              <a:t>•  But what if we want to protect in a sophisticated way our entire VPC?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907</a:t>
            </a:r>
          </a:p>
        </p:txBody>
      </p:sp>
    </p:spTree>
  </p:cSld>
  <p:clrMapOvr>
    <a:masterClrMapping/>
  </p:clrMapOvr>
</p:sld>
</file>

<file path=ppt/slides/slide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Network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Protect your entire Amazon VPC</a:t>
            </a:r>
          </a:p>
          <a:p>
            <a:pPr>
              <a:spcAft>
                <a:spcPts val="1000"/>
              </a:spcAft>
            </a:pPr>
            <a:r>
              <a:rPr sz="1800" b="0">
                <a:solidFill>
                  <a:srgbClr val="161B26"/>
                </a:solidFill>
                <a:latin typeface="Arial"/>
              </a:rPr>
              <a:t>•  From Layer 3 to Layer 7 protection</a:t>
            </a:r>
          </a:p>
          <a:p>
            <a:pPr>
              <a:spcAft>
                <a:spcPts val="1000"/>
              </a:spcAft>
            </a:pPr>
            <a:r>
              <a:rPr sz="1800" b="0">
                <a:solidFill>
                  <a:srgbClr val="161B26"/>
                </a:solidFill>
                <a:latin typeface="Arial"/>
              </a:rPr>
              <a:t>•  Any direction, you can inspect</a:t>
            </a:r>
          </a:p>
          <a:p>
            <a:pPr>
              <a:spcAft>
                <a:spcPts val="1000"/>
              </a:spcAft>
            </a:pPr>
            <a:r>
              <a:rPr sz="1800" b="0">
                <a:solidFill>
                  <a:srgbClr val="161B26"/>
                </a:solidFill>
                <a:latin typeface="Arial"/>
              </a:rPr>
              <a:t>•  VPC to VPC traffic</a:t>
            </a:r>
          </a:p>
          <a:p>
            <a:pPr>
              <a:spcAft>
                <a:spcPts val="1000"/>
              </a:spcAft>
            </a:pPr>
            <a:r>
              <a:rPr sz="1800" b="0">
                <a:solidFill>
                  <a:srgbClr val="161B26"/>
                </a:solidFill>
                <a:latin typeface="Arial"/>
              </a:rPr>
              <a:t>•  Outbound to internet</a:t>
            </a:r>
          </a:p>
          <a:p>
            <a:pPr>
              <a:spcAft>
                <a:spcPts val="1000"/>
              </a:spcAft>
            </a:pPr>
            <a:r>
              <a:rPr sz="1800" b="0">
                <a:solidFill>
                  <a:srgbClr val="161B26"/>
                </a:solidFill>
                <a:latin typeface="Arial"/>
              </a:rPr>
              <a:t>•  Inbound from internet</a:t>
            </a:r>
          </a:p>
          <a:p>
            <a:pPr>
              <a:spcAft>
                <a:spcPts val="1000"/>
              </a:spcAft>
            </a:pPr>
            <a:r>
              <a:rPr sz="1800" b="0">
                <a:solidFill>
                  <a:srgbClr val="161B26"/>
                </a:solidFill>
                <a:latin typeface="Arial"/>
              </a:rPr>
              <a:t>•  To / from Direct Connect &amp; Site-to-Site VPN</a:t>
            </a:r>
          </a:p>
          <a:p>
            <a:pPr>
              <a:spcAft>
                <a:spcPts val="1000"/>
              </a:spcAft>
            </a:pPr>
            <a:r>
              <a:rPr sz="1800" b="0">
                <a:solidFill>
                  <a:srgbClr val="161B26"/>
                </a:solidFill>
                <a:latin typeface="Arial"/>
              </a:rPr>
              <a:t>•  Internally, the AWS Network Firewall uses the AWS Gateway Load Balancer</a:t>
            </a:r>
          </a:p>
          <a:p>
            <a:pPr>
              <a:spcAft>
                <a:spcPts val="1000"/>
              </a:spcAft>
            </a:pPr>
            <a:r>
              <a:rPr sz="1800" b="0">
                <a:solidFill>
                  <a:srgbClr val="161B26"/>
                </a:solidFill>
                <a:latin typeface="Arial"/>
              </a:rPr>
              <a:t>•  Rules can be centrally managed cross-</a:t>
            </a:r>
          </a:p>
          <a:p>
            <a:pPr>
              <a:spcAft>
                <a:spcPts val="1000"/>
              </a:spcAft>
            </a:pPr>
            <a:r>
              <a:rPr sz="1800" b="0">
                <a:solidFill>
                  <a:srgbClr val="161B26"/>
                </a:solidFill>
                <a:latin typeface="Arial"/>
              </a:rPr>
              <a:t>•  account by AWS Firewall Manager to apply to many VPCs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Peered VPC</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Corporate DC</a:t>
            </a:r>
          </a:p>
          <a:p>
            <a:pPr>
              <a:spcAft>
                <a:spcPts val="1000"/>
              </a:spcAft>
            </a:pPr>
            <a:r>
              <a:rPr sz="1800" b="0">
                <a:solidFill>
                  <a:srgbClr val="161B26"/>
                </a:solidFill>
                <a:latin typeface="Arial"/>
              </a:rPr>
              <a:t>•  AWS Network Firewall</a:t>
            </a:r>
          </a:p>
          <a:p>
            <a:pPr>
              <a:spcAft>
                <a:spcPts val="1000"/>
              </a:spcAft>
            </a:pPr>
            <a:r>
              <a:rPr sz="1800" b="0">
                <a:solidFill>
                  <a:srgbClr val="161B26"/>
                </a:solidFill>
                <a:latin typeface="Arial"/>
              </a:rPr>
              <a:t>•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908</a:t>
            </a:r>
          </a:p>
        </p:txBody>
      </p:sp>
    </p:spTree>
  </p:cSld>
  <p:clrMapOvr>
    <a:masterClrMapping/>
  </p:clrMapOvr>
</p:sld>
</file>

<file path=ppt/slides/slide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Firewall - Fine Grained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Supports 1000s of rules</a:t>
            </a:r>
          </a:p>
          <a:p>
            <a:pPr>
              <a:spcAft>
                <a:spcPts val="1000"/>
              </a:spcAft>
            </a:pPr>
            <a:r>
              <a:rPr sz="1800" b="0">
                <a:solidFill>
                  <a:srgbClr val="161B26"/>
                </a:solidFill>
                <a:latin typeface="Arial"/>
              </a:rPr>
              <a:t>•  IP &amp; port - example: 10,000s of IPs filtering</a:t>
            </a:r>
          </a:p>
          <a:p>
            <a:pPr>
              <a:spcAft>
                <a:spcPts val="1000"/>
              </a:spcAft>
            </a:pPr>
            <a:r>
              <a:rPr sz="1800" b="0">
                <a:solidFill>
                  <a:srgbClr val="161B26"/>
                </a:solidFill>
                <a:latin typeface="Arial"/>
              </a:rPr>
              <a:t>•  Protocol – example: block the SMB protocol for outbound communications</a:t>
            </a:r>
          </a:p>
          <a:p>
            <a:pPr>
              <a:spcAft>
                <a:spcPts val="1000"/>
              </a:spcAft>
            </a:pPr>
            <a:r>
              <a:rPr sz="1800" b="0">
                <a:solidFill>
                  <a:srgbClr val="161B26"/>
                </a:solidFill>
                <a:latin typeface="Arial"/>
              </a:rPr>
              <a:t>•  Stateful domain list rule groups: only allow outbound traffic to *.mycorp.com or third-party software repo</a:t>
            </a:r>
          </a:p>
          <a:p>
            <a:pPr>
              <a:spcAft>
                <a:spcPts val="1000"/>
              </a:spcAft>
            </a:pPr>
            <a:r>
              <a:rPr sz="1800" b="0">
                <a:solidFill>
                  <a:srgbClr val="161B26"/>
                </a:solidFill>
                <a:latin typeface="Arial"/>
              </a:rPr>
              <a:t>•  General pattern matching using regex</a:t>
            </a:r>
          </a:p>
          <a:p>
            <a:pPr>
              <a:spcAft>
                <a:spcPts val="1000"/>
              </a:spcAft>
            </a:pPr>
            <a:r>
              <a:rPr sz="1800" b="0">
                <a:solidFill>
                  <a:srgbClr val="161B26"/>
                </a:solidFill>
                <a:latin typeface="Arial"/>
              </a:rPr>
              <a:t>•  Traffic filtering: Allow, drop or alert for the traffic that matches the rules</a:t>
            </a:r>
          </a:p>
          <a:p>
            <a:pPr>
              <a:spcAft>
                <a:spcPts val="1000"/>
              </a:spcAft>
            </a:pPr>
            <a:r>
              <a:rPr sz="1800" b="0">
                <a:solidFill>
                  <a:srgbClr val="161B26"/>
                </a:solidFill>
                <a:latin typeface="Arial"/>
              </a:rPr>
              <a:t>•  Active flow inspection to protect against network threats with intrusion- 	prevention capabilities (like Gateway Load Balancer, but all managed by AWS)</a:t>
            </a:r>
          </a:p>
          <a:p>
            <a:pPr>
              <a:spcAft>
                <a:spcPts val="1000"/>
              </a:spcAft>
            </a:pPr>
            <a:r>
              <a:rPr sz="1800" b="0">
                <a:solidFill>
                  <a:srgbClr val="161B26"/>
                </a:solidFill>
                <a:latin typeface="Arial"/>
              </a:rPr>
              <a:t>•  Send logs of rule matches to Amazon S3, CloudWatch Logs, Kinesis Data Firehose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909</a:t>
            </a:r>
          </a:p>
        </p:txBody>
      </p:sp>
    </p:spTree>
  </p:cSld>
  <p:clrMapOvr>
    <a:masterClrMapping/>
  </p:clrMapOvr>
</p:sld>
</file>

<file path=ppt/slides/slide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OTHER SERVICES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Other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910</a:t>
            </a:r>
          </a:p>
        </p:txBody>
      </p:sp>
    </p:spTree>
  </p:cSld>
  <p:clrMapOvr>
    <a:masterClrMapping/>
  </p:clrMapOvr>
</p:sld>
</file>

<file path=ppt/slides/slide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Debugging in Production, the good old way:</a:t>
            </a:r>
          </a:p>
          <a:p>
            <a:pPr>
              <a:spcAft>
                <a:spcPts val="1000"/>
              </a:spcAft>
            </a:pPr>
            <a:r>
              <a:rPr sz="1800" b="0">
                <a:solidFill>
                  <a:srgbClr val="161B26"/>
                </a:solidFill>
                <a:latin typeface="Arial"/>
              </a:rPr>
              <a:t>•  Test locally</a:t>
            </a:r>
          </a:p>
          <a:p>
            <a:pPr>
              <a:spcAft>
                <a:spcPts val="1000"/>
              </a:spcAft>
            </a:pPr>
            <a:r>
              <a:rPr sz="1800" b="0">
                <a:solidFill>
                  <a:srgbClr val="161B26"/>
                </a:solidFill>
                <a:latin typeface="Arial"/>
              </a:rPr>
              <a:t>•  Add log statements everywhere</a:t>
            </a:r>
          </a:p>
          <a:p>
            <a:pPr>
              <a:spcAft>
                <a:spcPts val="1000"/>
              </a:spcAft>
            </a:pPr>
            <a:r>
              <a:rPr sz="1800" b="0">
                <a:solidFill>
                  <a:srgbClr val="161B26"/>
                </a:solidFill>
                <a:latin typeface="Arial"/>
              </a:rPr>
              <a:t>•  Re-deploy in production</a:t>
            </a:r>
          </a:p>
          <a:p>
            <a:pPr>
              <a:spcAft>
                <a:spcPts val="1000"/>
              </a:spcAft>
            </a:pPr>
            <a:r>
              <a:rPr sz="1800" b="0">
                <a:solidFill>
                  <a:srgbClr val="161B26"/>
                </a:solidFill>
                <a:latin typeface="Arial"/>
              </a:rPr>
              <a:t>•  Log formats differ across applications and log analysis is hard.</a:t>
            </a:r>
          </a:p>
          <a:p>
            <a:pPr>
              <a:spcAft>
                <a:spcPts val="1000"/>
              </a:spcAft>
            </a:pPr>
            <a:r>
              <a:rPr sz="1800" b="0">
                <a:solidFill>
                  <a:srgbClr val="161B26"/>
                </a:solidFill>
                <a:latin typeface="Arial"/>
              </a:rPr>
              <a:t>•  Debugging: one big monolith “easy”, distributed services “hard”</a:t>
            </a:r>
          </a:p>
          <a:p>
            <a:pPr>
              <a:spcAft>
                <a:spcPts val="1000"/>
              </a:spcAft>
            </a:pPr>
            <a:r>
              <a:rPr sz="1800" b="0">
                <a:solidFill>
                  <a:srgbClr val="161B26"/>
                </a:solidFill>
                <a:latin typeface="Arial"/>
              </a:rPr>
              <a:t>•  No common views of your entire architecture</a:t>
            </a:r>
          </a:p>
          <a:p>
            <a:pPr>
              <a:spcAft>
                <a:spcPts val="1000"/>
              </a:spcAft>
            </a:pPr>
            <a:r>
              <a:rPr sz="1800" b="0">
                <a:solidFill>
                  <a:srgbClr val="161B26"/>
                </a:solidFill>
                <a:latin typeface="Arial"/>
              </a:rPr>
              <a:t>•  Enter… AWS X-Ray!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911</a:t>
            </a:r>
          </a:p>
        </p:txBody>
      </p:sp>
    </p:spTree>
  </p:cSld>
  <p:clrMapOvr>
    <a:masterClrMapping/>
  </p:clrMapOvr>
</p:sld>
</file>

<file path=ppt/slides/slide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 analysis of our applications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912</a:t>
            </a:r>
          </a:p>
        </p:txBody>
      </p:sp>
    </p:spTree>
  </p:cSld>
  <p:clrMapOvr>
    <a:masterClrMapping/>
  </p:clrMapOvr>
</p:sld>
</file>

<file path=ppt/slides/slide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 advantages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Troubleshooting performance (bottlenecks)</a:t>
            </a:r>
          </a:p>
          <a:p>
            <a:pPr>
              <a:spcAft>
                <a:spcPts val="1000"/>
              </a:spcAft>
            </a:pPr>
            <a:r>
              <a:rPr sz="1800" b="0">
                <a:solidFill>
                  <a:srgbClr val="161B26"/>
                </a:solidFill>
                <a:latin typeface="Arial"/>
              </a:rPr>
              <a:t>•  Understand dependencies in a microservice architecture</a:t>
            </a:r>
          </a:p>
          <a:p>
            <a:pPr>
              <a:spcAft>
                <a:spcPts val="1000"/>
              </a:spcAft>
            </a:pPr>
            <a:r>
              <a:rPr sz="1800" b="0">
                <a:solidFill>
                  <a:srgbClr val="161B26"/>
                </a:solidFill>
                <a:latin typeface="Arial"/>
              </a:rPr>
              <a:t>•  Pinpoint service issues</a:t>
            </a:r>
          </a:p>
          <a:p>
            <a:pPr>
              <a:spcAft>
                <a:spcPts val="1000"/>
              </a:spcAft>
            </a:pPr>
            <a:r>
              <a:rPr sz="1800" b="0">
                <a:solidFill>
                  <a:srgbClr val="161B26"/>
                </a:solidFill>
                <a:latin typeface="Arial"/>
              </a:rPr>
              <a:t>•  Review request behavior</a:t>
            </a:r>
          </a:p>
          <a:p>
            <a:pPr>
              <a:spcAft>
                <a:spcPts val="1000"/>
              </a:spcAft>
            </a:pPr>
            <a:r>
              <a:rPr sz="1800" b="0">
                <a:solidFill>
                  <a:srgbClr val="161B26"/>
                </a:solidFill>
                <a:latin typeface="Arial"/>
              </a:rPr>
              <a:t>•  Find errors and exceptions</a:t>
            </a:r>
          </a:p>
          <a:p>
            <a:pPr>
              <a:spcAft>
                <a:spcPts val="1000"/>
              </a:spcAft>
            </a:pPr>
            <a:r>
              <a:rPr sz="1800" b="0">
                <a:solidFill>
                  <a:srgbClr val="161B26"/>
                </a:solidFill>
                <a:latin typeface="Arial"/>
              </a:rPr>
              <a:t>•  Are we meeting time SLA?</a:t>
            </a:r>
          </a:p>
          <a:p>
            <a:pPr>
              <a:spcAft>
                <a:spcPts val="1000"/>
              </a:spcAft>
            </a:pPr>
            <a:r>
              <a:rPr sz="1800" b="0">
                <a:solidFill>
                  <a:srgbClr val="161B26"/>
                </a:solidFill>
                <a:latin typeface="Arial"/>
              </a:rPr>
              <a:t>•  Where I am throttled?</a:t>
            </a:r>
          </a:p>
          <a:p>
            <a:pPr>
              <a:spcAft>
                <a:spcPts val="1000"/>
              </a:spcAft>
            </a:pPr>
            <a:r>
              <a:rPr sz="1800" b="0">
                <a:solidFill>
                  <a:srgbClr val="161B26"/>
                </a:solidFill>
                <a:latin typeface="Arial"/>
              </a:rPr>
              <a:t>•  Identify users that are impacted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913</a:t>
            </a:r>
          </a:p>
        </p:txBody>
      </p:sp>
    </p:spTree>
  </p:cSld>
  <p:clrMapOvr>
    <a:masterClrMapping/>
  </p:clrMapOvr>
</p:sld>
</file>

<file path=ppt/slides/slide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Amplify - web and mobile applications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set of tools and services that helps you develop and deploy scalable full stack web and mobile applications</a:t>
            </a:r>
          </a:p>
          <a:p>
            <a:pPr>
              <a:spcAft>
                <a:spcPts val="1000"/>
              </a:spcAft>
            </a:pPr>
            <a:r>
              <a:rPr sz="1800" b="0">
                <a:solidFill>
                  <a:srgbClr val="161B26"/>
                </a:solidFill>
                <a:latin typeface="Arial"/>
              </a:rPr>
              <a:t>•  Authentication, Storage, API (REST, GraphQL), CI/CD, PubSub, Analytics, AI/ML Predictions, Monitoring, …</a:t>
            </a:r>
          </a:p>
          <a:p>
            <a:pPr>
              <a:spcAft>
                <a:spcPts val="1000"/>
              </a:spcAft>
            </a:pPr>
            <a:r>
              <a:rPr sz="1800" b="0">
                <a:solidFill>
                  <a:srgbClr val="161B26"/>
                </a:solidFill>
                <a:latin typeface="Arial"/>
              </a:rPr>
              <a:t>•  Connect your source code from GitHub, AWS CodeCommit, Bitbucket, GitLab, or upload directly</a:t>
            </a:r>
          </a:p>
          <a:p>
            <a:pPr>
              <a:spcAft>
                <a:spcPts val="1000"/>
              </a:spcAft>
            </a:pPr>
            <a:r>
              <a:rPr sz="1800" b="0">
                <a:solidFill>
                  <a:srgbClr val="161B26"/>
                </a:solidFill>
                <a:latin typeface="Arial"/>
              </a:rPr>
              <a:t>•  Frontend</a:t>
            </a:r>
          </a:p>
          <a:p>
            <a:pPr>
              <a:spcAft>
                <a:spcPts val="1000"/>
              </a:spcAft>
            </a:pPr>
            <a:r>
              <a:rPr sz="1800" b="0">
                <a:solidFill>
                  <a:srgbClr val="161B26"/>
                </a:solidFill>
                <a:latin typeface="Arial"/>
              </a:rPr>
              <a:t>•  configure backend using</a:t>
            </a:r>
          </a:p>
          <a:p>
            <a:pPr>
              <a:spcAft>
                <a:spcPts val="1000"/>
              </a:spcAft>
            </a:pPr>
            <a:r>
              <a:rPr sz="1800" b="0">
                <a:solidFill>
                  <a:srgbClr val="161B26"/>
                </a:solidFill>
                <a:latin typeface="Arial"/>
              </a:rPr>
              <a:t>•  Amplify CLI</a:t>
            </a:r>
          </a:p>
          <a:p>
            <a:pPr>
              <a:spcAft>
                <a:spcPts val="1000"/>
              </a:spcAft>
            </a:pPr>
            <a:r>
              <a:rPr sz="1800" b="0">
                <a:solidFill>
                  <a:srgbClr val="161B26"/>
                </a:solidFill>
                <a:latin typeface="Arial"/>
              </a:rPr>
              <a:t>•  Amazon      S3 Amazon Cognito</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AppSync</a:t>
            </a:r>
          </a:p>
          <a:p>
            <a:pPr>
              <a:spcAft>
                <a:spcPts val="1000"/>
              </a:spcAft>
            </a:pPr>
            <a:r>
              <a:rPr sz="1800" b="0">
                <a:solidFill>
                  <a:srgbClr val="161B26"/>
                </a:solidFill>
                <a:latin typeface="Arial"/>
              </a:rPr>
              <a:t>•  API</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Amazon SageMaker</a:t>
            </a:r>
          </a:p>
          <a:p>
            <a:pPr>
              <a:spcAft>
                <a:spcPts val="1000"/>
              </a:spcAft>
            </a:pPr>
            <a:r>
              <a:rPr sz="1800" b="0">
                <a:solidFill>
                  <a:srgbClr val="161B26"/>
                </a:solidFill>
                <a:latin typeface="Arial"/>
              </a:rPr>
              <a:t>•  Amazon Lex Lambda DynamoDB</a:t>
            </a:r>
          </a:p>
          <a:p>
            <a:pPr>
              <a:spcAft>
                <a:spcPts val="1000"/>
              </a:spcAft>
            </a:pPr>
            <a:r>
              <a:rPr sz="1800" b="0">
                <a:solidFill>
                  <a:srgbClr val="161B26"/>
                </a:solidFill>
                <a:latin typeface="Arial"/>
              </a:rPr>
              <a:t>•  Amplify backend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connect frontend to backend using</a:t>
            </a:r>
          </a:p>
          <a:p>
            <a:pPr>
              <a:spcAft>
                <a:spcPts val="1000"/>
              </a:spcAft>
            </a:pPr>
            <a:r>
              <a:rPr sz="1800" b="0">
                <a:solidFill>
                  <a:srgbClr val="161B26"/>
                </a:solidFill>
                <a:latin typeface="Arial"/>
              </a:rPr>
              <a:t>•  Amplify Frontend Libraries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Amplify Console</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build using Amplify Console</a:t>
            </a:r>
          </a:p>
          <a:p>
            <a:pPr>
              <a:spcAft>
                <a:spcPts val="1000"/>
              </a:spcAft>
            </a:pPr>
            <a:r>
              <a:rPr sz="1800" b="0">
                <a:solidFill>
                  <a:srgbClr val="161B26"/>
                </a:solidFill>
                <a:latin typeface="Arial"/>
              </a:rPr>
              <a:t>•  &amp; deploy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914</a:t>
            </a:r>
          </a:p>
        </p:txBody>
      </p:sp>
    </p:spTree>
  </p:cSld>
  <p:clrMapOvr>
    <a:masterClrMapping/>
  </p:clrMapOvr>
</p:sld>
</file>

<file path=ppt/slides/slide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EXAM REVIEW &amp; TIPS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Exam Review &amp; Tips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915</a:t>
            </a:r>
          </a:p>
        </p:txBody>
      </p:sp>
    </p:spTree>
  </p:cSld>
  <p:clrMapOvr>
    <a:masterClrMapping/>
  </p:clrMapOvr>
</p:sld>
</file>

<file path=ppt/slides/slide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 of learning	checkpoint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Let’s look how far we’ve gone on our learning journey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https://aws.amazon.com/certification/certified-sysops-admin-associate/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916</a:t>
            </a:r>
          </a:p>
        </p:txBody>
      </p:sp>
    </p:spTree>
  </p:cSld>
  <p:clrMapOvr>
    <a:masterClrMapping/>
  </p:clrMapOvr>
</p:sld>
</file>

<file path=ppt/slides/slide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Certified	SysOps Exam Labs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Starting with SOA-C02, the exam will contain 3 Labs</a:t>
            </a:r>
          </a:p>
          <a:p>
            <a:pPr>
              <a:spcAft>
                <a:spcPts val="1000"/>
              </a:spcAft>
            </a:pPr>
            <a:r>
              <a:rPr sz="2000" b="0">
                <a:solidFill>
                  <a:srgbClr val="161B26"/>
                </a:solidFill>
                <a:latin typeface="Arial"/>
              </a:rPr>
              <a:t>•  Each exam lab consists of several different tasks</a:t>
            </a:r>
          </a:p>
          <a:p>
            <a:pPr>
              <a:spcAft>
                <a:spcPts val="1000"/>
              </a:spcAft>
            </a:pPr>
            <a:r>
              <a:rPr sz="2000" b="0">
                <a:solidFill>
                  <a:srgbClr val="161B26"/>
                </a:solidFill>
                <a:latin typeface="Arial"/>
              </a:rPr>
              <a:t>•  AWS recommends to allocate 20 minutes for each exam lab</a:t>
            </a:r>
          </a:p>
          <a:p>
            <a:pPr>
              <a:spcAft>
                <a:spcPts val="1000"/>
              </a:spcAft>
            </a:pPr>
            <a:r>
              <a:rPr sz="2000" b="0">
                <a:solidFill>
                  <a:srgbClr val="161B26"/>
                </a:solidFill>
                <a:latin typeface="Arial"/>
              </a:rPr>
              <a:t>•  First, you’ll need to answer the multiple-choice/multiple-responses questions (you can’t go back once you have completed this section)</a:t>
            </a:r>
          </a:p>
          <a:p>
            <a:pPr>
              <a:spcAft>
                <a:spcPts val="1000"/>
              </a:spcAft>
            </a:pPr>
            <a:r>
              <a:rPr sz="2000" b="0">
                <a:solidFill>
                  <a:srgbClr val="161B26"/>
                </a:solidFill>
                <a:latin typeface="Arial"/>
              </a:rPr>
              <a:t>•  Second, you’ll need to answer the exam labs</a:t>
            </a:r>
          </a:p>
          <a:p>
            <a:pPr>
              <a:spcAft>
                <a:spcPts val="1000"/>
              </a:spcAft>
            </a:pPr>
            <a:r>
              <a:rPr sz="2000" b="0">
                <a:solidFill>
                  <a:srgbClr val="161B26"/>
                </a:solidFill>
                <a:latin typeface="Arial"/>
              </a:rPr>
              <a:t>•  You must complete all the work on the exam lab, before you move to the next one (you won’t be able to go back to a lab once you have completed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917</a:t>
            </a:r>
          </a:p>
        </p:txBody>
      </p:sp>
    </p:spTree>
  </p:cSld>
  <p:clrMapOvr>
    <a:masterClrMapping/>
  </p:clrMapOvr>
</p:sld>
</file>

<file path=ppt/slides/slide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Certified	SysOps Exam Sample Lab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2260" y="1801368"/>
            <a:ext cx="819699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919_0.jpg"/>
          <p:cNvPicPr>
            <a:picLocks noChangeAspect="1"/>
          </p:cNvPicPr>
          <p:nvPr/>
        </p:nvPicPr>
        <p:blipFill>
          <a:blip r:embed="rId2"/>
          <a:stretch>
            <a:fillRect/>
          </a:stretch>
        </p:blipFill>
        <p:spPr>
          <a:xfrm>
            <a:off x="2009692" y="1828800"/>
            <a:ext cx="8142135"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company is deploying a new web application.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918</a:t>
            </a:r>
          </a:p>
        </p:txBody>
      </p:sp>
    </p:spTree>
  </p:cSld>
  <p:clrMapOvr>
    <a:masterClrMapping/>
  </p:clrMapOvr>
</p:sld>
</file>

<file path=ppt/slides/slide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Practice Exams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02786" y="1801368"/>
            <a:ext cx="415594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920_0.png"/>
          <p:cNvPicPr>
            <a:picLocks noChangeAspect="1"/>
          </p:cNvPicPr>
          <p:nvPr/>
        </p:nvPicPr>
        <p:blipFill>
          <a:blip r:embed="rId2"/>
          <a:stretch>
            <a:fillRect/>
          </a:stretch>
        </p:blipFill>
        <p:spPr>
          <a:xfrm>
            <a:off x="4030218" y="1828800"/>
            <a:ext cx="410108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Access the Practice Exams from the Google Classroom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919</a:t>
            </a:r>
          </a:p>
        </p:txBody>
      </p:sp>
    </p:spTree>
  </p:cSld>
  <p:clrMapOvr>
    <a:masterClrMapping/>
  </p:clrMapOvr>
</p:sld>
</file>

<file path=ppt/slides/slide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SUMMARY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Q&amp;A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920</a:t>
            </a:r>
          </a:p>
        </p:txBody>
      </p:sp>
    </p:spTree>
  </p:cSld>
  <p:clrMapOvr>
    <a:masterClrMapping/>
  </p:clrMapOvr>
</p:sld>
</file>

<file path=ppt/slides/slide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781"/>
            <a:ext cx="10479024" cy="38568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922_0.png"/>
          <p:cNvPicPr>
            <a:picLocks noChangeAspect="1"/>
          </p:cNvPicPr>
          <p:nvPr/>
        </p:nvPicPr>
        <p:blipFill>
          <a:blip r:embed="rId2"/>
          <a:stretch>
            <a:fillRect/>
          </a:stretch>
        </p:blipFill>
        <p:spPr>
          <a:xfrm>
            <a:off x="868680" y="1985213"/>
            <a:ext cx="10424160" cy="380197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921</a:t>
            </a:r>
          </a:p>
        </p:txBody>
      </p:sp>
    </p:spTree>
  </p:cSld>
  <p:clrMapOvr>
    <a:masterClrMapping/>
  </p:clrMapOvr>
</p:sld>
</file>

<file path=ppt/slides/slide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922</a:t>
            </a:r>
          </a:p>
        </p:txBody>
      </p:sp>
    </p:spTree>
  </p:cSld>
  <p:clrMapOvr>
    <a:masterClrMapping/>
  </p:clrMapOvr>
</p:sld>
</file>

<file path=ppt/slides/slide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FINAL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923</a:t>
            </a:r>
          </a:p>
        </p:txBody>
      </p:sp>
    </p:spTree>
  </p:cSld>
  <p:clrMapOvr>
    <a:masterClrMapping/>
  </p:clrMapOvr>
</p:sld>
</file>

<file path=ppt/slides/slide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Solutions Architect Associate Training</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AI Practitioner Training</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Cloud Practitioner Training</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DevOps Engineer Training (Synchronous e-Learning)</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Machine Learning Engineer Associate Training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924</a:t>
            </a:r>
          </a:p>
        </p:txBody>
      </p:sp>
    </p:spTree>
  </p:cSld>
  <p:clrMapOvr>
    <a:masterClrMapping/>
  </p:clrMapOvr>
</p:sld>
</file>

<file path=ppt/slides/slide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61000613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925</a:t>
            </a:r>
          </a:p>
        </p:txBody>
      </p:sp>
    </p:spTree>
  </p:cSld>
  <p:clrMapOvr>
    <a:masterClrMapping/>
  </p:clrMapOvr>
</p:sld>
</file>

<file path=ppt/slides/slide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THANK YOU!</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