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 id="544" r:id="rId295"/>
    <p:sldId id="545" r:id="rId296"/>
    <p:sldId id="546" r:id="rId297"/>
    <p:sldId id="547" r:id="rId298"/>
    <p:sldId id="548" r:id="rId299"/>
    <p:sldId id="549" r:id="rId300"/>
    <p:sldId id="550" r:id="rId301"/>
    <p:sldId id="551" r:id="rId302"/>
    <p:sldId id="552" r:id="rId303"/>
    <p:sldId id="553" r:id="rId304"/>
    <p:sldId id="554" r:id="rId305"/>
    <p:sldId id="555" r:id="rId306"/>
    <p:sldId id="556" r:id="rId307"/>
    <p:sldId id="557" r:id="rId308"/>
    <p:sldId id="558" r:id="rId309"/>
    <p:sldId id="559" r:id="rId310"/>
    <p:sldId id="560" r:id="rId311"/>
    <p:sldId id="561" r:id="rId312"/>
    <p:sldId id="562" r:id="rId313"/>
    <p:sldId id="563" r:id="rId314"/>
    <p:sldId id="564" r:id="rId315"/>
    <p:sldId id="565" r:id="rId316"/>
    <p:sldId id="566" r:id="rId317"/>
    <p:sldId id="567" r:id="rId318"/>
    <p:sldId id="568" r:id="rId319"/>
    <p:sldId id="569" r:id="rId320"/>
    <p:sldId id="570" r:id="rId321"/>
    <p:sldId id="571" r:id="rId322"/>
    <p:sldId id="572" r:id="rId323"/>
    <p:sldId id="573" r:id="rId324"/>
    <p:sldId id="574" r:id="rId325"/>
    <p:sldId id="575" r:id="rId326"/>
    <p:sldId id="576" r:id="rId327"/>
    <p:sldId id="577" r:id="rId328"/>
    <p:sldId id="578" r:id="rId329"/>
    <p:sldId id="579" r:id="rId330"/>
    <p:sldId id="580" r:id="rId331"/>
    <p:sldId id="581" r:id="rId332"/>
    <p:sldId id="582" r:id="rId333"/>
    <p:sldId id="583" r:id="rId334"/>
    <p:sldId id="584" r:id="rId335"/>
    <p:sldId id="585" r:id="rId336"/>
    <p:sldId id="586" r:id="rId337"/>
    <p:sldId id="587" r:id="rId338"/>
    <p:sldId id="588" r:id="rId339"/>
    <p:sldId id="589" r:id="rId340"/>
    <p:sldId id="590" r:id="rId341"/>
    <p:sldId id="591" r:id="rId342"/>
    <p:sldId id="592" r:id="rId343"/>
    <p:sldId id="593" r:id="rId344"/>
    <p:sldId id="594" r:id="rId345"/>
    <p:sldId id="595" r:id="rId346"/>
    <p:sldId id="596" r:id="rId347"/>
    <p:sldId id="597" r:id="rId348"/>
    <p:sldId id="598" r:id="rId349"/>
    <p:sldId id="599" r:id="rId350"/>
    <p:sldId id="600" r:id="rId351"/>
    <p:sldId id="601" r:id="rId352"/>
    <p:sldId id="602" r:id="rId353"/>
    <p:sldId id="603" r:id="rId354"/>
    <p:sldId id="604" r:id="rId355"/>
    <p:sldId id="605" r:id="rId356"/>
    <p:sldId id="606" r:id="rId357"/>
    <p:sldId id="607" r:id="rId358"/>
    <p:sldId id="608" r:id="rId359"/>
    <p:sldId id="609" r:id="rId360"/>
    <p:sldId id="610" r:id="rId361"/>
    <p:sldId id="611" r:id="rId362"/>
    <p:sldId id="612" r:id="rId363"/>
    <p:sldId id="613" r:id="rId364"/>
    <p:sldId id="614" r:id="rId365"/>
    <p:sldId id="615" r:id="rId366"/>
    <p:sldId id="616" r:id="rId367"/>
    <p:sldId id="617" r:id="rId368"/>
    <p:sldId id="618" r:id="rId369"/>
    <p:sldId id="619" r:id="rId370"/>
    <p:sldId id="620" r:id="rId371"/>
    <p:sldId id="621" r:id="rId372"/>
    <p:sldId id="622" r:id="rId373"/>
    <p:sldId id="623" r:id="rId374"/>
    <p:sldId id="624" r:id="rId375"/>
    <p:sldId id="625" r:id="rId376"/>
    <p:sldId id="626" r:id="rId377"/>
    <p:sldId id="627" r:id="rId378"/>
    <p:sldId id="628" r:id="rId379"/>
    <p:sldId id="629" r:id="rId380"/>
    <p:sldId id="630" r:id="rId381"/>
    <p:sldId id="631" r:id="rId382"/>
    <p:sldId id="632" r:id="rId383"/>
    <p:sldId id="633" r:id="rId384"/>
    <p:sldId id="634" r:id="rId385"/>
    <p:sldId id="635" r:id="rId386"/>
    <p:sldId id="636" r:id="rId387"/>
    <p:sldId id="637" r:id="rId388"/>
    <p:sldId id="638" r:id="rId389"/>
    <p:sldId id="639" r:id="rId390"/>
    <p:sldId id="640" r:id="rId391"/>
    <p:sldId id="641" r:id="rId392"/>
    <p:sldId id="642" r:id="rId393"/>
    <p:sldId id="643" r:id="rId394"/>
    <p:sldId id="644" r:id="rId395"/>
    <p:sldId id="645" r:id="rId396"/>
    <p:sldId id="646" r:id="rId397"/>
    <p:sldId id="647" r:id="rId398"/>
    <p:sldId id="648" r:id="rId399"/>
    <p:sldId id="649" r:id="rId400"/>
    <p:sldId id="650" r:id="rId401"/>
    <p:sldId id="651" r:id="rId402"/>
    <p:sldId id="652" r:id="rId403"/>
    <p:sldId id="653" r:id="rId404"/>
    <p:sldId id="654" r:id="rId405"/>
    <p:sldId id="655" r:id="rId406"/>
    <p:sldId id="656" r:id="rId407"/>
    <p:sldId id="657" r:id="rId408"/>
    <p:sldId id="658" r:id="rId409"/>
    <p:sldId id="659" r:id="rId410"/>
    <p:sldId id="660" r:id="rId411"/>
    <p:sldId id="661" r:id="rId412"/>
    <p:sldId id="662" r:id="rId413"/>
    <p:sldId id="663" r:id="rId414"/>
    <p:sldId id="664" r:id="rId415"/>
    <p:sldId id="665" r:id="rId416"/>
    <p:sldId id="666" r:id="rId417"/>
    <p:sldId id="667" r:id="rId418"/>
    <p:sldId id="668" r:id="rId419"/>
    <p:sldId id="669" r:id="rId420"/>
    <p:sldId id="670" r:id="rId421"/>
    <p:sldId id="671" r:id="rId422"/>
    <p:sldId id="672" r:id="rId423"/>
    <p:sldId id="673" r:id="rId424"/>
    <p:sldId id="674" r:id="rId425"/>
    <p:sldId id="675" r:id="rId426"/>
    <p:sldId id="676" r:id="rId427"/>
    <p:sldId id="677" r:id="rId428"/>
    <p:sldId id="678" r:id="rId429"/>
    <p:sldId id="679" r:id="rId430"/>
    <p:sldId id="680" r:id="rId431"/>
    <p:sldId id="681" r:id="rId432"/>
    <p:sldId id="682" r:id="rId433"/>
    <p:sldId id="683" r:id="rId434"/>
    <p:sldId id="684" r:id="rId435"/>
    <p:sldId id="685" r:id="rId436"/>
    <p:sldId id="686" r:id="rId437"/>
    <p:sldId id="687" r:id="rId438"/>
    <p:sldId id="688" r:id="rId439"/>
    <p:sldId id="689" r:id="rId440"/>
    <p:sldId id="690" r:id="rId441"/>
    <p:sldId id="691" r:id="rId442"/>
    <p:sldId id="692" r:id="rId443"/>
    <p:sldId id="693" r:id="rId444"/>
    <p:sldId id="694" r:id="rId445"/>
    <p:sldId id="695" r:id="rId446"/>
    <p:sldId id="696" r:id="rId447"/>
    <p:sldId id="697" r:id="rId448"/>
    <p:sldId id="698" r:id="rId449"/>
    <p:sldId id="699" r:id="rId450"/>
    <p:sldId id="700" r:id="rId451"/>
    <p:sldId id="701" r:id="rId452"/>
    <p:sldId id="702" r:id="rId453"/>
    <p:sldId id="703" r:id="rId454"/>
    <p:sldId id="704" r:id="rId455"/>
    <p:sldId id="705" r:id="rId456"/>
    <p:sldId id="706" r:id="rId457"/>
    <p:sldId id="707" r:id="rId458"/>
    <p:sldId id="708" r:id="rId459"/>
    <p:sldId id="709" r:id="rId460"/>
    <p:sldId id="710" r:id="rId461"/>
    <p:sldId id="711" r:id="rId462"/>
    <p:sldId id="712" r:id="rId463"/>
    <p:sldId id="713" r:id="rId464"/>
    <p:sldId id="714" r:id="rId465"/>
    <p:sldId id="715" r:id="rId466"/>
    <p:sldId id="716" r:id="rId467"/>
    <p:sldId id="717" r:id="rId468"/>
    <p:sldId id="718" r:id="rId469"/>
    <p:sldId id="719" r:id="rId470"/>
    <p:sldId id="720" r:id="rId471"/>
    <p:sldId id="721" r:id="rId472"/>
    <p:sldId id="722" r:id="rId473"/>
    <p:sldId id="723" r:id="rId474"/>
    <p:sldId id="724" r:id="rId475"/>
    <p:sldId id="725" r:id="rId476"/>
    <p:sldId id="726" r:id="rId477"/>
    <p:sldId id="727" r:id="rId478"/>
    <p:sldId id="728" r:id="rId479"/>
    <p:sldId id="729" r:id="rId480"/>
    <p:sldId id="730" r:id="rId481"/>
    <p:sldId id="731" r:id="rId482"/>
    <p:sldId id="732" r:id="rId483"/>
    <p:sldId id="733" r:id="rId484"/>
    <p:sldId id="734" r:id="rId485"/>
    <p:sldId id="735" r:id="rId486"/>
    <p:sldId id="736" r:id="rId487"/>
    <p:sldId id="737" r:id="rId488"/>
    <p:sldId id="738" r:id="rId489"/>
    <p:sldId id="739" r:id="rId490"/>
    <p:sldId id="740" r:id="rId491"/>
    <p:sldId id="741" r:id="rId492"/>
    <p:sldId id="742" r:id="rId493"/>
    <p:sldId id="743" r:id="rId494"/>
    <p:sldId id="744" r:id="rId495"/>
    <p:sldId id="745" r:id="rId496"/>
    <p:sldId id="746" r:id="rId497"/>
    <p:sldId id="747" r:id="rId498"/>
    <p:sldId id="748" r:id="rId499"/>
    <p:sldId id="749" r:id="rId500"/>
    <p:sldId id="750" r:id="rId501"/>
    <p:sldId id="751" r:id="rId502"/>
    <p:sldId id="752" r:id="rId503"/>
    <p:sldId id="753" r:id="rId504"/>
    <p:sldId id="754" r:id="rId505"/>
    <p:sldId id="755" r:id="rId506"/>
    <p:sldId id="756" r:id="rId507"/>
    <p:sldId id="757" r:id="rId508"/>
    <p:sldId id="758" r:id="rId509"/>
    <p:sldId id="759" r:id="rId510"/>
    <p:sldId id="760" r:id="rId511"/>
    <p:sldId id="761" r:id="rId512"/>
    <p:sldId id="762" r:id="rId513"/>
    <p:sldId id="763" r:id="rId514"/>
    <p:sldId id="764" r:id="rId515"/>
    <p:sldId id="765" r:id="rId516"/>
    <p:sldId id="766" r:id="rId517"/>
    <p:sldId id="767" r:id="rId518"/>
    <p:sldId id="768" r:id="rId519"/>
    <p:sldId id="769" r:id="rId520"/>
    <p:sldId id="770" r:id="rId521"/>
    <p:sldId id="771" r:id="rId522"/>
    <p:sldId id="772" r:id="rId523"/>
    <p:sldId id="773" r:id="rId524"/>
    <p:sldId id="774" r:id="rId525"/>
    <p:sldId id="775" r:id="rId526"/>
    <p:sldId id="776" r:id="rId527"/>
    <p:sldId id="777" r:id="rId528"/>
    <p:sldId id="778" r:id="rId529"/>
    <p:sldId id="779" r:id="rId530"/>
    <p:sldId id="780" r:id="rId531"/>
    <p:sldId id="781" r:id="rId532"/>
    <p:sldId id="782" r:id="rId533"/>
    <p:sldId id="783" r:id="rId534"/>
    <p:sldId id="784" r:id="rId535"/>
    <p:sldId id="785" r:id="rId536"/>
    <p:sldId id="786" r:id="rId537"/>
    <p:sldId id="787" r:id="rId538"/>
    <p:sldId id="788" r:id="rId539"/>
    <p:sldId id="789" r:id="rId540"/>
    <p:sldId id="790" r:id="rId541"/>
    <p:sldId id="791" r:id="rId542"/>
    <p:sldId id="792" r:id="rId543"/>
    <p:sldId id="793" r:id="rId544"/>
    <p:sldId id="794" r:id="rId545"/>
    <p:sldId id="795" r:id="rId546"/>
    <p:sldId id="796" r:id="rId547"/>
    <p:sldId id="797" r:id="rId548"/>
    <p:sldId id="798" r:id="rId549"/>
    <p:sldId id="799" r:id="rId550"/>
    <p:sldId id="800" r:id="rId551"/>
    <p:sldId id="801" r:id="rId552"/>
    <p:sldId id="802" r:id="rId553"/>
    <p:sldId id="803" r:id="rId554"/>
    <p:sldId id="804" r:id="rId555"/>
    <p:sldId id="805" r:id="rId556"/>
    <p:sldId id="806" r:id="rId557"/>
    <p:sldId id="807" r:id="rId558"/>
    <p:sldId id="808" r:id="rId559"/>
    <p:sldId id="809" r:id="rId560"/>
    <p:sldId id="810" r:id="rId561"/>
    <p:sldId id="811" r:id="rId562"/>
    <p:sldId id="812" r:id="rId563"/>
    <p:sldId id="813" r:id="rId564"/>
    <p:sldId id="814" r:id="rId565"/>
    <p:sldId id="815" r:id="rId566"/>
    <p:sldId id="816" r:id="rId567"/>
    <p:sldId id="817" r:id="rId568"/>
    <p:sldId id="818" r:id="rId569"/>
    <p:sldId id="819" r:id="rId570"/>
    <p:sldId id="820" r:id="rId571"/>
    <p:sldId id="821" r:id="rId572"/>
    <p:sldId id="822" r:id="rId573"/>
    <p:sldId id="823" r:id="rId574"/>
    <p:sldId id="824" r:id="rId575"/>
    <p:sldId id="825" r:id="rId576"/>
    <p:sldId id="826" r:id="rId577"/>
    <p:sldId id="827" r:id="rId578"/>
    <p:sldId id="828" r:id="rId579"/>
    <p:sldId id="829" r:id="rId580"/>
    <p:sldId id="830" r:id="rId581"/>
    <p:sldId id="831" r:id="rId582"/>
    <p:sldId id="832" r:id="rId583"/>
    <p:sldId id="833" r:id="rId584"/>
    <p:sldId id="834" r:id="rId585"/>
    <p:sldId id="835" r:id="rId586"/>
    <p:sldId id="836" r:id="rId587"/>
    <p:sldId id="837" r:id="rId588"/>
    <p:sldId id="838" r:id="rId589"/>
    <p:sldId id="839" r:id="rId590"/>
    <p:sldId id="840" r:id="rId591"/>
    <p:sldId id="841" r:id="rId592"/>
    <p:sldId id="842" r:id="rId593"/>
    <p:sldId id="843" r:id="rId594"/>
    <p:sldId id="844" r:id="rId595"/>
    <p:sldId id="845" r:id="rId596"/>
    <p:sldId id="846" r:id="rId597"/>
    <p:sldId id="847" r:id="rId598"/>
    <p:sldId id="848" r:id="rId599"/>
    <p:sldId id="849" r:id="rId600"/>
    <p:sldId id="850" r:id="rId601"/>
    <p:sldId id="851" r:id="rId602"/>
    <p:sldId id="852" r:id="rId603"/>
    <p:sldId id="853" r:id="rId604"/>
    <p:sldId id="854" r:id="rId605"/>
    <p:sldId id="855" r:id="rId606"/>
    <p:sldId id="856" r:id="rId607"/>
    <p:sldId id="857" r:id="rId608"/>
    <p:sldId id="858" r:id="rId609"/>
    <p:sldId id="859" r:id="rId610"/>
    <p:sldId id="860" r:id="rId611"/>
    <p:sldId id="861" r:id="rId612"/>
    <p:sldId id="862" r:id="rId613"/>
    <p:sldId id="863" r:id="rId614"/>
    <p:sldId id="864" r:id="rId615"/>
    <p:sldId id="865" r:id="rId616"/>
    <p:sldId id="866" r:id="rId617"/>
    <p:sldId id="867" r:id="rId618"/>
    <p:sldId id="868" r:id="rId619"/>
    <p:sldId id="869" r:id="rId620"/>
    <p:sldId id="870" r:id="rId621"/>
    <p:sldId id="871" r:id="rId6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 Id="rId295" Type="http://schemas.openxmlformats.org/officeDocument/2006/relationships/slide" Target="slides/slide289.xml"/><Relationship Id="rId296" Type="http://schemas.openxmlformats.org/officeDocument/2006/relationships/slide" Target="slides/slide290.xml"/><Relationship Id="rId297" Type="http://schemas.openxmlformats.org/officeDocument/2006/relationships/slide" Target="slides/slide291.xml"/><Relationship Id="rId298" Type="http://schemas.openxmlformats.org/officeDocument/2006/relationships/slide" Target="slides/slide292.xml"/><Relationship Id="rId299" Type="http://schemas.openxmlformats.org/officeDocument/2006/relationships/slide" Target="slides/slide293.xml"/><Relationship Id="rId300" Type="http://schemas.openxmlformats.org/officeDocument/2006/relationships/slide" Target="slides/slide294.xml"/><Relationship Id="rId301" Type="http://schemas.openxmlformats.org/officeDocument/2006/relationships/slide" Target="slides/slide295.xml"/><Relationship Id="rId302" Type="http://schemas.openxmlformats.org/officeDocument/2006/relationships/slide" Target="slides/slide296.xml"/><Relationship Id="rId303" Type="http://schemas.openxmlformats.org/officeDocument/2006/relationships/slide" Target="slides/slide297.xml"/><Relationship Id="rId304" Type="http://schemas.openxmlformats.org/officeDocument/2006/relationships/slide" Target="slides/slide298.xml"/><Relationship Id="rId305" Type="http://schemas.openxmlformats.org/officeDocument/2006/relationships/slide" Target="slides/slide299.xml"/><Relationship Id="rId306" Type="http://schemas.openxmlformats.org/officeDocument/2006/relationships/slide" Target="slides/slide300.xml"/><Relationship Id="rId307" Type="http://schemas.openxmlformats.org/officeDocument/2006/relationships/slide" Target="slides/slide301.xml"/><Relationship Id="rId308" Type="http://schemas.openxmlformats.org/officeDocument/2006/relationships/slide" Target="slides/slide302.xml"/><Relationship Id="rId309" Type="http://schemas.openxmlformats.org/officeDocument/2006/relationships/slide" Target="slides/slide303.xml"/><Relationship Id="rId310" Type="http://schemas.openxmlformats.org/officeDocument/2006/relationships/slide" Target="slides/slide304.xml"/><Relationship Id="rId311" Type="http://schemas.openxmlformats.org/officeDocument/2006/relationships/slide" Target="slides/slide305.xml"/><Relationship Id="rId312" Type="http://schemas.openxmlformats.org/officeDocument/2006/relationships/slide" Target="slides/slide306.xml"/><Relationship Id="rId313" Type="http://schemas.openxmlformats.org/officeDocument/2006/relationships/slide" Target="slides/slide307.xml"/><Relationship Id="rId314" Type="http://schemas.openxmlformats.org/officeDocument/2006/relationships/slide" Target="slides/slide308.xml"/><Relationship Id="rId315" Type="http://schemas.openxmlformats.org/officeDocument/2006/relationships/slide" Target="slides/slide309.xml"/><Relationship Id="rId316" Type="http://schemas.openxmlformats.org/officeDocument/2006/relationships/slide" Target="slides/slide310.xml"/><Relationship Id="rId317" Type="http://schemas.openxmlformats.org/officeDocument/2006/relationships/slide" Target="slides/slide311.xml"/><Relationship Id="rId318" Type="http://schemas.openxmlformats.org/officeDocument/2006/relationships/slide" Target="slides/slide312.xml"/><Relationship Id="rId319" Type="http://schemas.openxmlformats.org/officeDocument/2006/relationships/slide" Target="slides/slide313.xml"/><Relationship Id="rId320" Type="http://schemas.openxmlformats.org/officeDocument/2006/relationships/slide" Target="slides/slide314.xml"/><Relationship Id="rId321" Type="http://schemas.openxmlformats.org/officeDocument/2006/relationships/slide" Target="slides/slide315.xml"/><Relationship Id="rId322" Type="http://schemas.openxmlformats.org/officeDocument/2006/relationships/slide" Target="slides/slide316.xml"/><Relationship Id="rId323" Type="http://schemas.openxmlformats.org/officeDocument/2006/relationships/slide" Target="slides/slide317.xml"/><Relationship Id="rId324" Type="http://schemas.openxmlformats.org/officeDocument/2006/relationships/slide" Target="slides/slide318.xml"/><Relationship Id="rId325" Type="http://schemas.openxmlformats.org/officeDocument/2006/relationships/slide" Target="slides/slide319.xml"/><Relationship Id="rId326" Type="http://schemas.openxmlformats.org/officeDocument/2006/relationships/slide" Target="slides/slide320.xml"/><Relationship Id="rId327" Type="http://schemas.openxmlformats.org/officeDocument/2006/relationships/slide" Target="slides/slide321.xml"/><Relationship Id="rId328" Type="http://schemas.openxmlformats.org/officeDocument/2006/relationships/slide" Target="slides/slide322.xml"/><Relationship Id="rId329" Type="http://schemas.openxmlformats.org/officeDocument/2006/relationships/slide" Target="slides/slide323.xml"/><Relationship Id="rId330" Type="http://schemas.openxmlformats.org/officeDocument/2006/relationships/slide" Target="slides/slide324.xml"/><Relationship Id="rId331" Type="http://schemas.openxmlformats.org/officeDocument/2006/relationships/slide" Target="slides/slide325.xml"/><Relationship Id="rId332" Type="http://schemas.openxmlformats.org/officeDocument/2006/relationships/slide" Target="slides/slide326.xml"/><Relationship Id="rId333" Type="http://schemas.openxmlformats.org/officeDocument/2006/relationships/slide" Target="slides/slide327.xml"/><Relationship Id="rId334" Type="http://schemas.openxmlformats.org/officeDocument/2006/relationships/slide" Target="slides/slide328.xml"/><Relationship Id="rId335" Type="http://schemas.openxmlformats.org/officeDocument/2006/relationships/slide" Target="slides/slide329.xml"/><Relationship Id="rId336" Type="http://schemas.openxmlformats.org/officeDocument/2006/relationships/slide" Target="slides/slide330.xml"/><Relationship Id="rId337" Type="http://schemas.openxmlformats.org/officeDocument/2006/relationships/slide" Target="slides/slide331.xml"/><Relationship Id="rId338" Type="http://schemas.openxmlformats.org/officeDocument/2006/relationships/slide" Target="slides/slide332.xml"/><Relationship Id="rId339" Type="http://schemas.openxmlformats.org/officeDocument/2006/relationships/slide" Target="slides/slide333.xml"/><Relationship Id="rId340" Type="http://schemas.openxmlformats.org/officeDocument/2006/relationships/slide" Target="slides/slide334.xml"/><Relationship Id="rId341" Type="http://schemas.openxmlformats.org/officeDocument/2006/relationships/slide" Target="slides/slide335.xml"/><Relationship Id="rId342" Type="http://schemas.openxmlformats.org/officeDocument/2006/relationships/slide" Target="slides/slide336.xml"/><Relationship Id="rId343" Type="http://schemas.openxmlformats.org/officeDocument/2006/relationships/slide" Target="slides/slide337.xml"/><Relationship Id="rId344" Type="http://schemas.openxmlformats.org/officeDocument/2006/relationships/slide" Target="slides/slide338.xml"/><Relationship Id="rId345" Type="http://schemas.openxmlformats.org/officeDocument/2006/relationships/slide" Target="slides/slide339.xml"/><Relationship Id="rId346" Type="http://schemas.openxmlformats.org/officeDocument/2006/relationships/slide" Target="slides/slide340.xml"/><Relationship Id="rId347" Type="http://schemas.openxmlformats.org/officeDocument/2006/relationships/slide" Target="slides/slide341.xml"/><Relationship Id="rId348" Type="http://schemas.openxmlformats.org/officeDocument/2006/relationships/slide" Target="slides/slide342.xml"/><Relationship Id="rId349" Type="http://schemas.openxmlformats.org/officeDocument/2006/relationships/slide" Target="slides/slide343.xml"/><Relationship Id="rId350" Type="http://schemas.openxmlformats.org/officeDocument/2006/relationships/slide" Target="slides/slide344.xml"/><Relationship Id="rId351" Type="http://schemas.openxmlformats.org/officeDocument/2006/relationships/slide" Target="slides/slide345.xml"/><Relationship Id="rId352" Type="http://schemas.openxmlformats.org/officeDocument/2006/relationships/slide" Target="slides/slide346.xml"/><Relationship Id="rId353" Type="http://schemas.openxmlformats.org/officeDocument/2006/relationships/slide" Target="slides/slide347.xml"/><Relationship Id="rId354" Type="http://schemas.openxmlformats.org/officeDocument/2006/relationships/slide" Target="slides/slide348.xml"/><Relationship Id="rId355" Type="http://schemas.openxmlformats.org/officeDocument/2006/relationships/slide" Target="slides/slide349.xml"/><Relationship Id="rId356" Type="http://schemas.openxmlformats.org/officeDocument/2006/relationships/slide" Target="slides/slide350.xml"/><Relationship Id="rId357" Type="http://schemas.openxmlformats.org/officeDocument/2006/relationships/slide" Target="slides/slide351.xml"/><Relationship Id="rId358" Type="http://schemas.openxmlformats.org/officeDocument/2006/relationships/slide" Target="slides/slide352.xml"/><Relationship Id="rId359" Type="http://schemas.openxmlformats.org/officeDocument/2006/relationships/slide" Target="slides/slide353.xml"/><Relationship Id="rId360" Type="http://schemas.openxmlformats.org/officeDocument/2006/relationships/slide" Target="slides/slide354.xml"/><Relationship Id="rId361" Type="http://schemas.openxmlformats.org/officeDocument/2006/relationships/slide" Target="slides/slide355.xml"/><Relationship Id="rId362" Type="http://schemas.openxmlformats.org/officeDocument/2006/relationships/slide" Target="slides/slide356.xml"/><Relationship Id="rId363" Type="http://schemas.openxmlformats.org/officeDocument/2006/relationships/slide" Target="slides/slide357.xml"/><Relationship Id="rId364" Type="http://schemas.openxmlformats.org/officeDocument/2006/relationships/slide" Target="slides/slide358.xml"/><Relationship Id="rId365" Type="http://schemas.openxmlformats.org/officeDocument/2006/relationships/slide" Target="slides/slide359.xml"/><Relationship Id="rId366" Type="http://schemas.openxmlformats.org/officeDocument/2006/relationships/slide" Target="slides/slide360.xml"/><Relationship Id="rId367" Type="http://schemas.openxmlformats.org/officeDocument/2006/relationships/slide" Target="slides/slide361.xml"/><Relationship Id="rId368" Type="http://schemas.openxmlformats.org/officeDocument/2006/relationships/slide" Target="slides/slide362.xml"/><Relationship Id="rId369" Type="http://schemas.openxmlformats.org/officeDocument/2006/relationships/slide" Target="slides/slide363.xml"/><Relationship Id="rId370" Type="http://schemas.openxmlformats.org/officeDocument/2006/relationships/slide" Target="slides/slide364.xml"/><Relationship Id="rId371" Type="http://schemas.openxmlformats.org/officeDocument/2006/relationships/slide" Target="slides/slide365.xml"/><Relationship Id="rId372" Type="http://schemas.openxmlformats.org/officeDocument/2006/relationships/slide" Target="slides/slide366.xml"/><Relationship Id="rId373" Type="http://schemas.openxmlformats.org/officeDocument/2006/relationships/slide" Target="slides/slide367.xml"/><Relationship Id="rId374" Type="http://schemas.openxmlformats.org/officeDocument/2006/relationships/slide" Target="slides/slide368.xml"/><Relationship Id="rId375" Type="http://schemas.openxmlformats.org/officeDocument/2006/relationships/slide" Target="slides/slide369.xml"/><Relationship Id="rId376" Type="http://schemas.openxmlformats.org/officeDocument/2006/relationships/slide" Target="slides/slide370.xml"/><Relationship Id="rId377" Type="http://schemas.openxmlformats.org/officeDocument/2006/relationships/slide" Target="slides/slide371.xml"/><Relationship Id="rId378" Type="http://schemas.openxmlformats.org/officeDocument/2006/relationships/slide" Target="slides/slide372.xml"/><Relationship Id="rId379" Type="http://schemas.openxmlformats.org/officeDocument/2006/relationships/slide" Target="slides/slide373.xml"/><Relationship Id="rId380" Type="http://schemas.openxmlformats.org/officeDocument/2006/relationships/slide" Target="slides/slide374.xml"/><Relationship Id="rId381" Type="http://schemas.openxmlformats.org/officeDocument/2006/relationships/slide" Target="slides/slide375.xml"/><Relationship Id="rId382" Type="http://schemas.openxmlformats.org/officeDocument/2006/relationships/slide" Target="slides/slide376.xml"/><Relationship Id="rId383" Type="http://schemas.openxmlformats.org/officeDocument/2006/relationships/slide" Target="slides/slide377.xml"/><Relationship Id="rId384" Type="http://schemas.openxmlformats.org/officeDocument/2006/relationships/slide" Target="slides/slide378.xml"/><Relationship Id="rId385" Type="http://schemas.openxmlformats.org/officeDocument/2006/relationships/slide" Target="slides/slide379.xml"/><Relationship Id="rId386" Type="http://schemas.openxmlformats.org/officeDocument/2006/relationships/slide" Target="slides/slide380.xml"/><Relationship Id="rId387" Type="http://schemas.openxmlformats.org/officeDocument/2006/relationships/slide" Target="slides/slide381.xml"/><Relationship Id="rId388" Type="http://schemas.openxmlformats.org/officeDocument/2006/relationships/slide" Target="slides/slide382.xml"/><Relationship Id="rId389" Type="http://schemas.openxmlformats.org/officeDocument/2006/relationships/slide" Target="slides/slide383.xml"/><Relationship Id="rId390" Type="http://schemas.openxmlformats.org/officeDocument/2006/relationships/slide" Target="slides/slide384.xml"/><Relationship Id="rId391" Type="http://schemas.openxmlformats.org/officeDocument/2006/relationships/slide" Target="slides/slide385.xml"/><Relationship Id="rId392" Type="http://schemas.openxmlformats.org/officeDocument/2006/relationships/slide" Target="slides/slide386.xml"/><Relationship Id="rId393" Type="http://schemas.openxmlformats.org/officeDocument/2006/relationships/slide" Target="slides/slide387.xml"/><Relationship Id="rId394" Type="http://schemas.openxmlformats.org/officeDocument/2006/relationships/slide" Target="slides/slide388.xml"/><Relationship Id="rId395" Type="http://schemas.openxmlformats.org/officeDocument/2006/relationships/slide" Target="slides/slide389.xml"/><Relationship Id="rId396" Type="http://schemas.openxmlformats.org/officeDocument/2006/relationships/slide" Target="slides/slide390.xml"/><Relationship Id="rId397" Type="http://schemas.openxmlformats.org/officeDocument/2006/relationships/slide" Target="slides/slide391.xml"/><Relationship Id="rId398" Type="http://schemas.openxmlformats.org/officeDocument/2006/relationships/slide" Target="slides/slide392.xml"/><Relationship Id="rId399" Type="http://schemas.openxmlformats.org/officeDocument/2006/relationships/slide" Target="slides/slide393.xml"/><Relationship Id="rId400" Type="http://schemas.openxmlformats.org/officeDocument/2006/relationships/slide" Target="slides/slide394.xml"/><Relationship Id="rId401" Type="http://schemas.openxmlformats.org/officeDocument/2006/relationships/slide" Target="slides/slide395.xml"/><Relationship Id="rId402" Type="http://schemas.openxmlformats.org/officeDocument/2006/relationships/slide" Target="slides/slide396.xml"/><Relationship Id="rId403" Type="http://schemas.openxmlformats.org/officeDocument/2006/relationships/slide" Target="slides/slide397.xml"/><Relationship Id="rId404" Type="http://schemas.openxmlformats.org/officeDocument/2006/relationships/slide" Target="slides/slide398.xml"/><Relationship Id="rId405" Type="http://schemas.openxmlformats.org/officeDocument/2006/relationships/slide" Target="slides/slide399.xml"/><Relationship Id="rId406" Type="http://schemas.openxmlformats.org/officeDocument/2006/relationships/slide" Target="slides/slide400.xml"/><Relationship Id="rId407" Type="http://schemas.openxmlformats.org/officeDocument/2006/relationships/slide" Target="slides/slide401.xml"/><Relationship Id="rId408" Type="http://schemas.openxmlformats.org/officeDocument/2006/relationships/slide" Target="slides/slide402.xml"/><Relationship Id="rId409" Type="http://schemas.openxmlformats.org/officeDocument/2006/relationships/slide" Target="slides/slide403.xml"/><Relationship Id="rId410" Type="http://schemas.openxmlformats.org/officeDocument/2006/relationships/slide" Target="slides/slide404.xml"/><Relationship Id="rId411" Type="http://schemas.openxmlformats.org/officeDocument/2006/relationships/slide" Target="slides/slide405.xml"/><Relationship Id="rId412" Type="http://schemas.openxmlformats.org/officeDocument/2006/relationships/slide" Target="slides/slide406.xml"/><Relationship Id="rId413" Type="http://schemas.openxmlformats.org/officeDocument/2006/relationships/slide" Target="slides/slide407.xml"/><Relationship Id="rId414" Type="http://schemas.openxmlformats.org/officeDocument/2006/relationships/slide" Target="slides/slide408.xml"/><Relationship Id="rId415" Type="http://schemas.openxmlformats.org/officeDocument/2006/relationships/slide" Target="slides/slide409.xml"/><Relationship Id="rId416" Type="http://schemas.openxmlformats.org/officeDocument/2006/relationships/slide" Target="slides/slide410.xml"/><Relationship Id="rId417" Type="http://schemas.openxmlformats.org/officeDocument/2006/relationships/slide" Target="slides/slide411.xml"/><Relationship Id="rId418" Type="http://schemas.openxmlformats.org/officeDocument/2006/relationships/slide" Target="slides/slide412.xml"/><Relationship Id="rId419" Type="http://schemas.openxmlformats.org/officeDocument/2006/relationships/slide" Target="slides/slide413.xml"/><Relationship Id="rId420" Type="http://schemas.openxmlformats.org/officeDocument/2006/relationships/slide" Target="slides/slide414.xml"/><Relationship Id="rId421" Type="http://schemas.openxmlformats.org/officeDocument/2006/relationships/slide" Target="slides/slide415.xml"/><Relationship Id="rId422" Type="http://schemas.openxmlformats.org/officeDocument/2006/relationships/slide" Target="slides/slide416.xml"/><Relationship Id="rId423" Type="http://schemas.openxmlformats.org/officeDocument/2006/relationships/slide" Target="slides/slide417.xml"/><Relationship Id="rId424" Type="http://schemas.openxmlformats.org/officeDocument/2006/relationships/slide" Target="slides/slide418.xml"/><Relationship Id="rId425" Type="http://schemas.openxmlformats.org/officeDocument/2006/relationships/slide" Target="slides/slide419.xml"/><Relationship Id="rId426" Type="http://schemas.openxmlformats.org/officeDocument/2006/relationships/slide" Target="slides/slide420.xml"/><Relationship Id="rId427" Type="http://schemas.openxmlformats.org/officeDocument/2006/relationships/slide" Target="slides/slide421.xml"/><Relationship Id="rId428" Type="http://schemas.openxmlformats.org/officeDocument/2006/relationships/slide" Target="slides/slide422.xml"/><Relationship Id="rId429" Type="http://schemas.openxmlformats.org/officeDocument/2006/relationships/slide" Target="slides/slide423.xml"/><Relationship Id="rId430" Type="http://schemas.openxmlformats.org/officeDocument/2006/relationships/slide" Target="slides/slide424.xml"/><Relationship Id="rId431" Type="http://schemas.openxmlformats.org/officeDocument/2006/relationships/slide" Target="slides/slide425.xml"/><Relationship Id="rId432" Type="http://schemas.openxmlformats.org/officeDocument/2006/relationships/slide" Target="slides/slide426.xml"/><Relationship Id="rId433" Type="http://schemas.openxmlformats.org/officeDocument/2006/relationships/slide" Target="slides/slide427.xml"/><Relationship Id="rId434" Type="http://schemas.openxmlformats.org/officeDocument/2006/relationships/slide" Target="slides/slide428.xml"/><Relationship Id="rId435" Type="http://schemas.openxmlformats.org/officeDocument/2006/relationships/slide" Target="slides/slide429.xml"/><Relationship Id="rId436" Type="http://schemas.openxmlformats.org/officeDocument/2006/relationships/slide" Target="slides/slide430.xml"/><Relationship Id="rId437" Type="http://schemas.openxmlformats.org/officeDocument/2006/relationships/slide" Target="slides/slide431.xml"/><Relationship Id="rId438" Type="http://schemas.openxmlformats.org/officeDocument/2006/relationships/slide" Target="slides/slide432.xml"/><Relationship Id="rId439" Type="http://schemas.openxmlformats.org/officeDocument/2006/relationships/slide" Target="slides/slide433.xml"/><Relationship Id="rId440" Type="http://schemas.openxmlformats.org/officeDocument/2006/relationships/slide" Target="slides/slide434.xml"/><Relationship Id="rId441" Type="http://schemas.openxmlformats.org/officeDocument/2006/relationships/slide" Target="slides/slide435.xml"/><Relationship Id="rId442" Type="http://schemas.openxmlformats.org/officeDocument/2006/relationships/slide" Target="slides/slide436.xml"/><Relationship Id="rId443" Type="http://schemas.openxmlformats.org/officeDocument/2006/relationships/slide" Target="slides/slide437.xml"/><Relationship Id="rId444" Type="http://schemas.openxmlformats.org/officeDocument/2006/relationships/slide" Target="slides/slide438.xml"/><Relationship Id="rId445" Type="http://schemas.openxmlformats.org/officeDocument/2006/relationships/slide" Target="slides/slide439.xml"/><Relationship Id="rId446" Type="http://schemas.openxmlformats.org/officeDocument/2006/relationships/slide" Target="slides/slide440.xml"/><Relationship Id="rId447" Type="http://schemas.openxmlformats.org/officeDocument/2006/relationships/slide" Target="slides/slide441.xml"/><Relationship Id="rId448" Type="http://schemas.openxmlformats.org/officeDocument/2006/relationships/slide" Target="slides/slide442.xml"/><Relationship Id="rId449" Type="http://schemas.openxmlformats.org/officeDocument/2006/relationships/slide" Target="slides/slide443.xml"/><Relationship Id="rId450" Type="http://schemas.openxmlformats.org/officeDocument/2006/relationships/slide" Target="slides/slide444.xml"/><Relationship Id="rId451" Type="http://schemas.openxmlformats.org/officeDocument/2006/relationships/slide" Target="slides/slide445.xml"/><Relationship Id="rId452" Type="http://schemas.openxmlformats.org/officeDocument/2006/relationships/slide" Target="slides/slide446.xml"/><Relationship Id="rId453" Type="http://schemas.openxmlformats.org/officeDocument/2006/relationships/slide" Target="slides/slide447.xml"/><Relationship Id="rId454" Type="http://schemas.openxmlformats.org/officeDocument/2006/relationships/slide" Target="slides/slide448.xml"/><Relationship Id="rId455" Type="http://schemas.openxmlformats.org/officeDocument/2006/relationships/slide" Target="slides/slide449.xml"/><Relationship Id="rId456" Type="http://schemas.openxmlformats.org/officeDocument/2006/relationships/slide" Target="slides/slide450.xml"/><Relationship Id="rId457" Type="http://schemas.openxmlformats.org/officeDocument/2006/relationships/slide" Target="slides/slide451.xml"/><Relationship Id="rId458" Type="http://schemas.openxmlformats.org/officeDocument/2006/relationships/slide" Target="slides/slide452.xml"/><Relationship Id="rId459" Type="http://schemas.openxmlformats.org/officeDocument/2006/relationships/slide" Target="slides/slide453.xml"/><Relationship Id="rId460" Type="http://schemas.openxmlformats.org/officeDocument/2006/relationships/slide" Target="slides/slide454.xml"/><Relationship Id="rId461" Type="http://schemas.openxmlformats.org/officeDocument/2006/relationships/slide" Target="slides/slide455.xml"/><Relationship Id="rId462" Type="http://schemas.openxmlformats.org/officeDocument/2006/relationships/slide" Target="slides/slide456.xml"/><Relationship Id="rId463" Type="http://schemas.openxmlformats.org/officeDocument/2006/relationships/slide" Target="slides/slide457.xml"/><Relationship Id="rId464" Type="http://schemas.openxmlformats.org/officeDocument/2006/relationships/slide" Target="slides/slide458.xml"/><Relationship Id="rId465" Type="http://schemas.openxmlformats.org/officeDocument/2006/relationships/slide" Target="slides/slide459.xml"/><Relationship Id="rId466" Type="http://schemas.openxmlformats.org/officeDocument/2006/relationships/slide" Target="slides/slide460.xml"/><Relationship Id="rId467" Type="http://schemas.openxmlformats.org/officeDocument/2006/relationships/slide" Target="slides/slide461.xml"/><Relationship Id="rId468" Type="http://schemas.openxmlformats.org/officeDocument/2006/relationships/slide" Target="slides/slide462.xml"/><Relationship Id="rId469" Type="http://schemas.openxmlformats.org/officeDocument/2006/relationships/slide" Target="slides/slide463.xml"/><Relationship Id="rId470" Type="http://schemas.openxmlformats.org/officeDocument/2006/relationships/slide" Target="slides/slide464.xml"/><Relationship Id="rId471" Type="http://schemas.openxmlformats.org/officeDocument/2006/relationships/slide" Target="slides/slide465.xml"/><Relationship Id="rId472" Type="http://schemas.openxmlformats.org/officeDocument/2006/relationships/slide" Target="slides/slide466.xml"/><Relationship Id="rId473" Type="http://schemas.openxmlformats.org/officeDocument/2006/relationships/slide" Target="slides/slide467.xml"/><Relationship Id="rId474" Type="http://schemas.openxmlformats.org/officeDocument/2006/relationships/slide" Target="slides/slide468.xml"/><Relationship Id="rId475" Type="http://schemas.openxmlformats.org/officeDocument/2006/relationships/slide" Target="slides/slide469.xml"/><Relationship Id="rId476" Type="http://schemas.openxmlformats.org/officeDocument/2006/relationships/slide" Target="slides/slide470.xml"/><Relationship Id="rId477" Type="http://schemas.openxmlformats.org/officeDocument/2006/relationships/slide" Target="slides/slide471.xml"/><Relationship Id="rId478" Type="http://schemas.openxmlformats.org/officeDocument/2006/relationships/slide" Target="slides/slide472.xml"/><Relationship Id="rId479" Type="http://schemas.openxmlformats.org/officeDocument/2006/relationships/slide" Target="slides/slide473.xml"/><Relationship Id="rId480" Type="http://schemas.openxmlformats.org/officeDocument/2006/relationships/slide" Target="slides/slide474.xml"/><Relationship Id="rId481" Type="http://schemas.openxmlformats.org/officeDocument/2006/relationships/slide" Target="slides/slide475.xml"/><Relationship Id="rId482" Type="http://schemas.openxmlformats.org/officeDocument/2006/relationships/slide" Target="slides/slide476.xml"/><Relationship Id="rId483" Type="http://schemas.openxmlformats.org/officeDocument/2006/relationships/slide" Target="slides/slide477.xml"/><Relationship Id="rId484" Type="http://schemas.openxmlformats.org/officeDocument/2006/relationships/slide" Target="slides/slide478.xml"/><Relationship Id="rId485" Type="http://schemas.openxmlformats.org/officeDocument/2006/relationships/slide" Target="slides/slide479.xml"/><Relationship Id="rId486" Type="http://schemas.openxmlformats.org/officeDocument/2006/relationships/slide" Target="slides/slide480.xml"/><Relationship Id="rId487" Type="http://schemas.openxmlformats.org/officeDocument/2006/relationships/slide" Target="slides/slide481.xml"/><Relationship Id="rId488" Type="http://schemas.openxmlformats.org/officeDocument/2006/relationships/slide" Target="slides/slide482.xml"/><Relationship Id="rId489" Type="http://schemas.openxmlformats.org/officeDocument/2006/relationships/slide" Target="slides/slide483.xml"/><Relationship Id="rId490" Type="http://schemas.openxmlformats.org/officeDocument/2006/relationships/slide" Target="slides/slide484.xml"/><Relationship Id="rId491" Type="http://schemas.openxmlformats.org/officeDocument/2006/relationships/slide" Target="slides/slide485.xml"/><Relationship Id="rId492" Type="http://schemas.openxmlformats.org/officeDocument/2006/relationships/slide" Target="slides/slide486.xml"/><Relationship Id="rId493" Type="http://schemas.openxmlformats.org/officeDocument/2006/relationships/slide" Target="slides/slide487.xml"/><Relationship Id="rId494" Type="http://schemas.openxmlformats.org/officeDocument/2006/relationships/slide" Target="slides/slide488.xml"/><Relationship Id="rId495" Type="http://schemas.openxmlformats.org/officeDocument/2006/relationships/slide" Target="slides/slide489.xml"/><Relationship Id="rId496" Type="http://schemas.openxmlformats.org/officeDocument/2006/relationships/slide" Target="slides/slide490.xml"/><Relationship Id="rId497" Type="http://schemas.openxmlformats.org/officeDocument/2006/relationships/slide" Target="slides/slide491.xml"/><Relationship Id="rId498" Type="http://schemas.openxmlformats.org/officeDocument/2006/relationships/slide" Target="slides/slide492.xml"/><Relationship Id="rId499" Type="http://schemas.openxmlformats.org/officeDocument/2006/relationships/slide" Target="slides/slide493.xml"/><Relationship Id="rId500" Type="http://schemas.openxmlformats.org/officeDocument/2006/relationships/slide" Target="slides/slide494.xml"/><Relationship Id="rId501" Type="http://schemas.openxmlformats.org/officeDocument/2006/relationships/slide" Target="slides/slide495.xml"/><Relationship Id="rId502" Type="http://schemas.openxmlformats.org/officeDocument/2006/relationships/slide" Target="slides/slide496.xml"/><Relationship Id="rId503" Type="http://schemas.openxmlformats.org/officeDocument/2006/relationships/slide" Target="slides/slide497.xml"/><Relationship Id="rId504" Type="http://schemas.openxmlformats.org/officeDocument/2006/relationships/slide" Target="slides/slide498.xml"/><Relationship Id="rId505" Type="http://schemas.openxmlformats.org/officeDocument/2006/relationships/slide" Target="slides/slide499.xml"/><Relationship Id="rId506" Type="http://schemas.openxmlformats.org/officeDocument/2006/relationships/slide" Target="slides/slide500.xml"/><Relationship Id="rId507" Type="http://schemas.openxmlformats.org/officeDocument/2006/relationships/slide" Target="slides/slide501.xml"/><Relationship Id="rId508" Type="http://schemas.openxmlformats.org/officeDocument/2006/relationships/slide" Target="slides/slide502.xml"/><Relationship Id="rId509" Type="http://schemas.openxmlformats.org/officeDocument/2006/relationships/slide" Target="slides/slide503.xml"/><Relationship Id="rId510" Type="http://schemas.openxmlformats.org/officeDocument/2006/relationships/slide" Target="slides/slide504.xml"/><Relationship Id="rId511" Type="http://schemas.openxmlformats.org/officeDocument/2006/relationships/slide" Target="slides/slide505.xml"/><Relationship Id="rId512" Type="http://schemas.openxmlformats.org/officeDocument/2006/relationships/slide" Target="slides/slide506.xml"/><Relationship Id="rId513" Type="http://schemas.openxmlformats.org/officeDocument/2006/relationships/slide" Target="slides/slide507.xml"/><Relationship Id="rId514" Type="http://schemas.openxmlformats.org/officeDocument/2006/relationships/slide" Target="slides/slide508.xml"/><Relationship Id="rId515" Type="http://schemas.openxmlformats.org/officeDocument/2006/relationships/slide" Target="slides/slide509.xml"/><Relationship Id="rId516" Type="http://schemas.openxmlformats.org/officeDocument/2006/relationships/slide" Target="slides/slide510.xml"/><Relationship Id="rId517" Type="http://schemas.openxmlformats.org/officeDocument/2006/relationships/slide" Target="slides/slide511.xml"/><Relationship Id="rId518" Type="http://schemas.openxmlformats.org/officeDocument/2006/relationships/slide" Target="slides/slide512.xml"/><Relationship Id="rId519" Type="http://schemas.openxmlformats.org/officeDocument/2006/relationships/slide" Target="slides/slide513.xml"/><Relationship Id="rId520" Type="http://schemas.openxmlformats.org/officeDocument/2006/relationships/slide" Target="slides/slide514.xml"/><Relationship Id="rId521" Type="http://schemas.openxmlformats.org/officeDocument/2006/relationships/slide" Target="slides/slide515.xml"/><Relationship Id="rId522" Type="http://schemas.openxmlformats.org/officeDocument/2006/relationships/slide" Target="slides/slide516.xml"/><Relationship Id="rId523" Type="http://schemas.openxmlformats.org/officeDocument/2006/relationships/slide" Target="slides/slide517.xml"/><Relationship Id="rId524" Type="http://schemas.openxmlformats.org/officeDocument/2006/relationships/slide" Target="slides/slide518.xml"/><Relationship Id="rId525" Type="http://schemas.openxmlformats.org/officeDocument/2006/relationships/slide" Target="slides/slide519.xml"/><Relationship Id="rId526" Type="http://schemas.openxmlformats.org/officeDocument/2006/relationships/slide" Target="slides/slide520.xml"/><Relationship Id="rId527" Type="http://schemas.openxmlformats.org/officeDocument/2006/relationships/slide" Target="slides/slide521.xml"/><Relationship Id="rId528" Type="http://schemas.openxmlformats.org/officeDocument/2006/relationships/slide" Target="slides/slide522.xml"/><Relationship Id="rId529" Type="http://schemas.openxmlformats.org/officeDocument/2006/relationships/slide" Target="slides/slide523.xml"/><Relationship Id="rId530" Type="http://schemas.openxmlformats.org/officeDocument/2006/relationships/slide" Target="slides/slide524.xml"/><Relationship Id="rId531" Type="http://schemas.openxmlformats.org/officeDocument/2006/relationships/slide" Target="slides/slide525.xml"/><Relationship Id="rId532" Type="http://schemas.openxmlformats.org/officeDocument/2006/relationships/slide" Target="slides/slide526.xml"/><Relationship Id="rId533" Type="http://schemas.openxmlformats.org/officeDocument/2006/relationships/slide" Target="slides/slide527.xml"/><Relationship Id="rId534" Type="http://schemas.openxmlformats.org/officeDocument/2006/relationships/slide" Target="slides/slide528.xml"/><Relationship Id="rId535" Type="http://schemas.openxmlformats.org/officeDocument/2006/relationships/slide" Target="slides/slide529.xml"/><Relationship Id="rId536" Type="http://schemas.openxmlformats.org/officeDocument/2006/relationships/slide" Target="slides/slide530.xml"/><Relationship Id="rId537" Type="http://schemas.openxmlformats.org/officeDocument/2006/relationships/slide" Target="slides/slide531.xml"/><Relationship Id="rId538" Type="http://schemas.openxmlformats.org/officeDocument/2006/relationships/slide" Target="slides/slide532.xml"/><Relationship Id="rId539" Type="http://schemas.openxmlformats.org/officeDocument/2006/relationships/slide" Target="slides/slide533.xml"/><Relationship Id="rId540" Type="http://schemas.openxmlformats.org/officeDocument/2006/relationships/slide" Target="slides/slide534.xml"/><Relationship Id="rId541" Type="http://schemas.openxmlformats.org/officeDocument/2006/relationships/slide" Target="slides/slide535.xml"/><Relationship Id="rId542" Type="http://schemas.openxmlformats.org/officeDocument/2006/relationships/slide" Target="slides/slide536.xml"/><Relationship Id="rId543" Type="http://schemas.openxmlformats.org/officeDocument/2006/relationships/slide" Target="slides/slide537.xml"/><Relationship Id="rId544" Type="http://schemas.openxmlformats.org/officeDocument/2006/relationships/slide" Target="slides/slide538.xml"/><Relationship Id="rId545" Type="http://schemas.openxmlformats.org/officeDocument/2006/relationships/slide" Target="slides/slide539.xml"/><Relationship Id="rId546" Type="http://schemas.openxmlformats.org/officeDocument/2006/relationships/slide" Target="slides/slide540.xml"/><Relationship Id="rId547" Type="http://schemas.openxmlformats.org/officeDocument/2006/relationships/slide" Target="slides/slide541.xml"/><Relationship Id="rId548" Type="http://schemas.openxmlformats.org/officeDocument/2006/relationships/slide" Target="slides/slide542.xml"/><Relationship Id="rId549" Type="http://schemas.openxmlformats.org/officeDocument/2006/relationships/slide" Target="slides/slide543.xml"/><Relationship Id="rId550" Type="http://schemas.openxmlformats.org/officeDocument/2006/relationships/slide" Target="slides/slide544.xml"/><Relationship Id="rId551" Type="http://schemas.openxmlformats.org/officeDocument/2006/relationships/slide" Target="slides/slide545.xml"/><Relationship Id="rId552" Type="http://schemas.openxmlformats.org/officeDocument/2006/relationships/slide" Target="slides/slide546.xml"/><Relationship Id="rId553" Type="http://schemas.openxmlformats.org/officeDocument/2006/relationships/slide" Target="slides/slide547.xml"/><Relationship Id="rId554" Type="http://schemas.openxmlformats.org/officeDocument/2006/relationships/slide" Target="slides/slide548.xml"/><Relationship Id="rId555" Type="http://schemas.openxmlformats.org/officeDocument/2006/relationships/slide" Target="slides/slide549.xml"/><Relationship Id="rId556" Type="http://schemas.openxmlformats.org/officeDocument/2006/relationships/slide" Target="slides/slide550.xml"/><Relationship Id="rId557" Type="http://schemas.openxmlformats.org/officeDocument/2006/relationships/slide" Target="slides/slide551.xml"/><Relationship Id="rId558" Type="http://schemas.openxmlformats.org/officeDocument/2006/relationships/slide" Target="slides/slide552.xml"/><Relationship Id="rId559" Type="http://schemas.openxmlformats.org/officeDocument/2006/relationships/slide" Target="slides/slide553.xml"/><Relationship Id="rId560" Type="http://schemas.openxmlformats.org/officeDocument/2006/relationships/slide" Target="slides/slide554.xml"/><Relationship Id="rId561" Type="http://schemas.openxmlformats.org/officeDocument/2006/relationships/slide" Target="slides/slide555.xml"/><Relationship Id="rId562" Type="http://schemas.openxmlformats.org/officeDocument/2006/relationships/slide" Target="slides/slide556.xml"/><Relationship Id="rId563" Type="http://schemas.openxmlformats.org/officeDocument/2006/relationships/slide" Target="slides/slide557.xml"/><Relationship Id="rId564" Type="http://schemas.openxmlformats.org/officeDocument/2006/relationships/slide" Target="slides/slide558.xml"/><Relationship Id="rId565" Type="http://schemas.openxmlformats.org/officeDocument/2006/relationships/slide" Target="slides/slide559.xml"/><Relationship Id="rId566" Type="http://schemas.openxmlformats.org/officeDocument/2006/relationships/slide" Target="slides/slide560.xml"/><Relationship Id="rId567" Type="http://schemas.openxmlformats.org/officeDocument/2006/relationships/slide" Target="slides/slide561.xml"/><Relationship Id="rId568" Type="http://schemas.openxmlformats.org/officeDocument/2006/relationships/slide" Target="slides/slide562.xml"/><Relationship Id="rId569" Type="http://schemas.openxmlformats.org/officeDocument/2006/relationships/slide" Target="slides/slide563.xml"/><Relationship Id="rId570" Type="http://schemas.openxmlformats.org/officeDocument/2006/relationships/slide" Target="slides/slide564.xml"/><Relationship Id="rId571" Type="http://schemas.openxmlformats.org/officeDocument/2006/relationships/slide" Target="slides/slide565.xml"/><Relationship Id="rId572" Type="http://schemas.openxmlformats.org/officeDocument/2006/relationships/slide" Target="slides/slide566.xml"/><Relationship Id="rId573" Type="http://schemas.openxmlformats.org/officeDocument/2006/relationships/slide" Target="slides/slide567.xml"/><Relationship Id="rId574" Type="http://schemas.openxmlformats.org/officeDocument/2006/relationships/slide" Target="slides/slide568.xml"/><Relationship Id="rId575" Type="http://schemas.openxmlformats.org/officeDocument/2006/relationships/slide" Target="slides/slide569.xml"/><Relationship Id="rId576" Type="http://schemas.openxmlformats.org/officeDocument/2006/relationships/slide" Target="slides/slide570.xml"/><Relationship Id="rId577" Type="http://schemas.openxmlformats.org/officeDocument/2006/relationships/slide" Target="slides/slide571.xml"/><Relationship Id="rId578" Type="http://schemas.openxmlformats.org/officeDocument/2006/relationships/slide" Target="slides/slide572.xml"/><Relationship Id="rId579" Type="http://schemas.openxmlformats.org/officeDocument/2006/relationships/slide" Target="slides/slide573.xml"/><Relationship Id="rId580" Type="http://schemas.openxmlformats.org/officeDocument/2006/relationships/slide" Target="slides/slide574.xml"/><Relationship Id="rId581" Type="http://schemas.openxmlformats.org/officeDocument/2006/relationships/slide" Target="slides/slide575.xml"/><Relationship Id="rId582" Type="http://schemas.openxmlformats.org/officeDocument/2006/relationships/slide" Target="slides/slide576.xml"/><Relationship Id="rId583" Type="http://schemas.openxmlformats.org/officeDocument/2006/relationships/slide" Target="slides/slide577.xml"/><Relationship Id="rId584" Type="http://schemas.openxmlformats.org/officeDocument/2006/relationships/slide" Target="slides/slide578.xml"/><Relationship Id="rId585" Type="http://schemas.openxmlformats.org/officeDocument/2006/relationships/slide" Target="slides/slide579.xml"/><Relationship Id="rId586" Type="http://schemas.openxmlformats.org/officeDocument/2006/relationships/slide" Target="slides/slide580.xml"/><Relationship Id="rId587" Type="http://schemas.openxmlformats.org/officeDocument/2006/relationships/slide" Target="slides/slide581.xml"/><Relationship Id="rId588" Type="http://schemas.openxmlformats.org/officeDocument/2006/relationships/slide" Target="slides/slide582.xml"/><Relationship Id="rId589" Type="http://schemas.openxmlformats.org/officeDocument/2006/relationships/slide" Target="slides/slide583.xml"/><Relationship Id="rId590" Type="http://schemas.openxmlformats.org/officeDocument/2006/relationships/slide" Target="slides/slide584.xml"/><Relationship Id="rId591" Type="http://schemas.openxmlformats.org/officeDocument/2006/relationships/slide" Target="slides/slide585.xml"/><Relationship Id="rId592" Type="http://schemas.openxmlformats.org/officeDocument/2006/relationships/slide" Target="slides/slide586.xml"/><Relationship Id="rId593" Type="http://schemas.openxmlformats.org/officeDocument/2006/relationships/slide" Target="slides/slide587.xml"/><Relationship Id="rId594" Type="http://schemas.openxmlformats.org/officeDocument/2006/relationships/slide" Target="slides/slide588.xml"/><Relationship Id="rId595" Type="http://schemas.openxmlformats.org/officeDocument/2006/relationships/slide" Target="slides/slide589.xml"/><Relationship Id="rId596" Type="http://schemas.openxmlformats.org/officeDocument/2006/relationships/slide" Target="slides/slide590.xml"/><Relationship Id="rId597" Type="http://schemas.openxmlformats.org/officeDocument/2006/relationships/slide" Target="slides/slide591.xml"/><Relationship Id="rId598" Type="http://schemas.openxmlformats.org/officeDocument/2006/relationships/slide" Target="slides/slide592.xml"/><Relationship Id="rId599" Type="http://schemas.openxmlformats.org/officeDocument/2006/relationships/slide" Target="slides/slide593.xml"/><Relationship Id="rId600" Type="http://schemas.openxmlformats.org/officeDocument/2006/relationships/slide" Target="slides/slide594.xml"/><Relationship Id="rId601" Type="http://schemas.openxmlformats.org/officeDocument/2006/relationships/slide" Target="slides/slide595.xml"/><Relationship Id="rId602" Type="http://schemas.openxmlformats.org/officeDocument/2006/relationships/slide" Target="slides/slide596.xml"/><Relationship Id="rId603" Type="http://schemas.openxmlformats.org/officeDocument/2006/relationships/slide" Target="slides/slide597.xml"/><Relationship Id="rId604" Type="http://schemas.openxmlformats.org/officeDocument/2006/relationships/slide" Target="slides/slide598.xml"/><Relationship Id="rId605" Type="http://schemas.openxmlformats.org/officeDocument/2006/relationships/slide" Target="slides/slide599.xml"/><Relationship Id="rId606" Type="http://schemas.openxmlformats.org/officeDocument/2006/relationships/slide" Target="slides/slide600.xml"/><Relationship Id="rId607" Type="http://schemas.openxmlformats.org/officeDocument/2006/relationships/slide" Target="slides/slide601.xml"/><Relationship Id="rId608" Type="http://schemas.openxmlformats.org/officeDocument/2006/relationships/slide" Target="slides/slide602.xml"/><Relationship Id="rId609" Type="http://schemas.openxmlformats.org/officeDocument/2006/relationships/slide" Target="slides/slide603.xml"/><Relationship Id="rId610" Type="http://schemas.openxmlformats.org/officeDocument/2006/relationships/slide" Target="slides/slide604.xml"/><Relationship Id="rId611" Type="http://schemas.openxmlformats.org/officeDocument/2006/relationships/slide" Target="slides/slide605.xml"/><Relationship Id="rId612" Type="http://schemas.openxmlformats.org/officeDocument/2006/relationships/slide" Target="slides/slide606.xml"/><Relationship Id="rId613" Type="http://schemas.openxmlformats.org/officeDocument/2006/relationships/slide" Target="slides/slide607.xml"/><Relationship Id="rId614" Type="http://schemas.openxmlformats.org/officeDocument/2006/relationships/slide" Target="slides/slide608.xml"/><Relationship Id="rId615" Type="http://schemas.openxmlformats.org/officeDocument/2006/relationships/slide" Target="slides/slide609.xml"/><Relationship Id="rId616" Type="http://schemas.openxmlformats.org/officeDocument/2006/relationships/slide" Target="slides/slide610.xml"/><Relationship Id="rId617" Type="http://schemas.openxmlformats.org/officeDocument/2006/relationships/slide" Target="slides/slide611.xml"/><Relationship Id="rId618" Type="http://schemas.openxmlformats.org/officeDocument/2006/relationships/slide" Target="slides/slide612.xml"/><Relationship Id="rId619" Type="http://schemas.openxmlformats.org/officeDocument/2006/relationships/slide" Target="slides/slide613.xml"/><Relationship Id="rId620" Type="http://schemas.openxmlformats.org/officeDocument/2006/relationships/slide" Target="slides/slide614.xml"/><Relationship Id="rId621" Type="http://schemas.openxmlformats.org/officeDocument/2006/relationships/slide" Target="slides/slide615.xml"/><Relationship Id="rId622" Type="http://schemas.openxmlformats.org/officeDocument/2006/relationships/slide" Target="slides/slide6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Exam weight (%)</c:v>
                </c:pt>
              </c:strCache>
            </c:strRef>
          </c:tx>
          <c:spPr>
            <a:solidFill>
              <a:srgbClr val="1F6FEB"/>
            </a:solidFill>
          </c:spPr>
          <c:cat>
            <c:strRef>
              <c:f>Sheet1!$A$2:$A$6</c:f>
              <c:strCache>
                <c:ptCount val="5"/>
                <c:pt idx="0">
                  <c:v>Monitoring and remediation</c:v>
                </c:pt>
                <c:pt idx="1">
                  <c:v>Reliability and continuity</c:v>
                </c:pt>
                <c:pt idx="2">
                  <c:v>Deployment and automation</c:v>
                </c:pt>
                <c:pt idx="3">
                  <c:v>Security and compliance</c:v>
                </c:pt>
                <c:pt idx="4">
                  <c:v>Networking and delivery</c:v>
                </c:pt>
              </c:strCache>
            </c:strRef>
          </c:cat>
          <c:val>
            <c:numRef>
              <c:f>Sheet1!$B$2:$B$6</c:f>
              <c:numCache>
                <c:formatCode>0"%"</c:formatCode>
                <c:ptCount val="5"/>
                <c:pt idx="0">
                  <c:v>22</c:v>
                </c:pt>
                <c:pt idx="1">
                  <c:v>22</c:v>
                </c:pt>
                <c:pt idx="2">
                  <c:v>22</c:v>
                </c:pt>
                <c:pt idx="3">
                  <c:v>16</c:v>
                </c:pt>
                <c:pt idx="4">
                  <c:v>18</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Illustrative availability target (%)</c:v>
                </c:pt>
              </c:strCache>
            </c:strRef>
          </c:tx>
          <c:spPr>
            <a:solidFill>
              <a:srgbClr val="1F6FEB"/>
            </a:solidFill>
          </c:spPr>
          <c:cat>
            <c:strRef>
              <c:f>Sheet1!$A$2:$A$5</c:f>
              <c:strCache>
                <c:ptCount val="4"/>
                <c:pt idx="0">
                  <c:v>Single instance</c:v>
                </c:pt>
                <c:pt idx="1">
                  <c:v>Two AZs</c:v>
                </c:pt>
                <c:pt idx="2">
                  <c:v>Three AZs</c:v>
                </c:pt>
                <c:pt idx="3">
                  <c:v>Two Regions</c:v>
                </c:pt>
              </c:strCache>
            </c:strRef>
          </c:cat>
          <c:val>
            <c:numRef>
              <c:f>Sheet1!$B$2:$B$5</c:f>
              <c:numCache>
                <c:formatCode>0.00</c:formatCode>
                <c:ptCount val="4"/>
                <c:pt idx="0">
                  <c:v>99.0</c:v>
                </c:pt>
                <c:pt idx="1">
                  <c:v>99.9</c:v>
                </c:pt>
                <c:pt idx="2">
                  <c:v>99.95</c:v>
                </c:pt>
                <c:pt idx="3">
                  <c:v>99.99</c:v>
                </c:pt>
              </c:numCache>
            </c:numRef>
          </c:val>
        </c:ser>
        <c:dLbls>
          <c:numFmt formatCode="0.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Indicative control coverage (%)</c:v>
                </c:pt>
              </c:strCache>
            </c:strRef>
          </c:tx>
          <c:spPr>
            <a:solidFill>
              <a:srgbClr val="1F6FEB"/>
            </a:solidFill>
          </c:spPr>
          <c:cat>
            <c:strRef>
              <c:f>Sheet1!$A$2:$A$6</c:f>
              <c:strCache>
                <c:ptCount val="5"/>
                <c:pt idx="0">
                  <c:v>Account</c:v>
                </c:pt>
                <c:pt idx="1">
                  <c:v>Identity</c:v>
                </c:pt>
                <c:pt idx="2">
                  <c:v>Network</c:v>
                </c:pt>
                <c:pt idx="3">
                  <c:v>Workload</c:v>
                </c:pt>
                <c:pt idx="4">
                  <c:v>Data</c:v>
                </c:pt>
              </c:strCache>
            </c:strRef>
          </c:cat>
          <c:val>
            <c:numRef>
              <c:f>Sheet1!$B$2:$B$6</c:f>
              <c:numCache>
                <c:formatCode>0.0</c:formatCode>
                <c:ptCount val="5"/>
                <c:pt idx="0">
                  <c:v>92</c:v>
                </c:pt>
                <c:pt idx="1">
                  <c:v>88</c:v>
                </c:pt>
                <c:pt idx="2">
                  <c:v>84</c:v>
                </c:pt>
                <c:pt idx="3">
                  <c:v>81</c:v>
                </c:pt>
                <c:pt idx="4">
                  <c:v>86</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Alerts per week</c:v>
                </c:pt>
              </c:strCache>
            </c:strRef>
          </c:tx>
          <c:spPr>
            <a:solidFill>
              <a:srgbClr val="1F6FEB"/>
            </a:solidFill>
          </c:spPr>
          <c:cat>
            <c:strRef>
              <c:f>Sheet1!$A$2:$A$5</c:f>
              <c:strCache>
                <c:ptCount val="4"/>
                <c:pt idx="0">
                  <c:v>Raw threshold</c:v>
                </c:pt>
                <c:pt idx="1">
                  <c:v>Sustained breach</c:v>
                </c:pt>
                <c:pt idx="2">
                  <c:v>Composite alarm</c:v>
                </c:pt>
                <c:pt idx="3">
                  <c:v>Anomaly + impact</c:v>
                </c:pt>
              </c:strCache>
            </c:strRef>
          </c:cat>
          <c:val>
            <c:numRef>
              <c:f>Sheet1!$B$2:$B$5</c:f>
              <c:numCache>
                <c:formatCode>0.0</c:formatCode>
                <c:ptCount val="4"/>
                <c:pt idx="0">
                  <c:v>84</c:v>
                </c:pt>
                <c:pt idx="1">
                  <c:v>31</c:v>
                </c:pt>
                <c:pt idx="2">
                  <c:v>14</c:v>
                </c:pt>
                <c:pt idx="3">
                  <c:v>7</c:v>
                </c:pt>
              </c:numCache>
            </c:numRef>
          </c:val>
        </c:ser>
        <c:ser>
          <c:idx val="1"/>
          <c:order val="1"/>
          <c:tx>
            <c:strRef>
              <c:f>Sheet1!$C$1</c:f>
              <c:strCache>
                <c:ptCount val="1"/>
                <c:pt idx="0">
                  <c:v>Actionable alerts</c:v>
                </c:pt>
              </c:strCache>
            </c:strRef>
          </c:tx>
          <c:spPr>
            <a:solidFill>
              <a:srgbClr val="10B981"/>
            </a:solidFill>
          </c:spPr>
          <c:cat>
            <c:strRef>
              <c:f>Sheet1!$A$2:$A$5</c:f>
              <c:strCache>
                <c:ptCount val="4"/>
                <c:pt idx="0">
                  <c:v>Raw threshold</c:v>
                </c:pt>
                <c:pt idx="1">
                  <c:v>Sustained breach</c:v>
                </c:pt>
                <c:pt idx="2">
                  <c:v>Composite alarm</c:v>
                </c:pt>
                <c:pt idx="3">
                  <c:v>Anomaly + impact</c:v>
                </c:pt>
              </c:strCache>
            </c:strRef>
          </c:cat>
          <c:val>
            <c:numRef>
              <c:f>Sheet1!$C$2:$C$5</c:f>
              <c:numCache>
                <c:formatCode>0.0</c:formatCode>
                <c:ptCount val="4"/>
                <c:pt idx="0">
                  <c:v>9</c:v>
                </c:pt>
                <c:pt idx="1">
                  <c:v>9</c:v>
                </c:pt>
                <c:pt idx="2">
                  <c:v>8</c:v>
                </c:pt>
                <c:pt idx="3">
                  <c:v>7</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Burn-rate multiple</c:v>
                </c:pt>
              </c:strCache>
            </c:strRef>
          </c:tx>
          <c:spPr>
            <a:ln w="31750">
              <a:solidFill>
                <a:srgbClr val="1F6FEB"/>
              </a:solidFill>
            </a:ln>
          </c:spPr>
          <c:cat>
            <c:strRef>
              <c:f>Sheet1!$A$2:$A$5</c:f>
              <c:strCache>
                <c:ptCount val="4"/>
                <c:pt idx="0">
                  <c:v>5 min</c:v>
                </c:pt>
                <c:pt idx="1">
                  <c:v>30 min</c:v>
                </c:pt>
                <c:pt idx="2">
                  <c:v>2 h</c:v>
                </c:pt>
                <c:pt idx="3">
                  <c:v>24 h</c:v>
                </c:pt>
              </c:strCache>
            </c:strRef>
          </c:cat>
          <c:val>
            <c:numRef>
              <c:f>Sheet1!$B$2:$B$5</c:f>
              <c:numCache>
                <c:formatCode>0.0</c:formatCode>
                <c:ptCount val="4"/>
                <c:pt idx="0">
                  <c:v>18</c:v>
                </c:pt>
                <c:pt idx="1">
                  <c:v>9</c:v>
                </c:pt>
                <c:pt idx="2">
                  <c:v>3</c:v>
                </c:pt>
                <c:pt idx="3">
                  <c:v>0.8</c:v>
                </c:pt>
              </c:numCache>
            </c:numRef>
          </c:val>
          <c:smooth val="0"/>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200">
          <a:solidFill>
            <a:srgbClr val="161B26"/>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Compliant (%)</c:v>
                </c:pt>
              </c:strCache>
            </c:strRef>
          </c:tx>
          <c:spPr>
            <a:solidFill>
              <a:srgbClr val="1F6FEB"/>
            </a:solidFill>
          </c:spPr>
          <c:cat>
            <c:strRef>
              <c:f>Sheet1!$A$2:$A$5</c:f>
              <c:strCache>
                <c:ptCount val="4"/>
                <c:pt idx="0">
                  <c:v>Web</c:v>
                </c:pt>
                <c:pt idx="1">
                  <c:v>Batch</c:v>
                </c:pt>
                <c:pt idx="2">
                  <c:v>Database tools</c:v>
                </c:pt>
                <c:pt idx="3">
                  <c:v>Legacy</c:v>
                </c:pt>
              </c:strCache>
            </c:strRef>
          </c:cat>
          <c:val>
            <c:numRef>
              <c:f>Sheet1!$B$2:$B$5</c:f>
              <c:numCache>
                <c:formatCode>0.0</c:formatCode>
                <c:ptCount val="4"/>
                <c:pt idx="0">
                  <c:v>96</c:v>
                </c:pt>
                <c:pt idx="1">
                  <c:v>92</c:v>
                </c:pt>
                <c:pt idx="2">
                  <c:v>88</c:v>
                </c:pt>
                <c:pt idx="3">
                  <c:v>67</c:v>
                </c:pt>
              </c:numCache>
            </c:numRef>
          </c:val>
        </c:ser>
        <c:ser>
          <c:idx val="1"/>
          <c:order val="1"/>
          <c:tx>
            <c:strRef>
              <c:f>Sheet1!$C$1</c:f>
              <c:strCache>
                <c:ptCount val="1"/>
                <c:pt idx="0">
                  <c:v>Managed-node coverage (%)</c:v>
                </c:pt>
              </c:strCache>
            </c:strRef>
          </c:tx>
          <c:spPr>
            <a:solidFill>
              <a:srgbClr val="10B981"/>
            </a:solidFill>
          </c:spPr>
          <c:cat>
            <c:strRef>
              <c:f>Sheet1!$A$2:$A$5</c:f>
              <c:strCache>
                <c:ptCount val="4"/>
                <c:pt idx="0">
                  <c:v>Web</c:v>
                </c:pt>
                <c:pt idx="1">
                  <c:v>Batch</c:v>
                </c:pt>
                <c:pt idx="2">
                  <c:v>Database tools</c:v>
                </c:pt>
                <c:pt idx="3">
                  <c:v>Legacy</c:v>
                </c:pt>
              </c:strCache>
            </c:strRef>
          </c:cat>
          <c:val>
            <c:numRef>
              <c:f>Sheet1!$C$2:$C$5</c:f>
              <c:numCache>
                <c:formatCode>0.0</c:formatCode>
                <c:ptCount val="4"/>
                <c:pt idx="0">
                  <c:v>100</c:v>
                </c:pt>
                <c:pt idx="1">
                  <c:v>98</c:v>
                </c:pt>
                <c:pt idx="2">
                  <c:v>91</c:v>
                </c:pt>
                <c:pt idx="3">
                  <c:v>72</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Fleet coverage (%)</c:v>
                </c:pt>
              </c:strCache>
            </c:strRef>
          </c:tx>
          <c:spPr>
            <a:solidFill>
              <a:srgbClr val="1F6FEB"/>
            </a:solidFill>
          </c:spPr>
          <c:cat>
            <c:strRef>
              <c:f>Sheet1!$A$2:$A$6</c:f>
              <c:strCache>
                <c:ptCount val="5"/>
                <c:pt idx="0">
                  <c:v>Inventory</c:v>
                </c:pt>
                <c:pt idx="1">
                  <c:v>Session access</c:v>
                </c:pt>
                <c:pt idx="2">
                  <c:v>Patch scan</c:v>
                </c:pt>
                <c:pt idx="3">
                  <c:v>Patch install</c:v>
                </c:pt>
                <c:pt idx="4">
                  <c:v>Verification</c:v>
                </c:pt>
              </c:strCache>
            </c:strRef>
          </c:cat>
          <c:val>
            <c:numRef>
              <c:f>Sheet1!$B$2:$B$6</c:f>
              <c:numCache>
                <c:formatCode>0.0</c:formatCode>
                <c:ptCount val="5"/>
                <c:pt idx="0">
                  <c:v>100</c:v>
                </c:pt>
                <c:pt idx="1">
                  <c:v>96</c:v>
                </c:pt>
                <c:pt idx="2">
                  <c:v>92</c:v>
                </c:pt>
                <c:pt idx="3">
                  <c:v>86</c:v>
                </c:pt>
                <c:pt idx="4">
                  <c:v>79</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Demand units</c:v>
                </c:pt>
              </c:strCache>
            </c:strRef>
          </c:tx>
          <c:spPr>
            <a:ln w="31750">
              <a:solidFill>
                <a:srgbClr val="1F6FEB"/>
              </a:solidFill>
            </a:ln>
          </c:spPr>
          <c:cat>
            <c:strRef>
              <c:f>Sheet1!$A$2:$A$7</c:f>
              <c:strCache>
                <c:ptCount val="6"/>
                <c:pt idx="0">
                  <c:v>09:00</c:v>
                </c:pt>
                <c:pt idx="1">
                  <c:v>10:00</c:v>
                </c:pt>
                <c:pt idx="2">
                  <c:v>11:00</c:v>
                </c:pt>
                <c:pt idx="3">
                  <c:v>12:00</c:v>
                </c:pt>
                <c:pt idx="4">
                  <c:v>13:00</c:v>
                </c:pt>
                <c:pt idx="5">
                  <c:v>14:00</c:v>
                </c:pt>
              </c:strCache>
            </c:strRef>
          </c:cat>
          <c:val>
            <c:numRef>
              <c:f>Sheet1!$B$2:$B$7</c:f>
              <c:numCache>
                <c:formatCode>0.0</c:formatCode>
                <c:ptCount val="6"/>
                <c:pt idx="0">
                  <c:v>20</c:v>
                </c:pt>
                <c:pt idx="1">
                  <c:v>45</c:v>
                </c:pt>
                <c:pt idx="2">
                  <c:v>80</c:v>
                </c:pt>
                <c:pt idx="3">
                  <c:v>120</c:v>
                </c:pt>
                <c:pt idx="4">
                  <c:v>70</c:v>
                </c:pt>
                <c:pt idx="5">
                  <c:v>35</c:v>
                </c:pt>
              </c:numCache>
            </c:numRef>
          </c:val>
          <c:smooth val="0"/>
        </c:ser>
        <c:ser>
          <c:idx val="1"/>
          <c:order val="1"/>
          <c:tx>
            <c:strRef>
              <c:f>Sheet1!$C$1</c:f>
              <c:strCache>
                <c:ptCount val="1"/>
                <c:pt idx="0">
                  <c:v>Capacity units</c:v>
                </c:pt>
              </c:strCache>
            </c:strRef>
          </c:tx>
          <c:spPr>
            <a:ln w="31750">
              <a:solidFill>
                <a:srgbClr val="10B981"/>
              </a:solidFill>
            </a:ln>
          </c:spPr>
          <c:cat>
            <c:strRef>
              <c:f>Sheet1!$A$2:$A$7</c:f>
              <c:strCache>
                <c:ptCount val="6"/>
                <c:pt idx="0">
                  <c:v>09:00</c:v>
                </c:pt>
                <c:pt idx="1">
                  <c:v>10:00</c:v>
                </c:pt>
                <c:pt idx="2">
                  <c:v>11:00</c:v>
                </c:pt>
                <c:pt idx="3">
                  <c:v>12:00</c:v>
                </c:pt>
                <c:pt idx="4">
                  <c:v>13:00</c:v>
                </c:pt>
                <c:pt idx="5">
                  <c:v>14:00</c:v>
                </c:pt>
              </c:strCache>
            </c:strRef>
          </c:cat>
          <c:val>
            <c:numRef>
              <c:f>Sheet1!$C$2:$C$7</c:f>
              <c:numCache>
                <c:formatCode>0.0</c:formatCode>
                <c:ptCount val="6"/>
                <c:pt idx="0">
                  <c:v>30</c:v>
                </c:pt>
                <c:pt idx="1">
                  <c:v>40</c:v>
                </c:pt>
                <c:pt idx="2">
                  <c:v>70</c:v>
                </c:pt>
                <c:pt idx="3">
                  <c:v>120</c:v>
                </c:pt>
                <c:pt idx="4">
                  <c:v>90</c:v>
                </c:pt>
                <c:pt idx="5">
                  <c:v>50</c:v>
                </c:pt>
              </c:numCache>
            </c:numRef>
          </c:val>
          <c:smooth val="0"/>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200">
          <a:solidFill>
            <a:srgbClr val="161B26"/>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Demand</c:v>
                </c:pt>
              </c:strCache>
            </c:strRef>
          </c:tx>
          <c:spPr>
            <a:ln w="31750">
              <a:solidFill>
                <a:srgbClr val="1F6FEB"/>
              </a:solidFill>
            </a:ln>
          </c:spPr>
          <c:cat>
            <c:strRef>
              <c:f>Sheet1!$A$2:$A$6</c:f>
              <c:strCache>
                <c:ptCount val="5"/>
                <c:pt idx="0">
                  <c:v>T+0</c:v>
                </c:pt>
                <c:pt idx="1">
                  <c:v>T+2</c:v>
                </c:pt>
                <c:pt idx="2">
                  <c:v>T+5</c:v>
                </c:pt>
                <c:pt idx="3">
                  <c:v>T+10</c:v>
                </c:pt>
                <c:pt idx="4">
                  <c:v>T+15</c:v>
                </c:pt>
              </c:strCache>
            </c:strRef>
          </c:cat>
          <c:val>
            <c:numRef>
              <c:f>Sheet1!$B$2:$B$6</c:f>
              <c:numCache>
                <c:formatCode>0.0</c:formatCode>
                <c:ptCount val="5"/>
                <c:pt idx="0">
                  <c:v>40</c:v>
                </c:pt>
                <c:pt idx="1">
                  <c:v>85</c:v>
                </c:pt>
                <c:pt idx="2">
                  <c:v>120</c:v>
                </c:pt>
                <c:pt idx="3">
                  <c:v>90</c:v>
                </c:pt>
                <c:pt idx="4">
                  <c:v>55</c:v>
                </c:pt>
              </c:numCache>
            </c:numRef>
          </c:val>
          <c:smooth val="0"/>
        </c:ser>
        <c:ser>
          <c:idx val="1"/>
          <c:order val="1"/>
          <c:tx>
            <c:strRef>
              <c:f>Sheet1!$C$1</c:f>
              <c:strCache>
                <c:ptCount val="1"/>
                <c:pt idx="0">
                  <c:v>Healthy capacity</c:v>
                </c:pt>
              </c:strCache>
            </c:strRef>
          </c:tx>
          <c:spPr>
            <a:ln w="31750">
              <a:solidFill>
                <a:srgbClr val="10B981"/>
              </a:solidFill>
            </a:ln>
          </c:spPr>
          <c:cat>
            <c:strRef>
              <c:f>Sheet1!$A$2:$A$6</c:f>
              <c:strCache>
                <c:ptCount val="5"/>
                <c:pt idx="0">
                  <c:v>T+0</c:v>
                </c:pt>
                <c:pt idx="1">
                  <c:v>T+2</c:v>
                </c:pt>
                <c:pt idx="2">
                  <c:v>T+5</c:v>
                </c:pt>
                <c:pt idx="3">
                  <c:v>T+10</c:v>
                </c:pt>
                <c:pt idx="4">
                  <c:v>T+15</c:v>
                </c:pt>
              </c:strCache>
            </c:strRef>
          </c:cat>
          <c:val>
            <c:numRef>
              <c:f>Sheet1!$C$2:$C$6</c:f>
              <c:numCache>
                <c:formatCode>0.0</c:formatCode>
                <c:ptCount val="5"/>
                <c:pt idx="0">
                  <c:v>50</c:v>
                </c:pt>
                <c:pt idx="1">
                  <c:v>55</c:v>
                </c:pt>
                <c:pt idx="2">
                  <c:v>95</c:v>
                </c:pt>
                <c:pt idx="3">
                  <c:v>115</c:v>
                </c:pt>
                <c:pt idx="4">
                  <c:v>85</c:v>
                </c:pt>
              </c:numCache>
            </c:numRef>
          </c:val>
          <c:smooth val="0"/>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200">
          <a:solidFill>
            <a:srgbClr val="161B26"/>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Relative steady-state cost</c:v>
                </c:pt>
              </c:strCache>
            </c:strRef>
          </c:tx>
          <c:spPr>
            <a:solidFill>
              <a:srgbClr val="1F6FEB"/>
            </a:solidFill>
          </c:spPr>
          <c:cat>
            <c:strRef>
              <c:f>Sheet1!$A$2:$A$5</c:f>
              <c:strCache>
                <c:ptCount val="4"/>
                <c:pt idx="0">
                  <c:v>Backup/restore</c:v>
                </c:pt>
                <c:pt idx="1">
                  <c:v>Pilot light</c:v>
                </c:pt>
                <c:pt idx="2">
                  <c:v>Warm standby</c:v>
                </c:pt>
                <c:pt idx="3">
                  <c:v>Active/active</c:v>
                </c:pt>
              </c:strCache>
            </c:strRef>
          </c:cat>
          <c:val>
            <c:numRef>
              <c:f>Sheet1!$B$2:$B$5</c:f>
              <c:numCache>
                <c:formatCode>0.0</c:formatCode>
                <c:ptCount val="4"/>
                <c:pt idx="0">
                  <c:v>1</c:v>
                </c:pt>
                <c:pt idx="1">
                  <c:v>3</c:v>
                </c:pt>
                <c:pt idx="2">
                  <c:v>6</c:v>
                </c:pt>
                <c:pt idx="3">
                  <c:v>10</c:v>
                </c:pt>
              </c:numCache>
            </c:numRef>
          </c:val>
        </c:ser>
        <c:ser>
          <c:idx val="1"/>
          <c:order val="1"/>
          <c:tx>
            <c:strRef>
              <c:f>Sheet1!$C$1</c:f>
              <c:strCache>
                <c:ptCount val="1"/>
                <c:pt idx="0">
                  <c:v>Recovery speed index</c:v>
                </c:pt>
              </c:strCache>
            </c:strRef>
          </c:tx>
          <c:spPr>
            <a:solidFill>
              <a:srgbClr val="10B981"/>
            </a:solidFill>
          </c:spPr>
          <c:cat>
            <c:strRef>
              <c:f>Sheet1!$A$2:$A$5</c:f>
              <c:strCache>
                <c:ptCount val="4"/>
                <c:pt idx="0">
                  <c:v>Backup/restore</c:v>
                </c:pt>
                <c:pt idx="1">
                  <c:v>Pilot light</c:v>
                </c:pt>
                <c:pt idx="2">
                  <c:v>Warm standby</c:v>
                </c:pt>
                <c:pt idx="3">
                  <c:v>Active/active</c:v>
                </c:pt>
              </c:strCache>
            </c:strRef>
          </c:cat>
          <c:val>
            <c:numRef>
              <c:f>Sheet1!$C$2:$C$5</c:f>
              <c:numCache>
                <c:formatCode>0.0</c:formatCode>
                <c:ptCount val="4"/>
                <c:pt idx="0">
                  <c:v>2</c:v>
                </c:pt>
                <c:pt idx="1">
                  <c:v>5</c:v>
                </c:pt>
                <c:pt idx="2">
                  <c:v>8</c:v>
                </c:pt>
                <c:pt idx="3">
                  <c:v>10</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RTO target (min)</c:v>
                </c:pt>
              </c:strCache>
            </c:strRef>
          </c:tx>
          <c:spPr>
            <a:solidFill>
              <a:srgbClr val="1F6FEB"/>
            </a:solidFill>
          </c:spPr>
          <c:cat>
            <c:strRef>
              <c:f>Sheet1!$A$2:$A$5</c:f>
              <c:strCache>
                <c:ptCount val="4"/>
                <c:pt idx="0">
                  <c:v>EBS</c:v>
                </c:pt>
                <c:pt idx="1">
                  <c:v>RDS</c:v>
                </c:pt>
                <c:pt idx="2">
                  <c:v>EFS</c:v>
                </c:pt>
                <c:pt idx="3">
                  <c:v>S3 app data</c:v>
                </c:pt>
              </c:strCache>
            </c:strRef>
          </c:cat>
          <c:val>
            <c:numRef>
              <c:f>Sheet1!$B$2:$B$5</c:f>
              <c:numCache>
                <c:formatCode>0.0</c:formatCode>
                <c:ptCount val="4"/>
                <c:pt idx="0">
                  <c:v>30</c:v>
                </c:pt>
                <c:pt idx="1">
                  <c:v>45</c:v>
                </c:pt>
                <c:pt idx="2">
                  <c:v>60</c:v>
                </c:pt>
                <c:pt idx="3">
                  <c:v>20</c:v>
                </c:pt>
              </c:numCache>
            </c:numRef>
          </c:val>
        </c:ser>
        <c:ser>
          <c:idx val="1"/>
          <c:order val="1"/>
          <c:tx>
            <c:strRef>
              <c:f>Sheet1!$C$1</c:f>
              <c:strCache>
                <c:ptCount val="1"/>
                <c:pt idx="0">
                  <c:v>Measured restore (min)</c:v>
                </c:pt>
              </c:strCache>
            </c:strRef>
          </c:tx>
          <c:spPr>
            <a:solidFill>
              <a:srgbClr val="10B981"/>
            </a:solidFill>
          </c:spPr>
          <c:cat>
            <c:strRef>
              <c:f>Sheet1!$A$2:$A$5</c:f>
              <c:strCache>
                <c:ptCount val="4"/>
                <c:pt idx="0">
                  <c:v>EBS</c:v>
                </c:pt>
                <c:pt idx="1">
                  <c:v>RDS</c:v>
                </c:pt>
                <c:pt idx="2">
                  <c:v>EFS</c:v>
                </c:pt>
                <c:pt idx="3">
                  <c:v>S3 app data</c:v>
                </c:pt>
              </c:strCache>
            </c:strRef>
          </c:cat>
          <c:val>
            <c:numRef>
              <c:f>Sheet1!$C$2:$C$5</c:f>
              <c:numCache>
                <c:formatCode>0.0</c:formatCode>
                <c:ptCount val="4"/>
                <c:pt idx="0">
                  <c:v>24</c:v>
                </c:pt>
                <c:pt idx="1">
                  <c:v>52</c:v>
                </c:pt>
                <c:pt idx="2">
                  <c:v>48</c:v>
                </c:pt>
                <c:pt idx="3">
                  <c:v>18</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Configuration variance index</c:v>
                </c:pt>
              </c:strCache>
            </c:strRef>
          </c:tx>
          <c:spPr>
            <a:solidFill>
              <a:srgbClr val="1F6FEB"/>
            </a:solidFill>
          </c:spPr>
          <c:cat>
            <c:strRef>
              <c:f>Sheet1!$A$2:$A$5</c:f>
              <c:strCache>
                <c:ptCount val="4"/>
                <c:pt idx="0">
                  <c:v>Manual</c:v>
                </c:pt>
                <c:pt idx="1">
                  <c:v>Scripted</c:v>
                </c:pt>
                <c:pt idx="2">
                  <c:v>IaC</c:v>
                </c:pt>
                <c:pt idx="3">
                  <c:v>IaC + policy</c:v>
                </c:pt>
              </c:strCache>
            </c:strRef>
          </c:cat>
          <c:val>
            <c:numRef>
              <c:f>Sheet1!$B$2:$B$5</c:f>
              <c:numCache>
                <c:formatCode>0.0</c:formatCode>
                <c:ptCount val="4"/>
                <c:pt idx="0">
                  <c:v>10</c:v>
                </c:pt>
                <c:pt idx="1">
                  <c:v>6</c:v>
                </c:pt>
                <c:pt idx="2">
                  <c:v>3</c:v>
                </c:pt>
                <c:pt idx="3">
                  <c:v>1</c:v>
                </c:pt>
              </c:numCache>
            </c:numRef>
          </c:val>
        </c:ser>
        <c:ser>
          <c:idx val="1"/>
          <c:order val="1"/>
          <c:tx>
            <c:strRef>
              <c:f>Sheet1!$C$1</c:f>
              <c:strCache>
                <c:ptCount val="1"/>
                <c:pt idx="0">
                  <c:v>Change evidence score</c:v>
                </c:pt>
              </c:strCache>
            </c:strRef>
          </c:tx>
          <c:spPr>
            <a:solidFill>
              <a:srgbClr val="10B981"/>
            </a:solidFill>
          </c:spPr>
          <c:cat>
            <c:strRef>
              <c:f>Sheet1!$A$2:$A$5</c:f>
              <c:strCache>
                <c:ptCount val="4"/>
                <c:pt idx="0">
                  <c:v>Manual</c:v>
                </c:pt>
                <c:pt idx="1">
                  <c:v>Scripted</c:v>
                </c:pt>
                <c:pt idx="2">
                  <c:v>IaC</c:v>
                </c:pt>
                <c:pt idx="3">
                  <c:v>IaC + policy</c:v>
                </c:pt>
              </c:strCache>
            </c:strRef>
          </c:cat>
          <c:val>
            <c:numRef>
              <c:f>Sheet1!$C$2:$C$5</c:f>
              <c:numCache>
                <c:formatCode>0.0</c:formatCode>
                <c:ptCount val="4"/>
                <c:pt idx="0">
                  <c:v>2</c:v>
                </c:pt>
                <c:pt idx="1">
                  <c:v>5</c:v>
                </c:pt>
                <c:pt idx="2">
                  <c:v>8</c:v>
                </c:pt>
                <c:pt idx="3">
                  <c:v>10</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Changes remaining</c:v>
                </c:pt>
              </c:strCache>
            </c:strRef>
          </c:tx>
          <c:spPr>
            <a:solidFill>
              <a:srgbClr val="1F6FEB"/>
            </a:solidFill>
          </c:spPr>
          <c:cat>
            <c:strRef>
              <c:f>Sheet1!$A$2:$A$6</c:f>
              <c:strCache>
                <c:ptCount val="5"/>
                <c:pt idx="0">
                  <c:v>Template valid</c:v>
                </c:pt>
                <c:pt idx="1">
                  <c:v>Change set reviewed</c:v>
                </c:pt>
                <c:pt idx="2">
                  <c:v>Policy passed</c:v>
                </c:pt>
                <c:pt idx="3">
                  <c:v>Deployment healthy</c:v>
                </c:pt>
                <c:pt idx="4">
                  <c:v>No drift</c:v>
                </c:pt>
              </c:strCache>
            </c:strRef>
          </c:cat>
          <c:val>
            <c:numRef>
              <c:f>Sheet1!$B$2:$B$6</c:f>
              <c:numCache>
                <c:formatCode>0.0</c:formatCode>
                <c:ptCount val="5"/>
                <c:pt idx="0">
                  <c:v>100</c:v>
                </c:pt>
                <c:pt idx="1">
                  <c:v>91</c:v>
                </c:pt>
                <c:pt idx="2">
                  <c:v>84</c:v>
                </c:pt>
                <c:pt idx="3">
                  <c:v>78</c:v>
                </c:pt>
                <c:pt idx="4">
                  <c:v>71</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Open findings</c:v>
                </c:pt>
              </c:strCache>
            </c:strRef>
          </c:tx>
          <c:spPr>
            <a:solidFill>
              <a:srgbClr val="1F6FEB"/>
            </a:solidFill>
          </c:spPr>
          <c:cat>
            <c:strRef>
              <c:f>Sheet1!$A$2:$A$5</c:f>
              <c:strCache>
                <c:ptCount val="4"/>
                <c:pt idx="0">
                  <c:v>Critical</c:v>
                </c:pt>
                <c:pt idx="1">
                  <c:v>High</c:v>
                </c:pt>
                <c:pt idx="2">
                  <c:v>Medium</c:v>
                </c:pt>
                <c:pt idx="3">
                  <c:v>Low</c:v>
                </c:pt>
              </c:strCache>
            </c:strRef>
          </c:cat>
          <c:val>
            <c:numRef>
              <c:f>Sheet1!$B$2:$B$5</c:f>
              <c:numCache>
                <c:formatCode>0.0</c:formatCode>
                <c:ptCount val="4"/>
                <c:pt idx="0">
                  <c:v>3</c:v>
                </c:pt>
                <c:pt idx="1">
                  <c:v>14</c:v>
                </c:pt>
                <c:pt idx="2">
                  <c:v>37</c:v>
                </c:pt>
                <c:pt idx="3">
                  <c:v>82</c:v>
                </c:pt>
              </c:numCache>
            </c:numRef>
          </c:val>
        </c:ser>
        <c:ser>
          <c:idx val="1"/>
          <c:order val="1"/>
          <c:tx>
            <c:strRef>
              <c:f>Sheet1!$C$1</c:f>
              <c:strCache>
                <c:ptCount val="1"/>
                <c:pt idx="0">
                  <c:v>SLA hours</c:v>
                </c:pt>
              </c:strCache>
            </c:strRef>
          </c:tx>
          <c:spPr>
            <a:solidFill>
              <a:srgbClr val="10B981"/>
            </a:solidFill>
          </c:spPr>
          <c:cat>
            <c:strRef>
              <c:f>Sheet1!$A$2:$A$5</c:f>
              <c:strCache>
                <c:ptCount val="4"/>
                <c:pt idx="0">
                  <c:v>Critical</c:v>
                </c:pt>
                <c:pt idx="1">
                  <c:v>High</c:v>
                </c:pt>
                <c:pt idx="2">
                  <c:v>Medium</c:v>
                </c:pt>
                <c:pt idx="3">
                  <c:v>Low</c:v>
                </c:pt>
              </c:strCache>
            </c:strRef>
          </c:cat>
          <c:val>
            <c:numRef>
              <c:f>Sheet1!$C$2:$C$5</c:f>
              <c:numCache>
                <c:formatCode>0.0</c:formatCode>
                <c:ptCount val="4"/>
                <c:pt idx="0">
                  <c:v>4</c:v>
                </c:pt>
                <c:pt idx="1">
                  <c:v>24</c:v>
                </c:pt>
                <c:pt idx="2">
                  <c:v>120</c:v>
                </c:pt>
                <c:pt idx="3">
                  <c:v>720</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Open findings</c:v>
                </c:pt>
              </c:strCache>
            </c:strRef>
          </c:tx>
          <c:spPr>
            <a:solidFill>
              <a:srgbClr val="1F6FEB"/>
            </a:solidFill>
          </c:spPr>
          <c:cat>
            <c:strRef>
              <c:f>Sheet1!$A$2:$A$5</c:f>
              <c:strCache>
                <c:ptCount val="4"/>
                <c:pt idx="0">
                  <c:v>0–1 day</c:v>
                </c:pt>
                <c:pt idx="1">
                  <c:v>2–7 days</c:v>
                </c:pt>
                <c:pt idx="2">
                  <c:v>8–30 days</c:v>
                </c:pt>
                <c:pt idx="3">
                  <c:v>&gt;30 days</c:v>
                </c:pt>
              </c:strCache>
            </c:strRef>
          </c:cat>
          <c:val>
            <c:numRef>
              <c:f>Sheet1!$B$2:$B$5</c:f>
              <c:numCache>
                <c:formatCode>0.0</c:formatCode>
                <c:ptCount val="4"/>
                <c:pt idx="0">
                  <c:v>42</c:v>
                </c:pt>
                <c:pt idx="1">
                  <c:v>31</c:v>
                </c:pt>
                <c:pt idx="2">
                  <c:v>18</c:v>
                </c:pt>
                <c:pt idx="3">
                  <c:v>9</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Failover agility index</c:v>
                </c:pt>
              </c:strCache>
            </c:strRef>
          </c:tx>
          <c:spPr>
            <a:ln w="31750">
              <a:solidFill>
                <a:srgbClr val="1F6FEB"/>
              </a:solidFill>
            </a:ln>
          </c:spPr>
          <c:cat>
            <c:strRef>
              <c:f>Sheet1!$A$2:$A$5</c:f>
              <c:strCache>
                <c:ptCount val="4"/>
                <c:pt idx="0">
                  <c:v>30 sec</c:v>
                </c:pt>
                <c:pt idx="1">
                  <c:v>60 sec</c:v>
                </c:pt>
                <c:pt idx="2">
                  <c:v>300 sec</c:v>
                </c:pt>
                <c:pt idx="3">
                  <c:v>900 sec</c:v>
                </c:pt>
              </c:strCache>
            </c:strRef>
          </c:cat>
          <c:val>
            <c:numRef>
              <c:f>Sheet1!$B$2:$B$5</c:f>
              <c:numCache>
                <c:formatCode>0.0</c:formatCode>
                <c:ptCount val="4"/>
                <c:pt idx="0">
                  <c:v>10</c:v>
                </c:pt>
                <c:pt idx="1">
                  <c:v>8</c:v>
                </c:pt>
                <c:pt idx="2">
                  <c:v>4</c:v>
                </c:pt>
                <c:pt idx="3">
                  <c:v>2</c:v>
                </c:pt>
              </c:numCache>
            </c:numRef>
          </c:val>
          <c:smooth val="0"/>
        </c:ser>
        <c:ser>
          <c:idx val="1"/>
          <c:order val="1"/>
          <c:tx>
            <c:strRef>
              <c:f>Sheet1!$C$1</c:f>
              <c:strCache>
                <c:ptCount val="1"/>
                <c:pt idx="0">
                  <c:v>Resolver query load index</c:v>
                </c:pt>
              </c:strCache>
            </c:strRef>
          </c:tx>
          <c:spPr>
            <a:ln w="31750">
              <a:solidFill>
                <a:srgbClr val="10B981"/>
              </a:solidFill>
            </a:ln>
          </c:spPr>
          <c:cat>
            <c:strRef>
              <c:f>Sheet1!$A$2:$A$5</c:f>
              <c:strCache>
                <c:ptCount val="4"/>
                <c:pt idx="0">
                  <c:v>30 sec</c:v>
                </c:pt>
                <c:pt idx="1">
                  <c:v>60 sec</c:v>
                </c:pt>
                <c:pt idx="2">
                  <c:v>300 sec</c:v>
                </c:pt>
                <c:pt idx="3">
                  <c:v>900 sec</c:v>
                </c:pt>
              </c:strCache>
            </c:strRef>
          </c:cat>
          <c:val>
            <c:numRef>
              <c:f>Sheet1!$C$2:$C$5</c:f>
              <c:numCache>
                <c:formatCode>0.0</c:formatCode>
                <c:ptCount val="4"/>
                <c:pt idx="0">
                  <c:v>10</c:v>
                </c:pt>
                <c:pt idx="1">
                  <c:v>7</c:v>
                </c:pt>
                <c:pt idx="2">
                  <c:v>3</c:v>
                </c:pt>
                <c:pt idx="3">
                  <c:v>1</c:v>
                </c:pt>
              </c:numCache>
            </c:numRef>
          </c:val>
          <c:smooth val="0"/>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b"/>
      <c:layout/>
      <c:overlay val="0"/>
      <c:txPr>
        <a:bodyPr/>
        <a:lstStyle/>
        <a:p>
          <a:pPr>
            <a:defRPr sz="1100"/>
          </a:pPr>
        </a:p>
      </c:txPr>
    </c:legend>
    <c:plotVisOnly val="1"/>
    <c:dispBlanksAs val="gap"/>
    <c:showDLblsOverMax val="0"/>
  </c:chart>
  <c:txPr>
    <a:bodyPr/>
    <a:lstStyle/>
    <a:p>
      <a:pPr>
        <a:defRPr sz="1200">
          <a:solidFill>
            <a:srgbClr val="161B26"/>
          </a:solidFill>
          <a:latin typeface="Arial"/>
        </a:defRPr>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p95 latency (ms)</c:v>
                </c:pt>
              </c:strCache>
            </c:strRef>
          </c:tx>
          <c:spPr>
            <a:solidFill>
              <a:srgbClr val="1F6FEB"/>
            </a:solidFill>
          </c:spPr>
          <c:cat>
            <c:strRef>
              <c:f>Sheet1!$A$2:$A$6</c:f>
              <c:strCache>
                <c:ptCount val="5"/>
                <c:pt idx="0">
                  <c:v>DNS</c:v>
                </c:pt>
                <c:pt idx="1">
                  <c:v>Edge</c:v>
                </c:pt>
                <c:pt idx="2">
                  <c:v>Load balancer</c:v>
                </c:pt>
                <c:pt idx="3">
                  <c:v>Application</c:v>
                </c:pt>
                <c:pt idx="4">
                  <c:v>Database</c:v>
                </c:pt>
              </c:strCache>
            </c:strRef>
          </c:cat>
          <c:val>
            <c:numRef>
              <c:f>Sheet1!$B$2:$B$6</c:f>
              <c:numCache>
                <c:formatCode>0.0</c:formatCode>
                <c:ptCount val="5"/>
                <c:pt idx="0">
                  <c:v>18</c:v>
                </c:pt>
                <c:pt idx="1">
                  <c:v>34</c:v>
                </c:pt>
                <c:pt idx="2">
                  <c:v>22</c:v>
                </c:pt>
                <c:pt idx="3">
                  <c:v>96</c:v>
                </c:pt>
                <c:pt idx="4">
                  <c:v>61</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Relative IOPS</c:v>
                </c:pt>
              </c:strCache>
            </c:strRef>
          </c:tx>
          <c:spPr>
            <a:solidFill>
              <a:srgbClr val="1F6FEB"/>
            </a:solidFill>
          </c:spPr>
          <c:cat>
            <c:strRef>
              <c:f>Sheet1!$A$2:$A$5</c:f>
              <c:strCache>
                <c:ptCount val="4"/>
                <c:pt idx="0">
                  <c:v>gp3 baseline</c:v>
                </c:pt>
                <c:pt idx="1">
                  <c:v>gp3 tuned</c:v>
                </c:pt>
                <c:pt idx="2">
                  <c:v>io2</c:v>
                </c:pt>
                <c:pt idx="3">
                  <c:v>st1</c:v>
                </c:pt>
              </c:strCache>
            </c:strRef>
          </c:cat>
          <c:val>
            <c:numRef>
              <c:f>Sheet1!$B$2:$B$5</c:f>
              <c:numCache>
                <c:formatCode>0.0</c:formatCode>
                <c:ptCount val="4"/>
                <c:pt idx="0">
                  <c:v>3</c:v>
                </c:pt>
                <c:pt idx="1">
                  <c:v>8</c:v>
                </c:pt>
                <c:pt idx="2">
                  <c:v>10</c:v>
                </c:pt>
                <c:pt idx="3">
                  <c:v>1</c:v>
                </c:pt>
              </c:numCache>
            </c:numRef>
          </c:val>
        </c:ser>
        <c:ser>
          <c:idx val="1"/>
          <c:order val="1"/>
          <c:tx>
            <c:strRef>
              <c:f>Sheet1!$C$1</c:f>
              <c:strCache>
                <c:ptCount val="1"/>
                <c:pt idx="0">
                  <c:v>Relative throughput</c:v>
                </c:pt>
              </c:strCache>
            </c:strRef>
          </c:tx>
          <c:spPr>
            <a:solidFill>
              <a:srgbClr val="10B981"/>
            </a:solidFill>
          </c:spPr>
          <c:cat>
            <c:strRef>
              <c:f>Sheet1!$A$2:$A$5</c:f>
              <c:strCache>
                <c:ptCount val="4"/>
                <c:pt idx="0">
                  <c:v>gp3 baseline</c:v>
                </c:pt>
                <c:pt idx="1">
                  <c:v>gp3 tuned</c:v>
                </c:pt>
                <c:pt idx="2">
                  <c:v>io2</c:v>
                </c:pt>
                <c:pt idx="3">
                  <c:v>st1</c:v>
                </c:pt>
              </c:strCache>
            </c:strRef>
          </c:cat>
          <c:val>
            <c:numRef>
              <c:f>Sheet1!$C$2:$C$5</c:f>
              <c:numCache>
                <c:formatCode>0.0</c:formatCode>
                <c:ptCount val="4"/>
                <c:pt idx="0">
                  <c:v>3</c:v>
                </c:pt>
                <c:pt idx="1">
                  <c:v>6</c:v>
                </c:pt>
                <c:pt idx="2">
                  <c:v>5</c:v>
                </c:pt>
                <c:pt idx="3">
                  <c:v>10</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Relative recovery speed</c:v>
                </c:pt>
              </c:strCache>
            </c:strRef>
          </c:tx>
          <c:spPr>
            <a:solidFill>
              <a:srgbClr val="1F6FEB"/>
            </a:solidFill>
          </c:spPr>
          <c:cat>
            <c:strRef>
              <c:f>Sheet1!$A$2:$A$6</c:f>
              <c:strCache>
                <c:ptCount val="5"/>
                <c:pt idx="0">
                  <c:v>EBS</c:v>
                </c:pt>
                <c:pt idx="1">
                  <c:v>EFS</c:v>
                </c:pt>
                <c:pt idx="2">
                  <c:v>RDS</c:v>
                </c:pt>
                <c:pt idx="3">
                  <c:v>Aurora</c:v>
                </c:pt>
                <c:pt idx="4">
                  <c:v>DynamoDB</c:v>
                </c:pt>
              </c:strCache>
            </c:strRef>
          </c:cat>
          <c:val>
            <c:numRef>
              <c:f>Sheet1!$B$2:$B$6</c:f>
              <c:numCache>
                <c:formatCode>0.0</c:formatCode>
                <c:ptCount val="5"/>
                <c:pt idx="0">
                  <c:v>6</c:v>
                </c:pt>
                <c:pt idx="1">
                  <c:v>7</c:v>
                </c:pt>
                <c:pt idx="2">
                  <c:v>8</c:v>
                </c:pt>
                <c:pt idx="3">
                  <c:v>9</c:v>
                </c:pt>
                <c:pt idx="4">
                  <c:v>9</c:v>
                </c:pt>
              </c:numCache>
            </c:numRef>
          </c:val>
        </c:ser>
        <c:ser>
          <c:idx val="1"/>
          <c:order val="1"/>
          <c:tx>
            <c:strRef>
              <c:f>Sheet1!$C$1</c:f>
              <c:strCache>
                <c:ptCount val="1"/>
                <c:pt idx="0">
                  <c:v>Operational complexity</c:v>
                </c:pt>
              </c:strCache>
            </c:strRef>
          </c:tx>
          <c:spPr>
            <a:solidFill>
              <a:srgbClr val="10B981"/>
            </a:solidFill>
          </c:spPr>
          <c:cat>
            <c:strRef>
              <c:f>Sheet1!$A$2:$A$6</c:f>
              <c:strCache>
                <c:ptCount val="5"/>
                <c:pt idx="0">
                  <c:v>EBS</c:v>
                </c:pt>
                <c:pt idx="1">
                  <c:v>EFS</c:v>
                </c:pt>
                <c:pt idx="2">
                  <c:v>RDS</c:v>
                </c:pt>
                <c:pt idx="3">
                  <c:v>Aurora</c:v>
                </c:pt>
                <c:pt idx="4">
                  <c:v>DynamoDB</c:v>
                </c:pt>
              </c:strCache>
            </c:strRef>
          </c:cat>
          <c:val>
            <c:numRef>
              <c:f>Sheet1!$C$2:$C$6</c:f>
              <c:numCache>
                <c:formatCode>0.0</c:formatCode>
                <c:ptCount val="5"/>
                <c:pt idx="0">
                  <c:v>5</c:v>
                </c:pt>
                <c:pt idx="1">
                  <c:v>4</c:v>
                </c:pt>
                <c:pt idx="2">
                  <c:v>6</c:v>
                </c:pt>
                <c:pt idx="3">
                  <c:v>7</c:v>
                </c:pt>
                <c:pt idx="4">
                  <c:v>5</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Baseline daily cost</c:v>
                </c:pt>
              </c:strCache>
            </c:strRef>
          </c:tx>
          <c:spPr>
            <a:solidFill>
              <a:srgbClr val="1F6FEB"/>
            </a:solidFill>
          </c:spPr>
          <c:cat>
            <c:strRef>
              <c:f>Sheet1!$A$2:$A$6</c:f>
              <c:strCache>
                <c:ptCount val="5"/>
                <c:pt idx="0">
                  <c:v>Compute</c:v>
                </c:pt>
                <c:pt idx="1">
                  <c:v>Storage</c:v>
                </c:pt>
                <c:pt idx="2">
                  <c:v>Data transfer</c:v>
                </c:pt>
                <c:pt idx="3">
                  <c:v>Database</c:v>
                </c:pt>
                <c:pt idx="4">
                  <c:v>Logging</c:v>
                </c:pt>
              </c:strCache>
            </c:strRef>
          </c:cat>
          <c:val>
            <c:numRef>
              <c:f>Sheet1!$B$2:$B$6</c:f>
              <c:numCache>
                <c:formatCode>0.0</c:formatCode>
                <c:ptCount val="5"/>
                <c:pt idx="0">
                  <c:v>220</c:v>
                </c:pt>
                <c:pt idx="1">
                  <c:v>90</c:v>
                </c:pt>
                <c:pt idx="2">
                  <c:v>45</c:v>
                </c:pt>
                <c:pt idx="3">
                  <c:v>130</c:v>
                </c:pt>
                <c:pt idx="4">
                  <c:v>25</c:v>
                </c:pt>
              </c:numCache>
            </c:numRef>
          </c:val>
        </c:ser>
        <c:ser>
          <c:idx val="1"/>
          <c:order val="1"/>
          <c:tx>
            <c:strRef>
              <c:f>Sheet1!$C$1</c:f>
              <c:strCache>
                <c:ptCount val="1"/>
                <c:pt idx="0">
                  <c:v>Observed daily cost</c:v>
                </c:pt>
              </c:strCache>
            </c:strRef>
          </c:tx>
          <c:spPr>
            <a:solidFill>
              <a:srgbClr val="10B981"/>
            </a:solidFill>
          </c:spPr>
          <c:cat>
            <c:strRef>
              <c:f>Sheet1!$A$2:$A$6</c:f>
              <c:strCache>
                <c:ptCount val="5"/>
                <c:pt idx="0">
                  <c:v>Compute</c:v>
                </c:pt>
                <c:pt idx="1">
                  <c:v>Storage</c:v>
                </c:pt>
                <c:pt idx="2">
                  <c:v>Data transfer</c:v>
                </c:pt>
                <c:pt idx="3">
                  <c:v>Database</c:v>
                </c:pt>
                <c:pt idx="4">
                  <c:v>Logging</c:v>
                </c:pt>
              </c:strCache>
            </c:strRef>
          </c:cat>
          <c:val>
            <c:numRef>
              <c:f>Sheet1!$C$2:$C$6</c:f>
              <c:numCache>
                <c:formatCode>0.0</c:formatCode>
                <c:ptCount val="5"/>
                <c:pt idx="0">
                  <c:v>235</c:v>
                </c:pt>
                <c:pt idx="1">
                  <c:v>92</c:v>
                </c:pt>
                <c:pt idx="2">
                  <c:v>180</c:v>
                </c:pt>
                <c:pt idx="3">
                  <c:v>135</c:v>
                </c:pt>
                <c:pt idx="4">
                  <c:v>70</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61B26"/>
          </a:solidFill>
          <a:latin typeface="Arial"/>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Elapsed minutes</c:v>
                </c:pt>
              </c:strCache>
            </c:strRef>
          </c:tx>
          <c:spPr>
            <a:ln w="31750">
              <a:solidFill>
                <a:srgbClr val="1F6FEB"/>
              </a:solidFill>
            </a:ln>
          </c:spPr>
          <c:cat>
            <c:strRef>
              <c:f>Sheet1!$A$2:$A$7</c:f>
              <c:strCache>
                <c:ptCount val="6"/>
                <c:pt idx="0">
                  <c:v>Detect</c:v>
                </c:pt>
                <c:pt idx="1">
                  <c:v>Triage</c:v>
                </c:pt>
                <c:pt idx="2">
                  <c:v>Contain</c:v>
                </c:pt>
                <c:pt idx="3">
                  <c:v>Recover</c:v>
                </c:pt>
                <c:pt idx="4">
                  <c:v>Verify</c:v>
                </c:pt>
                <c:pt idx="5">
                  <c:v>Review</c:v>
                </c:pt>
              </c:strCache>
            </c:strRef>
          </c:cat>
          <c:val>
            <c:numRef>
              <c:f>Sheet1!$B$2:$B$7</c:f>
              <c:numCache>
                <c:formatCode>0.0</c:formatCode>
                <c:ptCount val="6"/>
                <c:pt idx="0">
                  <c:v>2</c:v>
                </c:pt>
                <c:pt idx="1">
                  <c:v>8</c:v>
                </c:pt>
                <c:pt idx="2">
                  <c:v>17</c:v>
                </c:pt>
                <c:pt idx="3">
                  <c:v>34</c:v>
                </c:pt>
                <c:pt idx="4">
                  <c:v>46</c:v>
                </c:pt>
                <c:pt idx="5">
                  <c:v>120</c:v>
                </c:pt>
              </c:numCache>
            </c:numRef>
          </c:val>
          <c:smooth val="0"/>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jpg"/></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ws-sysops-cover-hero.png"/>
          <p:cNvPicPr>
            <a:picLocks noChangeAspect="1"/>
          </p:cNvPicPr>
          <p:nvPr/>
        </p:nvPicPr>
        <p:blipFill>
          <a:blip r:embed="rId2"/>
          <a:stretch>
            <a:fillRect/>
          </a:stretch>
        </p:blipFill>
        <p:spPr>
          <a:xfrm>
            <a:off x="0" y="0"/>
            <a:ext cx="12191695" cy="6858000"/>
          </a:xfrm>
          <a:prstGeom prst="rect">
            <a:avLst/>
          </a:prstGeom>
        </p:spPr>
      </p:pic>
      <p:sp>
        <p:nvSpPr>
          <p:cNvPr id="4" name="Rectangle 3"/>
          <p:cNvSpPr/>
          <p:nvPr/>
        </p:nvSpPr>
        <p:spPr>
          <a:xfrm>
            <a:off x="0" y="0"/>
            <a:ext cx="653796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rtiary-infotech-logo.png"/>
          <p:cNvPicPr>
            <a:picLocks noChangeAspect="1"/>
          </p:cNvPicPr>
          <p:nvPr/>
        </p:nvPicPr>
        <p:blipFill>
          <a:blip r:embed="rId3"/>
          <a:stretch>
            <a:fillRect/>
          </a:stretch>
        </p:blipFill>
        <p:spPr>
          <a:xfrm>
            <a:off x="777240" y="640080"/>
            <a:ext cx="960120" cy="960120"/>
          </a:xfrm>
          <a:prstGeom prst="rect">
            <a:avLst/>
          </a:prstGeom>
        </p:spPr>
      </p:pic>
      <p:sp>
        <p:nvSpPr>
          <p:cNvPr id="8" name="TextBox 7"/>
          <p:cNvSpPr txBox="1"/>
          <p:nvPr/>
        </p:nvSpPr>
        <p:spPr>
          <a:xfrm>
            <a:off x="822960" y="1874519"/>
            <a:ext cx="5440680" cy="45720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9" name="TextBox 8"/>
          <p:cNvSpPr txBox="1"/>
          <p:nvPr/>
        </p:nvSpPr>
        <p:spPr>
          <a:xfrm>
            <a:off x="822960" y="2331720"/>
            <a:ext cx="5440680" cy="1554480"/>
          </a:xfrm>
          <a:prstGeom prst="rect">
            <a:avLst/>
          </a:prstGeom>
          <a:noFill/>
        </p:spPr>
        <p:txBody>
          <a:bodyPr wrap="square" anchor="t">
            <a:spAutoFit/>
          </a:bodyPr>
          <a:lstStyle/>
          <a:p>
            <a:pPr algn="l">
              <a:spcAft>
                <a:spcPts val="400"/>
              </a:spcAft>
            </a:pPr>
            <a:r>
              <a:rPr sz="3800" b="1">
                <a:solidFill>
                  <a:srgbClr val="161B26"/>
                </a:solidFill>
                <a:latin typeface="Arial"/>
              </a:rPr>
              <a:t>AWS Certified SysOps Administrator Associate Training</a:t>
            </a:r>
          </a:p>
        </p:txBody>
      </p:sp>
      <p:sp>
        <p:nvSpPr>
          <p:cNvPr id="10" name="Rectangle 9"/>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617720"/>
            <a:ext cx="5440680" cy="114300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TGS-2024051413</a:t>
            </a:r>
          </a:p>
          <a:p>
            <a:pPr algn="l">
              <a:spcAft>
                <a:spcPts val="600"/>
              </a:spcAft>
            </a:pPr>
            <a:r>
              <a:rPr sz="1400" b="0">
                <a:solidFill>
                  <a:srgbClr val="5B6372"/>
                </a:solidFill>
                <a:latin typeface="Arial"/>
              </a:rPr>
              <a:t>Conducted by Tertiary Infotech Academy Pte Ltd  ·  UEN 201200696W</a:t>
            </a:r>
          </a:p>
        </p:txBody>
      </p:sp>
      <p:sp>
        <p:nvSpPr>
          <p:cNvPr id="12" name="TextBox 11"/>
          <p:cNvSpPr txBox="1"/>
          <p:nvPr/>
        </p:nvSpPr>
        <p:spPr>
          <a:xfrm>
            <a:off x="822960" y="5806440"/>
            <a:ext cx="5440680" cy="365760"/>
          </a:xfrm>
          <a:prstGeom prst="rect">
            <a:avLst/>
          </a:prstGeom>
          <a:noFill/>
        </p:spPr>
        <p:txBody>
          <a:bodyPr wrap="square" anchor="t">
            <a:spAutoFit/>
          </a:bodyPr>
          <a:lstStyle/>
          <a:p>
            <a:pPr algn="l">
              <a:spcAft>
                <a:spcPts val="400"/>
              </a:spcAft>
            </a:pPr>
            <a:r>
              <a:rPr sz="1200" b="0">
                <a:solidFill>
                  <a:srgbClr val="5B6372"/>
                </a:solidFill>
                <a:latin typeface="Arial"/>
              </a:rPr>
              <a:t>Version v6.0  ·  23 August 2026</a:t>
            </a:r>
          </a:p>
        </p:txBody>
      </p:sp>
      <p:sp>
        <p:nvSpPr>
          <p:cNvPr id="13" name="TextBox 12"/>
          <p:cNvSpPr txBox="1"/>
          <p:nvPr/>
        </p:nvSpPr>
        <p:spPr>
          <a:xfrm>
            <a:off x="822960" y="6199632"/>
            <a:ext cx="544068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Course Orientation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Three days · 24 hours · 12 labs · 2 assessment hours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ADMIN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AM, PM and Assessment</a:t>
            </a:r>
          </a:p>
          <a:p>
            <a:pPr algn="l">
              <a:spcAft>
                <a:spcPts val="300"/>
              </a:spcAft>
            </a:pPr>
            <a:r>
              <a:rPr sz="1300" b="0">
                <a:solidFill>
                  <a:srgbClr val="5B6372"/>
                </a:solidFill>
                <a:latin typeface="Arial"/>
              </a:rPr>
              <a:t>Complete every required SSG digital attendance and wait for confirmation.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Trainer displays the QR</a:t>
            </a:r>
          </a:p>
          <a:p>
            <a:pPr algn="l">
              <a:spcAft>
                <a:spcPts val="300"/>
              </a:spcAft>
            </a:pPr>
            <a:r>
              <a:rPr sz="1300" b="0">
                <a:solidFill>
                  <a:srgbClr val="5B6372"/>
                </a:solidFill>
                <a:latin typeface="Arial"/>
              </a:rPr>
              <a:t>Scan only the current session's QR code using your mobile camera.</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75% minimum</a:t>
            </a:r>
          </a:p>
          <a:p>
            <a:pPr algn="l">
              <a:spcAft>
                <a:spcPts val="300"/>
              </a:spcAft>
            </a:pPr>
            <a:r>
              <a:rPr sz="1300" b="0">
                <a:solidFill>
                  <a:srgbClr val="5B6372"/>
                </a:solidFill>
                <a:latin typeface="Arial"/>
              </a:rPr>
              <a:t>Attendance and assessment requirements determine course-completion eligibility.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Evidence</a:t>
            </a:r>
          </a:p>
          <a:p>
            <a:pPr algn="l">
              <a:spcAft>
                <a:spcPts val="300"/>
              </a:spcAft>
            </a:pPr>
            <a:r>
              <a:rPr sz="1300" b="0">
                <a:solidFill>
                  <a:srgbClr val="5B6372"/>
                </a:solidFill>
                <a:latin typeface="Arial"/>
              </a:rPr>
              <a:t>Notify the trainer immediately if a submission does not confirm.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profile template</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2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2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2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200" b="1">
                <a:solidFill>
                  <a:srgbClr val="F59E0B"/>
                </a:solidFill>
                <a:latin typeface="Arial"/>
              </a:rPr>
              <a:t>AWS AND CLOUD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200" b="1">
                <a:solidFill>
                  <a:srgbClr val="1F6FEB"/>
                </a:solidFill>
                <a:latin typeface="Arial"/>
              </a:rPr>
              <a:t>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200" b="1">
                <a:solidFill>
                  <a:srgbClr val="10B981"/>
                </a:solidFill>
                <a:latin typeface="Arial"/>
              </a:rPr>
              <a:t>CONTACT</a:t>
            </a:r>
          </a:p>
          <a:p>
            <a:pPr algn="l">
              <a:spcAft>
                <a:spcPts val="300"/>
              </a:spcAft>
            </a:pPr>
            <a:r>
              <a:rPr sz="1400" b="0">
                <a:solidFill>
                  <a:srgbClr val="161B26"/>
                </a:solidFill>
                <a:latin typeface="Arial"/>
              </a:rPr>
              <a:t>personal information is optional</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Founder &amp; Chief Training Officer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200" b="1">
                <a:solidFill>
                  <a:srgbClr val="1F6FEB"/>
                </a:solidFill>
                <a:latin typeface="Arial"/>
              </a:rPr>
              <a:t>EXPERIENCE</a:t>
            </a:r>
          </a:p>
          <a:p>
            <a:pPr algn="l">
              <a:spcAft>
                <a:spcPts val="300"/>
              </a:spcAft>
            </a:pPr>
            <a:r>
              <a:rPr sz="1400" b="0">
                <a:solidFill>
                  <a:srgbClr val="161B26"/>
                </a:solidFill>
                <a:latin typeface="Arial"/>
              </a:rPr>
              <a:t>More than 20 years across software engineering, AI, data analytics and cloud computing.</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200" b="1">
                <a:solidFill>
                  <a:srgbClr val="10B981"/>
                </a:solidFill>
                <a:latin typeface="Arial"/>
              </a:rPr>
              <a:t>QUALIFICATIONS</a:t>
            </a:r>
          </a:p>
          <a:p>
            <a:pPr algn="l">
              <a:spcAft>
                <a:spcPts val="300"/>
              </a:spcAft>
            </a:pPr>
            <a:r>
              <a:rPr sz="1400" b="0">
                <a:solidFill>
                  <a:srgbClr val="161B26"/>
                </a:solidFill>
                <a:latin typeface="Arial"/>
              </a:rPr>
              <a:t>PhD (NUS), DACE, ACTA and GCWLP among professional credentials.</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200" b="1">
                <a:solidFill>
                  <a:srgbClr val="7C3AED"/>
                </a:solidFill>
                <a:latin typeface="Arial"/>
              </a:rPr>
              <a:t>COURSE FOCUS</a:t>
            </a:r>
          </a:p>
          <a:p>
            <a:pPr algn="l">
              <a:spcAft>
                <a:spcPts val="300"/>
              </a:spcAft>
            </a:pPr>
            <a:r>
              <a:rPr sz="1400" b="0">
                <a:solidFill>
                  <a:srgbClr val="161B26"/>
                </a:solidFill>
                <a:latin typeface="Arial"/>
              </a:rPr>
              <a:t>AWS observability, automation, resilience, security and evidence-led operations.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200" b="1">
                <a:solidFill>
                  <a:srgbClr val="F59E0B"/>
                </a:solidFill>
                <a:latin typeface="Arial"/>
              </a:rPr>
              <a:t>TEACHING APPROACH</a:t>
            </a:r>
          </a:p>
          <a:p>
            <a:pPr algn="l">
              <a:spcAft>
                <a:spcPts val="300"/>
              </a:spcAft>
            </a:pPr>
            <a:r>
              <a:rPr sz="1400" b="0">
                <a:solidFill>
                  <a:srgbClr val="161B26"/>
                </a:solidFill>
                <a:latin typeface="Arial"/>
              </a:rPr>
              <a:t>Connects architecture choices to measurable service outcomes and controlled change.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Introduce</a:t>
            </a:r>
          </a:p>
          <a:p>
            <a:pPr algn="l">
              <a:spcAft>
                <a:spcPts val="300"/>
              </a:spcAft>
            </a:pPr>
            <a:r>
              <a:rPr sz="1400" b="0">
                <a:solidFill>
                  <a:srgbClr val="5B6372"/>
                </a:solidFill>
                <a:latin typeface="Arial"/>
              </a:rPr>
              <a:t>Share your name, organisation and role.</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Experience</a:t>
            </a:r>
          </a:p>
          <a:p>
            <a:pPr algn="l">
              <a:spcAft>
                <a:spcPts val="300"/>
              </a:spcAft>
            </a:pPr>
            <a:r>
              <a:rPr sz="1400" b="0">
                <a:solidFill>
                  <a:srgbClr val="5B6372"/>
                </a:solidFill>
                <a:latin typeface="Arial"/>
              </a:rPr>
              <a:t>Name one cloud service you have operated or supported.</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Aim</a:t>
            </a:r>
          </a:p>
          <a:p>
            <a:pPr algn="l">
              <a:spcAft>
                <a:spcPts val="300"/>
              </a:spcAft>
            </a:pPr>
            <a:r>
              <a:rPr sz="1400" b="0">
                <a:solidFill>
                  <a:srgbClr val="5B6372"/>
                </a:solidFill>
                <a:latin typeface="Arial"/>
              </a:rPr>
              <a:t>Choose one outcome: stronger monitoring, recovery, automation, security or troubleshooting.</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SAFE CLOUD LEARNING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Participate</a:t>
            </a:r>
          </a:p>
          <a:p>
            <a:pPr algn="l">
              <a:spcAft>
                <a:spcPts val="300"/>
              </a:spcAft>
            </a:pPr>
            <a:r>
              <a:rPr sz="1300" b="0">
                <a:solidFill>
                  <a:srgbClr val="5B6372"/>
                </a:solidFill>
                <a:latin typeface="Arial"/>
              </a:rPr>
              <a:t>Ask, challenge and contribute evidence.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Respect</a:t>
            </a:r>
          </a:p>
          <a:p>
            <a:pPr algn="l">
              <a:spcAft>
                <a:spcPts val="300"/>
              </a:spcAft>
            </a:pPr>
            <a:r>
              <a:rPr sz="1300" b="0">
                <a:solidFill>
                  <a:srgbClr val="5B6372"/>
                </a:solidFill>
                <a:latin typeface="Arial"/>
              </a:rPr>
              <a:t>Critique the system or idea, not the person.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Protect access</a:t>
            </a:r>
          </a:p>
          <a:p>
            <a:pPr algn="l">
              <a:spcAft>
                <a:spcPts val="300"/>
              </a:spcAft>
            </a:pPr>
            <a:r>
              <a:rPr sz="1300" b="0">
                <a:solidFill>
                  <a:srgbClr val="5B6372"/>
                </a:solidFill>
                <a:latin typeface="Arial"/>
              </a:rPr>
              <a:t>Never share AWS passwords, access keys or account details.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Bound risk</a:t>
            </a:r>
          </a:p>
          <a:p>
            <a:pPr algn="l">
              <a:spcAft>
                <a:spcPts val="300"/>
              </a:spcAft>
            </a:pPr>
            <a:r>
              <a:rPr sz="1300" b="0">
                <a:solidFill>
                  <a:srgbClr val="5B6372"/>
                </a:solidFill>
                <a:latin typeface="Arial"/>
              </a:rPr>
              <a:t>Use learner-owned resources and the trainer-approved Region.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 punctual</a:t>
            </a:r>
          </a:p>
          <a:p>
            <a:pPr algn="l">
              <a:spcAft>
                <a:spcPts val="300"/>
              </a:spcAft>
            </a:pPr>
            <a:r>
              <a:rPr sz="1300" b="0">
                <a:solidFill>
                  <a:srgbClr val="5B6372"/>
                </a:solidFill>
                <a:latin typeface="Arial"/>
              </a:rPr>
              <a:t>Return on time and complete attendance.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Clean up</a:t>
            </a:r>
          </a:p>
          <a:p>
            <a:pPr algn="l">
              <a:spcAft>
                <a:spcPts val="300"/>
              </a:spcAft>
            </a:pPr>
            <a:r>
              <a:rPr sz="1300" b="0">
                <a:solidFill>
                  <a:srgbClr val="5B6372"/>
                </a:solidFill>
                <a:latin typeface="Arial"/>
              </a:rPr>
              <a:t>Verify deletion of chargeable resources after every lab.</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VISUAL DOWNLOAD FLOW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400" b="1">
                <a:solidFill>
                  <a:srgbClr val="161B26"/>
                </a:solidFill>
                <a:latin typeface="Arial"/>
              </a:rPr>
              <a:t>Open LMS-TMS</a:t>
            </a:r>
          </a:p>
        </p:txBody>
      </p:sp>
      <p:sp>
        <p:nvSpPr>
          <p:cNvPr id="12" name="TextBox 11"/>
          <p:cNvSpPr txBox="1"/>
          <p:nvPr/>
        </p:nvSpPr>
        <p:spPr>
          <a:xfrm>
            <a:off x="868680" y="3785616"/>
            <a:ext cx="2187702" cy="384048"/>
          </a:xfrm>
          <a:prstGeom prst="rect">
            <a:avLst/>
          </a:prstGeom>
          <a:noFill/>
        </p:spPr>
        <p:txBody>
          <a:bodyPr wrap="square" anchor="ctr">
            <a:spAutoFit/>
          </a:bodyPr>
          <a:lstStyle/>
          <a:p>
            <a:pPr algn="ctr">
              <a:spcAft>
                <a:spcPts val="0"/>
              </a:spcAft>
            </a:pPr>
            <a:r>
              <a:rPr sz="1200" b="0">
                <a:solidFill>
                  <a:srgbClr val="5B6372"/>
                </a:solidFill>
                <a:latin typeface="Arial"/>
              </a:rPr>
              <a:t>Course portal</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400" b="1">
                <a:solidFill>
                  <a:srgbClr val="161B26"/>
                </a:solidFill>
                <a:latin typeface="Arial"/>
              </a:rPr>
              <a:t>Sign in</a:t>
            </a:r>
          </a:p>
        </p:txBody>
      </p:sp>
      <p:sp>
        <p:nvSpPr>
          <p:cNvPr id="19" name="TextBox 18"/>
          <p:cNvSpPr txBox="1"/>
          <p:nvPr/>
        </p:nvSpPr>
        <p:spPr>
          <a:xfrm>
            <a:off x="3623310" y="3785616"/>
            <a:ext cx="2187702" cy="384048"/>
          </a:xfrm>
          <a:prstGeom prst="rect">
            <a:avLst/>
          </a:prstGeom>
          <a:noFill/>
        </p:spPr>
        <p:txBody>
          <a:bodyPr wrap="square" anchor="ctr">
            <a:spAutoFit/>
          </a:bodyPr>
          <a:lstStyle/>
          <a:p>
            <a:pPr algn="ctr">
              <a:spcAft>
                <a:spcPts val="0"/>
              </a:spcAft>
            </a:pPr>
            <a:r>
              <a:rPr sz="1200" b="0">
                <a:solidFill>
                  <a:srgbClr val="5B6372"/>
                </a:solidFill>
                <a:latin typeface="Arial"/>
              </a:rPr>
              <a:t>Registered email</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400" b="1">
                <a:solidFill>
                  <a:srgbClr val="161B26"/>
                </a:solidFill>
                <a:latin typeface="Arial"/>
              </a:rPr>
              <a:t>Open this course</a:t>
            </a:r>
          </a:p>
        </p:txBody>
      </p:sp>
      <p:sp>
        <p:nvSpPr>
          <p:cNvPr id="26" name="TextBox 25"/>
          <p:cNvSpPr txBox="1"/>
          <p:nvPr/>
        </p:nvSpPr>
        <p:spPr>
          <a:xfrm>
            <a:off x="6377940" y="3785616"/>
            <a:ext cx="2187702" cy="384048"/>
          </a:xfrm>
          <a:prstGeom prst="rect">
            <a:avLst/>
          </a:prstGeom>
          <a:noFill/>
        </p:spPr>
        <p:txBody>
          <a:bodyPr wrap="square" anchor="ctr">
            <a:spAutoFit/>
          </a:bodyPr>
          <a:lstStyle/>
          <a:p>
            <a:pPr algn="ctr">
              <a:spcAft>
                <a:spcPts val="0"/>
              </a:spcAft>
            </a:pPr>
            <a:r>
              <a:rPr sz="1200" b="0">
                <a:solidFill>
                  <a:srgbClr val="5B6372"/>
                </a:solidFill>
                <a:latin typeface="Arial"/>
              </a:rPr>
              <a:t>AWS SysOps</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400" b="1">
                <a:solidFill>
                  <a:srgbClr val="161B26"/>
                </a:solidFill>
                <a:latin typeface="Arial"/>
              </a:rPr>
              <a:t>Download</a:t>
            </a:r>
          </a:p>
        </p:txBody>
      </p:sp>
      <p:sp>
        <p:nvSpPr>
          <p:cNvPr id="33" name="TextBox 32"/>
          <p:cNvSpPr txBox="1"/>
          <p:nvPr/>
        </p:nvSpPr>
        <p:spPr>
          <a:xfrm>
            <a:off x="9132570" y="3785616"/>
            <a:ext cx="2187702" cy="384048"/>
          </a:xfrm>
          <a:prstGeom prst="rect">
            <a:avLst/>
          </a:prstGeom>
          <a:noFill/>
        </p:spPr>
        <p:txBody>
          <a:bodyPr wrap="square" anchor="ctr">
            <a:spAutoFit/>
          </a:bodyPr>
          <a:lstStyle/>
          <a:p>
            <a:pPr algn="ctr">
              <a:spcAft>
                <a:spcPts val="0"/>
              </a:spcAft>
            </a:pPr>
            <a:r>
              <a:rPr sz="1200" b="0">
                <a:solidFill>
                  <a:srgbClr val="5B6372"/>
                </a:solidFill>
                <a:latin typeface="Arial"/>
              </a:rPr>
              <a:t>Slides, LG, LP and Labs</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PROCEDURE BOUNDARY</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lab procedures are in the Learner Guide and the individual lab folders.</a:t>
            </a:r>
          </a:p>
        </p:txBody>
      </p:sp>
      <p:sp>
        <p:nvSpPr>
          <p:cNvPr id="75" name="TextBox 7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76" name="TextBox 7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22 HOURS DELIVERY · 2 HOURS ASSESSMENT · 4 LABS/DAY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Three 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1</a:t>
            </a:r>
          </a:p>
          <a:p>
            <a:pPr algn="l">
              <a:spcAft>
                <a:spcPts val="300"/>
              </a:spcAft>
            </a:pPr>
            <a:r>
              <a:rPr sz="1300" b="0">
                <a:solidFill>
                  <a:srgbClr val="5B6372"/>
                </a:solidFill>
                <a:latin typeface="Arial"/>
              </a:rPr>
              <a:t>Foundations, observability, EC2 and fleet operations · Labs 01–04</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2</a:t>
            </a:r>
          </a:p>
          <a:p>
            <a:pPr algn="l">
              <a:spcAft>
                <a:spcPts val="300"/>
              </a:spcAft>
            </a:pPr>
            <a:r>
              <a:rPr sz="1300" b="0">
                <a:solidFill>
                  <a:srgbClr val="5B6372"/>
                </a:solidFill>
                <a:latin typeface="Arial"/>
              </a:rPr>
              <a:t>Reliability, continuity, deployment automation and security · Labs 05–08</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Day 3</a:t>
            </a:r>
          </a:p>
          <a:p>
            <a:pPr algn="l">
              <a:spcAft>
                <a:spcPts val="300"/>
              </a:spcAft>
            </a:pPr>
            <a:r>
              <a:rPr sz="1300" b="0">
                <a:solidFill>
                  <a:srgbClr val="5B6372"/>
                </a:solidFill>
                <a:latin typeface="Arial"/>
              </a:rPr>
              <a:t>Networking, data operations, integrated troubleshooting and assessment · Labs 09–12</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Assessment</a:t>
            </a:r>
          </a:p>
          <a:p>
            <a:pPr algn="l">
              <a:spcAft>
                <a:spcPts val="300"/>
              </a:spcAft>
            </a:pPr>
            <a:r>
              <a:rPr sz="1300" b="0">
                <a:solidFill>
                  <a:srgbClr val="5B6372"/>
                </a:solidFill>
                <a:latin typeface="Arial"/>
              </a:rPr>
              <a:t>WA-SAQ: 60 min · Case Study: 60 min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 WILL BE ABLE TO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200" b="0">
                <a:solidFill>
                  <a:srgbClr val="5B6372"/>
                </a:solidFill>
                <a:latin typeface="Arial"/>
              </a:rPr>
              <a:t>Maintain business continuity of AWS cloud operations to ensure stable service delivery.</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200" b="0">
                <a:solidFill>
                  <a:srgbClr val="5B6372"/>
                </a:solidFill>
                <a:latin typeface="Arial"/>
              </a:rPr>
              <a:t>Implement secure AWS cloud infrastructure setup such as data loading and performance monitoring.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200" b="0">
                <a:solidFill>
                  <a:srgbClr val="5B6372"/>
                </a:solidFill>
                <a:latin typeface="Arial"/>
              </a:rPr>
              <a:t>Apply service quality standards to ensure security and compliance of AWS cloud operations.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200" b="0">
                <a:solidFill>
                  <a:srgbClr val="5B6372"/>
                </a:solidFill>
                <a:latin typeface="Arial"/>
              </a:rPr>
              <a:t>Analyse and resolve processing issues to ensure continuity and disaster recovery in AWS cloud applications.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200" b="0">
                <a:solidFill>
                  <a:srgbClr val="5B6372"/>
                </a:solidFill>
                <a:latin typeface="Arial"/>
              </a:rPr>
              <a:t>Troubleshoot networking performance issues at scale for optimal AWS infrastructure operation.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Cloud Computing Application · LOG-TEM-3007-1.1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 —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K1</a:t>
            </a:r>
          </a:p>
          <a:p>
            <a:pPr algn="l">
              <a:spcAft>
                <a:spcPts val="300"/>
              </a:spcAft>
            </a:pPr>
            <a:r>
              <a:rPr sz="1200" b="0">
                <a:solidFill>
                  <a:srgbClr val="5B6372"/>
                </a:solidFill>
                <a:latin typeface="Arial"/>
              </a:rPr>
              <a:t>Cloud computing infrastructure components and technologies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K2</a:t>
            </a:r>
          </a:p>
          <a:p>
            <a:pPr algn="l">
              <a:spcAft>
                <a:spcPts val="300"/>
              </a:spcAft>
            </a:pPr>
            <a:r>
              <a:rPr sz="1200" b="0">
                <a:solidFill>
                  <a:srgbClr val="5B6372"/>
                </a:solidFill>
                <a:latin typeface="Arial"/>
              </a:rPr>
              <a:t>Installation, configuration and troubleshooting of cloud computing infrastructures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K3</a:t>
            </a:r>
          </a:p>
          <a:p>
            <a:pPr algn="l">
              <a:spcAft>
                <a:spcPts val="300"/>
              </a:spcAft>
            </a:pPr>
            <a:r>
              <a:rPr sz="1200" b="0">
                <a:solidFill>
                  <a:srgbClr val="5B6372"/>
                </a:solidFill>
                <a:latin typeface="Arial"/>
              </a:rPr>
              <a:t>Installation, configuration and troubleshooting of software packages supporting cloud computing infrastructures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K4</a:t>
            </a:r>
          </a:p>
          <a:p>
            <a:pPr algn="l">
              <a:spcAft>
                <a:spcPts val="300"/>
              </a:spcAft>
            </a:pPr>
            <a:r>
              <a:rPr sz="1200" b="0">
                <a:solidFill>
                  <a:srgbClr val="5B6372"/>
                </a:solidFill>
                <a:latin typeface="Arial"/>
              </a:rPr>
              <a:t>Design, configuration, maintenance and troubleshooting of cloud computing applications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K5</a:t>
            </a:r>
          </a:p>
          <a:p>
            <a:pPr algn="l">
              <a:spcAft>
                <a:spcPts val="300"/>
              </a:spcAft>
            </a:pPr>
            <a:r>
              <a:rPr sz="1200" b="0">
                <a:solidFill>
                  <a:srgbClr val="5B6372"/>
                </a:solidFill>
                <a:latin typeface="Arial"/>
              </a:rPr>
              <a:t>Virtualisation technologies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Cloud Computing Application · LOG-TEM-3007-1.1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A1</a:t>
            </a:r>
          </a:p>
          <a:p>
            <a:pPr algn="l">
              <a:spcAft>
                <a:spcPts val="300"/>
              </a:spcAft>
            </a:pPr>
            <a:r>
              <a:rPr sz="1200" b="0">
                <a:solidFill>
                  <a:srgbClr val="5B6372"/>
                </a:solidFill>
                <a:latin typeface="Arial"/>
              </a:rPr>
              <a:t>Implement data loading, security, performance monitoring and tuning, capacity planning, backup and recovery</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A2</a:t>
            </a:r>
          </a:p>
          <a:p>
            <a:pPr algn="l">
              <a:spcAft>
                <a:spcPts val="300"/>
              </a:spcAft>
            </a:pPr>
            <a:r>
              <a:rPr sz="1200" b="0">
                <a:solidFill>
                  <a:srgbClr val="5B6372"/>
                </a:solidFill>
                <a:latin typeface="Arial"/>
              </a:rPr>
              <a:t>Implement performance diagnostics and troubleshooting at scale in a live environment</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A3</a:t>
            </a:r>
          </a:p>
          <a:p>
            <a:pPr algn="l">
              <a:spcAft>
                <a:spcPts val="300"/>
              </a:spcAft>
            </a:pPr>
            <a:r>
              <a:rPr sz="1200" b="0">
                <a:solidFill>
                  <a:srgbClr val="5B6372"/>
                </a:solidFill>
                <a:latin typeface="Arial"/>
              </a:rPr>
              <a:t>Maintain availability and performance of cloud computing operations and ensure secure services with no unplanned downtime</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A4</a:t>
            </a:r>
          </a:p>
          <a:p>
            <a:pPr algn="l">
              <a:spcAft>
                <a:spcPts val="300"/>
              </a:spcAft>
            </a:pPr>
            <a:r>
              <a:rPr sz="1200" b="0">
                <a:solidFill>
                  <a:srgbClr val="5B6372"/>
                </a:solidFill>
                <a:latin typeface="Arial"/>
              </a:rPr>
              <a:t>Analyse processing issues and data anomalies and identify solutions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A5</a:t>
            </a:r>
          </a:p>
          <a:p>
            <a:pPr algn="l">
              <a:spcAft>
                <a:spcPts val="300"/>
              </a:spcAft>
            </a:pPr>
            <a:r>
              <a:rPr sz="1200" b="0">
                <a:solidFill>
                  <a:srgbClr val="5B6372"/>
                </a:solidFill>
                <a:latin typeface="Arial"/>
              </a:rPr>
              <a:t>Implement and release cloud computing operations changes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A6</a:t>
            </a:r>
          </a:p>
          <a:p>
            <a:pPr algn="l">
              <a:spcAft>
                <a:spcPts val="300"/>
              </a:spcAft>
            </a:pPr>
            <a:r>
              <a:rPr sz="1200" b="0">
                <a:solidFill>
                  <a:srgbClr val="5B6372"/>
                </a:solidFill>
                <a:latin typeface="Arial"/>
              </a:rPr>
              <a:t>Implement IT risk-management measures for business continuity and disaster recovery</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A7</a:t>
            </a:r>
          </a:p>
          <a:p>
            <a:pPr algn="l">
              <a:spcAft>
                <a:spcPts val="300"/>
              </a:spcAft>
            </a:pPr>
            <a:r>
              <a:rPr sz="1200" b="0">
                <a:solidFill>
                  <a:srgbClr val="5B6372"/>
                </a:solidFill>
                <a:latin typeface="Arial"/>
              </a:rPr>
              <a:t>Implement service-quality standards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CURRENT CLOUDOPS BLUEPRINT · 10 TOPICS · 12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01 · Cloud Operations Foundations</a:t>
            </a:r>
          </a:p>
          <a:p>
            <a:pPr algn="l">
              <a:spcAft>
                <a:spcPts val="300"/>
              </a:spcAft>
            </a:pPr>
            <a:r>
              <a:rPr sz="1200" b="0">
                <a:solidFill>
                  <a:srgbClr val="5B6372"/>
                </a:solidFill>
                <a:latin typeface="Arial"/>
              </a:rPr>
              <a:t>Shared responsibility · regions and zones · operational excellence · SOA-C03 transition</a:t>
            </a:r>
          </a:p>
        </p:txBody>
      </p:sp>
      <p:sp>
        <p:nvSpPr>
          <p:cNvPr id="12" name="Rectangle 11"/>
          <p:cNvSpPr/>
          <p:nvPr/>
        </p:nvSpPr>
        <p:spPr>
          <a:xfrm>
            <a:off x="6231636" y="178308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02 · Monitoring, Logging and Incident Response</a:t>
            </a:r>
          </a:p>
          <a:p>
            <a:pPr algn="l">
              <a:spcAft>
                <a:spcPts val="300"/>
              </a:spcAft>
            </a:pPr>
            <a:r>
              <a:rPr sz="1200" b="0">
                <a:solidFill>
                  <a:srgbClr val="5B6372"/>
                </a:solidFill>
                <a:latin typeface="Arial"/>
              </a:rPr>
              <a:t>CloudWatch · CloudTrail · EventBridge · alarms · anomaly detection · remediation</a:t>
            </a:r>
          </a:p>
        </p:txBody>
      </p:sp>
      <p:sp>
        <p:nvSpPr>
          <p:cNvPr id="17" name="Rectangle 16"/>
          <p:cNvSpPr/>
          <p:nvPr/>
        </p:nvSpPr>
        <p:spPr>
          <a:xfrm>
            <a:off x="777240"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03 · Compute, Virtualisation and Systems Management</a:t>
            </a:r>
          </a:p>
          <a:p>
            <a:pPr algn="l">
              <a:spcAft>
                <a:spcPts val="300"/>
              </a:spcAft>
            </a:pPr>
            <a:r>
              <a:rPr sz="1200" b="0">
                <a:solidFill>
                  <a:srgbClr val="5B6372"/>
                </a:solidFill>
                <a:latin typeface="Arial"/>
              </a:rPr>
              <a:t>EC2 lifecycle · AMIs · placement · Systems Manager · patching · Image Builder</a:t>
            </a:r>
          </a:p>
        </p:txBody>
      </p:sp>
      <p:sp>
        <p:nvSpPr>
          <p:cNvPr id="22" name="Rectangle 21"/>
          <p:cNvSpPr/>
          <p:nvPr/>
        </p:nvSpPr>
        <p:spPr>
          <a:xfrm>
            <a:off x="6231636" y="270479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04 · Reliability, Elasticity and High Availability</a:t>
            </a:r>
          </a:p>
          <a:p>
            <a:pPr algn="l">
              <a:spcAft>
                <a:spcPts val="300"/>
              </a:spcAft>
            </a:pPr>
            <a:r>
              <a:rPr sz="1200" b="0">
                <a:solidFill>
                  <a:srgbClr val="5B6372"/>
                </a:solidFill>
                <a:latin typeface="Arial"/>
              </a:rPr>
              <a:t>Elastic Load Balancing · Auto Scaling · health checks · containers · graceful degradation</a:t>
            </a:r>
          </a:p>
        </p:txBody>
      </p:sp>
      <p:sp>
        <p:nvSpPr>
          <p:cNvPr id="27" name="Rectangle 26"/>
          <p:cNvSpPr/>
          <p:nvPr/>
        </p:nvSpPr>
        <p:spPr>
          <a:xfrm>
            <a:off x="777240"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05 · Backup, Restore and Business Continuity</a:t>
            </a:r>
          </a:p>
          <a:p>
            <a:pPr algn="l">
              <a:spcAft>
                <a:spcPts val="300"/>
              </a:spcAft>
            </a:pPr>
            <a:r>
              <a:rPr sz="1200" b="0">
                <a:solidFill>
                  <a:srgbClr val="5B6372"/>
                </a:solidFill>
                <a:latin typeface="Arial"/>
              </a:rPr>
              <a:t>RTO/RPO · AWS Backup · snapshots · replication · pilot light · warm standby</a:t>
            </a:r>
          </a:p>
        </p:txBody>
      </p:sp>
      <p:sp>
        <p:nvSpPr>
          <p:cNvPr id="32" name="Rectangle 31"/>
          <p:cNvSpPr/>
          <p:nvPr/>
        </p:nvSpPr>
        <p:spPr>
          <a:xfrm>
            <a:off x="6231636" y="362651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06 · Deployment, Provisioning and Automation</a:t>
            </a:r>
          </a:p>
          <a:p>
            <a:pPr algn="l">
              <a:spcAft>
                <a:spcPts val="300"/>
              </a:spcAft>
            </a:pPr>
            <a:r>
              <a:rPr sz="1200" b="0">
                <a:solidFill>
                  <a:srgbClr val="5B6372"/>
                </a:solidFill>
                <a:latin typeface="Arial"/>
              </a:rPr>
              <a:t>CloudFormation · StackSets · change sets · drift · Systems Manager Automation · Git and IaC</a:t>
            </a:r>
          </a:p>
        </p:txBody>
      </p:sp>
      <p:sp>
        <p:nvSpPr>
          <p:cNvPr id="37" name="Rectangle 36"/>
          <p:cNvSpPr/>
          <p:nvPr/>
        </p:nvSpPr>
        <p:spPr>
          <a:xfrm>
            <a:off x="777240"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07 · Security, Identity and Compliance</a:t>
            </a:r>
          </a:p>
          <a:p>
            <a:pPr algn="l">
              <a:spcAft>
                <a:spcPts val="300"/>
              </a:spcAft>
            </a:pPr>
            <a:r>
              <a:rPr sz="1200" b="0">
                <a:solidFill>
                  <a:srgbClr val="5B6372"/>
                </a:solidFill>
                <a:latin typeface="Arial"/>
              </a:rPr>
              <a:t>IAM · Organizations · KMS · Config · Security Hub · GuardDuty · Inspector · Macie</a:t>
            </a:r>
          </a:p>
        </p:txBody>
      </p:sp>
      <p:sp>
        <p:nvSpPr>
          <p:cNvPr id="42" name="Rectangle 41"/>
          <p:cNvSpPr/>
          <p:nvPr/>
        </p:nvSpPr>
        <p:spPr>
          <a:xfrm>
            <a:off x="6231636" y="4548225"/>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08 · Networking, DNS and Content Delivery</a:t>
            </a:r>
          </a:p>
          <a:p>
            <a:pPr algn="l">
              <a:spcAft>
                <a:spcPts val="300"/>
              </a:spcAft>
            </a:pPr>
            <a:r>
              <a:rPr sz="1200" b="0">
                <a:solidFill>
                  <a:srgbClr val="5B6372"/>
                </a:solidFill>
                <a:latin typeface="Arial"/>
              </a:rPr>
              <a:t>VPC · routes · security groups · NACLs · endpoints · Route 53 · CloudFront</a:t>
            </a:r>
          </a:p>
        </p:txBody>
      </p:sp>
      <p:sp>
        <p:nvSpPr>
          <p:cNvPr id="47" name="Rectangle 46"/>
          <p:cNvSpPr/>
          <p:nvPr/>
        </p:nvSpPr>
        <p:spPr>
          <a:xfrm>
            <a:off x="777240"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09 · Storage, Data and Database Operations</a:t>
            </a:r>
          </a:p>
          <a:p>
            <a:pPr algn="l">
              <a:spcAft>
                <a:spcPts val="300"/>
              </a:spcAft>
            </a:pPr>
            <a:r>
              <a:rPr sz="1200" b="0">
                <a:solidFill>
                  <a:srgbClr val="5B6372"/>
                </a:solidFill>
                <a:latin typeface="Arial"/>
              </a:rPr>
              <a:t>S3 · EBS · EFS · RDS · DynamoDB · lifecycle · performance · data protection</a:t>
            </a:r>
          </a:p>
        </p:txBody>
      </p:sp>
      <p:sp>
        <p:nvSpPr>
          <p:cNvPr id="52" name="Rectangle 51"/>
          <p:cNvSpPr/>
          <p:nvPr/>
        </p:nvSpPr>
        <p:spPr>
          <a:xfrm>
            <a:off x="6231636" y="5469940"/>
            <a:ext cx="5180076"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400" b="1">
                <a:solidFill>
                  <a:srgbClr val="161B26"/>
                </a:solidFill>
                <a:latin typeface="Arial"/>
              </a:rPr>
              <a:t>Topic 10 · Performance, Cost and Integrated Troubleshooting</a:t>
            </a:r>
          </a:p>
          <a:p>
            <a:pPr algn="l">
              <a:spcAft>
                <a:spcPts val="300"/>
              </a:spcAft>
            </a:pPr>
            <a:r>
              <a:rPr sz="1200" b="0">
                <a:solidFill>
                  <a:srgbClr val="5B6372"/>
                </a:solidFill>
                <a:latin typeface="Arial"/>
              </a:rPr>
              <a:t>Bottleneck analysis · Cost Explorer · Trusted Advisor · runbooks · game days · capstone</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HANDS-ON CLOUD OPERATIONS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Lab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Learner account</a:t>
            </a:r>
          </a:p>
          <a:p>
            <a:pPr algn="l">
              <a:spcAft>
                <a:spcPts val="300"/>
              </a:spcAft>
            </a:pPr>
            <a:r>
              <a:rPr sz="1200" b="0">
                <a:solidFill>
                  <a:srgbClr val="5B6372"/>
                </a:solidFill>
                <a:latin typeface="Arial"/>
              </a:rPr>
              <a:t>Use only the account and Region authorised by the trainer.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AWS-native assets</a:t>
            </a:r>
          </a:p>
          <a:p>
            <a:pPr algn="l">
              <a:spcAft>
                <a:spcPts val="300"/>
              </a:spcAft>
            </a:pPr>
            <a:r>
              <a:rPr sz="1200" b="0">
                <a:solidFill>
                  <a:srgbClr val="5B6372"/>
                </a:solidFill>
                <a:latin typeface="Arial"/>
              </a:rPr>
              <a:t>Each folder includes editable YAML, JSON, CLI, shell or Python files.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Visual reference</a:t>
            </a:r>
          </a:p>
          <a:p>
            <a:pPr algn="l">
              <a:spcAft>
                <a:spcPts val="300"/>
              </a:spcAft>
            </a:pPr>
            <a:r>
              <a:rPr sz="1200" b="0">
                <a:solidFill>
                  <a:srgbClr val="5B6372"/>
                </a:solidFill>
                <a:latin typeface="Arial"/>
              </a:rPr>
              <a:t>Every lab includes an EXPECTED-ARCHITECTURE.jpg image.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Evidence</a:t>
            </a:r>
          </a:p>
          <a:p>
            <a:pPr algn="l">
              <a:spcAft>
                <a:spcPts val="300"/>
              </a:spcAft>
            </a:pPr>
            <a:r>
              <a:rPr sz="1200" b="0">
                <a:solidFill>
                  <a:srgbClr val="5B6372"/>
                </a:solidFill>
                <a:latin typeface="Arial"/>
              </a:rPr>
              <a:t>Retain outputs, decisions, verification and cleanup records.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Cost control</a:t>
            </a:r>
          </a:p>
          <a:p>
            <a:pPr algn="l">
              <a:spcAft>
                <a:spcPts val="300"/>
              </a:spcAft>
            </a:pPr>
            <a:r>
              <a:rPr sz="1200" b="0">
                <a:solidFill>
                  <a:srgbClr val="5B6372"/>
                </a:solidFill>
                <a:latin typeface="Arial"/>
              </a:rPr>
              <a:t>Use small resources, bounded tests and explicit cleanup.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Schedule</a:t>
            </a:r>
          </a:p>
          <a:p>
            <a:pPr algn="l">
              <a:spcAft>
                <a:spcPts val="300"/>
              </a:spcAft>
            </a:pPr>
            <a:r>
              <a:rPr sz="1200" b="0">
                <a:solidFill>
                  <a:srgbClr val="5B6372"/>
                </a:solidFill>
                <a:latin typeface="Arial"/>
              </a:rPr>
              <a:t>Exactly four labs are completed on each training day.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WA-SAQ + CASE STUDY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Briefing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Individual work</a:t>
            </a:r>
          </a:p>
          <a:p>
            <a:pPr algn="l">
              <a:spcAft>
                <a:spcPts val="300"/>
              </a:spcAft>
            </a:pPr>
            <a:r>
              <a:rPr sz="1200" b="0">
                <a:solidFill>
                  <a:srgbClr val="5B6372"/>
                </a:solidFill>
                <a:latin typeface="Arial"/>
              </a:rPr>
              <a:t>No discussion, recording or sharing of assessment scripts.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Open book</a:t>
            </a:r>
          </a:p>
          <a:p>
            <a:pPr algn="l">
              <a:spcAft>
                <a:spcPts val="300"/>
              </a:spcAft>
            </a:pPr>
            <a:r>
              <a:rPr sz="1200" b="0">
                <a:solidFill>
                  <a:srgbClr val="5B6372"/>
                </a:solidFill>
                <a:latin typeface="Arial"/>
              </a:rPr>
              <a:t>Use slides, Learner Guide and approved materials only.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Written Assessment</a:t>
            </a:r>
          </a:p>
          <a:p>
            <a:pPr algn="l">
              <a:spcAft>
                <a:spcPts val="300"/>
              </a:spcAft>
            </a:pPr>
            <a:r>
              <a:rPr sz="1200" b="0">
                <a:solidFill>
                  <a:srgbClr val="5B6372"/>
                </a:solidFill>
                <a:latin typeface="Arial"/>
              </a:rPr>
              <a:t>Five open-ended questions · K1–K5 · 60 minutes.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Case Study</a:t>
            </a:r>
          </a:p>
          <a:p>
            <a:pPr algn="l">
              <a:spcAft>
                <a:spcPts val="300"/>
              </a:spcAft>
            </a:pPr>
            <a:r>
              <a:rPr sz="1200" b="0">
                <a:solidFill>
                  <a:srgbClr val="5B6372"/>
                </a:solidFill>
                <a:latin typeface="Arial"/>
              </a:rPr>
              <a:t>Five connected tasks · A1–A7 · 60 minutes.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Submission</a:t>
            </a:r>
          </a:p>
          <a:p>
            <a:pPr algn="l">
              <a:spcAft>
                <a:spcPts val="300"/>
              </a:spcAft>
            </a:pPr>
            <a:r>
              <a:rPr sz="1200" b="0">
                <a:solidFill>
                  <a:srgbClr val="5B6372"/>
                </a:solidFill>
                <a:latin typeface="Arial"/>
              </a:rPr>
              <a:t>Complete and upload the candidate papers through LMS-TMS.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Outcome</a:t>
            </a:r>
          </a:p>
          <a:p>
            <a:pPr algn="l">
              <a:spcAft>
                <a:spcPts val="300"/>
              </a:spcAft>
            </a:pPr>
            <a:r>
              <a:rPr sz="1200" b="0">
                <a:solidFill>
                  <a:srgbClr val="5B6372"/>
                </a:solidFill>
                <a:latin typeface="Arial"/>
              </a:rPr>
              <a:t>Competent or Not Yet Competent; reassessment and appeal rights apply.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TRAQOM</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Course feedback</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Attendance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WA-SAQ</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5 questions · 60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Case Study</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5 tasks · 60 min</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Submit</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LMS-TMS and sign-off</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CONFIDENTIALITY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Candidate papers are learner-facing; answer keys remain trainer-only.</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AWS CERTIFIED CLOUDOPS ENGINEER — ASSOCIATE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Current SOA-C03 Exam Domain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F59E0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Three domains carry equal 22% weight; the course integrates all five through observability, controlled change, recovery and troubleshooting.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CURRENT AWS AUTHORITY · HTTPS://EXAMS.TERTIARYINFOTECH.COM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Certification Readiness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Current exam</a:t>
            </a:r>
          </a:p>
          <a:p>
            <a:pPr algn="l">
              <a:spcAft>
                <a:spcPts val="300"/>
              </a:spcAft>
            </a:pPr>
            <a:r>
              <a:rPr sz="1200" b="0">
                <a:solidFill>
                  <a:srgbClr val="5B6372"/>
                </a:solidFill>
                <a:latin typeface="Arial"/>
              </a:rPr>
              <a:t>AWS Certified CloudOps Engineer — Associate (SOA-C03).</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 format</a:t>
            </a:r>
          </a:p>
          <a:p>
            <a:pPr algn="l">
              <a:spcAft>
                <a:spcPts val="300"/>
              </a:spcAft>
            </a:pPr>
            <a:r>
              <a:rPr sz="1200" b="0">
                <a:solidFill>
                  <a:srgbClr val="5B6372"/>
                </a:solidFill>
                <a:latin typeface="Arial"/>
              </a:rPr>
              <a:t>65 questions · 130 minutes · scaled passing score 720.</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Role transition</a:t>
            </a:r>
          </a:p>
          <a:p>
            <a:pPr algn="l">
              <a:spcAft>
                <a:spcPts val="300"/>
              </a:spcAft>
            </a:pPr>
            <a:r>
              <a:rPr sz="1200" b="0">
                <a:solidFill>
                  <a:srgbClr val="5B6372"/>
                </a:solidFill>
                <a:latin typeface="Arial"/>
              </a:rPr>
              <a:t>The WSQ title remains SysOps; exam-readiness content follows the current CloudOps guide.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Practice Exam</a:t>
            </a:r>
          </a:p>
          <a:p>
            <a:pPr algn="l">
              <a:spcAft>
                <a:spcPts val="300"/>
              </a:spcAft>
            </a:pPr>
            <a:r>
              <a:rPr sz="1200" b="0">
                <a:solidFill>
                  <a:srgbClr val="5B6372"/>
                </a:solidFill>
                <a:latin typeface="Arial"/>
              </a:rPr>
              <a:t>Open exams.tertiaryinfotech.com and select the matching AWS CloudOps / SysOps practice exam; never use exam dumps.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Readiness loop</a:t>
            </a:r>
          </a:p>
          <a:p>
            <a:pPr algn="l">
              <a:spcAft>
                <a:spcPts val="300"/>
              </a:spcAft>
            </a:pPr>
            <a:r>
              <a:rPr sz="1200" b="0">
                <a:solidFill>
                  <a:srgbClr val="5B6372"/>
                </a:solidFill>
                <a:latin typeface="Arial"/>
              </a:rPr>
              <a:t>Explain the service choice, apply the labs, interpret evidence and justify recovery.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Scope</a:t>
            </a:r>
          </a:p>
          <a:p>
            <a:pPr algn="l">
              <a:spcAft>
                <a:spcPts val="300"/>
              </a:spcAft>
            </a:pPr>
            <a:r>
              <a:rPr sz="1200" b="0">
                <a:solidFill>
                  <a:srgbClr val="5B6372"/>
                </a:solidFill>
                <a:latin typeface="Arial"/>
              </a:rPr>
              <a:t>Current guide version 1.1, published 1 June 2026.</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VERSION v6.0 · 23 August 2026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Source and Version Authority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300" b="1">
                <a:solidFill>
                  <a:srgbClr val="161B26"/>
                </a:solidFill>
                <a:latin typeface="Arial"/>
              </a:rPr>
              <a:t>WSQ authority</a:t>
            </a:r>
          </a:p>
          <a:p>
            <a:pPr algn="l">
              <a:spcAft>
                <a:spcPts val="300"/>
              </a:spcAft>
            </a:pPr>
            <a:r>
              <a:rPr sz="1200" b="0">
                <a:solidFill>
                  <a:srgbClr val="5B6372"/>
                </a:solidFill>
                <a:latin typeface="Arial"/>
              </a:rPr>
              <a:t>Live Tertiary course page and Assessment Plan v5.0 — Course code, 24-hour duration, five LO, K1–K5, A1–A7 and WA+CS design.</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300" b="1">
                <a:solidFill>
                  <a:srgbClr val="161B26"/>
                </a:solidFill>
                <a:latin typeface="Arial"/>
              </a:rPr>
              <a:t>Legacy content</a:t>
            </a:r>
          </a:p>
          <a:p>
            <a:pPr algn="l">
              <a:spcAft>
                <a:spcPts val="300"/>
              </a:spcAft>
            </a:pPr>
            <a:r>
              <a:rPr sz="1200" b="0">
                <a:solidFill>
                  <a:srgbClr val="5B6372"/>
                </a:solidFill>
                <a:latin typeface="Arial"/>
              </a:rPr>
              <a:t>Reference v3/v4 PowerPoints and Drive Activities dataset — Preserved useful EC2, SSM, CloudFormation, storage, monitoring, security and networking coverage; procedures moved out of the deck.</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300" b="1">
                <a:solidFill>
                  <a:srgbClr val="161B26"/>
                </a:solidFill>
                <a:latin typeface="Arial"/>
              </a:rPr>
              <a:t>Certification authority</a:t>
            </a:r>
          </a:p>
          <a:p>
            <a:pPr algn="l">
              <a:spcAft>
                <a:spcPts val="300"/>
              </a:spcAft>
            </a:pPr>
            <a:r>
              <a:rPr sz="1200" b="0">
                <a:solidFill>
                  <a:srgbClr val="5B6372"/>
                </a:solidFill>
                <a:latin typeface="Arial"/>
              </a:rPr>
              <a:t>AWS Certified CloudOps Engineer - Associate SOA-C03 Exam Guide v1.1 — Current five-domain blueprint and scope, including containers, multi-account operations, automation and IaC.</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300" b="1">
                <a:solidFill>
                  <a:srgbClr val="161B26"/>
                </a:solidFill>
                <a:latin typeface="Arial"/>
              </a:rPr>
              <a:t>Architecture guidance</a:t>
            </a:r>
          </a:p>
          <a:p>
            <a:pPr algn="l">
              <a:spcAft>
                <a:spcPts val="300"/>
              </a:spcAft>
            </a:pPr>
            <a:r>
              <a:rPr sz="1200" b="0">
                <a:solidFill>
                  <a:srgbClr val="5B6372"/>
                </a:solidFill>
                <a:latin typeface="Arial"/>
              </a:rPr>
              <a:t>AWS Well-Architected Framework and official AWS service documentation — Operational excellence, security, reliability, performance, cost and sustainability practices.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300" b="1">
                <a:solidFill>
                  <a:srgbClr val="161B26"/>
                </a:solidFill>
                <a:latin typeface="Arial"/>
              </a:rPr>
              <a:t>Assessment authority</a:t>
            </a:r>
          </a:p>
          <a:p>
            <a:pPr algn="l">
              <a:spcAft>
                <a:spcPts val="300"/>
              </a:spcAft>
            </a:pPr>
            <a:r>
              <a:rPr sz="1200" b="0">
                <a:solidFill>
                  <a:srgbClr val="5B6372"/>
                </a:solidFill>
                <a:latin typeface="Arial"/>
              </a:rPr>
              <a:t>Drive-held WA/CS v2 papers and Assessment Plan v5.0 — Instrument type, five-item counts, 60-minute timings and controlled K/A coverage.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SOURCE INTEGRATION · TRACEABLE LEGACY SLIDE NUMBERS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the Original 927-Slide PPT Is Blended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Coverage authority</a:t>
            </a:r>
          </a:p>
          <a:p>
            <a:pPr algn="l">
              <a:spcAft>
                <a:spcPts val="300"/>
              </a:spcAft>
            </a:pPr>
            <a:r>
              <a:rPr sz="1200" b="0">
                <a:solidFill>
                  <a:srgbClr val="5B6372"/>
                </a:solidFill>
                <a:latin typeface="Arial"/>
              </a:rPr>
              <a:t>The original v4 deck supplies its broad EC2, SSM, scaling, CloudFormation, storage, database, monitoring, account, security, DNS and VPC coverage.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 visual treatment</a:t>
            </a:r>
          </a:p>
          <a:p>
            <a:pPr algn="l">
              <a:spcAft>
                <a:spcPts val="300"/>
              </a:spcAft>
            </a:pPr>
            <a:r>
              <a:rPr sz="1200" b="0">
                <a:solidFill>
                  <a:srgbClr val="5B6372"/>
                </a:solidFill>
                <a:latin typeface="Arial"/>
              </a:rPr>
              <a:t>Retained technical slides are rebuilt as layered cards, process visuals and diagram-plus-analysis layouts—not pasted as legacy bullet walls.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AWS authority</a:t>
            </a:r>
          </a:p>
          <a:p>
            <a:pPr algn="l">
              <a:spcAft>
                <a:spcPts val="300"/>
              </a:spcAft>
            </a:pPr>
            <a:r>
              <a:rPr sz="1200" b="0">
                <a:solidFill>
                  <a:srgbClr val="5B6372"/>
                </a:solidFill>
                <a:latin typeface="Arial"/>
              </a:rPr>
              <a:t>SOA-C03 and current AWS documentation govern terminology, operating practices and features; historical limits are explicitly treated as items to verify.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Console click paths, activities, quizzes and assessment pages are excluded. Detailed steps remain in the Learner Guide and the 12 lab folders.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 · LO1 · LO2 · K1 · K5 · A1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Cloud Operations Foundations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Shared responsibility · regions and zones · operational excellence · SOA-C03 transition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med" advClick="1">
    <p:push dir="l"/>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Foundation across all five SOA-C03 domains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Cloud Operations Foundations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Operate for outcomes</a:t>
            </a:r>
          </a:p>
          <a:p>
            <a:pPr algn="l">
              <a:spcAft>
                <a:spcPts val="300"/>
              </a:spcAft>
            </a:pPr>
            <a:r>
              <a:rPr sz="1200" b="0">
                <a:solidFill>
                  <a:srgbClr val="5B6372"/>
                </a:solidFill>
                <a:latin typeface="Arial"/>
              </a:rPr>
              <a:t>Availability, security, performance and cost are managed as measurable service outcomes.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Know the responsibility boundary</a:t>
            </a:r>
          </a:p>
          <a:p>
            <a:pPr algn="l">
              <a:spcAft>
                <a:spcPts val="300"/>
              </a:spcAft>
            </a:pPr>
            <a:r>
              <a:rPr sz="1200" b="0">
                <a:solidFill>
                  <a:srgbClr val="5B6372"/>
                </a:solidFill>
                <a:latin typeface="Arial"/>
              </a:rPr>
              <a:t>AWS secures the cloud; customers secure configurations, identities, data and workloads in the cloud.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Design for failure domains</a:t>
            </a:r>
          </a:p>
          <a:p>
            <a:pPr algn="l">
              <a:spcAft>
                <a:spcPts val="300"/>
              </a:spcAft>
            </a:pPr>
            <a:r>
              <a:rPr sz="1200" b="0">
                <a:solidFill>
                  <a:srgbClr val="5B6372"/>
                </a:solidFill>
                <a:latin typeface="Arial"/>
              </a:rPr>
              <a:t>Regions, Availability Zones and edge locations create distinct resilience and latency choices.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Use evidence before change</a:t>
            </a:r>
          </a:p>
          <a:p>
            <a:pPr algn="l">
              <a:spcAft>
                <a:spcPts val="300"/>
              </a:spcAft>
            </a:pPr>
            <a:r>
              <a:rPr sz="1200" b="0">
                <a:solidFill>
                  <a:srgbClr val="5B6372"/>
                </a:solidFill>
                <a:latin typeface="Arial"/>
              </a:rPr>
              <a:t>Metrics, logs, configuration history and events establish the operational baseline.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IMAGEGEN VISUAL · TOPIC 01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Operate Across Accounts and Regions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ws-multi-account-operations-v6.png"/>
          <p:cNvPicPr>
            <a:picLocks noChangeAspect="1"/>
          </p:cNvPicPr>
          <p:nvPr/>
        </p:nvPicPr>
        <p:blipFill>
          <a:blip r:embed="rId2"/>
          <a:stretch>
            <a:fillRect/>
          </a:stretch>
        </p:blipFill>
        <p:spPr>
          <a:xfrm>
            <a:off x="777240" y="1755648"/>
            <a:ext cx="7315200" cy="4370832"/>
          </a:xfrm>
          <a:prstGeom prst="rect">
            <a:avLst/>
          </a:prstGeom>
        </p:spPr>
      </p:pic>
      <p:sp>
        <p:nvSpPr>
          <p:cNvPr id="8" name="Rectangle 7"/>
          <p:cNvSpPr/>
          <p:nvPr/>
        </p:nvSpPr>
        <p:spPr>
          <a:xfrm>
            <a:off x="8366760" y="1755648"/>
            <a:ext cx="304495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66760" y="1755648"/>
            <a:ext cx="304495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80" y="2103120"/>
            <a:ext cx="2514600" cy="384048"/>
          </a:xfrm>
          <a:prstGeom prst="rect">
            <a:avLst/>
          </a:prstGeom>
          <a:noFill/>
        </p:spPr>
        <p:txBody>
          <a:bodyPr wrap="square" anchor="t">
            <a:spAutoFit/>
          </a:bodyPr>
          <a:lstStyle/>
          <a:p>
            <a:pPr algn="l">
              <a:spcAft>
                <a:spcPts val="400"/>
              </a:spcAft>
            </a:pPr>
            <a:r>
              <a:rPr sz="1300" b="1">
                <a:solidFill>
                  <a:srgbClr val="1F6FEB"/>
                </a:solidFill>
                <a:latin typeface="Arial"/>
              </a:rPr>
              <a:t>READ THE SYSTEM</a:t>
            </a:r>
          </a:p>
        </p:txBody>
      </p:sp>
      <p:sp>
        <p:nvSpPr>
          <p:cNvPr id="11" name="TextBox 10"/>
          <p:cNvSpPr txBox="1"/>
          <p:nvPr/>
        </p:nvSpPr>
        <p:spPr>
          <a:xfrm>
            <a:off x="8641080" y="2651760"/>
            <a:ext cx="2514600" cy="3063240"/>
          </a:xfrm>
          <a:prstGeom prst="rect">
            <a:avLst/>
          </a:prstGeom>
          <a:noFill/>
        </p:spPr>
        <p:txBody>
          <a:bodyPr wrap="square" anchor="ctr">
            <a:spAutoFit/>
          </a:bodyPr>
          <a:lstStyle/>
          <a:p>
            <a:pPr algn="l">
              <a:spcAft>
                <a:spcPts val="400"/>
              </a:spcAft>
            </a:pPr>
            <a:r>
              <a:rPr sz="1700" b="0">
                <a:solidFill>
                  <a:srgbClr val="161B26"/>
                </a:solidFill>
                <a:latin typeface="Arial"/>
              </a:rPr>
              <a:t>Read the scene as a governed operating model: isolated workload accounts, shared observability, policy, automation, regional resilience and human authority.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SysOps to CloudOps — What Changed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Area</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Legacy SOA-C02 emphasis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Current SOA-C03 emphasis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Role name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SysOps Administrator</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CloudOps Engineer</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Workloads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EC2-heavy operations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Compute, containers, serverless and hybrid operations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Scope</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Six broad domains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Five task-oriented domains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Automation</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AWS-native operations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IaC, Git and third-party automation are explicit</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200" b="1">
                <a:solidFill>
                  <a:srgbClr val="7C3AED"/>
                </a:solidFill>
                <a:latin typeface="Arial"/>
              </a:rPr>
              <a:t>WHEN IT MATTERS  </a:t>
            </a:r>
            <a:r>
              <a:rPr sz="1200" b="0">
                <a:solidFill>
                  <a:srgbClr val="161B26"/>
                </a:solidFill>
                <a:latin typeface="Arial"/>
              </a:rPr>
              <a:t>The WSQ course title and code remain unchanged; exam-readiness content follows the current SOA-C03 guide.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Cloud Operations Control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Observe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Signals and context</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Assess</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Impact and risk</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Decide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Runbook and authority</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Change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Small and reversible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Outcome and evidence</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Learn</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Prevent recurrence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PROFESSIONAL STANDARD</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operational change must have a reason, owner, verification signal and rollback path.</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Global Infrastructure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Region</a:t>
            </a:r>
          </a:p>
          <a:p>
            <a:pPr algn="l">
              <a:spcAft>
                <a:spcPts val="300"/>
              </a:spcAft>
            </a:pPr>
            <a:r>
              <a:rPr sz="1300" b="0">
                <a:solidFill>
                  <a:srgbClr val="5B6372"/>
                </a:solidFill>
                <a:latin typeface="Arial"/>
              </a:rPr>
              <a:t>Geographic boundary for sovereignty, latency and disaster-recovery decisions.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Availability Zone</a:t>
            </a:r>
          </a:p>
          <a:p>
            <a:pPr algn="l">
              <a:spcAft>
                <a:spcPts val="300"/>
              </a:spcAft>
            </a:pPr>
            <a:r>
              <a:rPr sz="1300" b="0">
                <a:solidFill>
                  <a:srgbClr val="5B6372"/>
                </a:solidFill>
                <a:latin typeface="Arial"/>
              </a:rPr>
              <a:t>Independent failure domain connected with low-latency networking.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Edge</a:t>
            </a:r>
          </a:p>
          <a:p>
            <a:pPr algn="l">
              <a:spcAft>
                <a:spcPts val="300"/>
              </a:spcAft>
            </a:pPr>
            <a:r>
              <a:rPr sz="1300" b="0">
                <a:solidFill>
                  <a:srgbClr val="5B6372"/>
                </a:solidFill>
                <a:latin typeface="Arial"/>
              </a:rPr>
              <a:t>CloudFront and Route 53 move delivery and routing closer to users.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Local and hybrid</a:t>
            </a:r>
          </a:p>
          <a:p>
            <a:pPr algn="l">
              <a:spcAft>
                <a:spcPts val="300"/>
              </a:spcAft>
            </a:pPr>
            <a:r>
              <a:rPr sz="1300" b="0">
                <a:solidFill>
                  <a:srgbClr val="5B6372"/>
                </a:solidFill>
                <a:latin typeface="Arial"/>
              </a:rPr>
              <a:t>Outposts, Local Zones and connected environments extend the operating boundary.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Availability Improves with Independent Failure Domains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More failure domains increase potential resilience only when dependencies, health checks and failover are also designed correctly.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Shared Responsibility by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AWS responsibility</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Customer responsibility</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Facilities and hardware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Physical security, hosts and core network</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Choose Regions and resilience strategy</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Managed service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Service infrastructure and platform</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Identity, configuration, data and use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EC2 workload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Underlying facilities and hypervisor</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Guest OS, patches, application and traffic controls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Data</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Durable service mechanisms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Classification, encryption, retention and access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K1 · K5 · A1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Well-Architected Operational Questions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Prepare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What must be observable?</a:t>
            </a:r>
          </a:p>
          <a:p>
            <a:pPr>
              <a:spcAft>
                <a:spcPts val="900"/>
              </a:spcAft>
            </a:pPr>
            <a:r>
              <a:rPr sz="1400" b="0">
                <a:solidFill>
                  <a:srgbClr val="161B26"/>
                </a:solidFill>
                <a:latin typeface="Arial"/>
              </a:rPr>
              <a:t>•  What runbooks and permissions exist?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Operate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What is normal?</a:t>
            </a:r>
          </a:p>
          <a:p>
            <a:pPr>
              <a:spcAft>
                <a:spcPts val="900"/>
              </a:spcAft>
            </a:pPr>
            <a:r>
              <a:rPr sz="1400" b="0">
                <a:solidFill>
                  <a:srgbClr val="161B26"/>
                </a:solidFill>
                <a:latin typeface="Arial"/>
              </a:rPr>
              <a:t>•  Who responds to deviation?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Evolve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What did evidence teach?</a:t>
            </a:r>
          </a:p>
          <a:p>
            <a:pPr>
              <a:spcAft>
                <a:spcPts val="900"/>
              </a:spcAft>
            </a:pPr>
            <a:r>
              <a:rPr sz="1400" b="0">
                <a:solidFill>
                  <a:srgbClr val="161B26"/>
                </a:solidFill>
                <a:latin typeface="Arial"/>
              </a:rPr>
              <a:t>•  Which control prevents recurrence?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Operations Mindset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console is an interface—not the source of truth.</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Treat configuration, telemetry, change history and verification evidence as the durable operational record.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Operational Coverage by Control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Controls are only effective when ownership and evidence span every layer; the lowest-covered layer defines residual operational risk.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623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Health Dashboard - Service History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171311" y="1792224"/>
            <a:ext cx="5374913"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Shows all regions, all services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Shows all regions, all services health
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624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Health Dashboard - Your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Previously called AWS Personal…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Previously called AWS Personal Health Dashboard (PHD)
the performance and availability of the AWS services underlying your AWS resources.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Account Health Dashboard…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Account Health Dashboard provides alerts and remediation guidance when AWS is experiencing events that may impact you.
The dashboard displays relevant and timely information to help you</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While the Service Health Dashboard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While the Service Health Dashboard displays the general status of AWS
manage events in progress and provides proactive notification to help you plan for scheduled activities.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services, Account Health…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services, Account Health Dashboard gives you a personalized view into.
Can aggregate data from an entire AWS Organization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625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Health Dashboard - Your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533684"/>
            <a:ext cx="6217920" cy="191864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Global service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Global service
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627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Health Event Notifications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EventBridge to react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EventBridge to react to changes for AWS Health events in your AWS account
AWS Health Dashboard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receive email…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receive email notifications when EC2 instances in your AWS account are scheduled for updates
EventBridge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is possible for Account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is possible for Account events (resources that are affected in your account) and Public Events (Regional availability of a service)
Lambda SNS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cases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cases: send notifications, capture event information, take corrective action...
Kinesis Data Streams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628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Health Dashboard -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Health Dashboard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Health Dashboard
Remediating Exposed IAM Access Keys
Operating model: keep the Organizations management account low-touch; delegate security, backup, Config and observability administration to…</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EventBridge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EventBridge
Instance Scheduled for Retirement
Failure mode: an SCP sets a maximum permission boundary but grants nothing; troubleshooting must still evaluate identity, resource, boundary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Exposed Access Keys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Exposed Access Keys
Restart Instance
Evidence: organization trails, Config aggregation, Health events, tag-policy compliance and cost-allocation coverage prove whether governance is…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Delete Access Keys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Delete Access Keys
Restarting Instances That are Scheduled for Retirement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629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Global service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Global service
Member accounts can only be part of one organization
API is available to automate AWS account creation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Allows to manage multiple AWS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Allows to manage multiple AWS accounts
Consolidated Billing across all accounts - single payment method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main account is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main account is the management account
Pricing benefits from aggregated usage (volume discount for EC2, S3…)</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Other accounts are member accounts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Other accounts are member accounts
Shared reserved instances and Savings Plans discounts across accounts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630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Root Organizational Unit (OU)</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Root Organizational Unit (OU)
Operating model: keep the Organizations management account low-touch; delegate security, backup, Config and observability administration to…</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Management Account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Management Account
Failure mode: an SCP sets a maximum permission boundary but grants nothing; troubleshooting must still evaluate identity, resource, boundary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Member Accounts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Member Accounts
Evidence: organization trails, Config aggregation, Health events, tag-policy compliance and cost-allocation coverage prove whether governance is…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OU (Finance)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OU (Finance)
Decision point: define which controls are preventive, detective or responsive and which team owns exceptions, expiry and escalation.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631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10768" y="1792224"/>
            <a:ext cx="6096000"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Organizational Units (OU) -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Business Unit Environmental…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Business Unit Environmental Lifecycle
Sales Account 2
Finance Account 2</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Management Account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Management Account
Retail Account 1
Prod Account 1
Operating model: keep the Organizations management account low-touch; delegate security, backup, Config and observability administration to…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Finance OU</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Finance OU
Retail Account 2
Prod Account 2
Failure mode: an SCP sets a maximum permission boundary but grants nothing; troubleshooting must still evaluate identity, resource, boundary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Sales Account 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Sales Account 1
Finance Account 1
Dev Account 1
Evidence: organization trails, Config aggregation, Health events, tag-policy compliance and cost-allocation coverage prove whether governance is…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633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Advantages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Advantages
Send CloudWatch Logs to central logging account
They do not apply to the management account (full admin power)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Multi Account vs One Account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Multi Account vs One Account Multi VPC
Establish Cross Account Roles for Admin purposes
Must have an explicit allow from the root through each OU in the direct path to the target account (does not allow anything by default – like IAM)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tagging standards for billing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tagging standards for billing purposes
Security: Service Control Policies (SCP)</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 CloudTrail on all accounts,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 CloudTrail on all accounts, send logs to central S3 account
IAM policies applied to OU or Accounts to restrict Users and Roles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634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SCP Hierarchy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Management Account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Management Account
Can do anything
Can access EC2
Operating model: keep the Organizations management account low-touch; delegate security, backup, Config and observability administration to…</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OU (Sandbox)</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OU (Sandbox)
EXCEPT S3 (explicit Deny from Sandbox OU)
Prod OU &amp; Account E &amp; F</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FullAWSAccess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FullAWSAccess
EXCEPT EC2 (explicit Deny)
OU (Workloads)
Failure mode: an SCP sets a maximum permission boundary but grants nothing; troubleshooting must still evaluate identity, resource, boundary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do anything (no SCP</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do anything (no SCP apply)
Account B &amp; C
Deny Athena FullAWSAccess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636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SCP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2085610" y="1792224"/>
            <a:ext cx="3546315"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Blocklist and Allowlist strategies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Blocklist and Allowlist strategies
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 - Reserved Instances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billing purposes,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billing purposes, the consolidated billing feature of AWS Organizations treats all the accounts in the organization as one account.
This means that RIs and Savings Plans discounts aren't shared between any accounts that have sharing turned off.</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means that all accounts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means that all accounts in the organization can receive the hourly cost benefit of Reserved Instances that are purchased by any other account.
To share an RI or Savings Plans discount with an account, both accounts must have sharing turned 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payer account (management…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payer account (management account) of an organization can turn off</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Reserved Instance (RI) discount…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Reserved Instance (RI) discount and Savings Plans discount sharing for any accounts in that organization, including the payer account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 - IAM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AWS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AWS:PrincipalOrgID condition key in your resource-based policies to restrict access to IAM principals from accounts in an AWS Organization
IAM User (stephane)
Use the aws:PrincipalOrgID condition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Organization (o-exampleorgid)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Organization (o-exampleorgid)
Member Account (222222222222)
Operating model: keep the Organizations management account low-touch; delegate security, backup, Config and observability administration to…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Management Account (111111111111)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Management Account (111111111111)
IAM User (Olivia)
Failure mode: an SCP sets a maximum permission boundary but grants nothing; troubleshooting must still evaluate identity, resource, boundary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Member Account (123456789012)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Member Account (123456789012)
(financial-data-2021)
Evidence: organization trails, Config aggregation, Health events, tag-policy compliance and cost-allocation coverage prove whether governance is…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Organizations - Tag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683121" y="1792224"/>
            <a:ext cx="4351293"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Helps you standardize tags across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Helps you standardize tags across resources in an AWS Organization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Control Tower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Easy way to set up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Easy way to set up and govern a secure and compliant mutli-account AWS environment based on best practices
Monitor compliance through an interactive dashboard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 the set up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 the set up of your environment in a few clicks
AWS Control Tower runs on top of AWS Organizations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 ongoing policy…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 ongoing policy management using guardrails
It automatically sets up AWS Organizations to organize accounts and implement SCPs (Service Control Policies)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Detect policy violations and…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Detect policy violations and remediate them
Operating model: keep the Organizations management account low-touch; delegate security, backup, Config and observability administration to…</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Service Catalog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Users that are new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Users that are new to AWS have too many options, and may create stacks that are not compliant / in line with the rest of the organization
Enter AWS Service Catalog!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Some users just want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Some users just want a quick self-service portal to launch a set of</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authorized products pre-defined…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authorized products pre-defined by admins
Operating model: keep the Organizations management account low-touch; delegate security, backup, Config and observability administration to…</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Includes: virtual machines…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Includes: virtual machines, databases, storage options, etc…
Failure mode: an SCP sets a maximum permission boundary but grants nothing; troubleshooting must still evaluate identity, resource, boundary and…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642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Service Catalog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932310"/>
            <a:ext cx="6217920" cy="3121395"/>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643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Service Catalog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Product Portfolio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Product Portfolio
IAM Permissions to Access Portfolios
Provisioned Products
Operating model: keep the Organizations management account low-touch; delegate security, backup, Config and observability administration to…</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CloudFormation Templates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CloudFormation Templates
Product List
Ready to use Properly Configured Properly Tagged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Collection of Products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Collection of Products
USER TASKS
Failure mode: an SCP sets a maximum permission boundary but grants nothing; troubleshooting must still evaluate identity, resource, boundary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ADMIN TASKS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ADMIN TASKS
Authorized by IAM
Evidence: organization trails, Config aggregation, Health events, tag-policy compliance and cost-allocation coverage prove whether governance is…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Service Catalog - Sharing Catalogs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Share portfolios with individual…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Share portfolios with individual AWS accounts or AWS Organizations
Ability to add products from the
share (in-sync)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Sharing options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Sharing options
imported portfolio to the local portfolio
(re-deploy updates)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Share a reference of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Share a reference of the portfolio, then import the shared portfolio in the recipient account (stays in-sync with the original portfolio)
Portfolio A (port-xxxxxxxxxx)
import portfolio &amp; launch products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Deploy a copy of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Deploy a copy of the portfolio into the recipient account (must re-deploy any updates)
Product 1 Product 2 Product 3
Portfolio A - Copy (port-yyyyyyyyyy)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Service Catalog - TagOptions Library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Easily manage tags on provisioned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Easily manage tags on provisioned products
Use cases: proper resources tagging, defined allowed tags,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Key-value pair managed in AWS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Key-value pair managed in AWS Service Catalog
Can be shared with other AWS accounts and AWS Organizations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Used to create an AWS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Used to create an AWS Tag
Portfolio A (port-xxxxxxxxxx)
Operating model: keep the Organizations management account low-touch; delegate security, backup, Config and observability administration to…</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associated with Portfolios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associated with Portfolios and Products
Product 1 Product 2 Product 3</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Billing Alarms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Billing data metric is stored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Billing data metric is stored in CloudWatch us-east-1
Operating model: keep the Organizations management account low-touch; delegate security, backup, Config and observability administration to…</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Billing data are for overall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Billing data are for overall worldwide
Failure mode: an SCP sets a maximum permission boundary but grants nothing; troubleshooting must still evaluate identity, resource, boundary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for actual cost, project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for actual cost, project costs
Evidence: organization trails, Config aggregation, Health events, tag-policy compliance and cost-allocation coverage prove whether governance is…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Let’s create a billing alarm</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Let’s create a billing alarm together!
Decision point: define which controls are preventive, detective or responsive and which team owns exceptions, expiry and escalation.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648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Explorer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Visualize, understand, and manage…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Visualize, understand, and manage your AWS costs and usage over time
Choose an optimal Savings Plan(to lower prices on your bill)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custom reports that analyze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custom reports that analyze cost and usage data.
Forecast usage up to 12 months based on previous usage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Analyze your data at a high level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Analyze your data at a high level: total costs and usage across all accounts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 Monthly, hourly, resource level</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 Monthly, hourly, resource level granularity
Operating model: keep the Organizations management account low-touch; delegate security, backup, Config and observability administration to…</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Explorer - Monthly Cost by AWS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857384" y="1792224"/>
            <a:ext cx="6002767"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Explorer - Hourly &amp; Resource Level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851088"/>
            <a:ext cx="6217920" cy="3283839"/>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651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Cost Explorer - Savings Plan Alternative to Reserved Instances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2259285" y="1792224"/>
            <a:ext cx="319896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652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Explorer - Forecast Usage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938159" y="1792224"/>
            <a:ext cx="5841217" cy="3401567"/>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organization trails…</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organization trails, Config aggregation, Health events, tag-policy compliance and cost-allocation…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653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Budgets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budget and send alarms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budget and send alarms when costs exceeds the budget
Supports EC2, ElastiCache, RDS, Redshift
2 budgets are free, then $0.02/day/budget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4 types of budgets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4 types of budgets: Usage, Cost, Reservation, Savings Plans
Up to 5 SNS notifications per budget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Reserved Instances (RI)</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Reserved Instances (RI)
Can filter by: Service, Linked Account,Tag, Purchase Option, Instance Type, Region, Availability Zone, API Operation, etc…</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Track utilization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Track utilization
Same options as AWS Cost Explorer!
Operating model: keep the Organizations management account low-touch; delegate security, backup, Config and observability administration to…</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654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Allocation Tags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401361"/>
            <a:ext cx="6217920" cy="2183294"/>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Use cost allocation tags to</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Use cost allocation tags to track your AWS costs on a detailed level</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Operating model</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Operating model: keep the Organizations management account low-touch; delegate security, backup, Config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SCP sets a maximum permission boundary but grants nothing; troubleshooting must still evaluate…</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655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and Usage Reports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Dive deeper into your AWS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Dive deeper into your AWS costs and usage
service category used by an account
Can be integrated with Athena, Redshift or QuickSight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AWS Cost &amp; Usage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AWS Cost &amp; Usage Report contains the most comprehensive set of AWS cost and usage data available
in hourly or daily line items
AWS Cost &amp; Usage Report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Includes additional metadata…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Includes additional metadata about AWS services, pricing, and reservations (e.g. Amazon EC2 Reserved Instances (RIs))
any tags that you have activated for cost allocation purposes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AWS Cost &amp; Usage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AWS Cost &amp; Usage Report lists AWS usage for each
Can be configured for daily exports to S3</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Turn the architecture choice into an operating model: ownership boundary, account scope, guardrail, evidence and escalation.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30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01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Cloud Operations Foundations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Availability, security, performance and cost are managed as measurable service outcomes.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AWS secures the cloud; customers secure configurations, identities, data and workloads in the cloud.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Use the control loop and responsibility boundary to frame an operational decision.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Identify the configuration, telemetry, change and verification record required.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med" advClick="1">
    <p:push dir="l"/>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 · LO2 · LO4 · K1 · K3 · K4 · A1 · A4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Monitoring, Logging and Incident Response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CloudWatch · CloudTrail · EventBridge · alarms · anomaly detection · remediation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med" advClick="1">
    <p:push dir="l"/>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1 · 22%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Ideas — Monitoring, Logging and 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Metrics show behaviour</a:t>
            </a:r>
          </a:p>
          <a:p>
            <a:pPr algn="l">
              <a:spcAft>
                <a:spcPts val="300"/>
              </a:spcAft>
            </a:pPr>
            <a:r>
              <a:rPr sz="1200" b="0">
                <a:solidFill>
                  <a:srgbClr val="5B6372"/>
                </a:solidFill>
                <a:latin typeface="Arial"/>
              </a:rPr>
              <a:t>Dimensions, periods and statistics turn raw measurements into service signals.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Logs explain events</a:t>
            </a:r>
          </a:p>
          <a:p>
            <a:pPr algn="l">
              <a:spcAft>
                <a:spcPts val="300"/>
              </a:spcAft>
            </a:pPr>
            <a:r>
              <a:rPr sz="1200" b="0">
                <a:solidFill>
                  <a:srgbClr val="5B6372"/>
                </a:solidFill>
                <a:latin typeface="Arial"/>
              </a:rPr>
              <a:t>Structured records provide detail for search, correlation, retention and audit.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Traces connect dependencies</a:t>
            </a:r>
          </a:p>
          <a:p>
            <a:pPr algn="l">
              <a:spcAft>
                <a:spcPts val="300"/>
              </a:spcAft>
            </a:pPr>
            <a:r>
              <a:rPr sz="1200" b="0">
                <a:solidFill>
                  <a:srgbClr val="5B6372"/>
                </a:solidFill>
                <a:latin typeface="Arial"/>
              </a:rPr>
              <a:t>A request path exposes latency and failure across distributed components.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Incidents require controlled response</a:t>
            </a:r>
          </a:p>
          <a:p>
            <a:pPr algn="l">
              <a:spcAft>
                <a:spcPts val="300"/>
              </a:spcAft>
            </a:pPr>
            <a:r>
              <a:rPr sz="1200" b="0">
                <a:solidFill>
                  <a:srgbClr val="5B6372"/>
                </a:solidFill>
                <a:latin typeface="Arial"/>
              </a:rPr>
              <a:t>Detection, triage, containment, recovery and learning form one evidence chain.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IMAGEGEN VISUAL · TOPIC 02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Observe, Decide, Remediate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ws-observability-remediation.png"/>
          <p:cNvPicPr>
            <a:picLocks noChangeAspect="1"/>
          </p:cNvPicPr>
          <p:nvPr/>
        </p:nvPicPr>
        <p:blipFill>
          <a:blip r:embed="rId2"/>
          <a:stretch>
            <a:fillRect/>
          </a:stretch>
        </p:blipFill>
        <p:spPr>
          <a:xfrm>
            <a:off x="777240" y="1755648"/>
            <a:ext cx="7315200" cy="4370832"/>
          </a:xfrm>
          <a:prstGeom prst="rect">
            <a:avLst/>
          </a:prstGeom>
        </p:spPr>
      </p:pic>
      <p:sp>
        <p:nvSpPr>
          <p:cNvPr id="8" name="Rectangle 7"/>
          <p:cNvSpPr/>
          <p:nvPr/>
        </p:nvSpPr>
        <p:spPr>
          <a:xfrm>
            <a:off x="8366760" y="1755648"/>
            <a:ext cx="304495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66760" y="1755648"/>
            <a:ext cx="304495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80" y="2103120"/>
            <a:ext cx="2514600" cy="384048"/>
          </a:xfrm>
          <a:prstGeom prst="rect">
            <a:avLst/>
          </a:prstGeom>
          <a:noFill/>
        </p:spPr>
        <p:txBody>
          <a:bodyPr wrap="square" anchor="t">
            <a:spAutoFit/>
          </a:bodyPr>
          <a:lstStyle/>
          <a:p>
            <a:pPr algn="l">
              <a:spcAft>
                <a:spcPts val="400"/>
              </a:spcAft>
            </a:pPr>
            <a:r>
              <a:rPr sz="1300" b="1">
                <a:solidFill>
                  <a:srgbClr val="10B981"/>
                </a:solidFill>
                <a:latin typeface="Arial"/>
              </a:rPr>
              <a:t>READ THE SYSTEM</a:t>
            </a:r>
          </a:p>
        </p:txBody>
      </p:sp>
      <p:sp>
        <p:nvSpPr>
          <p:cNvPr id="11" name="TextBox 10"/>
          <p:cNvSpPr txBox="1"/>
          <p:nvPr/>
        </p:nvSpPr>
        <p:spPr>
          <a:xfrm>
            <a:off x="8641080" y="2651760"/>
            <a:ext cx="2514600" cy="3063240"/>
          </a:xfrm>
          <a:prstGeom prst="rect">
            <a:avLst/>
          </a:prstGeom>
          <a:noFill/>
        </p:spPr>
        <p:txBody>
          <a:bodyPr wrap="square" anchor="ctr">
            <a:spAutoFit/>
          </a:bodyPr>
          <a:lstStyle/>
          <a:p>
            <a:pPr algn="l">
              <a:spcAft>
                <a:spcPts val="400"/>
              </a:spcAft>
            </a:pPr>
            <a:r>
              <a:rPr sz="1700" b="0">
                <a:solidFill>
                  <a:srgbClr val="161B26"/>
                </a:solidFill>
                <a:latin typeface="Arial"/>
              </a:rPr>
              <a:t>Read the scene as an operational control loop: signal, context, safe action, verification and escalation.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Telemetry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Instrument</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Metrics, logs and traces</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Collect</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Agents and service…</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Store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Retention and protection</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Analyse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Queries and correlation</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Alert</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Actionable threshold</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Remediate</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Human or automation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DESIGN TEST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signal is useful only when it identifies impact, owner and next safe action.</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CloudTrail and Config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Service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Primary question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evidence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CloudWatch</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How is the workload behaving?</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Metrics, logs, alarms and dashboards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CloudTrail</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Who called which AWS API, when and from where?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Management and data events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AWS Config</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What configuration existed and was it compliant?</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Configuration history and rule evaluation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Composite Signals Reduce Alert Noise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Filtering transient and context-free signals can preserve actionable detection while reducing noise.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Alarm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Statistic</a:t>
            </a:r>
          </a:p>
          <a:p>
            <a:pPr algn="l">
              <a:spcAft>
                <a:spcPts val="300"/>
              </a:spcAft>
            </a:pPr>
            <a:r>
              <a:rPr sz="1300" b="0">
                <a:solidFill>
                  <a:srgbClr val="5B6372"/>
                </a:solidFill>
                <a:latin typeface="Arial"/>
              </a:rPr>
              <a:t>Average can hide peaks; percentiles expose tail latency.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Period</a:t>
            </a:r>
          </a:p>
          <a:p>
            <a:pPr algn="l">
              <a:spcAft>
                <a:spcPts val="300"/>
              </a:spcAft>
            </a:pPr>
            <a:r>
              <a:rPr sz="1300" b="0">
                <a:solidFill>
                  <a:srgbClr val="5B6372"/>
                </a:solidFill>
                <a:latin typeface="Arial"/>
              </a:rPr>
              <a:t>Short periods detect quickly but may amplify noise.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Missing data</a:t>
            </a:r>
          </a:p>
          <a:p>
            <a:pPr algn="l">
              <a:spcAft>
                <a:spcPts val="300"/>
              </a:spcAft>
            </a:pPr>
            <a:r>
              <a:rPr sz="1300" b="0">
                <a:solidFill>
                  <a:srgbClr val="5B6372"/>
                </a:solidFill>
                <a:latin typeface="Arial"/>
              </a:rPr>
              <a:t>Choose breaching, not breaching, ignore or missing deliberately.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Action</a:t>
            </a:r>
          </a:p>
          <a:p>
            <a:pPr algn="l">
              <a:spcAft>
                <a:spcPts val="300"/>
              </a:spcAft>
            </a:pPr>
            <a:r>
              <a:rPr sz="1300" b="0">
                <a:solidFill>
                  <a:srgbClr val="5B6372"/>
                </a:solidFill>
                <a:latin typeface="Arial"/>
              </a:rPr>
              <a:t>Notify, scale or remediate only with tested permissions and rollback.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Incident Lifecycle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Detect</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Signal and timestamp</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Triage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Scope and severity</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Contain</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Limit blast radius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Recover</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Restore service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Health and data integrity</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Review</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Actions and owners</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A4 CONNECTION</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Separate observed evidence, hypothesis, decision and result throughout the incident record.</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Threshold vs Anomaly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Choice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Strength</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Use when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Static threshold</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Transparent and predictable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 meaningful limit is known</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Anomaly detection</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Adapts to time-varying baseline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Seasonality makes one limit noisy</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Composite alarm</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Combines symptom and impact</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One signal alone is insufficient</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Metric math</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Derives rates and ratios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Raw counts need context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K1 · K3 · K4 · A1 · A4</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Automation Guardrails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Trigger</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Use sustained evidence</a:t>
            </a:r>
          </a:p>
          <a:p>
            <a:pPr>
              <a:spcAft>
                <a:spcPts val="900"/>
              </a:spcAft>
            </a:pPr>
            <a:r>
              <a:rPr sz="1400" b="0">
                <a:solidFill>
                  <a:srgbClr val="161B26"/>
                </a:solidFill>
                <a:latin typeface="Arial"/>
              </a:rPr>
              <a:t>•  Prevent recursive events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Authority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Least-privilege execution role</a:t>
            </a:r>
          </a:p>
          <a:p>
            <a:pPr>
              <a:spcAft>
                <a:spcPts val="900"/>
              </a:spcAft>
            </a:pPr>
            <a:r>
              <a:rPr sz="1400" b="0">
                <a:solidFill>
                  <a:srgbClr val="161B26"/>
                </a:solidFill>
                <a:latin typeface="Arial"/>
              </a:rPr>
              <a:t>•  Separate approval for high-risk action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Verification</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Check intended state</a:t>
            </a:r>
          </a:p>
          <a:p>
            <a:pPr>
              <a:spcAft>
                <a:spcPts val="900"/>
              </a:spcAft>
            </a:pPr>
            <a:r>
              <a:rPr sz="1400" b="0">
                <a:solidFill>
                  <a:srgbClr val="161B26"/>
                </a:solidFill>
                <a:latin typeface="Arial"/>
              </a:rPr>
              <a:t>•  Escalate when remediation fails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SLO Error-Budget Burn by Time Window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Fast windows detect acute impact; slow windows protect the long-term objective. Multi-window alarms reduce both late detection and transient noise.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572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CloudWatch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830751"/>
            <a:ext cx="6217920" cy="3324514"/>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metrics expose…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metrics expose behaviour, logs provide event detail, traces connect dependencies and configuration…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average statistics, broad dimensions or short retention can hide tail latency, tenant impact and the…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alarm state history…</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alarm state history, Logs Insights queries, CloudTrail event identity, trace correlation and SLO burn…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574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CloudWatch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provides metrics for…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provides metrics for every services in AWS
Up to 30 dimensions per metric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Metric is a variable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Metric is a variable to monitor (CPUUtilization, NetworkIn…)
Metrics have timestamps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Metrics belong to namespaces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Metrics belong to namespaces
Can create CloudWatch dashboards of metrics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Dimension is an attribute of</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Dimension is an attribute of a metric (instance id, environment, etc…).</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575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Detailed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 metrics have metrics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metrics have metrics “every 5 minutes”
Note: EC2 Memory usage is by default not pushed (must be pushed from inside the instance as a custom metric)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With detailed monitoring (for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With detailed monitoring (for a cost), you get data “every 1 minute”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detailed monitoring if you</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detailed monitoring if you want to scale faster for your ASG!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AWS Free Tier allows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AWS Free Tier allows us to have 10 detailed monitoring metrics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Custom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Possibility to define and send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Possibility to define and send your own custom metrics to CloudWatch
Instance.id
High Resolution: 1/5/10/30 second(s) - Higher cost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memory (RAM) usage, disk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memory (RAM) usage, disk space, number of logged in users …
Environment.name
Important: Accepts metric data points two weeks in the past and two hours in the future (make sure to configure your EC2 instance time correctly)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API call PutMetricData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API call PutMetricData
Metric resolution (StorageResolution API parameter - two possible value)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Ability to use dimensions…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Ability to use dimensions (attributes) to segment metrics
Standard: 1 minute (60 seconds)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577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Dashboards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Great way to setup custom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Great way to setup custom dashboards for quick access to key metrics and alarms
You can setup automatic refresh (10s, 1m, 2m, 5m, 15m)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Dashboards are global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Dashboards are global
Dashboards can be shared with people who don’t have an AWS account (public, email address, 3rd party SSO provider through Amazon Cognito)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Dashboards can include graphs from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Dashboards can include graphs from different AWS accounts and regions
3 dashboards (up to 50 metrics) for free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change the time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change the time zone &amp; time range of the dashboards
$3/dashboard/month afterwards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579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Logs group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Logs group: arbitrary name, usually representing an application
Amazon S3 (exports)
OpenSearch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 stream</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 stream: instances within application / log files / containers
Kinesis Data Streams
Logs are encrypted by default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define log expiration policies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define log expiration policies (never expire, 1 day to 10 years…)
Kinesis Data Firehose
Can setup KMS-based encryption with your own keys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Logs can send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Logs can send logs to
AWS Lambda
Mechanism: metrics expose behaviour, logs provide event detail, traces connect dependencies and configuration history explains what changed.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 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SDK, CloudWatch Logs Agent…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SDK, CloudWatch Logs Agent, CloudWatch Unified Agent
VPC Flow Logs:VPC specific logs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Beanstalk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Beanstalk: collection of logs from application
API Gateway
Mechanism: metrics expose behaviour, logs provide event detail, traces connect dependencies and configuration history explains what changed.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ECS: collection from containers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ECS: collection from containers
CloudTrail based on filter
Failure mode: average statistics, broad dimensions or short retention can hide tail latency, tenant impact and the evidence needed for 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Lambda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Lambda: collection from function logs
Route53: Log DNS queries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581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Insights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1812097"/>
            <a:ext cx="6217920" cy="3361822"/>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metrics expose…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metrics expose behaviour, logs provide event detail, traces connect dependencies and configuration…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average statistics, broad dimensions or short retention can hide tail latency, tenant impact and the…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alarm state history…</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alarm state history, Logs Insights queries, CloudTrail event identity, trace correlation and SLO burn…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582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Insights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Search and analyze log data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Search and analyze log data stored in CloudWatch Logs
Fetch desired event fields, filter based on conditions, calculate aggregate statistics, sort events, limit number of events…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find a specific IP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find a specific IP inside a log, count occurrences of “ERROR” in your logs…
Can save queries and add them to CloudWatch Dashboards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Provides a purpose-built query…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Provides a purpose-built query language
Can query multiple Log Groups in different AWS accounts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Automatically discovers fields…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Automatically discovers fields from AWS services and JSON log events
It’s a query engine, not a real-time engine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 S3 Export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 data can take up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 data can take up to 12 hours to become available for export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API call is CreateExportTaskNo…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API call is CreateExportTaskNot near-real time or real-time… use Logs Subscriptions instead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Logs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Logs
Mechanism: metrics expose behaviour, logs provide event detail, traces connect dependencies and configuration history explains what changed.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585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Subscriptions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a real-time log events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a real-time log events from CloudWatch Logs for processing and analysis
Subscription Filter
near real-time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Send to Kinesis Data Streams,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Send to Kinesis Data Streams, Kinesis Data Firehose, or Lambda
Kinesis Data Firehose
EC2 Lambda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Subscription filter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Subscription filter - filter which logs are events delivered to your destination
Kinesis Data Streams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Logs
OpenSearch Service
Mechanism: metrics expose behaviour, logs provide event detail, traces connect dependencies and configuration history explains what changed.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586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CloudWatch Logs Aggregation Multi-Account &amp; Multi Region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Kinesis Data Streams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Kinesis Data Streams
CloudWatch Logs Subscription Filter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Kinesis Data Firehose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Kinesis Data Firehose
ACCOUNT B REGION 2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Near Real Time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Near Real Time
ACCOUNT B REGION 3
Evidence: alarm state history, Logs Insights queries, CloudTrail event identity, trace correlation and SLO burn rate should tell one consistent story.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ACCOUNT A REGION 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ACCOUNT A REGION 1
Decision point: alert only when a signal identifies impact, urgency, owner and a safe next action; everything else belongs in a dashboard or…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587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Logs Subscriptions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Cross-Account Subscription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Cross-Account Subscription - send log events to resources in a different AWS account (KDS, KDF)
Subscription
(RecipientStream)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Account - Sender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Account - Sender
Account - Recipient
Subscription Destination
Mechanism: metrics expose behaviour, logs provide event detail, traces connect dependencies and configuration history explains what changed.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(111111111111)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(111111111111)
(999999999999)
Destination Access Policy
Failure mode: average statistics, broad dimensions or short retention can hide tail latency, tenant impact and the evidence needed for 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Logs
Kinesis Data Streams
IAM Role (Cross-Account)
Evidence: alarm state history, Logs Insights queries, CloudTrail event identity, trace correlation and SLO burn rate should tell one consistent story.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588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Alarms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Alarms are used to trigger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Alarms are used to trigger notifications for any metric
Length of time in seconds to evaluate the metric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Various options (sampling, %, max,</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Various options (sampling, %, max, min, etc…)
High resolution custom metrics: 10 sec, 30 sec or multiples of 60 sec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Alarm States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Alarm States
Mechanism: metrics expose behaviour, logs provide event detail, traces connect dependencies and configuration history explains what changed.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INSUFFICIENT_DATA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INSUFFICIENT_DATA
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589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Alarm Targets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Stop,Terminate, Reboot, 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Stop,Terminate, Reboot, or Recover an EC2 Instance
EC2 Auto Scaling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Trigger Auto Scaling Action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Trigger Auto Scaling Action
Amazon SNS
Mechanism: metrics expose behaviour, logs provide event detail, traces connect dependencies and configuration history explains what changed.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Send notification to SNS (from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Send notification to SNS (from which you can do pretty much anything)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EC2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EC2
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590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Alarms - Composite Alarms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Alarms are on 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Alarms are on a single metric
EC2 Instance
Composite Alarm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Composite Alarms are monitoring…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Composite Alarms are monitoring the states of multiple other alarms
monitor CPU
CW Alarm -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AND and OR conditions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AND and OR conditions
monitor IOPS
CW Alarm - B</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Helpful to reduce “alarm noise”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Helpful to reduce “alarm noise” by creating complex composite alarms
Amazon SNS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592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Instance Recovery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Alarm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Alarm
System status = check the underlying hardware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StatusCheckFailed_System</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StatusCheckFailed_System
Attached EBS status = check attached EBS volumes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 Check</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 Check
EC2 Instance
Evidence: alarm state history, Logs Insights queries, CloudTrail event identity, trace correlation and SLO burn rate should tell one consistent story.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 status = check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 status = check the EC2 VM
Recovery: same Private, Public, Elastic IP, metadata, placement group</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593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Alarm: good to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Alarms can be created based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Alarms can be created based on CloudWatch Logs Metrics Filters
CloudWatch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SNS
Metric Filter
Mechanism: metrics expose behaviour, logs provide event detail, traces connect dependencies and configuration history explains what changed.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test alarms and notifications,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test alarms and notifications, set the alarm state to Alarm using CLI</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cloudwatch set-alarm-state…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cloudwatch set-alarm-state --alarm-name "myalarm" --state-value ALARM --state-reason "testing purposes"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594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Synthetics Canary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Configurable script that monitor…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Configurable script that monitor your APIs, URLs, Websites, …
Integration with CloudWatch Alarms
CloudWatch Alarm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Reproduce what your customers do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Reproduce what your customers do programmatically to find issues before customers are impacted
Scripts written in Node.js or Python
Lambda Function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Checks the availability 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Checks the availability and latency of your
Programmatic access to a headless Google Chrome browser
update DNS record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endpoints and can store load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endpoints and can store load time data and screenshots of the UI
Can run once or on a regular schedule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595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Synthetics Canary Blueprints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Heartbeat monitor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Heartbeat monitor - load URL, store screenshot and an HTTP archive file
Canary recorder - used with CloudWatch Synthetics Recorder (record your actions on a website and automatically generates a script for that)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API canary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API canary - test basic read and write functions of REST APIs
GUI flow builder - verifies that actions can be taken on your webpage (e.g., test a webpage with a login form)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Broken link checker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Broken link checker - check all links inside the URL that you are testing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Visual monitoring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Visual monitoring - compare a screenshot taken during a canary run with a baseline screenshot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596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(formerly Amazon EventBridge)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Schedule: Cron jobs (scheduled…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Schedule: Cron jobs (scheduled scripts)
SNS Topic with Email Notification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 Pattern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 Pattern: Event rules to react to a service doing something
Schedule Every hour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Trigger Lambda functions, send…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Trigger Lambda functions, send SQS/SNS messages…
Trigger script on Lambda function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Root User Sign 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Root User Sign in Event
Mechanism: metrics expose behaviour, logs provide event detail, traces connect dependencies and configuration history explains what changed.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597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Source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Source
(ex: upload object)
(any API call)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Trusted Advisor
Schedule or Cron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 Start Instance)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 Start Instance)
(ex: new Finding)
(ex: every 4 hours)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 failed build)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 failed build)
CloudTrail
Amazon EventBridge
Evidence: alarm state history, Logs Insights queries, CloudTrail event identity, trace correlation and SLO burn rate should tell one consistent story.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598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 buses can be accessed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 buses can be accessed by other AWS accounts using Resource-based Policies
Default Event Bus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archive events…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archive events (all/filter) sent to an event bus (indefinitely or set period)
Partner Event Bus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Ability to replay archived events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Ability to replay archived events
Custom Event Bus
Mechanism: metrics expose behaviour, logs provide event detail, traces connect dependencies and configuration history explains what changed.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Services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Services
Custom Apps
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600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 Schema Registry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2301915" y="1792224"/>
            <a:ext cx="311370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EventBridge can analyze the events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EventBridge can analyze the events in your bus and infer the schema</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metrics expose…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metrics expose behaviour, logs provide event detail, traces connect dependencies and configuration…</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average statistics, broad dimensions or short retention can hide tail latency, tenant impact and the…</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601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 Resource-based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933112"/>
            <a:ext cx="6217920" cy="3119792"/>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Manage permissions for a specific</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Manage permissions for a specific Event Bus
Mechanism: metrics expose behaviour, logs provide event detail, traces connect dependencies and configuration…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average statistics, broad dimensions or short retention can hide tail latency, tenant impact and the…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alarm state history…</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alarm state history, Logs Insights queries, CloudTrail event identity, trace correlation and SLO burn…</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602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Service Quotas CloudWatch Alarms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Service Quotas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Service Quotas
Helps you know if you need to request a quota increase or shutdown resources before limit is reached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Notify you when you’re close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Notify you when you’re close to a service quota value threshold
AWS Lambda Quota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CloudWatch Alarms on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CloudWatch Alarms on the Service Quotas console
Mechanism: metrics expose behaviour, logs provide event detail, traces connect dependencies and configuration history explains what changed.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Lambda concurrent…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Lambda concurrent executions
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603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Alternative:Trusted Advisor + CW Alarms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Limited number of Service Limits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Limited number of Service Limits checks in Trusted Advisor (~50)
CloudWatch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Trusted Advisor publishes its…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Trusted Advisor publishes its check results to CloudWatch
Service Limits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create CloudWatch Alarms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create CloudWatch Alarms on service quota usage (Service Limits)
Lambda Concurrent Executions: 1000</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Trusted Advisor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Trusted Advisor
Mechanism: metrics expose behaviour, logs provide event detail, traces connect dependencies and configuration history explains what changed.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604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CloudTrail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Provides governance, compliance…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Provides governance, compliance and audit for your AWS Account
Can put logs from CloudTrail into CloudWatch Logs or S3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 is enabled by default!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is enabled by default!
A trail can be applied to All Regions (default) or a single Region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a history of events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a history of events / API calls made within your AWS Account by
If a resource is deleted in AWS, investigate CloudTrail first!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Services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Services
Mechanism: metrics expose behaviour, logs provide event detail, traces connect dependencies and configuration history explains what changed.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605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CloudTrail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 Console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Console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Inspect &amp; Audit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Inspect &amp; Audit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Logs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Logs
Evidence: alarm state history, Logs Insights queries, CloudTrail event identity, trace correlation and SLO burn rate should tell one consistent story.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Users &amp; IAM Roles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Users &amp; IAM Roles
Decision point: alert only when a signal identifies impact, urgency, owner and a safe next action; everything else belongs in a dashboard or…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606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CloudTrail Events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Management Events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Management Events
Setting up logging (AWS CloudTrail CreateTrail)
By default, data events are not logged (because high volume operations)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Operations that are performed 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Operations that are performed on resources in your AWS account
By default, trails are configured to log management events.
Amazon S3 object-level activity (ex: GetObject, DeleteObject, PutObject): can separate Read and Write Events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Configuring security (IAM…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Configuring security (IAM AttachRolePolicy)
Can separate Read Events (that don’t modify resources) from Write Events (that may modify resources)
AWS Lambda function execution activity (the Invoke API)</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Configuring rules for routing data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Configuring rules for routing data (Amazon EC2 CreateSubnet)
Data Events
CloudTrail Insights Events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607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CloudTrail Insights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 CloudTrail Insights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 CloudTrail Insights to detect unusual activity in your account
Gaps in periodic maintenance activity
Event is sent to Amazon S3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inaccurate resource provisioning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inaccurate resource provisioning
CloudTrail Insights analyzes normal management events to create a baseline
An EventBridge event is generated (for automation needs)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hitting service limits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hitting service limits
And then continuously analyzes write events to detect unusual patterns
Management Events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Bursts of AWS IAM actions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Bursts of AWS IAM actions
Anomalies appear in the CloudTrail console
Continuous analysis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608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CloudTrail Events Retention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Events are stored for 90</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Events are stored for 90 days in CloudTrail
Data Events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keep events beyond this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keep events beyond this period, log them to S3 and use Athena
Management Events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Insights Events
Mechanism: metrics expose behaviour, logs provide event detail, traces connect dependencies and configuration history explains what changed.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Bucket Long-term retention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Bucket Long-term retention
90 days retention
Failure mode: average statistics, broad dimensions or short retention can hide tail latency, tenant impact and the evidence needed for 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609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 Intercept API Calls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DeleteTable API Call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(any API call)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(any API call)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EventBridge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EventBridge
Evidence: alarm state history, Logs Insights queries, CloudTrail event identity, trace correlation and SLO burn rate should tell one consistent story.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 API call</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 API call
Decision point: alert only when a signal identifies impact, urgency, owner and a safe next action; everything else belongs in a dashboard or…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EventBridge + CloudTrail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AuthorizeSecurityGroupIngress
Mechanism: metrics expose behaviour, logs provide event detail, traces connect dependencies and configuration history explains what changed.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EventBridge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EventBridge
Security Group
Failure mode: average statistics, broad dimensions or short retention can hide tail latency, tenant impact and the evidence needed for 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AssumeRole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AssumeRole
edit SG Inbound Rules
Evidence: alarm state history, Logs Insights queries, CloudTrail event identity, trace correlation and SLO burn rate should tell one consistent story.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API Call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API Call logs
Decision point: alert only when a signal identifies impact, urgency, owner and a safe next action; everything else belongs in a dashboard or…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611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CloudTrail - Log File Integrity Validation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Digest files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Digest files
Hashing using SHA-256, Digital Signing using SHA- 256 with RSA
contains a hash of each log file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References the log files for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References the log files for the last hour and contains a hash of each
Protect the S3 bucket using bucket policy, versioning, MFA Delete protection, encryption, object lock
Digest File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Stored in the same S3</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Stored in the same S3 bucket as log files (different folder)
Protect CloudTrail using IAM
Amazon EC2</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Helps you determine whether 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Helps you determine whether a log file was modified/deleted after CloudTrail delivered it
Log Files (1 hour)
start instance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Connect every signal to service impact, an accountable owner, a safe response and a verification condition.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35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Build an Observability and Incident Detection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K1, K3, K4, A1 and A4 by creating a dashboard, alarm, CloudTrail evidence query and EventBridge detection rule for one tagged workload.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measurable service signals, route one actionable event and record an evidence-led incident hypothesis.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CloudWatch dashboard, alarm definition, EventBridge pattern, evidence log and validation screenshots.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CloudWatch · CloudTrail · EventBridge · SNS · AWS CLI · CloudShell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dashboard and alarm reference the assigned workload; CloudTrail evidence names the actor and event; the EventBridge pattern is valid; the incident record distinguishes observation from hypothesis; validation emits LAB 01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01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Instrument</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Metrics and logs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Collect</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Agent and service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Alarm</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Actionable signal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Notify</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Owner and context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Evidence and cleanup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01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Build an Observability and Incident Detection Baseline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dashboard and alarm reference the assigned workload; CloudTrail evidence names the actor and event; the EventBridge pattern is valid; the incident record distinguishes observation from hypothesis; validation emits LAB 01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Automate Event-Driven Incident Triage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K3, K4, A1 and A4 by routing a controlled AWS event through EventBridge, invoking a least-privilege remediation function and preserving an auditable triage record.</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an event pattern and Lambda triage function that records evidence and recommends a bounded next action.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An EventBridge rule, Lambda triage function, test event, CloudWatch Logs evidence and incident decision record.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EventBridge · Lambda · CloudTrail · CloudWatch Logs · IAM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test and real events reach the Lambda target, logs contain the event ID and actor context, no automatic network modification occurs, the decision record names authority and verification, and validation emits LAB 02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02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Event</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Matched condition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Route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EventBridge target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Triage</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Context enrichment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Remediate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Bounded action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Audit</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Result and exception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02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Automate Event-Driven Incident Triage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test and real events reach the Lambda target, logs contain the event ID and actor context, no automatic network modification occurs, the decision record names authority and verification, and validation emits LAB 02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02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Monitoring, Logging and Incident Response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Dimensions, periods and statistics turn raw measurements into service signals.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Structured records provide detail for search, correlation, retention and audit.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K1, K3, K4, A1 and A4 by creating a dashboard, alarm, CloudTrail evidence query and EventBridge detection rule for one tagged workload.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The dashboard and alarm reference the assigned workload; CloudTrail evidence names the actor and event; the EventBridge pattern is valid; the incident record…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med" advClick="1">
    <p:push dir="l"/>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 · LO1 · LO2 · K3 · K5 · A3 · A5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Compute, Virtualisation and Systems Management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EC2 lifecycle · AMIs · placement · Systems Manager · patching · Image Builder</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med" advClick="1">
    <p:push dir="l"/>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Domains 1 and 3</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Ideas — Compute, Virtualisation and Systems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Treat instances as managed nodes</a:t>
            </a:r>
          </a:p>
          <a:p>
            <a:pPr algn="l">
              <a:spcAft>
                <a:spcPts val="300"/>
              </a:spcAft>
            </a:pPr>
            <a:r>
              <a:rPr sz="1200" b="0">
                <a:solidFill>
                  <a:srgbClr val="5B6372"/>
                </a:solidFill>
                <a:latin typeface="Arial"/>
              </a:rPr>
              <a:t>Inventory, patch, access and automate consistently across a fleet.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Images are controlled supply-chain inputs</a:t>
            </a:r>
          </a:p>
          <a:p>
            <a:pPr algn="l">
              <a:spcAft>
                <a:spcPts val="300"/>
              </a:spcAft>
            </a:pPr>
            <a:r>
              <a:rPr sz="1200" b="0">
                <a:solidFill>
                  <a:srgbClr val="5B6372"/>
                </a:solidFill>
                <a:latin typeface="Arial"/>
              </a:rPr>
              <a:t>Build, scan, test and version AMIs instead of hand-configuring servers.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Placement affects failure and performance</a:t>
            </a:r>
          </a:p>
          <a:p>
            <a:pPr algn="l">
              <a:spcAft>
                <a:spcPts val="300"/>
              </a:spcAft>
            </a:pPr>
            <a:r>
              <a:rPr sz="1200" b="0">
                <a:solidFill>
                  <a:srgbClr val="5B6372"/>
                </a:solidFill>
                <a:latin typeface="Arial"/>
              </a:rPr>
              <a:t>Spread, partition and cluster strategies solve different operational needs.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Lifecycle actions need coordination</a:t>
            </a:r>
          </a:p>
          <a:p>
            <a:pPr algn="l">
              <a:spcAft>
                <a:spcPts val="300"/>
              </a:spcAft>
            </a:pPr>
            <a:r>
              <a:rPr sz="1200" b="0">
                <a:solidFill>
                  <a:srgbClr val="5B6372"/>
                </a:solidFill>
                <a:latin typeface="Arial"/>
              </a:rPr>
              <a:t>Launch, stop, terminate and scale transitions require hooks and evidence.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Purchase and Capacity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value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Risk / constraint</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On-Demand</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Flexible baseline and unpredictable workloads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Higher unit cost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Savings Plans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Commitment discount across eligible usage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Forecast and commitment risk</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Reserved capacity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Capacity assurance in an AZ</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Scope and utilisation management</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Spot</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Large discount for interruptible work</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Two-minute interruption and capacity variability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Golden Image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Source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Hardened base image</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Build</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Versioned components</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Scan</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Vulnerability and policy</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Test</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Boot and workload checks</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Distribute</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Accounts and Regions</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Retire</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Deprecate old images</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A5 CONTROL</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 image release is an operational change with evidence, version and rollback.</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Patch Compliance by Fleet Segment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Patch compliance cannot exceed managed-node visibility; onboard and inventory the fleet before enforcing targets.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Systems Manager Capabilities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Session Manager</a:t>
            </a:r>
          </a:p>
          <a:p>
            <a:pPr algn="l">
              <a:spcAft>
                <a:spcPts val="300"/>
              </a:spcAft>
            </a:pPr>
            <a:r>
              <a:rPr sz="1300" b="0">
                <a:solidFill>
                  <a:srgbClr val="5B6372"/>
                </a:solidFill>
                <a:latin typeface="Arial"/>
              </a:rPr>
              <a:t>Auditable shell access without inbound SSH or bastion exposure.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Run Command</a:t>
            </a:r>
          </a:p>
          <a:p>
            <a:pPr algn="l">
              <a:spcAft>
                <a:spcPts val="300"/>
              </a:spcAft>
            </a:pPr>
            <a:r>
              <a:rPr sz="1300" b="0">
                <a:solidFill>
                  <a:srgbClr val="5B6372"/>
                </a:solidFill>
                <a:latin typeface="Arial"/>
              </a:rPr>
              <a:t>Execute controlled commands across tagged targets.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Patch Manager</a:t>
            </a:r>
          </a:p>
          <a:p>
            <a:pPr algn="l">
              <a:spcAft>
                <a:spcPts val="300"/>
              </a:spcAft>
            </a:pPr>
            <a:r>
              <a:rPr sz="1300" b="0">
                <a:solidFill>
                  <a:srgbClr val="5B6372"/>
                </a:solidFill>
                <a:latin typeface="Arial"/>
              </a:rPr>
              <a:t>Baseline, maintenance window, compliance and remediation.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Automation</a:t>
            </a:r>
          </a:p>
          <a:p>
            <a:pPr algn="l">
              <a:spcAft>
                <a:spcPts val="300"/>
              </a:spcAft>
            </a:pPr>
            <a:r>
              <a:rPr sz="1300" b="0">
                <a:solidFill>
                  <a:srgbClr val="5B6372"/>
                </a:solidFill>
                <a:latin typeface="Arial"/>
              </a:rPr>
              <a:t>Runbooks coordinate multi-step operational changes.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Placement Strategies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Strategy</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Optimises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Failure characteristic</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Cluster</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Low-latency high-throughput east-west traffic</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Single-AZ concentration</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Spread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Small number of critical instances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Distinct underlying hardware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Partition</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Large distributed workloads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Partition-aware failure isolation</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K3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Safe Fleet Change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Select</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Tags and inventory</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Canary</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One representative node</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Execute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Controlled concurrency</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Observe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Health and errors</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Expand</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Waves by risk</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Rollback</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Known-good state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OPERATIONS RULE</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Scale the change only after the canary evidence meets the acceptance threshold.</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Fleet Principle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If a server cannot be identified, accessed, patched and replaced consistently, it is not operationally managed.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Use tags, roles, inventory, image pipelines and Systems Manager to turn instances into a governed fleet.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Fleet Management Coverage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control chain weakens at verification: successful execution is not the same as confirmed service health.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022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Interface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096049"/>
            <a:ext cx="6217920" cy="279391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launch templates…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launch templates, AMIs, instance metadata, IAM roles and Systems Manager define the repeatable state…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inventory coverage…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inventory coverage, patch compliance, command output, instance status checks, application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025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Enhanced Networking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Enhanced Networking (SR-IOV)</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Enhanced Networking (SR-IOV)
Works for newer generation EC2 Instances
Leverages Message Passing Interface (MPI) standard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Higher bandwidth, higher PPS…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Higher bandwidth, higher PPS (packet per second), lower latency
Elastic Fabric Adapter (EFA)
Bypasses the underlying Linux OS to provide low-latency reliable transport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 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 1: Elastic Network Adapter (ENA) up to 100 Gbps
Improved ENA for HPC, only works for Linux</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 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 2: Intel 82599 VF up to 10 Gbps – LEGACY
Great for inter-node communications, tightly coupled workloads.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026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Placement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Sometimes you want control over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Sometimes you want control over the EC2 Instance placement strategy
Spread—spreads instances across underlying hardware (max 7 instances per group per AZ) – critical applications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That strategy can be defined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That strategy can be defined using placement groups
Partition—spreads instances across many different partitions (which rely on different sets of racks) within an AZ. Scales to 100s of EC2 instances…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you create a placement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you create a placement group, you specify one of the following strategies for the group</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Cluster—clusters instances into 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Cluster—clusters instances into a low-latency group in a single Availability Zone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027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Same AZ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Placement Groups Cluster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Placement Groups Cluster
Pros: Great network (10 Gbps bandwidth between instances with Enhanced Networking enabled - recommended)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Placement group Cluster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Placement group Cluster
Cons: If the AZ fails, all instances fails at the same time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Low latency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Low latency
Big Data job that needs to complete fast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10 Gbps network</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10 Gbps network
Application that needs extremely low latency and high network throughput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029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Placements Groups Partition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us-east-1a
us-east-1b
The instances in a partition do not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Partition 1</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Partition 1
Up to 7 partitions per AZ
share racks with the instances in the other partitions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Partition 2</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Partition 2
Can span across multiple AZs in the same region
A partition failure can affect many EC2 but won’t affect other partitions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Partition 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Partition 3
Up to 100s of EC2 instances
EC2 instances get access to the partition information as metadata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Shutdown Behaviour: How should the instance react when shutdown is done using the OS?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Stop (default)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Stop (default)
Shutdown Behavior
$ shutdown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is not applicable when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is not applicable when shutting down from AWS console.
EC2 Instance (running)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CLI Attribute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CLI Attribute
OS shutdown
Failure mode: configuration drift, unmanaged nodes, stale AMIs and unbounded Run Command concurrency turn a routine change into fleet-wide impact.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InstanceInitiatedShutdownBehavior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InstanceInitiatedShutdownBehavior
EC2 Instance (stopped)
Evidence: inventory coverage, patch compliance, command output, instance status checks, application health and replacement success must be correlated.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033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Termination Protection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 termination protection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 termination protection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protect against accidental…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protect against accidental termination in AWS Console or CLI</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have an instance where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have an instance where shutdown behavior = terminate and enable terminate protection is ticked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shutdown the instance from</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shutdown the instance from the OS, what will happen? The instance will still be terminated!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Launch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 InstanceLimitExceeded if you get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 InstanceLimitExceeded if you get this error, it means that you have reached your limit of max number of vCPUs per region
NOTE: vCPU-based limits only apply to running On-Demand instances and Spot instances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On-Demand instance limits are set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On-Demand instance limits are set on a per-region basis
Mechanism: launch templates, AMIs, instance metadata, IAM roles and Systems Manager define the repeatable state and management channel for a fleet.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If you run on-demand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If you run on-demand (A, C, D, H, I, M, R,T, Z) instance types you’ll have 64 vCPUs (default)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Resolution: Either launch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Resolution: Either launch the instance in a different region or request AWS to increase your limit of the region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036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Launch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 InsufficientInstanceCapacity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 InsufficientInstanceCapacity: if you get this error, it means AWS does not have that enough On-Demand capacity in the particular AZ where the…
If urgent, submit a request for a different instance type now, which can be resized later.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Resolution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Resolution
Also, can request the EC2 instance in a different AZ</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Wait for few mins before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Wait for few mins before requesting again.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requesting more than 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requesting more than 1 requests, break down the requests. If you need 5 instances, rather than a single request of 5, request one by one.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Launch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 Instance Terminates Immediately…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 Instance Terminates Immediately (goes from pending to terminated)
The instance store-backed AMI that you used to launch the instance is missing a required part (an image.part.xx file).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You've reached your EBS volume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You've reached your EBS volume limit.
To find the exact reason, check out the EC2 console of AWS - instances - Description tab, note the reason next to the State transition reason label.</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EBS snapshot is corrupt.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EBS snapshot is corrupt.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root EBS volume is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root EBS volume is encrypted and you do not have permissions to access the KMS key for decryption.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SSH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Make sure the private key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Make sure the private key (pem file) on your linux machine has 400 permissions, else you will get "Unprotected private key file" error
SG is not configured correctly
CPU load of the instance is high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Make sure the username for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Make sure the username for the OS is given correctly when logging via SSH,
NACL is not configured correctly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else you will get "Host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else you will get "Host key not found, "Permission denied", or "Connection closed by [instance] port 22" error
Check the route table for the subnet (routes traffic destined outside VPC to IGW)</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Possible reasons for "Connection…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Possible reasons for "Connection timed out" to EC2 instance via SSH
Instance doesn’t have a public IPv4</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SSH vs. EC2 Instance Connect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Connect using SSH Connect using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Connect using SSH Connect using EC2 Instance Connect
"ip_prefix": "18.206.107.24/29", "region": "us-east-1",
push one-time SSH public key (valid for 60 secs)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Inbound Rules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Inbound Rules
"service": "EC2_INSTANCE_CONNECT",
EC2 Console,
Mechanism: launch templates, AMIs, instance metadata, IAM roles and Systems Manager define the repeatable state and management channel for a fleet.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(IPv4: 1.2.3.4)</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(IPv4: 1.2.3.4)
"network_border_group": "us-east-1"
EC2 Instance Connect CLI
Failure mode: configuration drift, unmanaged nodes, stale AMIs and unbounded Run Command concurrency turn a routine change into fleet-wide impact.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(IPv4: 5.6.7.8)</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(IPv4: 5.6.7.8)
EC2 Instance Connect API
Allows AWS IP Range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Instances Purchasing Options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On-Demand Instances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On-Demand Instances - short workload, predictable pricing, pay by second
Savings Plans (1 &amp; 3 years) - commitment to an amount of usage, long workload
Capacity reservations - reserve capacity in a specific AZ for any duration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Reserved (1 &amp; 3 years)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Reserved (1 &amp; 3 years)
Spot Instances - short workloads, cheap, can lose instances (less reliable)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Reversed Instances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Reversed Instances - long workloads
Dedicated Hosts - book an entire physical server, control instance placement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Convertible Reserved Instances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Convertible Reserved Instances - long workloads with flexible instances
Dedicated Instances - no other customers will share your hardware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On Demand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Pay for what you use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Pay for what you use
No long-term commitment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Linux or Windows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Linux or Windows - billing per second, after the first minute
Recommended for short term and un-interrupted workloads, where you can't predict how the application will behave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other operating systems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other operating systems - billing per hour
Failure mode: configuration drift, unmanaged nodes, stale AMIs and unbounded Run Command concurrency turn a routine change into fleet-wide impact.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Has the highest cost but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Has the highest cost but no upfront payment
Evidence: inventory coverage, patch compliance, command output, instance status checks, application health and replacement success must be correlated.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042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Up to 72% discount compared to On-demand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reserve a specific instance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reserve a specific instance attributes (Instance Type, Region, Tenancy, OS)
Recommended for steady-state usage applications (think database)
Up to 66% discount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Reservation Period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Reservation Period - 1 year (+discount) or 3 years (+++discount)
You can buy and sell in the Reserved Instance Marketplace
EC2 Reserved Instances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Payment options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Payment options - No Upfront (+), Partial Upfront (++), All Upfront (+++)
Convertible Reserved Instance
Note: the % discounts are different from the video as AWS change them over time – the exact numbers are not needed for the exam. This is just for…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Reserved Instance's Scope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Reserved Instance's Scope - Regional or Zonal (reserve capacity in an AZ)
Can change the EC2 instance type, instance family, OS, scope and tenancy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043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Savings Plans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a discount based 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a discount based on long-term usage (up to 72% - same as RIs)
Flexible across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Commit to a certain type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Commit to a certain type of usage ($10/hour for 1 or 3 years)
Instance Size (e.g., m5.xlarge, m5.2xlarge)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Usage beyond EC2 Savings Plans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Usage beyond EC2 Savings Plans is billed at the On-Demand price
OS (e.g., Linux, Windows)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Locked to a specific instance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Locked to a specific instance family &amp; AWS region (e.g., M5 in us-east-1)
Tenancy (Host, Dedicated, Default)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Spot Instances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get a discount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get a discount of up to 90% compared to On-demand
Batch jobs
Workloads with a flexible start and end time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Instances that you can “lose”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Instances that you can “lose” at any point of time if your max price is less than the current spot price
Data analysis
Not suitable for critical jobs or databases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MOST cost-efficient instances…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MOST cost-efficient instances in AWS
Image processing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Useful for workloads that are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Useful for workloads that are resilient to failure
Any distributed workloads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Spot Instance Pricing History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164446"/>
            <a:ext cx="6217920" cy="2657124"/>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launch templates…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launch templates, AMIs, instance metadata, IAM roles and Systems Manager define the repeatable state…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inventory coverage…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inventory coverage, patch compliance, command output, instance status checks, application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Dedicated Hosts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physical server with EC2</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physical server with EC2 instance capacity fully dedicated to your use
Reserved - 1 or 3 years (No Upfront, Partial Upfront, All Upfront) The most expensive option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Allows you address compliance…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Allows you address compliance requirements and use your existing server - bound software licenses (per-socket, per-core, pe—VM software licenses)
Useful for software that have complicated licensing model (BYOL – Bring Your Own License)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Purchasing Options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Purchasing Options
Or for companies that have strong regulatory or compliance needs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On-demand - pay per second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On-demand - pay per second for active Dedicated Host
Mechanism: launch templates, AMIs, instance metadata, IAM roles and Systems Manager define the repeatable state and management channel for a fleet.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048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Dedicated Instances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2404150" y="1792224"/>
            <a:ext cx="2909235"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Instances run on hardware that’s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Instances run on hardware that’s dedicated to you
Mechanism: launch templates, AMIs, instance metadata, IAM roles and Systems Manager define the repeatable state…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inventory coverage…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inventory coverage, patch compliance, command output, instance status checks, application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Capacity Reservations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Reserve on-Demand instances…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Reserve on-Demand instances capacity in a specific AZ for any duration
Suitable for short-term, uninterrupted workloads that needs to be in a specific AZ</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always have access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always have access to EC2 capacity when you need it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time commitment (create/cancel…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time commitment (create/cancel anytime), no billing discounts Combine with Regional Reserved Instances and Savings Plans to benefit from billing…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You’re charged at On-Demand rate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You’re charged at On-Demand rate whether you run instances or not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purchasing option is right for 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1306123" y="1792224"/>
            <a:ext cx="5105289"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On demand</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On demand: coming and staying in resort whenever we like, we pay the full price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launch templates…</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launch templates, AMIs, instance metadata, IAM roles and Systems Manager define the repeatable state…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051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Purchase Options — Cost Model Comparison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On-Demand: no term commitment…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On-Demand: no term commitment; suitable for short-lived, irregular or uncertain demand.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Savings Plans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Savings Plans: commit to consistent compute spend in exchange for discounted eligible usage.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Reserved Instances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Reserved Instances: apply a term-based discount and, for zonal reservations, optional capacity assurance.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Spot Instances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Spot Instances: use spare capacity at deep discount with interruption-aware, fault-tolerant workloads.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052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charges for IPv4 addresses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IPv4 created in your account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IPv4 created in your account
Starting February 1st 2024, there’s a charge for all Public
One Public IPv4</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$0.005 per hour of Public</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$0.005 per hour of Public IPv4 (~ $3.6 per month)
EC2 Instance
per AZ, no Free Tier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new accounts in AWS,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new accounts in AWS, you have a free tier for the EC2 service: 750 hours of Public IPv4 per month for the first 12 months
Free until 750 hours/month of usage
RDS Database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all other services there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all other services there is no free tier
Load Balancer
One Public IPv4 No Free Tier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053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Public IPv4 Addressing — Cost and Operational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Billing scope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Billing scope: public IPv4 addresses are chargeable whether attached to a running resource or retained while idle.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Visibility: use AWS Public IP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Visibility: use AWS Public IP Insights and cost-allocation evidence to identify address ownership, attachment and utilisation.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Control: release unused…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Control: release unused addresses, minimise public exposure and prefer private connectivity, load balancing or managed endpoints where appropriate.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IPv6 decision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IPv6 decision: validate client reachability, dual-stack routing, security rules, DNS records and application support before migration.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054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Spot Instance Requests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get a discount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get a discount of up to 90% compared to On-demand
Other strategy: Spot Block
Not great for critical jobs or databases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Define max spot price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Define max spot price and get the instance while current spot price &lt; max
“block” spot instance during a specified time frame (1 to 6 hours) without interruptions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hourly spot price varies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hourly spot price varies based on offer and capacity
In rare situations, the instance may be reclaimed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the current spot price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the current spot price &gt; your max price you can choose to stop or terminate your instance with a 2 minutes grace period.
Used for batch jobs, data analysis, or workloads that are resilient to failures.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055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Spot Instances Pricing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User-defined max price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User-defined max price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 routine change into fleet-wide impact.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inventory coverage…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inventory coverage, patch compliance, command output, instance status checks, application health and replacement success must be correlated.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prefer canary and wave deployment with explicit stop thresholds; replace inconsistent instances rather than repairing them…</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057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Spot Fleets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Spot Fleets = set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Spot Fleets = set of Spot Instances + (optional) On-Demand Instances
Spot Fleet stops launching instances when reaching capacity or max cost
capacityOptimized: pool with the optimal capacity for the number of instances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Spot Fleet will try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Spot Fleet will try to meet the target capacity with price constraints
Strategies to allocate Spot Instances
priceCapacityOptimized (recommended): pools with highe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Define possible launch pools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Define possible launch pools: instance type (m5.large), OS, Availability Zone
lowestPrice: rom the pool with the lowest price (cost optimization, short workload)
st capacity available, then select the pool with the lowest price (best choice for most workloads)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have multiple launch pools,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have multiple launch pools, so that the fleet can choose
diversified: distributed across all pools (great for availability, long workloads)
Spot Fleets allow us to automatically request Spot Instances with the lowest price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058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Burstable Instances (T2/T3)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has the concept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has the concept of burstable instances (T2/T3 machines)
If all the credits are gone, the CPU becomes BAD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Burst means that overall,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Burst means that overall, the instance has OK CPU performance.
If the machine stops bursting, credits are accumulated over time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the machine needs to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the machine needs to process something unexpected (a spike in load for example), it can burst, and CPU can be VERY good.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the machine bursts, it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the machine bursts, it utilizes “burst credits”
Mechanism: launch templates, AMIs, instance metadata, IAM roles and Systems Manager define the repeatable state and management channel for a fleet.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059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Burstable Instances (T2/T3)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Burstable instances can be amazing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Burstable instances can be amazing to handle unexpected traffic and getting the insurance that it will be handled correctly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your instance consistently runs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your instance consistently runs low on credit, you need to move to a different kind of non-burstable instance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Credit usage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Credit usage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Credit balance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Credit balance
Failure mode: configuration drift, unmanaged nodes, stale AMIs and unbounded Run Command concurrency turn a routine change into fleet-wide impact.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061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happens when credit ar exhausted?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Experiment: run a CPU stress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Experiment: run a CPU stress command (to peak at 100%)
Credit exhaustion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After the credits are exhausted,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After the credits are exhausted, the measured CPU utilization drops
Lowered CPU Utilization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100% CPU Utilization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100% CPU Utilization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Credit Usage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Credit Usage
Failure mode: configuration drift, unmanaged nodes, stale AMIs and unbounded Run Command concurrency turn a routine change into fleet-wide impact.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062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T2/T3 Unlimited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possible to have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possible to have an “unlimited burst credit balance”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pay extra money if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pay extra money if you go over your credit balance, but you don’t lose in performance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average CPU usage over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average CPU usage over a 24-hour period exceeds the baseline, the instance is billed for additional usage per vCPU/hour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Be careful, costs could go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Be careful, costs could go high if you’re not monitoring the CPU health of your instances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063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Public subnet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IPs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IPs
You can attach it to one instance at a time
EC2 Instance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you stop and then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you stop and then start an EC2 instance, it changes its public IP
You can remap it across instances\
(IPv4: 1.2.3.4)</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need to have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need to have a fixed public IP, you need an Elastic IP
You don’t pay for the Elastic IP if it’s attached to a server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Elastic IP is 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Elastic IP is a public IPv4 you own as long as you don’t delete it
You pay for the Elastic IP if it’s not attached to a server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064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IPs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With an Elastic IP address,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With an Elastic IP address, you can mask the failure of an instance or software by rapidly remapping the address to another instance in your account.
You could use a random public IP and register a DNS name to it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only have 5</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only have 5 Elastic IP in your account (you can ask AWS to increase that).
Or use a Load Balancer with a static hostname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How you can avoid using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How you can avoid using Elastic IP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Always think if other alternatives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Always think if other alternatives are available to you
Failure mode: configuration drift, unmanaged nodes, stale AMIs and unbounded Run Command concurrency turn a routine change into fleet-wide impact.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066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CloudWatch Metrics for EC2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Provided metrics (AWS pushes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Provided metrics (AWS pushes them)
Custom metric (yours to push)
Make sure the IAM permissions on the EC2 instance role are correct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Basic Monitoring (default)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Basic Monitoring (default): metrics are collected at a 5 minute internal
Basic Resolution: 1 minute resolution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Detailed Monitoring (paid)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Detailed Monitoring (paid): metrics are collected at a 1 minute interval
High Resolution: all the way to 1 second resolution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Includes CPU, Network, Disk and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Includes CPU, Network, Disk and Status Check Metrics
Include RAM, application level metrics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067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included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CPU: CPU Utilization + Credit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CPU: CPU Utilization + Credit Usage / Balance
System status = check the underlying hardware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Network: Network In / Out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Network: Network In / Out
Attached EBS status = check attached EBS volumes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 Check</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 Check
Disk: Read / Write for Ops / Bytes (only for instance store)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 status = check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 status = check the EC2 VM
RAM is NOT included in the AWS EC2 metrics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070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Unified CloudWatch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virtual servers (EC2…</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virtual servers (EC2 instances, on-premises servers, …)
Centralized configuration using SSM Parameter Store
CloudWatch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Collect additional system-level…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Collect additional system-level metrics such as RAM, processes, used disk space, etc.
Make sure IAM permissions are correct
Server with Unified CW Agent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Collect logs to send to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Collect logs to send to CloudWatch Logs
Default namespace for metrics collected by the Unified CloudWatch agent is CWAgent (can be configured/changed)
EC2 Instance with Unified CW Agent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logs from inside your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logs from inside your EC2 instance will be sent to CloudWatch Logs without using an agent
Corporate Data Center
push metrics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071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Unified CloudWatch Agent – procstat Plugin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Collect metrics and monitor system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Collect metrics and monitor system utilization of individual processes
pid_file: name of process identification number (PID) files they create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Supports both Linux and Windows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Supports both Linux and Windows servers
exe: process name that match string you specify (RegEx)</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amount of time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amount of time the process uses CPU, amount of memory the process uses, …
pattern: command lines used to start the processes (RegEx)</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Select which processes to monitor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Select which processes to monitor by
Metrics collected by procstat plugin begins with "procstat" prefix (e.g., procstat_cpu_time, procstat_cpu_usage, …)</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072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Status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Automated checks to identify…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Automated checks to identify hardware and software issues
Resolution: stop and start the instance (instance migrated to a new host)
Attached EBS Status Checks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System status Checks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System status Checks
Instance Status Checks
Monitors EBS volumes attached to your instance (reachable &amp; complete I/O Operations)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Monitors problems with AWS systems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Monitors problems with AWS systems (software/hardware issues on the physical host, loss of system power, …)
Monitors software/network configuration of your instance (invalid network configuration, exhausted memory, …)
Resolution: reboot the instance or replace affected EBS volumes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Check Personal Health Dashboard…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Check Personal Health Dashboard for any scheduled critical maintenance by AWS to your instance’s host
Resolution: reboot the instance or change instance configuration
Stop &amp; Start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073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Status Checks - CW Metrics &amp; Recovery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 Metrics (1 minute…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Metrics (1 minute interval)
StatusCheckFailed (for any)
Option 2: Auto Scaling Group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StatusCheckFailed_System</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StatusCheckFailed_System
Option 1: CloudWatch Alarm
Set min/max/desired 1 to recover an instance but won't keep the same private and elastic IP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StatusCheckFailed_Instance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StatusCheckFailed_Instance
Recover EC2 instance with the same private/public IP, EIP, metadata, and Placement Group
EC2 Instance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StatusCheckFailed_AttachedEBS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StatusCheckFailed_AttachedEBS
Send notifications using SNS
CloudWatch
Mechanism: launch templates, AMIs, instance metadata, IAM roles and Systems Manager define the repeatable state and management channel for a fleet.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074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Hibernate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know we can stop,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know we can stop, terminate instances
First start: the OS boots &amp; the EC2 User Data script is run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Stop - the data 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Stop - the data on disk (EBS) is kept intact in the next start
Following starts: the OS boots up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Terminate - any EBS volumes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Terminate - any EBS volumes (root) also set-up to be destroyed is lost
Then your application starts, caches get warmed up, and that can take time!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 start, the following happens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 start, the following happens
Mechanism: launch templates, AMIs, instance metadata, IAM roles and Systems Manager define the repeatable state and management channel for a fleet.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075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Hibernate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Introducing EC2 Hibernate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Introducing EC2 Hibernate
The root EBS volume must be encrypted
EC2 Instance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in-memory (RAM) state is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in-memory (RAM) state is preserved
Long-running processing
(Encrypted)
Mechanism: launch templates, AMIs, instance metadata, IAM roles and Systems Manager define the repeatable state and management channel for a fleet.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instance boot is much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instance boot is much faster! (the OS is not stopped / restarted)
Saving the RAM state
Hibernation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Under the hood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Under the hood: the RAM state is written to a file in the root EBS volume
Services that take time to initialize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Hibernate – Good to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Supported Instance Families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Supported Instance Families - C3, C4, C5, I3, M3, M4, R3, R4,T2,T3, …
Root Volume - must be EBS, encrypted, not instance store, and large.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 RAM Size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 RAM Size - must be less than 150 GB.
Available for On-Demand, Reserved and Spot Instances.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Instance Size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Instance Size - not supposed for bare metal instances.
An instance can NOT be hibernated for more than 60 days.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AMI - Amazon Linux 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AMI - Amazon Linux 2, Linux AMI, Ubuntu, RHEL, CentOS &amp; Windows…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078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Overview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AMI = Amazon Machine Image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AMI = Amazon Machine Image
AMI are built for a specific region (and can be copied across regions)
An AWS Marketplace AMI: an AMI someone else made (and potentially sells)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AMI is a customization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AMI is a customization of an EC2 instance
You can launch EC2 instances from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add your own software,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add your own software, configuration, operating system, monitoring…
A Public AMI: AWS provided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Faster boot / configuration time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Faster boot / configuration time because all your software is pre-packaged
Your own AMI: you make and maintain them yourself</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Process (from an EC2 instance)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Start an EC2 instance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Start an EC2 instance and customize it
US-EAST-1A
Launch from AMI</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Stop the instance (for data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Stop the instance (for data integrity)
US-EAST-1B
Mechanism: launch templates, AMIs, instance metadata, IAM roles and Systems Manager define the repeatable state and management channel for a fleet.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Build an AMI</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Build an AMI – this will also create EBS snapshots
Custom AMI</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Launch instances from other AMIs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Launch instances from other AMIs
Create AMI
Failure mode: configuration drift, unmanaged nodes, stale AMIs and unbounded Run Command concurrency turn a routine change into fleet-wide impact.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081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No-Reboot Option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Enables you to create an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Enables you to create an AMI without shutting down your instance
Attached EBS Volume
create image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By default, it’s not selected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By default, it’s not selected (AWS will shut down the instance before creating an AMI to maintain the file system integrity)
EBS Snapshot
With No-Reboot Enabled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With No-Reboot Disabled (default)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With No-Reboot Disabled (default)
EC2 Instance (stopped)
EC2 Instance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 (running)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(running)
EBS Volume
Note: OS Buffers are not flushed to disk before the snapshot is created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082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 Plans to create AMI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Backup doesn't reboot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Backup doesn't reboot the instances while taking EBS snapshots (no-reboot behavior)
Create AMI
Amazon EC2</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won't help you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won't help you to create an AMI that guarantees file system integrity since you need to reboot the instance
Amazon EC2 (rebooting)
AWS Amazon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maintain integrity you need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maintain integrity you need to provide the reboot parameter while taking images (EventBridge
EventBridge Rule (schedule)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 Lambda + CreateImage API</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 Lambda + CreateImage API with reboot)
Lambda Function
Mechanism: launch templates, AMIs, instance metadata, IAM roles and Systems Manager define the repeatable state and management channel for a fleet.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Instance Migration between AZ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us-east-1a
create image launch/restore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us-east-1b</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us-east-1b
Failure mode: configuration drift, unmanaged nodes, stale AMIs and unbounded Run Command concurrency turn a routine change into fleet-wide impact.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Evidence: inventory coverage, patch compliance, command output, instance status checks, application health and replacement success must be correlated.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
Decision point: prefer canary and wave deployment with explicit stop thresholds; replace inconsistent instances rather than repairing them…</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084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Cross-Account AMI Sharing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share an AMI</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share an AMI with another AWS account
Source AMI</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Sharing an AMI does not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Sharing an AMI does not affect the ownership of the AMI
Share with Account B</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only share AMIs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only share AMIs that have unencrypted volumes and volumes that are encrypted with a customer managed key
EC2 Instance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share an AMI</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share an AMI with encrypted volumes, you must also share any customer managed keys used to encrypt them.
(AMI: Source AMI)</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085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Sharing with KMS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 AMI</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 AMI
EC2 Instance
Mechanism: launch templates, AMIs, instance metadata, IAM roles and Systems Manager define the repeatable state and management channel for a fleet.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(encrypted)
(AMI: Custom AMI)
Failure mode: configuration drift, unmanaged nodes, stale AMIs and unbounded Run Command concurrency turn a routine change into fleet-wide impact.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Permissions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Permissions
Evidence: inventory coverage, patch compliance, command output, instance status checks, application health and replacement success must be correlated.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kms:DescribeKey kms:CreateGrant…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kms:DescribeKey kms:CreateGrant kms:Decrypt kms:GenerateDataKey kms:ReEncrypt
Decision point: prefer canary and wave deployment with explicit stop thresholds; replace inconsistent instances rather than repairing them…</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086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Cross-Account AMI Copy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copy an AMI</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copy an AMI that has been shared with your account, you are the owner of the target AMI in your account
Source AMI
copy image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owner of the source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owner of the source AMI must grant you read permissions for the storage that backs the AMI (EBS Snapshot)
EBS Snapshot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the shared AMI has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the shared AMI has encrypted snapshots, the owner must share the key or keys with you as well
Copy of Source AMI</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encrypt the AMI with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encrypt the AMI with your own CMK while copying
IAM Permissions (read snapshot)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087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Copy with KMS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 AMI</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 AMI
Decrypt: CMK – A Encrypt: CMK – B
us-east-1 us-east-1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(encrypted)
Cross-Region / Cross-Account Encrypted AMI Copy
Mechanism: launch templates, AMIs, instance metadata, IAM roles and Systems Manager define the repeatable state and management channel for a fleet.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Permissions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Permissions
Source Target
Failure mode: configuration drift, unmanaged nodes, stale AMIs and unbounded Run Command concurrency turn a routine change into fleet-wide impact.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kms:DescribeKey kms:CreateGrant…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kms:DescribeKey kms:CreateGrant kms:Decrypt
Account A Account B
Evidence: inventory coverage, patch compliance, command output, instance status checks, application health and replacement success must be correlated.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088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Image Builder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Used to automate the creation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Used to automate the creation of Virtual Machines or container images
Builder EC2 Instance
(is the AMI working, secure?)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=&gt; Automate the creation…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=&gt; Automate the creation, maintain, validate and test EC2 AMIs
Build Components applied (customize software on instance)
AMI is distributed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run on 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run on a schedule (weekly, whenever packages are updated, etc…)
Test EC2 Instance
(can be multiple regions)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Free service (only pay for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Free service (only pay for the underlying resources)
Test suite is run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089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Image Builder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853550"/>
            <a:ext cx="6217920" cy="3278916"/>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launch templates…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launch templates, AMIs, instance metadata, IAM roles and Systems Manager define the repeatable state…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configuration drift, unmanaged nodes, stale AMIs and unbounded Run Command concurrency turn a…</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inventory coverage…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inventory coverage, patch compliance, command output, instance status checks, application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091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AMI in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force users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force users to only launch EC2 instances from pre-approved AMIs (AMIs tagged with specific tags) using IAM policies
IAM Permissions
AWS Config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Combine with AWS Config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Combine with AWS Config to find non- compliant EC2 instance (instances launched with non-approved AMIs)
… "Condition": {
NON_COMPLIANT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(not approved)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(not approved)
"StringEquals": {
EC2 Instance
Mechanism: launch templates, AMIs, instance metadata, IAM roles and Systems Manager define the repeatable state and management channel for a fleet.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(approved)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(approved)
"ec2:ResourceTag/Environment": "Prod"
Failure mode: configuration drift, unmanaged nodes, stale AMIs and unbounded Run Command concurrency turn a routine change into fleet-wide impact.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Manage compute as a governed fleet: immutable inputs, tagged targets, bounded concurrency, health evidence and replacement.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55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Operate an EC2 Fleet with Systems Manager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K3, K5, A3 and A5 by onboarding a managed node, using Session Manager and Run Command, assessing patch compliance and executing a controlled Automation runbook.</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 least-privilege managed-node baseline and produce patch, command and change evidence without exposing inbound administration ports.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An EC2 managed node, SSM document, patch-compliance report, automation execution record and rollback evidence.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EC2 · IAM · Systems Manager · Session Manager · Run Command · Patch Manager · Automation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instance is managed without public SSH, the custom document validates, command and compliance evidence are present, the change record includes verification and rollback, and validation emits LAB 03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03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Inventory</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Managed nodes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Canary</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One target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Execute</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Controlled command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Assess</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Patch compliance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Rollback</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Change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03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Operate an EC2 Fleet with Systems Manager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instance is managed without public SSH, the custom document validates, command and compliance evidence are present, the change record includes verification and rollback, and validation emits LAB 03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Compute, Virtualisation and Systems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Inventory, patch, access and automate consistently across a fleet.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Build, scan, test and version AMIs instead of hand-configuring servers.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K3, K5, A3 and A5 by onboarding a managed node, using Session Manager and Run Command, assessing patch compliance and executing a controlled…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The instance is managed without public SSH, the custom document validates, command and compliance evidence are present, the change record includes verification 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med" advClick="1">
    <p:push dir="l"/>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 · LO1 · K4 · K5 · A3 · A5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Reliability, Elasticity and High Availability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Elastic Load Balancing · Auto Scaling · health checks · containers · graceful degradation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med" advClick="1">
    <p:push dir="l"/>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2 · 22%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Ideas — Reliability, Elasticity and High Availability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High availability is an end-to-end property</a:t>
            </a:r>
          </a:p>
          <a:p>
            <a:pPr algn="l">
              <a:spcAft>
                <a:spcPts val="300"/>
              </a:spcAft>
            </a:pPr>
            <a:r>
              <a:rPr sz="1200" b="0">
                <a:solidFill>
                  <a:srgbClr val="5B6372"/>
                </a:solidFill>
                <a:latin typeface="Arial"/>
              </a:rPr>
              <a:t>Compute redundancy fails if identity, data or network dependencies remain single points.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Elasticity follows demand</a:t>
            </a:r>
          </a:p>
          <a:p>
            <a:pPr algn="l">
              <a:spcAft>
                <a:spcPts val="300"/>
              </a:spcAft>
            </a:pPr>
            <a:r>
              <a:rPr sz="1200" b="0">
                <a:solidFill>
                  <a:srgbClr val="5B6372"/>
                </a:solidFill>
                <a:latin typeface="Arial"/>
              </a:rPr>
              <a:t>Auto Scaling changes capacity using a measurable signal and bounded policy.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Health checks drive routing</a:t>
            </a:r>
          </a:p>
          <a:p>
            <a:pPr algn="l">
              <a:spcAft>
                <a:spcPts val="300"/>
              </a:spcAft>
            </a:pPr>
            <a:r>
              <a:rPr sz="1200" b="0">
                <a:solidFill>
                  <a:srgbClr val="5B6372"/>
                </a:solidFill>
                <a:latin typeface="Arial"/>
              </a:rPr>
              <a:t>A check must represent the user's ability to receive a correct response.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Resilience requires recovery</a:t>
            </a:r>
          </a:p>
          <a:p>
            <a:pPr algn="l">
              <a:spcAft>
                <a:spcPts val="300"/>
              </a:spcAft>
            </a:pPr>
            <a:r>
              <a:rPr sz="1200" b="0">
                <a:solidFill>
                  <a:srgbClr val="5B6372"/>
                </a:solidFill>
                <a:latin typeface="Arial"/>
              </a:rPr>
              <a:t>Design degradation, retry, failover and rollback before an incident.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Balancer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Layer and strength</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Typical workload</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ALB</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Layer 7 HTTP routing, host/path rules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Web, APIs and containers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NLB</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Layer 4 performance and static IP</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TCP/UDP/TLS and extreme scale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GWLB</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Transparent appliance insertion</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Firewalls and inspection fleets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Request Path and Health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DNS</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Resolve healthy endpoint</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Load balancer</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Select target</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Target group</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Health and port</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Application</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Dependency-aware response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Telemetry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Latency and errors</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Scaling</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Capacity response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TROUBLESHOOTING</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Follow the request path in order; do not jump directly to the instance.</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Scaling Policy Behaviour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Target tracking follows demand with delay; warm-up and cooldown prevent unstable oscillation.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 Scaling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Desired capacity</a:t>
            </a:r>
          </a:p>
          <a:p>
            <a:pPr algn="l">
              <a:spcAft>
                <a:spcPts val="300"/>
              </a:spcAft>
            </a:pPr>
            <a:r>
              <a:rPr sz="1300" b="0">
                <a:solidFill>
                  <a:srgbClr val="5B6372"/>
                </a:solidFill>
                <a:latin typeface="Arial"/>
              </a:rPr>
              <a:t>The current fleet target between minimum and maximum bounds.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Target tracking</a:t>
            </a:r>
          </a:p>
          <a:p>
            <a:pPr algn="l">
              <a:spcAft>
                <a:spcPts val="300"/>
              </a:spcAft>
            </a:pPr>
            <a:r>
              <a:rPr sz="1300" b="0">
                <a:solidFill>
                  <a:srgbClr val="5B6372"/>
                </a:solidFill>
                <a:latin typeface="Arial"/>
              </a:rPr>
              <a:t>Adjusts capacity to hold a metric near a chosen target.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Step scaling</a:t>
            </a:r>
          </a:p>
          <a:p>
            <a:pPr algn="l">
              <a:spcAft>
                <a:spcPts val="300"/>
              </a:spcAft>
            </a:pPr>
            <a:r>
              <a:rPr sz="1300" b="0">
                <a:solidFill>
                  <a:srgbClr val="5B6372"/>
                </a:solidFill>
                <a:latin typeface="Arial"/>
              </a:rPr>
              <a:t>Uses breach magnitude to change capacity by defined steps.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Lifecycle hook</a:t>
            </a:r>
          </a:p>
          <a:p>
            <a:pPr algn="l">
              <a:spcAft>
                <a:spcPts val="300"/>
              </a:spcAft>
            </a:pPr>
            <a:r>
              <a:rPr sz="1300" b="0">
                <a:solidFill>
                  <a:srgbClr val="5B6372"/>
                </a:solidFill>
                <a:latin typeface="Arial"/>
              </a:rPr>
              <a:t>Pauses launch or termination for controlled work.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Failure Handling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Pattern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Response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Caution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Retry with backoff</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Recover from transient dependency failure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Bound attempts and add jitter</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Circuit breaker</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Stop calling an unhealthy dependency</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Define recovery probe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Bulkhead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Isolate resource pools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Capacity must reflect priority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Graceful degradation</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Preserve critical function</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Communicate reduced service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K4 · K5 · A3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Container Operations in SOA-C03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ECS / EKS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Service desired count</a:t>
            </a:r>
          </a:p>
          <a:p>
            <a:pPr>
              <a:spcAft>
                <a:spcPts val="900"/>
              </a:spcAft>
            </a:pPr>
            <a:r>
              <a:rPr sz="1400" b="0">
                <a:solidFill>
                  <a:srgbClr val="161B26"/>
                </a:solidFill>
                <a:latin typeface="Arial"/>
              </a:rPr>
              <a:t>•  Task or pod health and placement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Images</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Versioned and scanned</a:t>
            </a:r>
          </a:p>
          <a:p>
            <a:pPr>
              <a:spcAft>
                <a:spcPts val="900"/>
              </a:spcAft>
            </a:pPr>
            <a:r>
              <a:rPr sz="1400" b="0">
                <a:solidFill>
                  <a:srgbClr val="161B26"/>
                </a:solidFill>
                <a:latin typeface="Arial"/>
              </a:rPr>
              <a:t>•  Immutable deployment input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Observability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Container Insights</a:t>
            </a:r>
          </a:p>
          <a:p>
            <a:pPr>
              <a:spcAft>
                <a:spcPts val="900"/>
              </a:spcAft>
            </a:pPr>
            <a:r>
              <a:rPr sz="1400" b="0">
                <a:solidFill>
                  <a:srgbClr val="161B26"/>
                </a:solidFill>
                <a:latin typeface="Arial"/>
              </a:rPr>
              <a:t>•  Logs, metrics and traces by workload</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Availability Test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Redundancy is not resilience until failover is exercised.</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Measure detection, decision, traffic shift, recovery, data integrity and return to steady state.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Scaling Response with Warm-Up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Warm-up prevents premature scaling decisions, but it also delays usable capacity; validate boot time and health-check behaviour together.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134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Scalability &amp; High Availability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Scalability means that an…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Scalability means that an application / system can handle greater loads by adapting.
Scalability is linked but different to High Availability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There are two kinds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There are two kinds of scalability
Let’s deep dive into the distinction, using a call center as an example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Vertical Scalability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Vertical Scalability
Mechanism: DNS, load-balancer health, target-group health, Auto Scaling policy and application dependency checks cooperate to keep capacity 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Horizontal Scalability (=…</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Horizontal Scalability (= elasticity)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Vertical Scalability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Vertically scalability means…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Vertically scalability means increasing the size of the instance
RDS, ElastiCache are services that can scale vertically.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example, your application runs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example, your application runs on a t2.micro
There’s usually a limit to how much you can vertically scale (hardware limit)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Scaling that application…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Scaling that application vertically means running it on a t2.large
junior operator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Vertical scalability is very…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Vertical scalability is very common for non distributed systems, such as a database.
senior operator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136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Horizontal Scalability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Horizontal Scalability means…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Horizontal Scalability means increasing the number of instances / systems for your application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Horizontal scaling implies…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Horizontal scaling implies distributed systems.
Mechanism: DNS, load-balancer health, target-group health, Auto Scaling policy and application dependency checks cooperate to keep capacity available.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is very common for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is very common for web applications / modern applications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easy to horizontally scale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easy to horizontally scale thanks the cloud offerings such as Amazon EC2</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second building in San Francisco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first building in New York</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first building in New York
application / system in at least 2 data centers (== Availability Zones)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 Availability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 Availability
The goal of high availability is to survive a data center loss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 Availability usually goes…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 Availability usually goes hand in hand with horizontal scaling
The high availability can be passive (for RDS Multi AZ for example)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 availability means running…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 availability means running your
The high availability can be active (for horizontal scaling)</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High Availability &amp; Scalability For EC2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Vertical Scaling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Vertical Scaling: Increase instance size (= scale up / down)
Auto Scaling Group
Load Balancer multi-AZ</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From: t2.nano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From: t2.nano - 0.5G of RAM, 1 vCPU
Load Balancer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u-12tb1.metal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u-12tb1.metal – 12.3 TB of RAM, 448 vCPUs
High Availability: Run instances for the same application across multi-AZ</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Horizontal Scaling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Horizontal Scaling: Increase number of instances (= scale out / in)
Auto Scaling Group multi-AZ</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load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Load Balancer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Load Balancer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Load Balances are servers that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Load Balances are servers that forward traffic to multiple servers (e.g., EC2 instances) downstream</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request count, target…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request count, target response time, HTTP error rate, scaling activities, lifecycle-hook events and recovery time expose the complete…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use a load balancer?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Spread load across multiple…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Spread load across multiple downstream instances
Provide SSL termination (HTTPS) for your websites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Expose a single point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Expose a single point of access (DNS) to your application
Enforce stickiness with cookies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Seamlessly handle failures of…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Seamlessly handle failures of downstream instances
High availability across zones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 regular health checks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 regular health checks to your instances
Separate public traffic from private traffic</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use an Elastic Load Balancer?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Elastic Load Balancer is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Elastic Load Balancer is a managed load balancer
It costs less to setup your own load balancer but it will be a lot more effort on your end
Route 53, AWS WAF, AWS Global Accelerator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guarantees that it will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guarantees that it will be working
It is integrated with many AWS offerings / services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takes care of upgrades,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takes care of upgrades, maintenance, high availability
EC2, EC2 Auto Scaling Groups, Amazon ECS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provides only a few</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provides only a few configuration knobs
AWS Certificate Manager (ACM), CloudWatch</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fast" advClick="1">
    <p:fade/>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142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Health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are crucial for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are crucial for Load Balancers
Elastic Load Balancer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 enable the load balancer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 enable the load balancer to know if instances it forwards traffic to are available to reply to requests
EC2 Instance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health check is done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health check is done on a port and a route (/health is common)
Protocol: HTTP Port: 4567 Endpoint: /health</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the response is not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the response is not 200 (OK), then the instance is unhealthy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143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Types of load balancer on AWS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has 4 kinds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has 4 kinds of managed Load Balancers
HTTP, HTTPS, WebSocket
Operates at layer 3 (Network layer) - IP Protocol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Classic Load Balancers (v1</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Classic Load Balancers (v1 - old generation) - 2009 - CLB
Network Load Balancer (v2 - new generation) - 2017 - NLB
Overall, it is recommended to use the newer generation load balancers as they provide more features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HTTPS,TCP, SSL (secure TCP)</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HTTPS,TCP, SSL (secure TCP)
TCP, TLS (secure TCP), UDP
Some load balancers can be setup as internal (private) or external (public) ELB</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 v2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v2 - new generation) - 2016 - ALB
Gateway Load Balancer - 2020 - GWLB</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Types of load balancer on AWS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097755" y="1792224"/>
            <a:ext cx="5522025"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DNS, load-balancer…</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DNS, load-balancer health, target-group health, Auto Scaling policy and application dependency checks…</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shallow health checks, incorrect warm-up or coupled dependencies can report healthy capacity while…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request count, target…</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request count, target response time, HTTP error rate, scaling activities, lifecycle-hook events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fast" advClick="1">
    <p:fade/>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3130296"/>
            <a:ext cx="6217920" cy="725424"/>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HTTPS / HTTP</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HTTPS / HTTP
Mechanism: DNS, load-balancer health, target-group health, Auto Scaling policy and application dependency checks…</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shallow health checks, incorrect warm-up or coupled dependencies can report healthy capacity while…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request count, target…</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request count, target response time, HTTP error rate, scaling activities, lifecycle-hook events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146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Classic Load Balancers (v1)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Supports TCP (Layer 4), HTTP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Supports TCP (Layer 4), HTTP &amp; HTTPS (Layer 7)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are TCP 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are TCP or HTTP based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Fixed hostname XXX.region.elb.amaz…</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Fixed hostname XXX.region.elb.amazonaws.com
Evidence: request count, target response time, HTTP error rate, scaling activities, lifecycle-hook events and recovery time expose the complete…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distinguish capacity shortage, unhealthy deployment and downstream dependency failure before changing scaling thresholds.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Application Load Balancer (v2)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balancers is…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balancers is Layer 7 (HTTP)
Support redirects (from HTTP to HTTPS for example)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Load balancing to multiple HTTP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Load balancing to multiple HTTP applications across machines (target groups)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Load balancing to multiple…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Load balancing to multiple applications on the same machine (ex: containers)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 for HTTP/2 and WebSocket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 for HTTP/2 and WebSocket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148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Application Load Balancer (v2)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Routing tables to different target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Routing tables to different target groups
ALB are a great fit for micro services &amp; container-based application (example: Docker &amp; Amazon ECS)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Routing based on path in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Routing based on path in URL (example.com/users &amp; example.com/posts)
Has a port mapping feature to redirect to a dynamic port in ECS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Routing based on hostname in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Routing based on hostname in URL ( &amp; other.example.com)
In comparison, we’d need multiple Classic Load Balancer per application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Routing based on Query String,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Routing based on Query String, Headers (example.com/users? id=123=false)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Target Group for Users application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 (v2)…</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(v2) HTTP Based Traffic
Route /search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External Application Load…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External Application Load Balancer (v2)
Health Check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Route /user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Route /user
Evidence: request count, target response time, HTTP error rate, scaling activities, lifecycle-hook events and recovery time expose the complete…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Target Group for Search…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Target Group for Search application
Decision point: distinguish capacity shortage, unhealthy deployment and downstream dependency failure before changing scaling thresholds.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Application Load Balancer (v2) Target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instances (can be managed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instances (can be managed by an Auto Scaling Group) - HTTP
ALB can route to multiple target groups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ECS tasks (managed by ECS itself)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ECS tasks (managed by ECS itself) - HTTP
Health checks are at the target group level</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Lambda functions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Lambda functions - HTTP request is translated into a JSON event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 Addresses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 Addresses - must be private IPs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fast" advClick="1">
    <p:fade/>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151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Target Group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 EC2 based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 EC2 based
Target Group 2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 (v2)…</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(v2) Query Strings/Parameters Routing
On-premises – Private IP routing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External Application Load…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External Application Load Balancer (v2)
?Platform=Desktop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?Platform=Mobile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?Platform=Mobile
Evidence: request count, target response time, HTTP error rate, scaling activities, lifecycle-hook events and recovery time expose the complete…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fast" advClick="1">
    <p:fade/>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152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Application Load Balancer (v2) Good to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Fixed hostname (XXX.region.elb.ama…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Fixed hostname (XXX.region.elb.amazonaws.com)
Client IP 12.34.56.78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application servers don’t see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application servers don’t see the IP of the client directly
Load Balancer IP (Private IP)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true IP of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true IP of the client is inserted in the header X-Forwarded-For
Connection termination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can also get Port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can also get Port (X-Forwarded-Port) and proto (X-Forwarded-Proto)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154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Load Balancer (v2)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Network load balancers (Layer 4)</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Network load balancers (Layer 4) allow to
NLB has one static IP per AZ and supports assigning Elastic IP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Forward TCP &amp; UDP traffic</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Forward TCP &amp; UDP traffic to your instances
(helpful for whitelisting specific IP)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Handle millions of request per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Handle millions of request per seconds
NLB are used for extreme performance,TCP or UDP traffic</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Ultra-low latency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Ultra-low latency
Not included in the AWS free tier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ransition spd="fast" advClick="1">
    <p:fade/>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155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Load Balancer (v2) TCP (Layer 4) Based Traffic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Target Group for Users application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Target Group for Users application
Health Check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External Network Load Balancer…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External Network Load Balancer (v2)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TCP + Rules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TCP + Rules
Evidence: request count, target response time, HTTP error rate, scaling activities, lifecycle-hook events and recovery time expose the complete…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Target Group for Search…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Target Group for Search application
Decision point: distinguish capacity shortage, unhealthy deployment and downstream dependency failure before changing scaling thresholds.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ransition spd="fast" advClick="1">
    <p:fade/>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156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Load Balancer - Target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Instances
i-1234567890abcdef0 i-1234567890abcdef0
192.168.1.118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 Addresses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 Addresses - must be private IPs
Target Group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Load Balancer
Evidence: request count, target response time, HTTP error rate, scaling activities, lifecycle-hook events and recovery time expose the complete…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support the TCP,</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support the TCP, HTTP, HTTPS Protocols
(IP Addresses)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ransition spd="fast" advClick="1">
    <p:fade/>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158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Gateway Load Balancer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Deploy, scale, and manage 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Deploy, scale, and manage a fleet of 3rd party network virtual appliances in AWS
Combines the following functions
Application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Firewalls, Intrusion…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Firewalls, Intrusion Detection and
Transparent Network Gateway - single entry/exit for all traffic
(destination)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Prevention Systems, Deep Packet…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Prevention Systems, Deep Packet Inspection Systems, payload manipulation, …
Load Balancer - distributes traffic to your virtual appliances
Target Group</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Operates at Layer 3 (Network…</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Operates at Layer 3 (Network Layer) – IP Packets
Uses the GENEVE protocol on port 60
3rd Party Security Virtual Appliances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159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Gateway Load Balancer - Target Groups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Instances
Gateway Load Balancer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IP Addresses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IP Addresses - must be private IPs
(IP Addresses)
Failure mode: shallow health checks, incorrect warm-up or coupled dependencies can report healthy capacity while users experience failure.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i-1234567890abcdef0…</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i-1234567890abcdef0 i-1234567890abcdef0
192.168.1.118
Evidence: request count, target response time, HTTP error rate, scaling activities, lifecycle-hook events and recovery time expose the complete…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Target Group</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Target Group
Decision point: distinguish capacity shortage, unhealthy deployment and downstream dependency failure before changing scaling thresholds.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160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Sticky Sessions (Session Affinity)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possible to implement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possible to implement stickiness so that the
For both CLB &amp; ALB, the “cookie” used for stickiness has an expiration date you control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same client is always redirected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same client is always redirected to the same instance behind a load balancer
Use case: make sure the user doesn’t lose his session data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works for Classic Load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works for Classic Load Balancer
Enabling stickiness may bring imbalance to the load over the backend EC2 instances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 and…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and Network Load Balancer
EC2 Instance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161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Sticky Sessions – Cookie Names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based cookies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based cookies
Cookie name must be specified individually for each target group
Cookie name is AWSALBAPP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 cookie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 cookie
Don’t use AWSALB, AWSALBAPP or AWSALBTG reserved for use by the ELB)
Duration based cookies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Generated by the target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Generated by the target
Application cookie
Cookie generated by the load balancer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include any custom attributes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include any custom attributes required by the application
Generated by the load balancer
Cookie name is AWSALB for ALB, AWSELB for CLB</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163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Cross-Zone Load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1</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1
Without Cross Zone Load Balancing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2</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2
Requests are distributed in the instances of the node of the Elastic Load Balancer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With Cross Zone Load Balancing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With Cross Zone Load Balancing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each load balancer instance…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each load balancer instance distributes evenly across all registered instances in all AZ</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164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Cross-Zone Load Balancing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Disabled by default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Enabled by default (can be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Enabled by default (can be disabled at the Target Group level)
You pay charges ($) for inter AZ data if enabled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charges for inter AZ</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charges for inter AZ data
Classic Load Balancer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Network Load Balancer $ Gateway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Network Load Balancer $ Gateway Load Balancer
No charges for inter AZ data if enabled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166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SSL/TLS - Basics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SSL Certificate allows traffic</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SSL Certificate allows traffic between your clients and your load balancer to be encrypted in transit (in-flight encryption)
Public SSL certificates are issued by Certificate Authorities (CA)</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SSL refers to Secure Sockets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SSL refers to Secure Sockets Layer, used to encrypt connections
Comodo, Symantec, GoDaddy, GlobalSign, Digicert, Letsencrypt, etc…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TLS refers to Transport Layer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TLS refers to Transport Layer Security, which is a newer version
SSL certificates have an expiration date (you set) and must be renewed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Nowadays, TLS certificates are…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Nowadays, TLS certificates are mainly used, but people still refer as SSL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167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The load balancer uses an X.509 certificate (SSL/TLS server certificate)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manage certificates using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manage certificates using ACM (AWS Certificate Manager)
You can add an optional list of certs to support multiple domains
Over private VPC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create upload your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create upload your own certificates alternatively
Cilents can use SNI (Server Name Indication) to specify the hostname they reach
Load Balancer - SSL Certificates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listener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listener
Ability to specify a security policy to support older versions of SSL / TLS (legacy clients)
LOAD BALANCER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must specify a default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must specify a default certificate
HTTPS (encrypted) Over www</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168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SSL - Server Name Indication (SNI)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SNI solves the problem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SNI solves the problem of loading multiple SSL certificates onto multiple web servers (to serve multiple websites)
Only works for ALB &amp; NLB (newer generation), CloudFront
I would like www.mycorp.com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a “newer” protocol,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a “newer” protocol, and requires the client
Does not work for CLB (older gen)
Target group for www.mycorp.com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indicate the hostname of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indicate the hostname of the target server in the initial SSL handshake
SSL Cert: Domain1.example.com
Target group for Domain1.example.com</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server will then find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server will then find the correct certificate, or return the default one
SSL Cert: www.mycorp.com
Use the correct SSL cert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169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Load Balancers - SSL Certificates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Classic Load Balancer (v1)</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Classic Load Balancer (v1)
Supports multiple listeners with multiple SSL certificates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 only one SSL certificate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 only one SSL certificate
Uses Server Name Indication (SNI) to make it work</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Must use multiple CLB for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Must use multiple CLB for multiple hostname with multiple SSL certificates
Network Load Balancer (v2)</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 (v2)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(v2)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spd="fast" advClick="1">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171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Connection Draining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Feature naming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Feature naming
Stops sending new requests to the EC2 instance which is de-registering
waiting for existing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Connection Draining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Connection Draining – for CLB
Between 1 to 3600 seconds (default: 300 seconds)
connections to complete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Deregistration Delay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Deregistration Delay – for ALB &amp; NLB
Can be disabled (set value to 0)
new connections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Time to complete “in-flight…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Time to complete “in-flight requests” while the instance is de-registering or unhealthy
Set to a low value if your requests are short
established to all other instances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transition spd="fast" advClick="1">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172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ELB Health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Target Health Status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Target Health Status
unavailable: health checks disabled
Health Check
Mechanism: DNS, load-balancer health, target-group health, Auto Scaling policy and application dependency checks cooperate to keep capacity available.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Initial: registering the target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Initial: registering the target
If a group contains only unhealthy targets, ELB routes requests across its unhealthy targets
Description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Unused: target is not registered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Unused: target is not registered
Target Group
HealthCheckProtocol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Draining: de-registering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Draining: de-registering the target
Application Load Balancer
Protocol used to perform health checks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transition spd="fast" advClick="1">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173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Balancer Error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Successful request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Successful request : Code 200.
Error 403 : Forbidden
An error 500 / Internal server error would mean some error on the ELB itself.</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Unsuccessful at client side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Unsuccessful at client side : 4XX code.
Error 460 : Client closed connection.
Error 502 : Bad Gateway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Error 400</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Error 400 : Bad Request
Error 463 : X-Forwarded For header with &gt;30 IP (Similar to malformed request).
An error 503/ Service Unavailable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Error 401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Error 401 : Unauthorized
Unsuccessful at server side : 5xx code.
Error 504 / Gateway timeout : probably an issue within the server.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transition spd="fast" advClick="1">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175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Balancers Monitoring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Load Balancer metrics are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Load Balancer metrics are directly pushed to CloudWatch metrics
HTTPCode_Backend_3XX, redirected request
RequestCount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BackendConnectionErrors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BackendConnectionErrors
HTTPCode_ELB_4XX: Client error codes
ReuqestCountPerTarget
Mechanism: DNS, load-balancer health, target-group health, Auto Scaling policy and application dependency checks cooperate to keep capacity available.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HealthyHostCount / UnHealthyHostCo…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HealthyHostCount / UnHealthyHostCount
HTTPCode_ELB_5XX
SurgeQueueLength: the total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HTTPCode_Backend_2XX: Successful…</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HTTPCode_Backend_2XX: Successful request.
Server error codes generated by the load balancer.
number of requests (HTTP listener) or connections (TCP</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transition spd="fast" advClick="1">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Balancer troubleshooting using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400</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400: BAD_REQUEST=&gt; The client sent a malformed request that does not meet HTTP specifications.
instances are enabled and make sure that the keep-alive timeout is greater than the idle timeout settings of load balancer.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503</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503: Service Unavailable =&gt; Ensure that you have healthy instances in
Set alarms &amp; look at the documentation for troubleshooting: message.html</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every Availability Zone that your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every Availability Zone that your load balancer is configured to respond in. Look for HealthyHostCount in CloudWatch</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504</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504: Gateway Timeout =&gt; Check if keep-alive settings on your EC2</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transition spd="fast" advClick="1">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177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Load Balancers Access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Access logs from Load Balancers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Access logs from Load Balancers can be stored in S3 and contain
Only pay for the S3 storage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Client IP address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Client IP address
Helpful for compliance reason
Mechanism: DNS, load-balancer health, target-group health, Auto Scaling policy and application dependency checks cooperate to keep capacity available.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Request paths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Request paths
Helpful for keeping access data even after ELB or EC2 instances are terminated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 response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 response
Access Logs are already encrypted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transition spd="fast" advClick="1">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178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Application Load Balancer Request Tracing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Request tracing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Request tracing – Each HTTP request has an added custom header
Application Load Balancer is not (yet) integrated with X-Ray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‘X-Amzn-Trace-Id’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‘X-Amzn-Trace-Id’
Mechanism: DNS, load-balancer health, target-group health, Auto Scaling policy and application dependency checks cooperate to keep capacity available.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X-Amzn-Trace-Id: Root=1-67891233-a…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X-Amzn-Trace-Id: Root=1-67891233-abcdef012345678912345678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is useful in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is useful in logs / distributed tracing platform to track a single request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transition spd="fast" advClick="1">
    <p:fade/>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179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Target Groups Settings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Deregistration_delay.timeout_secon…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Deregistration_delay.timeout_seconds time the load balancer waits before deregistering a target
Stickiness.type: application-based or duration-based cookie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slow_start.duration_seconds: (see…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slow_start.duration_seconds: (see next slide)
Stickiness.app_cookie.cookie_name: name of the application cookie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load_balancing.algorithm.type: ow…</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load_balancing.algorithm.type: ow the load balancer selects targets when routing requests (Round Robin, Least Outstanding Requests)
Stickiness.app_cookie.duration_seconds: application-based cookie expiration period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Stickiness.enabled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Stickiness.enabled
Stickiness.lb_cookie.duration_seconds: duration-based cookie expiration period
Mechanism: DNS, load-balancer health, target-group health, Auto Scaling policy and application dependency checks cooperate to keep capacity available.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transition spd="fast" advClick="1">
    <p:fade/>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Slow Start Mode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By default, a target receives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By default, a target receives its full share of requests once it’s registered with the target group
The duration period elapses
without Slow Start mode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slow start mode gives healthy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slow start mode gives healthy targets time to warm-up before the load balancer sends them a full share of requests
The target becomes unhealthy
with Slow Start mode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load balancer linearly…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load balancer linearly increases the number of requests that it sends to the target
To disable, set slow start duration value to 0
EC2 Instance EC2 Instance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target exits Slow Start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target exits Slow Start Mode when
Slow Start duration
Target Group</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transition spd="fast" advClick="1">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181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Request Routing Algorithms - Least Outstanding Requests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next instance to receive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next instance to receive the request is the instance that has the lowest number of pending/unfinished requests
(HTTP/HTTPS Listener)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Works with Application Load…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Works with Application Load Balancer and Classic Load Balancer (HTTP/HTTPS)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Mechanism: DNS, load-balancer health, target-group health, Auto Scaling policy and application dependency checks cooperate to keep capacity 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Registered Instances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Registered Instances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transition spd="fast" advClick="1">
    <p:fade/>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182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Request Routing Algorithms - Round Robin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Equally choose the targets from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Equally choose the targets from the target group
Target Group (ALB) / Registered Instances (CLB)</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Works with Application Load…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Works with Application Load Balancer and Classic Load Balancer (TCP)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CLB (TCP Listener)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CLB (TCP Listener)
Mechanism: DNS, load-balancer health, target-group health, Auto Scaling policy and application dependency checks cooperate to keep capacity 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transition spd="fast" advClick="1">
    <p:fade/>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183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Request Routing Algorithms - Flow Hash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Selects a target based 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Selects a target based on the protocol, source/destination IP address, source/destination port, and TCP sequence number
Flow Hash Algorithm
Target Group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Each TCP/UDP connection is routed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Each TCP/UDP connection is routed to a single target for the life of the connection
Source &amp; destination IP Source &amp; destination Port TCP sequence no.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Works with Network Load Balancer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Works with Network Load Balancer
Hash 8743b…
Mechanism: DNS, load-balancer health, target-group health, Auto Scaling policy and application dependency checks cooperate to keep capacity 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Network Load Balancer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Network Load Balancer
EC2 Instance
Failure mode: shallow health checks, incorrect warm-up or coupled dependencies can report healthy capacity while users experience failure.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transition spd="fast" advClick="1">
    <p:fade/>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184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ALB - Listener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Processed in order (with Default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Processed in order (with Default Rule)
http-request-method
Application Load Balancer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Supported Actions (forward…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Supported Actions (forward, redirect, fixed-response)
path-pattern
Rule (Default)
Mechanism: DNS, load-balancer health, target-group health, Auto Scaling policy and application dependency checks cooperate to keep capacity available.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Rule Conditions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Rule Conditions
http-header
Target Group 2
Failure mode: shallow health checks, incorrect warm-up or coupled dependencies can report healthy capacity while users experience failure.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host-header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host-header
query-string
Target Group 3
Evidence: request count, target response time, HTTP error rate, scaling activities, lifecycle-hook events and recovery time expose the complete…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Evaluate the complete request path, capacity response, health model, failure domain and recovery behaviour—not one component in isolation.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transition spd="fast" advClick="1">
    <p:fade/>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45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transition spd="fast" advClick="1">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 and Test a Multi-AZ Highly Available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K4, K5, A3 and A5 by deploying an ALB and Auto Scaling service across two Availability Zones, testing health-based recovery and recording a controlled change.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Deploy a small Multi-AZ web tier, verify health and scaling signals, then run a bounded failure exercise.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two-AZ VPC web tier, ALB, target group, launch template, Auto Scaling group, failover evidence and cleanup record.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VPC · EC2 · ALB · Auto Scaling · CloudWatch · CloudFormation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service spans two Availability Zones, returns a healthy response during one-instance replacement, recovers desired capacity, records measured recovery time, and validation emits LAB 04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transition spd="fast" advClick="1">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04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Deploy</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Two-AZ service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Observe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Health baseline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Disrupt</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One canary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Recover</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Replace capacity</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Measure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Recovery time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04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 and Test a Multi-AZ Highly Available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service spans two Availability Zones, returns a healthy response during one-instance replacement, recovers desired capacity, records measured recovery time, and validation emits LAB 04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transition spd="fast" advClick="1">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04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Reliability, Elasticity and High Availability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Compute redundancy fails if identity, data or network dependencies remain single points.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Auto Scaling changes capacity using a measurable signal and bounded policy.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K4, K5, A3 and A5 by deploying an ALB and Auto Scaling service across two Availability Zones, testing health-based recovery and recording a…</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The service spans two Availability Zones, returns a healthy response during one-instance replacement, recovers desired capacity, records measured recovery time, 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transition spd="med" advClick="1">
    <p:push dir="l"/>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 · LO1 · LO4 · K4 · A1 · A4 · A6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Backup, Restore and Business Continuity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RTO/RPO · AWS Backup · snapshots · replication · pilot light · warm standby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transition spd="med" advClick="1">
    <p:push dir="l"/>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2 · 22%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Backup, Restore and Business Continuity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Backup is not recovery</a:t>
            </a:r>
          </a:p>
          <a:p>
            <a:pPr algn="l">
              <a:spcAft>
                <a:spcPts val="300"/>
              </a:spcAft>
            </a:pPr>
            <a:r>
              <a:rPr sz="1200" b="0">
                <a:solidFill>
                  <a:srgbClr val="5B6372"/>
                </a:solidFill>
                <a:latin typeface="Arial"/>
              </a:rPr>
              <a:t>A protected copy has value only when restore time and data integrity are proven.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RTO and RPO drive design</a:t>
            </a:r>
          </a:p>
          <a:p>
            <a:pPr algn="l">
              <a:spcAft>
                <a:spcPts val="300"/>
              </a:spcAft>
            </a:pPr>
            <a:r>
              <a:rPr sz="1200" b="0">
                <a:solidFill>
                  <a:srgbClr val="5B6372"/>
                </a:solidFill>
                <a:latin typeface="Arial"/>
              </a:rPr>
              <a:t>Recovery time and acceptable data loss determine technology and cost.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Cross-account protection limits blast radius</a:t>
            </a:r>
          </a:p>
          <a:p>
            <a:pPr algn="l">
              <a:spcAft>
                <a:spcPts val="300"/>
              </a:spcAft>
            </a:pPr>
            <a:r>
              <a:rPr sz="1200" b="0">
                <a:solidFill>
                  <a:srgbClr val="5B6372"/>
                </a:solidFill>
                <a:latin typeface="Arial"/>
              </a:rPr>
              <a:t>Separate vault ownership and controls protect against compromised workloads.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Continuity is a rehearsed capability</a:t>
            </a:r>
          </a:p>
          <a:p>
            <a:pPr algn="l">
              <a:spcAft>
                <a:spcPts val="300"/>
              </a:spcAft>
            </a:pPr>
            <a:r>
              <a:rPr sz="1200" b="0">
                <a:solidFill>
                  <a:srgbClr val="5B6372"/>
                </a:solidFill>
                <a:latin typeface="Arial"/>
              </a:rPr>
              <a:t>People, runbooks, dependencies and evidence matter as much as replication.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transition spd="fast" advClick="1">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IMAGEGEN VISUAL · TOPIC 05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Resilience Is a Tested Capability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ws-resilience-failover.png"/>
          <p:cNvPicPr>
            <a:picLocks noChangeAspect="1"/>
          </p:cNvPicPr>
          <p:nvPr/>
        </p:nvPicPr>
        <p:blipFill>
          <a:blip r:embed="rId2"/>
          <a:stretch>
            <a:fillRect/>
          </a:stretch>
        </p:blipFill>
        <p:spPr>
          <a:xfrm>
            <a:off x="777240" y="1755648"/>
            <a:ext cx="7315200" cy="4370832"/>
          </a:xfrm>
          <a:prstGeom prst="rect">
            <a:avLst/>
          </a:prstGeom>
        </p:spPr>
      </p:pic>
      <p:sp>
        <p:nvSpPr>
          <p:cNvPr id="8" name="Rectangle 7"/>
          <p:cNvSpPr/>
          <p:nvPr/>
        </p:nvSpPr>
        <p:spPr>
          <a:xfrm>
            <a:off x="8366760" y="1755648"/>
            <a:ext cx="304495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66760" y="1755648"/>
            <a:ext cx="304495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80" y="2103120"/>
            <a:ext cx="2514600" cy="384048"/>
          </a:xfrm>
          <a:prstGeom prst="rect">
            <a:avLst/>
          </a:prstGeom>
          <a:noFill/>
        </p:spPr>
        <p:txBody>
          <a:bodyPr wrap="square" anchor="t">
            <a:spAutoFit/>
          </a:bodyPr>
          <a:lstStyle/>
          <a:p>
            <a:pPr algn="l">
              <a:spcAft>
                <a:spcPts val="400"/>
              </a:spcAft>
            </a:pPr>
            <a:r>
              <a:rPr sz="1300" b="1">
                <a:solidFill>
                  <a:srgbClr val="10B981"/>
                </a:solidFill>
                <a:latin typeface="Arial"/>
              </a:rPr>
              <a:t>READ THE SYSTEM</a:t>
            </a:r>
          </a:p>
        </p:txBody>
      </p:sp>
      <p:sp>
        <p:nvSpPr>
          <p:cNvPr id="11" name="TextBox 10"/>
          <p:cNvSpPr txBox="1"/>
          <p:nvPr/>
        </p:nvSpPr>
        <p:spPr>
          <a:xfrm>
            <a:off x="8641080" y="2651760"/>
            <a:ext cx="2514600" cy="3063240"/>
          </a:xfrm>
          <a:prstGeom prst="rect">
            <a:avLst/>
          </a:prstGeom>
          <a:noFill/>
        </p:spPr>
        <p:txBody>
          <a:bodyPr wrap="square" anchor="ctr">
            <a:spAutoFit/>
          </a:bodyPr>
          <a:lstStyle/>
          <a:p>
            <a:pPr algn="l">
              <a:spcAft>
                <a:spcPts val="400"/>
              </a:spcAft>
            </a:pPr>
            <a:r>
              <a:rPr sz="1700" b="0">
                <a:solidFill>
                  <a:srgbClr val="161B26"/>
                </a:solidFill>
                <a:latin typeface="Arial"/>
              </a:rPr>
              <a:t>Identify independent failure domains, recovery paths and the evidence needed to prove continuity.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transition spd="fast" advClick="1">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IMAGEGEN VISUAL · TOPIC 05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Air-Gapped Recovery Is an Operating Capability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ws-air-gapped-recovery-v6.png"/>
          <p:cNvPicPr>
            <a:picLocks noChangeAspect="1"/>
          </p:cNvPicPr>
          <p:nvPr/>
        </p:nvPicPr>
        <p:blipFill>
          <a:blip r:embed="rId2"/>
          <a:stretch>
            <a:fillRect/>
          </a:stretch>
        </p:blipFill>
        <p:spPr>
          <a:xfrm>
            <a:off x="777240" y="1755648"/>
            <a:ext cx="7315200" cy="4370832"/>
          </a:xfrm>
          <a:prstGeom prst="rect">
            <a:avLst/>
          </a:prstGeom>
        </p:spPr>
      </p:pic>
      <p:sp>
        <p:nvSpPr>
          <p:cNvPr id="8" name="Rectangle 7"/>
          <p:cNvSpPr/>
          <p:nvPr/>
        </p:nvSpPr>
        <p:spPr>
          <a:xfrm>
            <a:off x="8366760" y="1755648"/>
            <a:ext cx="304495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66760" y="1755648"/>
            <a:ext cx="304495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80" y="2103120"/>
            <a:ext cx="2514600" cy="384048"/>
          </a:xfrm>
          <a:prstGeom prst="rect">
            <a:avLst/>
          </a:prstGeom>
          <a:noFill/>
        </p:spPr>
        <p:txBody>
          <a:bodyPr wrap="square" anchor="t">
            <a:spAutoFit/>
          </a:bodyPr>
          <a:lstStyle/>
          <a:p>
            <a:pPr algn="l">
              <a:spcAft>
                <a:spcPts val="400"/>
              </a:spcAft>
            </a:pPr>
            <a:r>
              <a:rPr sz="1300" b="1">
                <a:solidFill>
                  <a:srgbClr val="10B981"/>
                </a:solidFill>
                <a:latin typeface="Arial"/>
              </a:rPr>
              <a:t>READ THE SYSTEM</a:t>
            </a:r>
          </a:p>
        </p:txBody>
      </p:sp>
      <p:sp>
        <p:nvSpPr>
          <p:cNvPr id="11" name="TextBox 10"/>
          <p:cNvSpPr txBox="1"/>
          <p:nvPr/>
        </p:nvSpPr>
        <p:spPr>
          <a:xfrm>
            <a:off x="8641080" y="2651760"/>
            <a:ext cx="2514600" cy="3063240"/>
          </a:xfrm>
          <a:prstGeom prst="rect">
            <a:avLst/>
          </a:prstGeom>
          <a:noFill/>
        </p:spPr>
        <p:txBody>
          <a:bodyPr wrap="square" anchor="ctr">
            <a:spAutoFit/>
          </a:bodyPr>
          <a:lstStyle/>
          <a:p>
            <a:pPr algn="l">
              <a:spcAft>
                <a:spcPts val="400"/>
              </a:spcAft>
            </a:pPr>
            <a:r>
              <a:rPr sz="1700" b="0">
                <a:solidFill>
                  <a:srgbClr val="161B26"/>
                </a:solidFill>
                <a:latin typeface="Arial"/>
              </a:rPr>
              <a:t>Separate production compromise from protected recovery points and an isolated restore environment; verify access, retention, restore time and application integrity.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transition spd="fast" advClick="1">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RTO and RPO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Objective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Question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Design influence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RTO</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How quickly must service return?</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Automation, standby capacity and failover</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RPO</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How much recent data may be lost?</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Backup frequency and replication</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Retention</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How far back must recovery reach?</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Lifecycle, vault and compliance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Integrity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How do we know restored data is correct?</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Checksums and application validation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transition spd="fast" advClick="1">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Continuity Patterns Trade Cost for Recovery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Choose the least costly pattern that demonstrably meets business RTO, RPO and compliance requirements.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transition spd="fast" advClick="1">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Recovery Assurance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Classify</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Workload and data</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Protect</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Plan and vault</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Monitor</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Job and copy status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Restore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Isolated target</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Application and data</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Improve</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Gap and owner</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A6 EVIDENCE</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completed backup job is an input; a tested restore with measured recovery is evidence.</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Plan</a:t>
            </a:r>
          </a:p>
          <a:p>
            <a:pPr algn="l">
              <a:spcAft>
                <a:spcPts val="300"/>
              </a:spcAft>
            </a:pPr>
            <a:r>
              <a:rPr sz="1300" b="0">
                <a:solidFill>
                  <a:srgbClr val="5B6372"/>
                </a:solidFill>
                <a:latin typeface="Arial"/>
              </a:rPr>
              <a:t>Schedules, windows, lifecycle and copy actions.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Vault</a:t>
            </a:r>
          </a:p>
          <a:p>
            <a:pPr algn="l">
              <a:spcAft>
                <a:spcPts val="300"/>
              </a:spcAft>
            </a:pPr>
            <a:r>
              <a:rPr sz="1300" b="0">
                <a:solidFill>
                  <a:srgbClr val="5B6372"/>
                </a:solidFill>
                <a:latin typeface="Arial"/>
              </a:rPr>
              <a:t>Access policy, encryption and logical separation.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Vault Lock</a:t>
            </a:r>
          </a:p>
          <a:p>
            <a:pPr algn="l">
              <a:spcAft>
                <a:spcPts val="300"/>
              </a:spcAft>
            </a:pPr>
            <a:r>
              <a:rPr sz="1300" b="0">
                <a:solidFill>
                  <a:srgbClr val="5B6372"/>
                </a:solidFill>
                <a:latin typeface="Arial"/>
              </a:rPr>
              <a:t>Retention controls designed to resist early deletion.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Audit Manager</a:t>
            </a:r>
          </a:p>
          <a:p>
            <a:pPr algn="l">
              <a:spcAft>
                <a:spcPts val="300"/>
              </a:spcAft>
            </a:pPr>
            <a:r>
              <a:rPr sz="1300" b="0">
                <a:solidFill>
                  <a:srgbClr val="5B6372"/>
                </a:solidFill>
                <a:latin typeface="Arial"/>
              </a:rPr>
              <a:t>Evidence against backup policy and compliance frameworks.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transition spd="fast" advClick="1">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Replication Choices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Mechanism</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Strength</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concern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EBS snapshot copy</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Point-in-time regional protection</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Restore and launch workflow</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S3 replication</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Object-level asynchronous copy</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Existing objects and delete markers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RDS cross-Region replica</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Lower RPO read copy</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Promotion and endpoint change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DynamoDB global table</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Multi-Region active data</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Conflict and application behaviour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transition spd="fast" advClick="1">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Continuity Runbook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Decision</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Declared trigger and authority</a:t>
            </a:r>
          </a:p>
          <a:p>
            <a:pPr>
              <a:spcAft>
                <a:spcPts val="900"/>
              </a:spcAft>
            </a:pPr>
            <a:r>
              <a:rPr sz="1400" b="0">
                <a:solidFill>
                  <a:srgbClr val="161B26"/>
                </a:solidFill>
                <a:latin typeface="Arial"/>
              </a:rPr>
              <a:t>•  Communication path</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Execution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Dependency order</a:t>
            </a:r>
          </a:p>
          <a:p>
            <a:pPr>
              <a:spcAft>
                <a:spcPts val="900"/>
              </a:spcAft>
            </a:pPr>
            <a:r>
              <a:rPr sz="1400" b="0">
                <a:solidFill>
                  <a:srgbClr val="161B26"/>
                </a:solidFill>
                <a:latin typeface="Arial"/>
              </a:rPr>
              <a:t>•  Automated and manual steps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Evidence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Timestamps and validation</a:t>
            </a:r>
          </a:p>
          <a:p>
            <a:pPr>
              <a:spcAft>
                <a:spcPts val="900"/>
              </a:spcAft>
            </a:pPr>
            <a:r>
              <a:rPr sz="1400" b="0">
                <a:solidFill>
                  <a:srgbClr val="161B26"/>
                </a:solidFill>
                <a:latin typeface="Arial"/>
              </a:rPr>
              <a:t>•  Actual RTO/RPO and gaps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transition spd="fast" advClick="1">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Recovery Principle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restore you have not tested is only a hypothesis.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Schedule recovery exercises, isolate tests from production, measure actual results and close every gap with an owner.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transition spd="fast" advClick="1">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Recovery Objectives versus Test Results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 passed backup can still miss the service objective: the RDS test exceeds RTO and requires a corrective action with an owner.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transition spd="fast" advClick="1">
    <p:fade/>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660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DataSync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Move large amount of data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Move large amount of data to and from
Amazon S3 (any storage classes – including Glacier)
File permissions and metadata are preserved (NFS POSIX, SMB…)</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On-premises / other cloud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On-premises / other cloud to AWS (NFS, SMB, HDFS, S3 API…) - needs agent
Amazon EFS
One agent task can use 10 Gbps, can setup a bandwidth limit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to AWS (different storage…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to AWS (different storage services) – no agent needed
Amazon FSx (Windows, Lustre, NetApp, OpenZFS...)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synchronize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synchronize to
Replication tasks can be scheduled hourly, daily, weekly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transition spd="fast" advClick="1">
    <p:fade/>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661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DataSync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049103" y="1792224"/>
            <a:ext cx="5619330"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backup plans, vault…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backup plans, vault policies, Vault Lock, cross-account copies and restore-testing plans separate…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immutable recovery point can still be unusable when keys, IAM roles, network dependencies…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job completion…</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job completion, recovery-point age, restore duration, validation workflow, data checksum and actual…</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transition spd="fast" advClick="1">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662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DataSync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NFS / SMB to AWS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NFS / SMB to AWS (S3, EFS, FSx…)
AWS Storage Resources
S3 One Zone-IA</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On-Premises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On-Premises
S3 Standard
S3 Glacier
Mechanism: backup plans, vault policies, Vault Lock, cross-account copies and restore-testing plans separate protection from operational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NFS or SMB</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NFS or SMB
S3 Intelligent- Tiering
S3 Glacier Deep Archive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DataSync Agent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DataSync Agent
S3 Standard-IA
Amazon FSx
Failure mode: an immutable recovery point can still be unusable when keys, IAM roles, network dependencies, metadata or application validation 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transition spd="fast" advClick="1">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663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DataSync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Transfer between AWS storage…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Transfer between AWS storage services
Mechanism: backup plans, vault policies, Vault Lock, cross-account copies and restore-testing plans separate protection from operational recovery.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copy data and metadata between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copy data and metadata between AWS Storage Services
Failure mode: an immutable recovery point can still be unusable when keys, IAM roles, network dependencies, metadata or application validation are…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EFS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EFS
Evidence: job completion, recovery-point age, restore duration, validation workflow, data checksum and actual RTO/RPO prove recoverability.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FSx</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FSx
Decision point: choose backup/restore, pilot light, warm standby or active/active from measured business objectives—not from service familiarity.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transition spd="fast" advClick="1">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665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Fully managed service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Fully managed service
Amazon EC2 / Amazon EBS
AWS Storage Gateway (Volume Gateway)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Centrally manage and automate…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Centrally manage and automate backups across AWS services
Amazon RDS (all DBs engines) / Amazon Aurora / Amazon DynamoDB
Supports cross-region backups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need to create custom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need to create custom scripts and manual processes
Amazon DocumentDB / Amazon Neptune
Supports cross-account backups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Supported services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Supported services
Amazon EFS / Amazon FSx (Lustre &amp; Windows File Server)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transition spd="fast" advClick="1">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666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77638" y="1792224"/>
            <a:ext cx="6162260"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backup plans, vault…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backup plans, vault policies, Vault Lock, cross-account copies and restore-testing plans separate…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immutable recovery point can still be unusable when keys, IAM roles, network dependencies…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job completion…</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job completion, recovery-point age, restore duration, validation workflow, data checksum and actual…</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transition spd="fast" advClick="1">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667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Supports PITR for supported…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Supports PITR for supported services
Backup frequency (every 12 hours, daily, weekly, monthly, cron expression)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On-Demand and Scheduled backups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On-Demand and Scheduled backups
Backup window
Mechanism: backup plans, vault policies, Vault Lock, cross-account copies and restore-testing plans separate protection from operational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Tag-based backup policies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Tag-based backup policies
Transition to Cold Storage (Never, Days, Weeks, Months,Years)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create backup policies known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create backup policies known as Backup Plans
Retention Period (Always, Days, Weeks, Months,Years)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transition spd="fast" advClick="1">
    <p:fade/>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668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Backup Plan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Backup Plan
Automatically backed up to
Mechanism: backup plans, vault policies, Vault Lock, cross-account copies and restore-testing plans separate protection from operational recovery.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(frequency, retention policy)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(frequency, retention policy)
DynamoDB DocumentDB
Failure mode: an immutable recovery point can still be unusable when keys, IAM roles, network dependencies, metadata or application validation are…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Assign AWS Resources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Assign AWS Resources
Evidence: job completion, recovery-point age, restore duration, validation workflow, data checksum and actual RTO/RPO prove recoverability.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Storage Gateway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Storage Gateway
Decision point: choose backup/restore, pilot light, warm standby or active/active from measured business objectives—not from service familiarity.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transition spd="fast" advClick="1">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669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Backup Vault 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Enforce a WORM (Write Once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Enforce a WORM (Write Once Read Many) state for all the backups that you store in your AWS Backup Vault
Even the root user cannot delete backups when enabled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Additional layer of defense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Additional layer of defense to protect your backups against
Backup Vault Lock Policy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Inadvertent or malicious delete…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Inadvertent or malicious delete operations
Backups can’t be deleted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Updates that shorten or alter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Updates that shorten or alter retention periods
Failure mode: an immutable recovery point can still be unusable when keys, IAM roles, network dependencies, metadata or application validation 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transition spd="fast" advClick="1">
    <p:fade/>
  </p:transition>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328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What’s an EBS Volume?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EBS (Elastic Block Store)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EBS (Elastic Block Store) Volume is a network drive you can attach to your instances while they run
Analogy:Think of them as a “network USB stick”</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allows your instances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allows your instances to persist data, even after their termination
Free tier: 30 GB of free EBS storage of type General Purpose (SSD) or Magnetic per month</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 can only be mounted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 can only be mounted to one instance at a time (at the CCP level)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 are bound to 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 are bound to a specific availability zone
Mechanism: backup plans, vault policies, Vault Lock, cross-account copies and restore-testing plans separate protection from operational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transition spd="fast" advClick="1">
    <p:fade/>
  </p:transition>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330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Volume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a network drive (i.e.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a network drive (i.e. not a physical drive)
An EBS Volume in us-east-1a cannot be attached to us-east-1b
You can increase the capacity of the drive over time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uses the network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uses the network to communicate the instance, which means there might be a bit of latency
To move a volume across, you first need to snapshot it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can be detached from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can be detached from an EC2 instance and attached to another one quickly
Have a provisioned capacity (size in GBs, and IOPS)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locked to an Availability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locked to an Availability Zone (AZ)
You get billed for all the provisioned capacity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p:transition spd="fast" advClick="1">
    <p:fade/>
  </p:transition>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EC2 Instance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volumes are network drives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volumes are network drives with good but “limited” performance
Good for buffer / cache / scratch data / temporary content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need a high-performance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need a high-performance hardware disk, use EC2 Instance store
Risk of data loss if hardware fails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Better I/O performance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Better I/O performance
Backups and Replication are your responsibility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 Store lose their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Store lose their storage if they’re stopped (ephemeral)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271</a:t>
            </a:r>
          </a:p>
        </p:txBody>
      </p:sp>
    </p:spTree>
  </p:cSld>
  <p:clrMapOvr>
    <a:masterClrMapping/>
  </p:clrMapOvr>
  <p:transition spd="fast" advClick="1">
    <p:fade/>
  </p:transition>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Volume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Volumes come in 6</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Volumes come in 6 types
sc1 (HDD): Lowest cost HDD volume designed for less frequently accessed workloads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gp2 / gp3 (SSD)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gp2 / gp3 (SSD): General purpose SSD volume that balances price and performance for a wide variety of workloads
EBS Volumes are characterized in Size | Throughput | IOPS (I/O Ops Per Sec)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io1 / io2 Block Express (SSD)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io1 / io2 Block Express (SSD): Highest-performance SSD volume for mission-critical low-latency or high-throughput workloads
When in doubt always consult the AWS documentation – it’s good!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st1 (HDD)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st1 (HDD): Low cost HDD volume designed for frequently accessed, throughput- intensive workloads
Only gp2/gp3 and io1/io2 Block Express can be used as boot volumes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272</a:t>
            </a:r>
          </a:p>
        </p:txBody>
      </p:sp>
    </p:spTree>
  </p:cSld>
  <p:clrMapOvr>
    <a:masterClrMapping/>
  </p:clrMapOvr>
  <p:transition spd="fast" advClick="1">
    <p:fade/>
  </p:transition>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EBS Volume Types Use cases Provisioned IOPS (PIOPS) SSD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Critical business applications…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Critical business applications with sustained IOPS performance
Max PIOPS: 64,000 for Nitro EC2 instances &amp; 32,000 for other
Max PIOPS: 256,000 with an IOPS:GiB ratio of 1,000:1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 applications that need more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 applications that need more than 16,000 IOPS
Can increase PIOPS independently from storage size
Supports EBS Multi-attach</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Great for databases workloads…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Great for databases workloads (sensitive to storage perf and consistency)
io2 Block Express (4 GiB – 64 TiB)</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io1 (4 GiB</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io1 (4 GiB - 16 TiB)
Sub-millisecond latency
Mechanism: backup plans, vault policies, Vault Lock, cross-account copies and restore-testing plans separate protection from operational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273</a:t>
            </a:r>
          </a:p>
        </p:txBody>
      </p:sp>
    </p:spTree>
  </p:cSld>
  <p:clrMapOvr>
    <a:masterClrMapping/>
  </p:clrMapOvr>
  <p:transition spd="fast" advClick="1">
    <p:fade/>
  </p:transition>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Volume Types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Hard Disk Drives (HDD)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Hard Disk Drives (HDD)
Big Data, Data Warehouses, Log Processing
Scenarios where lowest cost is important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Cannot be a boot volume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Cannot be a boot volume
Max through put500 MiB/s – max IOPS 500
Max throughput 250 MiB/s – max IOPS 250</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125 GiB to 16 TiB</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125 GiB to 16 TiB
Cold HDD (sc1)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Throughput Optimized HDD (st1)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Throughput Optimized HDD (st1)
For data that is infrequently accessed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274</a:t>
            </a:r>
          </a:p>
        </p:txBody>
      </p:sp>
    </p:spTree>
  </p:cSld>
  <p:clrMapOvr>
    <a:masterClrMapping/>
  </p:clrMapOvr>
  <p:transition spd="fast" advClick="1">
    <p:fade/>
  </p:transition>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 Volume Types Summary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2567306" y="1792224"/>
            <a:ext cx="2582923"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backup plans, vault…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backup plans, vault policies, Vault Lock, cross-account copies and restore-testing plans separate…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immutable recovery point can still be unusable when keys, IAM roles, network dependencies…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job completion…</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job completion, recovery-point age, restore duration, validation workflow, data checksum and actual…</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275</a:t>
            </a:r>
          </a:p>
        </p:txBody>
      </p:sp>
    </p:spTree>
  </p:cSld>
  <p:clrMapOvr>
    <a:masterClrMapping/>
  </p:clrMapOvr>
  <p:transition spd="fast" advClick="1">
    <p:fade/>
  </p:transition>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Multi-Attach - io1/io2 family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Attach the same EBS volume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Attach the same EBS volume to multiple EC2 instances in the same AZ
Up to 16 EC2 Instances at a time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Each instance has full read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Each instance has full read &amp; write permissions to the high-performance volume
Must use a file system that’s cluster-aware (not XFS, EXT4, etc…)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Achieve higher application…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Achieve higher application availability in clustered Linux applications (ex:Teradata)
Availability Zone 1</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Applications must manage…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Applications must manage concurrent write operations
io2 volume with Multi-Attach</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276</a:t>
            </a:r>
          </a:p>
        </p:txBody>
      </p:sp>
    </p:spTree>
  </p:cSld>
  <p:clrMapOvr>
    <a:masterClrMapping/>
  </p:clrMapOvr>
  <p:transition spd="fast" advClick="1">
    <p:fade/>
  </p:transition>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Volume Resizing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only increase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only increase the EBS volumes
After increasing the size, it’s possible for the volume to be in a long time in the “optimisation” phase.The volume is still usable
repartition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Size (any volume type)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Size (any volume type)
You can’t decrease the size of your EBS volume (create another smaller volume then migrate data)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IOPS (only in IO1)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IOPS (only in IO1)
EBS Volume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After resizing an EBS volume,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After resizing an EBS volume, you need to repartition your drive
Optimizing</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277</a:t>
            </a:r>
          </a:p>
        </p:txBody>
      </p:sp>
    </p:spTree>
  </p:cSld>
  <p:clrMapOvr>
    <a:masterClrMapping/>
  </p:clrMapOvr>
  <p:transition spd="fast" advClick="1">
    <p:fade/>
  </p:transition>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343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Snapshots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Make a backup (snapshot)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Make a backup (snapshot) of your EBS volume at a point in time
US-EAST-1B</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Not necessary to detach volume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Not necessary to detach volume to do snapshot, but recommended
EBS Snapshot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copy snapshots across AZ</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copy snapshots across AZ or Region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US-EAST-1A
Failure mode: an immutable recovery point can still be unusable when keys, IAM roles, network dependencies, metadata or application validation 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278</a:t>
            </a:r>
          </a:p>
        </p:txBody>
      </p:sp>
    </p:spTree>
  </p:cSld>
  <p:clrMapOvr>
    <a:masterClrMapping/>
  </p:clrMapOvr>
  <p:transition spd="fast" advClick="1">
    <p:fade/>
  </p:transition>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Data Lifecycle Manager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 the creation, retention…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 the creation, retention, and deletion of EBS snapshots and EBS-backed AMIs
Can’t be used to manage instance-store backed AMIs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Schedule backups, cross-account…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Schedule backups, cross-account snapshot copies, delete outdated backups, …
EBS Volume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resource tags to identify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resource tags to identify the resources (EC2 instances, EBS volumes)
EBS Volumes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Can’t be used to manage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Can’t be used to manage snapshots/AMIs created outside DLM
EC2 Instance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279</a:t>
            </a:r>
          </a:p>
        </p:txBody>
      </p:sp>
    </p:spTree>
  </p:cSld>
  <p:clrMapOvr>
    <a:masterClrMapping/>
  </p:clrMapOvr>
  <p:transition spd="fast" advClick="1">
    <p:fade/>
  </p:transition>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Data Lifecycle Manager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000707"/>
            <a:ext cx="6217920" cy="2984601"/>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backup plans, vault…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backup plans, vault policies, Vault Lock, cross-account copies and restore-testing plans separate…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immutable recovery point can still be unusable when keys, IAM roles, network dependencies…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job completion…</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job completion, recovery-point age, restore duration, validation workflow, data checksum and actual…</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280</a:t>
            </a:r>
          </a:p>
        </p:txBody>
      </p:sp>
    </p:spTree>
  </p:cSld>
  <p:clrMapOvr>
    <a:masterClrMapping/>
  </p:clrMapOvr>
  <p:transition spd="fast" advClick="1">
    <p:fade/>
  </p:transition>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346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Snapshots - Fast Snapshot Restore (FSR)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Snapshots stored in S3</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Snapshots stored in S3
FSR helps you to create a volume from a snapshot that is fully initialized at creation (no I/O latency)
(FSR enabled)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By default, there’s a latency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By default, there’s a latency of I/O operations the first time each block is accessed (block must be pulled from S3)
Enabled for a snapshot in a particular AZ (billed per minute – very expensive $$$)
EBS Volume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Solution: force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Solution: force the initialization of the entire
Can be enabled on snapshots created by Data Lifecycle Manager
storage blocks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volume (using the dd 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volume (using the dd or fio command), or you can enable FSR
EBS Snapshot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281</a:t>
            </a:r>
          </a:p>
        </p:txBody>
      </p:sp>
    </p:spTree>
  </p:cSld>
  <p:clrMapOvr>
    <a:masterClrMapping/>
  </p:clrMapOvr>
  <p:transition spd="fast" advClick="1">
    <p:fade/>
  </p:transition>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Snapshots Features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Snapshot Archive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Snapshot Archive
Setup rules to retain deleted snapshots so you can recover them after an accidental deletion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Move a Snapshot to an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Move a Snapshot to an ”archive tier” that is 75% cheaper
Specify retention (from 1 day to 1 year)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Takes within 24 to 72</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Takes within 24 to 72 hours for restoring the archive
EBS Snapshot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Recycle Bin for EBS Snapshots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Recycle Bin for EBS Snapshots
Recycle Bin
Mechanism: backup plans, vault policies, Vault Lock, cross-account copies and restore-testing plans separate protection from operational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282</a:t>
            </a:r>
          </a:p>
        </p:txBody>
      </p:sp>
    </p:spTree>
  </p:cSld>
  <p:clrMapOvr>
    <a:masterClrMapping/>
  </p:clrMapOvr>
  <p:transition spd="fast" advClick="1">
    <p:fade/>
  </p:transition>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Migration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Volumes are only locked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Volumes are only locked to a specific AZ
Create a volume from the snapshot in the AZ of your choice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migrate it to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migrate it to a different AZ (or region)
Let’s practice!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Snapshot the volume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Snapshot the volume
Mechanism: backup plans, vault policies, Vault Lock, cross-account copies and restore-testing plans separate protection from operational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(optional) Copy the volume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(optional) Copy the volume to a different region
Failure mode: an immutable recovery point can still be unusable when keys, IAM roles, network dependencies, metadata or application validation 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283</a:t>
            </a:r>
          </a:p>
        </p:txBody>
      </p:sp>
    </p:spTree>
  </p:cSld>
  <p:clrMapOvr>
    <a:masterClrMapping/>
  </p:clrMapOvr>
  <p:transition spd="fast" advClick="1">
    <p:fade/>
  </p:transition>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you create an encrypted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you create an encrypted EBS volume, you get the following
All volumes created from the snapshot
Copying an unencrypted snapshot allows encryption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at rest is encrypted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at rest is encrypted inside the volume
Encryption and decryption are handled transparently (you have nothing to do)
Snapshots of encrypted volumes are encrypted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the data in flight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the data in flight moving between the instance and the volume is encrypted
Encryption has a minimal impact on latency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snapshots are encrypted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snapshots are encrypted
EBS Encryption leverages keys from KMS (AES-256)</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284</a:t>
            </a:r>
          </a:p>
        </p:txBody>
      </p:sp>
    </p:spTree>
  </p:cSld>
  <p:clrMapOvr>
    <a:masterClrMapping/>
  </p:clrMapOvr>
  <p:transition spd="fast" advClick="1">
    <p:fade/>
  </p:transition>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353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EFS - Elastic File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Managed NFS (network file system)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Managed NFS (network file system) that can be mounted on many EC2
EC2 Instances
EFS FileSystem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EFS works with EC2 instances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EFS works with EC2 instances in multi-AZ
us-east-1b
Mechanism: backup plans, vault policies, Vault Lock, cross-account copies and restore-testing plans separate protection from operational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Highly available, scalable…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Highly available, scalable, expensive (3x gp2), pay per use
us-east-1c</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us-east-1a
Security Group
Failure mode: an immutable recovery point can still be unusable when keys, IAM roles, network dependencies, metadata or application validation 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285</a:t>
            </a:r>
          </a:p>
        </p:txBody>
      </p:sp>
    </p:spTree>
  </p:cSld>
  <p:clrMapOvr>
    <a:masterClrMapping/>
  </p:clrMapOvr>
  <p:transition spd="fast" advClick="1">
    <p:fade/>
  </p:transition>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354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EFS - Elastic File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814170"/>
            <a:ext cx="6217920" cy="3357676"/>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backup plans, vault…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backup plans, vault policies, Vault Lock, cross-account copies and restore-testing plans separate…</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an immutable recovery point can still be unusable when keys, IAM roles, network dependencies…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job completion…</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job completion, recovery-point age, restore duration, validation workflow, data checksum and actual…</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286</a:t>
            </a:r>
          </a:p>
        </p:txBody>
      </p:sp>
    </p:spTree>
  </p:cSld>
  <p:clrMapOvr>
    <a:masterClrMapping/>
  </p:clrMapOvr>
  <p:transition spd="fast" advClick="1">
    <p:fade/>
  </p:transition>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355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EFS - Elastic File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cases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cases: content management, web serving, data sharing, Wordpress
Encryption at rest using KMS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NFSv4.1 protocol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NFSv4.1 protocol
POSIX file system (~Linux) that has a standard file API</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security group to control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security group to control access to EFS
File system scales automatically, pay-per-use, no capacity planning!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Compatible with Linux based AMI</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Compatible with Linux based AMI (not windows)
Mechanism: backup plans, vault policies, Vault Lock, cross-account copies and restore-testing plans separate protection from operational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287</a:t>
            </a:r>
          </a:p>
        </p:txBody>
      </p:sp>
    </p:spTree>
  </p:cSld>
  <p:clrMapOvr>
    <a:masterClrMapping/>
  </p:clrMapOvr>
  <p:transition spd="fast" advClick="1">
    <p:fade/>
  </p:transition>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357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EFS - Performance &amp; Storage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1000s of concurrent NFS clients,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1000s of concurrent NFS clients, 10 GB+ /s throughput
Max I/O - higher latecy, throughput, highly parallel (big data, media processing)
Elastic - automatically scales throughput up or down based on your workloads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Grow to Petabyte-scale network…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Grow to Petabyte-scale network file system, automatically
Throughput Mode
Up to 3GiB/s for reads and 1GiB/s for writes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Performance Mode (set at EFS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Performance Mode (set at EFS creation time)
Bursting - 1TB = 50MiB/s + burst of up to 100MiB/s
Used for unpredictable workloads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General Purpose (default)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General Purpose (default) - latency-sensitive use cases (web server, CMS, etc…)
Provisioned - set your throughput regardless of storage size, ex: 1 GiB/s for 1 TB storage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288</a:t>
            </a:r>
          </a:p>
        </p:txBody>
      </p:sp>
    </p:spTree>
  </p:cSld>
  <p:clrMapOvr>
    <a:masterClrMapping/>
  </p:clrMapOvr>
  <p:transition spd="fast" advClick="1">
    <p:fade/>
  </p:transition>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358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EFS - Storage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Storage Tiers (lifecycle…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Storage Tiers (lifecycle management feature move file after N days)
Implement Lifecycle policies to move files between storage tiers
Over 90% in cost savings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Standard: for frequently accessed…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Standard: for frequently accessed files
Availability and durability
Amazon EFS File System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Infrequent access (EFS-IA)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Infrequent access (EFS-IA): cost to retrieve files, lower price to store.
Standard: Multi-AZ, great for prod
Lifecycle Policy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Archive: rarely accessed data (few</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Archive: rarely accessed data (few times each year), 50% cheaper
One Zone: One AZ, great for dev, backup enabled by default, compatible with IA (EFS One Zone-IA)
no access for 60 days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Distinguish backup completion from recovery assurance; measure restore time, data integrity, dependency order and actual RPO.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289</a:t>
            </a:r>
          </a:p>
        </p:txBody>
      </p:sp>
    </p:spTree>
  </p:cSld>
  <p:clrMapOvr>
    <a:masterClrMapping/>
  </p:clrMapOvr>
  <p:transition spd="fast" advClick="1">
    <p:fade/>
  </p:transition>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30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290</a:t>
            </a:r>
          </a:p>
        </p:txBody>
      </p:sp>
    </p:spTree>
  </p:cSld>
  <p:clrMapOvr>
    <a:masterClrMapping/>
  </p:clrMapOvr>
  <p:transition spd="fast" advClick="1">
    <p:fade/>
  </p:transition>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Prove Backup and Restore Readiness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K4, A1, A4 and A6 by protecting an S3/EBS-style workload, restoring into isolation and measuring actual recovery evidence.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 backup plan and vault configuration, run a protected copy, restore into isolation and validate integrity and recovery time.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backup plan, selection, restore checklist, recovery evidence and measured RTO/RPO report.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AWS Backup · S3 · EBS · KMS · CloudWatch Events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completed recovery point is restored to an isolated target, integrity is checked, actual recovery is compared with RTO/RPO, gaps have owners, and validation emits LAB 06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291</a:t>
            </a:r>
          </a:p>
        </p:txBody>
      </p:sp>
    </p:spTree>
  </p:cSld>
  <p:clrMapOvr>
    <a:masterClrMapping/>
  </p:clrMapOvr>
  <p:transition spd="fast" advClick="1">
    <p:fade/>
  </p:transition>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06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Classify</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RTO and RPO</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Protect</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Plan and vault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Restore</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Isolated target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Data integrity</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Improve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Gap and owner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06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Prove Backup and Restore Readiness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completed recovery point is restored to an isolated target, integrity is checked, actual recovery is compared with RTO/RPO, gaps have owners, and validation emits LAB 06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293</a:t>
            </a:r>
          </a:p>
        </p:txBody>
      </p:sp>
    </p:spTree>
  </p:cSld>
  <p:clrMapOvr>
    <a:masterClrMapping/>
  </p:clrMapOvr>
  <p:transition spd="fast" advClick="1">
    <p:fade/>
  </p:transition>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05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Backup, Restore and Business Continuity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A protected copy has value only when restore time and data integrity are proven.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Recovery time and acceptable data loss determine technology and cost.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K4, A1, A4 and A6 by protecting an S3/EBS-style workload, restoring into isolation and measuring actual recovery evidence.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A completed recovery point is restored to an isolated target, integrity is checked, actual recovery is compared with RTO/RPO, gaps have owners, and validation emits…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294</a:t>
            </a:r>
          </a:p>
        </p:txBody>
      </p:sp>
    </p:spTree>
  </p:cSld>
  <p:clrMapOvr>
    <a:masterClrMapping/>
  </p:clrMapOvr>
  <p:transition spd="med" advClick="1">
    <p:push dir="l"/>
  </p:transition>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 · LO2 · LO4 · K3 · K4 · A4 · A5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Deployment, Provisioning and Automation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CloudFormation · StackSets · change sets · drift · Systems Manager Automation · Git and IaC</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295</a:t>
            </a:r>
          </a:p>
        </p:txBody>
      </p:sp>
    </p:spTree>
  </p:cSld>
  <p:clrMapOvr>
    <a:masterClrMapping/>
  </p:clrMapOvr>
  <p:transition spd="med" advClick="1">
    <p:push dir="l"/>
  </p:transition>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3 · 22%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Deployment, Provisioning and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Infrastructure is versioned</a:t>
            </a:r>
          </a:p>
          <a:p>
            <a:pPr algn="l">
              <a:spcAft>
                <a:spcPts val="300"/>
              </a:spcAft>
            </a:pPr>
            <a:r>
              <a:rPr sz="1200" b="0">
                <a:solidFill>
                  <a:srgbClr val="5B6372"/>
                </a:solidFill>
                <a:latin typeface="Arial"/>
              </a:rPr>
              <a:t>Templates and policies create a reviewable desired state.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Preview before execution</a:t>
            </a:r>
          </a:p>
          <a:p>
            <a:pPr algn="l">
              <a:spcAft>
                <a:spcPts val="300"/>
              </a:spcAft>
            </a:pPr>
            <a:r>
              <a:rPr sz="1200" b="0">
                <a:solidFill>
                  <a:srgbClr val="5B6372"/>
                </a:solidFill>
                <a:latin typeface="Arial"/>
              </a:rPr>
              <a:t>Change sets reveal creates, replacements and deletions before the stack changes.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Drift is a control signal</a:t>
            </a:r>
          </a:p>
          <a:p>
            <a:pPr algn="l">
              <a:spcAft>
                <a:spcPts val="300"/>
              </a:spcAft>
            </a:pPr>
            <a:r>
              <a:rPr sz="1200" b="0">
                <a:solidFill>
                  <a:srgbClr val="5B6372"/>
                </a:solidFill>
                <a:latin typeface="Arial"/>
              </a:rPr>
              <a:t>Difference between desired and actual state requires investigation, not blind overwrite.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Automation must be idempotent</a:t>
            </a:r>
          </a:p>
          <a:p>
            <a:pPr algn="l">
              <a:spcAft>
                <a:spcPts val="300"/>
              </a:spcAft>
            </a:pPr>
            <a:r>
              <a:rPr sz="1200" b="0">
                <a:solidFill>
                  <a:srgbClr val="5B6372"/>
                </a:solidFill>
                <a:latin typeface="Arial"/>
              </a:rPr>
              <a:t>Repeated execution should converge safely to the intended state.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296</a:t>
            </a:r>
          </a:p>
        </p:txBody>
      </p:sp>
    </p:spTree>
  </p:cSld>
  <p:clrMapOvr>
    <a:masterClrMapping/>
  </p:clrMapOvr>
  <p:transition spd="fast" advClick="1">
    <p:fade/>
  </p:transition>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Infrastructure Change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Branch</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Versioned proposal</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Syntax and policy</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Plan</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Change set</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Approve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Risk and authority</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Apply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Bounded deployment</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State, service and…</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A5 CONNECTION</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template, plan, approval, execution and verification form one auditable release record.</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Update Controls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Control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Purpose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use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Change set</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Preview resource actions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Review replacements and deletions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Stack policy</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Protect critical resources</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Restrict updates during normal change</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Rollback</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Return after failed update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Preserve events for diagnosis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Termination protection</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Prevent accidental stack deletion</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Use on persistent environments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298</a:t>
            </a:r>
          </a:p>
        </p:txBody>
      </p:sp>
    </p:spTree>
  </p:cSld>
  <p:clrMapOvr>
    <a:masterClrMapping/>
  </p:clrMapOvr>
  <p:transition spd="fast" advClick="1">
    <p:fade/>
  </p:transition>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Automation Reduces Configuration Variance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Automation improves consistency; policy and version control make the change explainable and governable.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299</a:t>
            </a:r>
          </a:p>
        </p:txBody>
      </p:sp>
    </p:spTree>
  </p:cSld>
  <p:clrMapOvr>
    <a:masterClrMapping/>
  </p:clrMapOvr>
  <p:transition spd="fast" advClick="1">
    <p:fade/>
  </p:transition>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Template Engineering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Parameters</a:t>
            </a:r>
          </a:p>
          <a:p>
            <a:pPr algn="l">
              <a:spcAft>
                <a:spcPts val="300"/>
              </a:spcAft>
            </a:pPr>
            <a:r>
              <a:rPr sz="1300" b="0">
                <a:solidFill>
                  <a:srgbClr val="5B6372"/>
                </a:solidFill>
                <a:latin typeface="Arial"/>
              </a:rPr>
              <a:t>Expose safe environment-specific values without duplicating templates.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Mappings and conditions</a:t>
            </a:r>
          </a:p>
          <a:p>
            <a:pPr algn="l">
              <a:spcAft>
                <a:spcPts val="300"/>
              </a:spcAft>
            </a:pPr>
            <a:r>
              <a:rPr sz="1300" b="0">
                <a:solidFill>
                  <a:srgbClr val="5B6372"/>
                </a:solidFill>
                <a:latin typeface="Arial"/>
              </a:rPr>
              <a:t>Represent controlled variation, not arbitrary complexity.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Outputs and exports</a:t>
            </a:r>
          </a:p>
          <a:p>
            <a:pPr algn="l">
              <a:spcAft>
                <a:spcPts val="300"/>
              </a:spcAft>
            </a:pPr>
            <a:r>
              <a:rPr sz="1300" b="0">
                <a:solidFill>
                  <a:srgbClr val="5B6372"/>
                </a:solidFill>
                <a:latin typeface="Arial"/>
              </a:rPr>
              <a:t>Publish stable integration values with dependency awareness.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Deletion and update policies</a:t>
            </a:r>
          </a:p>
          <a:p>
            <a:pPr algn="l">
              <a:spcAft>
                <a:spcPts val="300"/>
              </a:spcAft>
            </a:pPr>
            <a:r>
              <a:rPr sz="1300" b="0">
                <a:solidFill>
                  <a:srgbClr val="5B6372"/>
                </a:solidFill>
                <a:latin typeface="Arial"/>
              </a:rPr>
              <a:t>Protect or snapshot stateful resources during change.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300</a:t>
            </a:r>
          </a:p>
        </p:txBody>
      </p:sp>
    </p:spTree>
  </p:cSld>
  <p:clrMapOvr>
    <a:masterClrMapping/>
  </p:clrMapOvr>
  <p:transition spd="fast" advClick="1">
    <p:fade/>
  </p:transition>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StackSets Deployment Models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Best fit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Trade-off</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Self-managed</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Explicit administration and target roles</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More role setup and control</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Service-managed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AWS Organizations integration</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Requires trusted access and OU planning</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Automatic deployment</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New accounts inherit baseline</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Test policy and Region scope carefully</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301</a:t>
            </a:r>
          </a:p>
        </p:txBody>
      </p:sp>
    </p:spTree>
  </p:cSld>
  <p:clrMapOvr>
    <a:masterClrMapping/>
  </p:clrMapOvr>
  <p:transition spd="fast" advClick="1">
    <p:fade/>
  </p:transition>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K3 · K4 · A4 · A5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Automation Runbook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Inputs</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Validated parameters</a:t>
            </a:r>
          </a:p>
          <a:p>
            <a:pPr>
              <a:spcAft>
                <a:spcPts val="900"/>
              </a:spcAft>
            </a:pPr>
            <a:r>
              <a:rPr sz="1400" b="0">
                <a:solidFill>
                  <a:srgbClr val="161B26"/>
                </a:solidFill>
                <a:latin typeface="Arial"/>
              </a:rPr>
              <a:t>•  No embedded secrets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Control</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Retries and timeouts</a:t>
            </a:r>
          </a:p>
          <a:p>
            <a:pPr>
              <a:spcAft>
                <a:spcPts val="900"/>
              </a:spcAft>
            </a:pPr>
            <a:r>
              <a:rPr sz="1400" b="0">
                <a:solidFill>
                  <a:srgbClr val="161B26"/>
                </a:solidFill>
                <a:latin typeface="Arial"/>
              </a:rPr>
              <a:t>•  Approval for destructive steps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Output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Structured evidence</a:t>
            </a:r>
          </a:p>
          <a:p>
            <a:pPr>
              <a:spcAft>
                <a:spcPts val="900"/>
              </a:spcAft>
            </a:pPr>
            <a:r>
              <a:rPr sz="1400" b="0">
                <a:solidFill>
                  <a:srgbClr val="161B26"/>
                </a:solidFill>
                <a:latin typeface="Arial"/>
              </a:rPr>
              <a:t>•  Explicit success and rollback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302</a:t>
            </a:r>
          </a:p>
        </p:txBody>
      </p:sp>
    </p:spTree>
  </p:cSld>
  <p:clrMapOvr>
    <a:masterClrMapping/>
  </p:clrMapOvr>
  <p:transition spd="fast" advClick="1">
    <p:fade/>
  </p:transition>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IaC Discipline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 not fix drift by hiding 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Identify who changed what and why, decide whether actual or desired state is correct, then reconcile through the controlled source.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303</a:t>
            </a:r>
          </a:p>
        </p:txBody>
      </p:sp>
    </p:spTree>
  </p:cSld>
  <p:clrMapOvr>
    <a:masterClrMapping/>
  </p:clrMapOvr>
  <p:transition spd="fast" advClick="1">
    <p:fade/>
  </p:transition>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Change Assurance Funnel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Each gate removes a different failure class; skipping drift reconciliation leaves successful deployments operationally inconsistent.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304</a:t>
            </a:r>
          </a:p>
        </p:txBody>
      </p:sp>
    </p:spTree>
  </p:cSld>
  <p:clrMapOvr>
    <a:masterClrMapping/>
  </p:clrMapOvr>
  <p:transition spd="fast" advClick="1">
    <p:fade/>
  </p:transition>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Beanstalk - Overview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Beanstalk is a developer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Beanstalk is a developer centric view of deploying an application on AWS
Just the application code is the responsibility of the developer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uses all the component’s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uses all the component’s we’ve seen before: EC2, ASG, ELB, RDS, …
We still have full control over the configuration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Managed service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Managed service
Beanstalk is free but you pay for the underlying instances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Automatically handles capacity…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Automatically handles capacity provisioning, load balancing, scaling, application health monitoring, instance configuration, …</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305</a:t>
            </a:r>
          </a:p>
        </p:txBody>
      </p:sp>
    </p:spTree>
  </p:cSld>
  <p:clrMapOvr>
    <a:masterClrMapping/>
  </p:clrMapOvr>
  <p:transition spd="fast" advClick="1">
    <p:fade/>
  </p:transition>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211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Multi AZ</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1</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1
ElastiCache
PUBLIC SUBNET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 Scaling group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 Scaling group
Store / retrieve
PRIVATE SUBNET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2</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2
session data
Amazon RDS Read / write data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3
+ Cached data
DATA SUBNET
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306</a:t>
            </a:r>
          </a:p>
        </p:txBody>
      </p:sp>
    </p:spTree>
  </p:cSld>
  <p:clrMapOvr>
    <a:masterClrMapping/>
  </p:clrMapOvr>
  <p:transition spd="fast" advClick="1">
    <p:fade/>
  </p:transition>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212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Developer problems on AWS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Managing infrastructure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Managing infrastructure
Most web apps have the same architecture (ALB + ASG)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Deploying Code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Deploying Code
All the developers want is for their code to run!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Configuring all the databases…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Configuring all the databases, load balancers, etc
Possibly, consistently across different applications and environments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Scaling concerns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Scaling concerns
Mechanism: templates define desired state; change sets expose impact; policies and hooks gate risk; stack events and drift detection expose outcome.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307</a:t>
            </a:r>
          </a:p>
        </p:txBody>
      </p:sp>
    </p:spTree>
  </p:cSld>
  <p:clrMapOvr>
    <a:masterClrMapping/>
  </p:clrMapOvr>
  <p:transition spd="fast" advClick="1">
    <p:fade/>
  </p:transition>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213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Beanstalk - Components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collection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collection of Elastic Beanstalk components (environments, versions, configurations, …)
Tiers: Web Server Environment Tier &amp; Worker Environment Tier
Upload Version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Version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Version: an iteration of your application code
You can create multiple environments (dev, test, prod, …)
Launch Environment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Environment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Environment
update version
Manage Environment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Collection of AWS resources…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Collection of AWS resources running an application version (only one application version at a time)
Create Application
deploy new version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308</a:t>
            </a:r>
          </a:p>
        </p:txBody>
      </p:sp>
    </p:spTree>
  </p:cSld>
  <p:clrMapOvr>
    <a:masterClrMapping/>
  </p:clrMapOvr>
  <p:transition spd="fast" advClick="1">
    <p:fade/>
  </p:transition>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214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Beanstalk - Supported Platforms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Java with Tomcat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Java with Tomcat
Single Container Docker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 Core on Linux</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 Core on Linux
Multi-container Docker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 on Windows Server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 on Windows Server
Preconfigured Docker
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Packer Builder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Packer Builder
Decision point: reconcile an emergency change by deciding whether the template or the live state is authoritative, then restore one controlled source…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309</a:t>
            </a:r>
          </a:p>
        </p:txBody>
      </p:sp>
    </p:spTree>
  </p:cSld>
  <p:clrMapOvr>
    <a:masterClrMapping/>
  </p:clrMapOvr>
  <p:transition spd="fast" advClick="1">
    <p:fade/>
  </p:transition>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215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Web Server Tier vs Worker Tier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Environment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Environment
Availability Zone 1
EC2 Instance (Worker)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(myapp.us-east-1.elasticbeanstalk…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(myapp.us-east-1.elasticbeanstalk.com)
Availability Zone 2
Scale based on the number of SQS messages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 Scaling group</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 Scaling group
SQS message
Can push messages to SQS queue from another Web Server Tier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Worker Environment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Worker Environment
pull SQS message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310</a:t>
            </a:r>
          </a:p>
        </p:txBody>
      </p:sp>
    </p:spTree>
  </p:cSld>
  <p:clrMapOvr>
    <a:masterClrMapping/>
  </p:clrMapOvr>
  <p:transition spd="fast" advClick="1">
    <p:fade/>
  </p:transition>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216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Elastic Beanstalk Deployment Modes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Single Instance Great for dev</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Single Instance Great for dev
Availability Zone 2
Elastic IP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 Availability with Load…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 Availability with Load Balancer Great for prod
RDS Master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 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1
RDS Standby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 Scaling Group</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 Scaling Group
EC2 Instance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311</a:t>
            </a:r>
          </a:p>
        </p:txBody>
      </p:sp>
    </p:spTree>
  </p:cSld>
  <p:clrMapOvr>
    <a:masterClrMapping/>
  </p:clrMapOvr>
  <p:transition spd="fast" advClick="1">
    <p:fade/>
  </p:transition>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219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CloudFormation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CloudFormation is a declarative…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CloudFormation is a declarative way of outlining your AWS Infrastructure, for any resources (most of them are supported)
I want two Elastic IPs for these EC2 instances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example, within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example, within a CloudFormation template, you say
I want an S3 bucket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 want a security group</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 want a security group
I want a load balancer (ELB) in front of these EC2 instances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 want two EC2 instances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 want two EC2 instances using this security group
Then CloudFormation creates those for you, in the right order, with the exact configuration that you specify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312</a:t>
            </a:r>
          </a:p>
        </p:txBody>
      </p:sp>
    </p:spTree>
  </p:cSld>
  <p:clrMapOvr>
    <a:masterClrMapping/>
  </p:clrMapOvr>
  <p:transition spd="fast" advClick="1">
    <p:fade/>
  </p:transition>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221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Template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2190404" y="1792224"/>
            <a:ext cx="3336728"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Application Composer</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Application Composer
Mechanism: templates define desired state; change sets expose impact; policies and hooks gate risk; stack events…</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validation result…</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313</a:t>
            </a:r>
          </a:p>
        </p:txBody>
      </p:sp>
    </p:spTree>
  </p:cSld>
  <p:clrMapOvr>
    <a:masterClrMapping/>
  </p:clrMapOvr>
  <p:transition spd="fast" advClick="1">
    <p:fade/>
  </p:transition>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222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Benefits of AWS CloudFormation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Infrastructure as code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Infrastructure as code
Each resources within the stack is tagged with an identifier so you can easily see how much a stack costs you</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resources are manually created,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resources are manually created, which is excellent for control
You can estimate the costs of your resources using the CloudFormation template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code can be version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code can be version controlled for example using Git
Savings strategy: In Dev, you could automation deletion of templates at 5 PM and recreated at 8 AM, safely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Changes to the infrastructure are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Changes to the infrastructure are reviewed through code
Mechanism: templates define desired state; change sets expose impact; policies and hooks gate risk; stack events and drift detection expose outcome.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314</a:t>
            </a:r>
          </a:p>
        </p:txBody>
      </p:sp>
    </p:spTree>
  </p:cSld>
  <p:clrMapOvr>
    <a:masterClrMapping/>
  </p:clrMapOvr>
  <p:transition spd="fast" advClick="1">
    <p:fade/>
  </p:transition>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223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Benefits of AWS CloudFormation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Productivity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Productivity
Separation of concern: create many stacks for many apps and many layers. Eg.
Don't re-invent the wheel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Ability to destroy and re-create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Ability to destroy and re-create an infrastructure on the cloud on the fly
VPC stacks
Leverage existing templates on the web!</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Automated generation of Diagram…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Automated generation of Diagram for your templates!
Network stacks
Leverage the documentation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Declarative programming (no need…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Declarative programming (no need to figure out ordering and orchestration)
App stacks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315</a:t>
            </a:r>
          </a:p>
        </p:txBody>
      </p:sp>
    </p:spTree>
  </p:cSld>
  <p:clrMapOvr>
    <a:masterClrMapping/>
  </p:clrMapOvr>
  <p:transition spd="fast" advClick="1">
    <p:fade/>
  </p:transition>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224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CloudFormation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Templates must be uploaded in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Templates must be uploaded in S3 and then referenced in CloudFormation
AWS CloudFormation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update a template, we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update a template, we can’t edit previous ones. We have to re- upload a new version of the template to AWS
AWS Resources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Stacks are identified by 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Stacks are identified by a name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Deleting a stack deletes every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Deleting a stack deletes every single artifact that was created by CloudFormation.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316</a:t>
            </a:r>
          </a:p>
        </p:txBody>
      </p:sp>
    </p:spTree>
  </p:cSld>
  <p:clrMapOvr>
    <a:masterClrMapping/>
  </p:clrMapOvr>
  <p:transition spd="fast" advClick="1">
    <p:fade/>
  </p:transition>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225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Deploying CloudFormation Templates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Manual way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Manual way
Automated way
CloudFormation Console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Editing templates in Application…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Editing templates in Application Composer or code editor
Editing templates in a YAML file
Application Composer / Code Editor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Using the console to input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Using the console to input parameters, etc…
Using the AWS CLI (Command Line Interface) to deploy the templates, or using a Continuous Delivery (CD) tool
create-stack</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We’ll mostly do this way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We’ll mostly do this way in the course for learning purposes
Recommended way when you fully want to automate your flow
CloudFormation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317</a:t>
            </a:r>
          </a:p>
        </p:txBody>
      </p:sp>
    </p:spTree>
  </p:cSld>
  <p:clrMapOvr>
    <a:masterClrMapping/>
  </p:clrMapOvr>
  <p:transition spd="fast" advClick="1">
    <p:fade/>
  </p:transition>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226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Building Blocks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Template's Components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Template's Components
Parameters - the dynamic inputs for your template
Template's Helpers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AWSTemplateFormatVersion…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AWSTemplateFormatVersion - identifies the capabilities of the template “2010-09-09”
Mappings - the static variables for your template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Description - comments about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Description - comments about the template
Outputs - references to what has been created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Resources (MANDATORY)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Resources (MANDATORY) - your AWS resources declared in the template
Conditionals - list of conditions to perform resource creation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318</a:t>
            </a:r>
          </a:p>
        </p:txBody>
      </p:sp>
    </p:spTree>
  </p:cSld>
  <p:clrMapOvr>
    <a:masterClrMapping/>
  </p:clrMapOvr>
  <p:transition spd="fast" advClick="1">
    <p:fade/>
  </p:transition>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227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Introductory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We’re going to create 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We’re going to create a simple EC2 instance
We’ll see how in no-time, we are able to get started with CloudFormation!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And we’re going to add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And we’re going to add security group to it
Web Server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now, forget about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now, forget about the code syntax
WebServerSecurityGroup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We’ll look at the structure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We’ll look at the structure of the files later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319</a:t>
            </a:r>
          </a:p>
        </p:txBody>
      </p:sp>
    </p:spTree>
  </p:cSld>
  <p:clrMapOvr>
    <a:masterClrMapping/>
  </p:clrMapOvr>
  <p:transition spd="fast" advClick="1">
    <p:fade/>
  </p:transition>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229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YAML Crash Course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2894990" y="1792224"/>
            <a:ext cx="1927555"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YAML and JSON are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YAML and JSON are the languages you can use for CloudFormation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templates define…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templates define desired state; change sets expose impact; policies and hooks gate risk; stack events…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320</a:t>
            </a:r>
          </a:p>
        </p:txBody>
      </p:sp>
    </p:spTree>
  </p:cSld>
  <p:clrMapOvr>
    <a:masterClrMapping/>
  </p:clrMapOvr>
  <p:transition spd="fast" advClick="1">
    <p:fade/>
  </p:transition>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230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Resources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Resources are the core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Resources are the core of your CloudFormation template (MANDATORY)
There are over 700 types of resources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 represent the different AWS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 represent the different AWS Components that will be created and configured
Resource types identifiers are of the form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Resources are declared and can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Resources are declared and can reference each other
service-provider::service-name::data-type-name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figures out creation, updates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figures out creation, updates and deletes of resources for us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321</a:t>
            </a:r>
          </a:p>
        </p:txBody>
      </p:sp>
    </p:spTree>
  </p:cSld>
  <p:clrMapOvr>
    <a:masterClrMapping/>
  </p:clrMapOvr>
  <p:transition spd="fast" advClick="1">
    <p:fade/>
  </p:transition>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231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do I find Resources documentation?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 can’t teach you all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 can’t teach you all the 700+ resources, but I can teach you how to learn how to use them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the resources can be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the resources can be found here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Then, we just read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Then, we just read the docs ©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here (for an EC2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here (for an EC2 instance)
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322</a:t>
            </a:r>
          </a:p>
        </p:txBody>
      </p:sp>
    </p:spTree>
  </p:cSld>
  <p:clrMapOvr>
    <a:masterClrMapping/>
  </p:clrMapOvr>
  <p:transition spd="fast" advClick="1">
    <p:fade/>
  </p:transition>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Analysis of CloudFormation Template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Going back to the example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Going back to the example of the introductory lecture, let’s learn why it was written this way.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Relevant documentation can be…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Relevant documentation can be found here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323</a:t>
            </a:r>
          </a:p>
        </p:txBody>
      </p:sp>
    </p:spTree>
  </p:cSld>
  <p:clrMapOvr>
    <a:masterClrMapping/>
  </p:clrMapOvr>
  <p:transition spd="fast" advClick="1">
    <p:fade/>
  </p:transition>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233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Resources FAQ</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I create a dynamic</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I create a dynamic number of resources?
Almost. Only a select few niches are not there yet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Yes, you can by using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Yes, you can by using CloudFormation Macros and Transform
You can work around that using CloudFormation Custom Resources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not in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not in the scope of this course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Is every AWS Service supported?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Is every AWS Service supported?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324</a:t>
            </a:r>
          </a:p>
        </p:txBody>
      </p:sp>
    </p:spTree>
  </p:cSld>
  <p:clrMapOvr>
    <a:masterClrMapping/>
  </p:clrMapOvr>
  <p:transition spd="fast" advClick="1">
    <p:fade/>
  </p:transition>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Parameters are a way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Parameters are a way to provide inputs to your AWS CloudFormation template
Parameters are extremely powerful, controlled, and can prevent errors from happening in your templates, thanks to types
Parameter1: value1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They’re important to know about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They’re important to know about if
AWS CloudFormation
+ Parameter2: valu</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want to reuse your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want to reuse your templates across the company
upload template
CF template Parameters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Some inputs can not be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Some inputs can not be determined ahead of time
provide parameter values
create stack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325</a:t>
            </a:r>
          </a:p>
        </p:txBody>
      </p:sp>
    </p:spTree>
  </p:cSld>
  <p:clrMapOvr>
    <a:masterClrMapping/>
  </p:clrMapOvr>
  <p:transition spd="fast" advClick="1">
    <p:fade/>
  </p:transition>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236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When should you use a Parameter?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600872"/>
            <a:ext cx="6217920" cy="1784272"/>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Ask yourself this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Ask yourself this
Mechanism: templates define desired state; change sets expose impact; policies and hooks gate risk; stack events…</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validation result…</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326</a:t>
            </a:r>
          </a:p>
        </p:txBody>
      </p:sp>
    </p:spTree>
  </p:cSld>
  <p:clrMapOvr>
    <a:masterClrMapping/>
  </p:clrMapOvr>
  <p:transition spd="fast" advClick="1">
    <p:fade/>
  </p:transition>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Parameters Settings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CommaDelimitedList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CommaDelimitedList
List&lt;AWS-Specific Parameter&gt;
Min/MaxLength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List&lt;Number&gt;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List&lt;Number&gt;
SSM Parameter (get parameter value from SSM Parameter store)
Min/MaxValue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AWS-Specific Parameter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AWS-Specific Parameter
Description
Allowed Values (array)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help catch invalid values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help catch invalid values - match against existing values in the AWS account)
Constraint Description (String)
AllowedPattern (regex)</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327</a:t>
            </a:r>
          </a:p>
        </p:txBody>
      </p:sp>
    </p:spTree>
  </p:cSld>
  <p:clrMapOvr>
    <a:masterClrMapping/>
  </p:clrMapOvr>
  <p:transition spd="fast" advClick="1">
    <p:fade/>
  </p:transition>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Parameters Example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AllowedValues NoEcho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AllowedValues NoEcho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reconcile an emergency change by deciding whether the template or the live state is authoritative, then restore one controlled source…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328</a:t>
            </a:r>
          </a:p>
        </p:txBody>
      </p:sp>
    </p:spTree>
  </p:cSld>
  <p:clrMapOvr>
    <a:masterClrMapping/>
  </p:clrMapOvr>
  <p:transition spd="fast" advClick="1">
    <p:fade/>
  </p:transition>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to Reference a Parameter?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Fn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Fn::Ref function can be leveraged to reference parameters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Parameters can be used anywhere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Parameters can be used anywhere in a template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shorthand for this in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shorthand for this in YAML is !Ref
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function can also reference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function can also reference other elements within the template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329</a:t>
            </a:r>
          </a:p>
        </p:txBody>
      </p:sp>
    </p:spTree>
  </p:cSld>
  <p:clrMapOvr>
    <a:masterClrMapping/>
  </p:clrMapOvr>
  <p:transition spd="fast" advClick="1">
    <p:fade/>
  </p:transition>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Pseudo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offers us Pseudo Parameters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offers us Pseudo Parameters in any CloudFormation template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These can be used 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These can be used at any time and are enabled by default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Important pseudo parameters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Important pseudo parameters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330</a:t>
            </a:r>
          </a:p>
        </p:txBody>
      </p:sp>
    </p:spTree>
  </p:cSld>
  <p:clrMapOvr>
    <a:masterClrMapping/>
  </p:clrMapOvr>
  <p:transition spd="fast" advClick="1">
    <p:fade/>
  </p:transition>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Mappings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Mappings are fixed variables…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Mappings are fixed variables within your CloudFormation template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They’re very handy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They’re very handy to differentiate between different environments (dev vs prod), regions (AWS regions), AMI types…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the values are hardcoded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the values are hardcoded within the template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331</a:t>
            </a:r>
          </a:p>
        </p:txBody>
      </p:sp>
    </p:spTree>
  </p:cSld>
  <p:clrMapOvr>
    <a:masterClrMapping/>
  </p:clrMapOvr>
  <p:transition spd="fast" advClick="1">
    <p:fade/>
  </p:transition>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242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Accessing Mapping Values (Fn::FindInMap)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use Fn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use Fn::FindInMap to return a named value from a specific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!FindInMap [ MapName…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!FindInMap [ MapName, TopLevelKey, SecondLevelKey ]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Mappings work great for AMIs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Mappings work great for AMIs Because AMIs are region-specific!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332</a:t>
            </a:r>
          </a:p>
        </p:txBody>
      </p:sp>
    </p:spTree>
  </p:cSld>
  <p:clrMapOvr>
    <a:masterClrMapping/>
  </p:clrMapOvr>
  <p:transition spd="fast" advClick="1">
    <p:fade/>
  </p:transition>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243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When would you use Mappings vs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Mappings are great when you</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Mappings are great when you know in advance all the values that can be taken and that they can be deduced from variables such as
They allow safer control over the template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Availability Zone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Availability Zone
Use parameters when the values are really user specific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Account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Account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Environment (dev vs prod)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Environment (dev vs prod)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333</a:t>
            </a:r>
          </a:p>
        </p:txBody>
      </p:sp>
    </p:spTree>
  </p:cSld>
  <p:clrMapOvr>
    <a:masterClrMapping/>
  </p:clrMapOvr>
  <p:transition spd="fast" advClick="1">
    <p:fade/>
  </p:transition>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Outputs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Outputs section declares…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Outputs section declares optional outputs values that we can import into other stacks (if you export them first)!
Application Stack</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also view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also view the outputs in the AWS Console or in using the AWS CLI
Network Stack</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They’re very useful for example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They’re very useful for example if you define a network CloudFormation, and output the variables such as VPC ID and your Subnet IDs
VPC ID: vpc-2f09a348</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the best way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the best way to perform some collaboration cross stack, as you let expert handle their own part of the stack
Exported Output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334</a:t>
            </a:r>
          </a:p>
        </p:txBody>
      </p:sp>
    </p:spTree>
  </p:cSld>
  <p:clrMapOvr>
    <a:masterClrMapping/>
  </p:clrMapOvr>
  <p:transition spd="fast" advClick="1">
    <p:fade/>
  </p:transition>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Outputs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Creating a SSH Security Group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Creating a SSH Security Group as part of one template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create an output that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create an output that references that security group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335</a:t>
            </a:r>
          </a:p>
        </p:txBody>
      </p:sp>
    </p:spTree>
  </p:cSld>
  <p:clrMapOvr>
    <a:masterClrMapping/>
  </p:clrMapOvr>
  <p:transition spd="fast" advClick="1">
    <p:fade/>
  </p:transition>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246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Outputs Cross-Stack Reference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then create a second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then create a second template that leverages that security group</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this, we use the Fn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this, we use the Fn::ImportValue function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can’t delete the underlying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can’t delete the underlying stack until all the references are deleted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336</a:t>
            </a:r>
          </a:p>
        </p:txBody>
      </p:sp>
    </p:spTree>
  </p:cSld>
  <p:clrMapOvr>
    <a:masterClrMapping/>
  </p:clrMapOvr>
  <p:transition spd="fast" advClick="1">
    <p:fade/>
  </p:transition>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Conditions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Conditions are used to control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Conditions are used to control the creation of resources or outputs based on a condition
Any parameter value
Prod Stack</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Conditions can be whatever you</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Conditions can be whatever you want them to be, but common ones are
Each condition can reference another condition, parameter value or mapping
Parameters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Environment (dev / test /</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Environment (dev / test / prod)
EC2 Instance
Mechanism: templates define desired state; change sets expose impact; policies and hooks gate risk; stack events and drift detection expose outcome.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Region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Region
EBS Volume
Failure mode: unmanaged console changes, implicit defaults, replacement-sensitive resources and missing rollback signals create difficult recovery…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337</a:t>
            </a:r>
          </a:p>
        </p:txBody>
      </p:sp>
    </p:spTree>
  </p:cSld>
  <p:clrMapOvr>
    <a:masterClrMapping/>
  </p:clrMapOvr>
  <p:transition spd="fast" advClick="1">
    <p:fade/>
  </p:transition>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248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to define a Condition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3023309"/>
            <a:ext cx="6217919" cy="939397"/>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The logical ID is for</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The logical ID is for you to choose. It’s how you name condition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templates define…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templates define desired state; change sets expose impact; policies and hooks gate risk; stack events…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338</a:t>
            </a:r>
          </a:p>
        </p:txBody>
      </p:sp>
    </p:spTree>
  </p:cSld>
  <p:clrMapOvr>
    <a:masterClrMapping/>
  </p:clrMapOvr>
  <p:transition spd="fast" advClick="1">
    <p:fade/>
  </p:transition>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to use a Condition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Conditions can be applied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Conditions can be applied to resources / outputs / etc…</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Mechanism: templates define…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339</a:t>
            </a:r>
          </a:p>
        </p:txBody>
      </p:sp>
    </p:spTree>
  </p:cSld>
  <p:clrMapOvr>
    <a:masterClrMapping/>
  </p:clrMapOvr>
  <p:transition spd="fast" advClick="1">
    <p:fade/>
  </p:transition>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Intrinsic Functions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Fn::GetAtt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Fn::GetAtt
Fn::ToJsonString
Fn::Select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Fn::FindInMap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Fn::FindInMap
Condition Functions (Fn::If, Fn::Not, Fn::Equals, etc…)
Fn::Transform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Fn::ImportValue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Fn::ImportValue
Fn::Base64
Fn::Length
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Fn::ForEach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Fn::ForEach
Fn::GetAZs
Blue = must know
Decision point: reconcile an emergency change by deciding whether the template or the live state is authoritative, then restore one controlled source…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340</a:t>
            </a:r>
          </a:p>
        </p:txBody>
      </p:sp>
    </p:spTree>
  </p:cSld>
  <p:clrMapOvr>
    <a:masterClrMapping/>
  </p:clrMapOvr>
  <p:transition spd="fast" advClick="1">
    <p:fade/>
  </p:transition>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251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 Fn::Ref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Fn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Fn::Ref function can be leveraged to reference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Parameters - returns the value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Parameters - returns the value of the parameter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Resources - returns the physical</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Resources - returns the physical ID of the underlying resource (e.g., EC2 ID)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shorthand for this 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shorthand for this in YAML is !Ref
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341</a:t>
            </a:r>
          </a:p>
        </p:txBody>
      </p:sp>
    </p:spTree>
  </p:cSld>
  <p:clrMapOvr>
    <a:masterClrMapping/>
  </p:clrMapOvr>
  <p:transition spd="fast" advClick="1">
    <p:fade/>
  </p:transition>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252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 Fn::GetAtt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Attributes are attached to any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Attributes are attached to any resources you create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know the attributes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know the attributes of your resources, the best place to look at is the documentation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the AZ of an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the AZ of an EC2 instance!
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342</a:t>
            </a:r>
          </a:p>
        </p:txBody>
      </p:sp>
    </p:spTree>
  </p:cSld>
  <p:clrMapOvr>
    <a:masterClrMapping/>
  </p:clrMapOvr>
  <p:transition spd="fast" advClick="1">
    <p:fade/>
  </p:transition>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253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 Fn::FindInMap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 use Fn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 use Fn::FindInMap to return a named value from a specific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!FindInMap [ MapName…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!FindInMap [ MapName, TopLevelKey, SecondLevelKey ]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 signals create difficult recovery…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343</a:t>
            </a:r>
          </a:p>
        </p:txBody>
      </p:sp>
    </p:spTree>
  </p:cSld>
  <p:clrMapOvr>
    <a:masterClrMapping/>
  </p:clrMapOvr>
  <p:transition spd="fast" advClick="1">
    <p:fade/>
  </p:transition>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254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 Fn::ImportValue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Import values that are exported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Import values that are exported in other stacks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this, we use the Fn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this, we use the Fn::ImportValue function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reconcile an emergency change by deciding whether the template or the live state is authoritative, then restore one controlled source…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344</a:t>
            </a:r>
          </a:p>
        </p:txBody>
      </p:sp>
    </p:spTree>
  </p:cSld>
  <p:clrMapOvr>
    <a:masterClrMapping/>
  </p:clrMapOvr>
  <p:transition spd="fast" advClick="1">
    <p:fade/>
  </p:transition>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255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 Fn::Base64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Convert String to it’s Base64</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Convert String to it’s Base64 representation
Mechanism: templates define desired state; change sets expose impact; policies and hooks gate risk; stack events and drift detection expose outcome.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pass encoded data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pass encoded data to EC2 Instance’s UserData property
Failure mode: unmanaged console changes, implicit defaults, replacement-sensitive resources and missing rollback signals create difficult recovery…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validation result…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validation result, reviewed change set, policy decision, stack events, health alarms, drift detail and reconciled source must all be…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reconcile an emergency change by deciding whether the template or the live state is authoritative, then restore one controlled source…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345</a:t>
            </a:r>
          </a:p>
        </p:txBody>
      </p:sp>
    </p:spTree>
  </p:cSld>
  <p:clrMapOvr>
    <a:masterClrMapping/>
  </p:clrMapOvr>
  <p:transition spd="fast" advClick="1">
    <p:fade/>
  </p:transition>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256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Intrinsic Functions -Condition Functions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3023309"/>
            <a:ext cx="6217919" cy="939397"/>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The logical ID is for</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The logical ID is for you to choose. It’s how you name condition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templates define…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templates define desired state; change sets expose impact; policies and hooks gate risk; stack events…</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unmanaged console changes, implicit defaults, replacement-sensitive resources and missing rollback…</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346</a:t>
            </a:r>
          </a:p>
        </p:txBody>
      </p:sp>
    </p:spTree>
  </p:cSld>
  <p:clrMapOvr>
    <a:masterClrMapping/>
  </p:clrMapOvr>
  <p:transition spd="fast" advClick="1">
    <p:fade/>
  </p:transition>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257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Rollbacks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Stack Creation Fails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Stack Creation Fails
The stack automatically rolls back to the previous known working state
Or from the CLI using continue-update-rollback API call20</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Default: everything rolls back…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Default: everything rolls back (gets deleted). We can look at the log
Ability to see in the log what happened and error messages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 to disable rollback 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 to disable rollback and troubleshoot what happened
Rollback Failure? Fix resources manually then issue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Stack Update Fails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Stack Update Fails
ContinueUpdateRollback API from Console
Mechanism: templates define desired state; change sets expose impact; policies and hooks gate risk; stack events and drift detection expose outcome.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347</a:t>
            </a:r>
          </a:p>
        </p:txBody>
      </p:sp>
    </p:spTree>
  </p:cSld>
  <p:clrMapOvr>
    <a:masterClrMapping/>
  </p:clrMapOvr>
  <p:transition spd="fast" advClick="1">
    <p:fade/>
  </p:transition>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258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 Service Role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role that allows…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role that allows CloudFormation to create/update/delete stack resources on your behalf
But you don’t want to give the user all the required permissions to create the stack resources
Permissions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Give ability to users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Give ability to users to create/update/delete the
User must have iam:PassRole permissions
s3:*Bucket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stack resources even if they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stack resources even if they don’t have permissions to work with the resources in the stack
cloudformation:*
Service Role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want to achieve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want to achieve the least privilege principle
iam:PassRole
S3 bucket Stack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348</a:t>
            </a:r>
          </a:p>
        </p:txBody>
      </p:sp>
    </p:spTree>
  </p:cSld>
  <p:clrMapOvr>
    <a:masterClrMapping/>
  </p:clrMapOvr>
  <p:transition spd="fast" advClick="1">
    <p:fade/>
  </p:transition>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259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CloudFormation Capabilities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CAPABILITY_NAMED_IAM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CAPABILITY_NAMED_IAM and CAPABILITY_IAM Necessary to enable when you CloudFormation template is creating or updating IAM resources (IAM User, Role…
You’re acknowledging that your template may change before deploying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Specify CAPABILITY_NAMED_IAM if…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Specify CAPABILITY_NAMED_IAM if the resources are named
InsufficientCapabilitiesException
Mechanism: templates define desired state; change sets expose impact; policies and hooks gate risk; stack events and drift detection expose outcome.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CAPABILITY_AUTO_EXPAND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CAPABILITY_AUTO_EXPAND
Exception that will be thrown by CloudFormation if the capabilities haven’t been acknowledged when deploying a template (security measure)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Necessary when your…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Necessary when your CloudFormation template includes Macros or Nested Stacks (stacks within stacks) to perform dynamic transformations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Treat infrastructure automation as controlled change: validate, preview, approve, deploy, observe, reconcile drift and retain rollback evidence.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349</a:t>
            </a:r>
          </a:p>
        </p:txBody>
      </p:sp>
    </p:spTree>
  </p:cSld>
  <p:clrMapOvr>
    <a:masterClrMapping/>
  </p:clrMapOvr>
  <p:transition spd="fast" advClick="1">
    <p:fade/>
  </p:transition>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06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45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350</a:t>
            </a:r>
          </a:p>
        </p:txBody>
      </p:sp>
    </p:spTree>
  </p:cSld>
  <p:clrMapOvr>
    <a:masterClrMapping/>
  </p:clrMapOvr>
  <p:transition spd="fast" advClick="1">
    <p:fade/>
  </p:transition>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Control Infrastructure Change and Configuration Drift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K3, K4, A4 and A5 by validating a CloudFormation template, reviewing a change set, detecting drift and using a Systems Manager Automation runbook with verification.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desired-state evidence to identify drift, choose the correct state, reconcile through code and verify the application outcome.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validated CloudFormation stack, reviewed change set, drift report, reconciliation decision, Automation verification and cleanup record.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CloudFormation · Change Sets · Drift Detection · Systems Manager Automation · AWS CLI</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change set is reviewed before execution, drift evidence identifies the changed property, the decision record explains reconciliation, the Automation runbook verifies state, and validation emits LAB 05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351</a:t>
            </a:r>
          </a:p>
        </p:txBody>
      </p:sp>
    </p:spTree>
  </p:cSld>
  <p:clrMapOvr>
    <a:masterClrMapping/>
  </p:clrMapOvr>
  <p:transition spd="fast" advClick="1">
    <p:fade/>
  </p:transition>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05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Desired state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Review</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Change set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Detect</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Drift detail</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Reconcile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Code decision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Automation output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05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Control Infrastructure Change and Configuration Drift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change set is reviewed before execution, drift evidence identifies the changed property, the decision record explains reconciliation, the Automation runbook verifies state, and validation emits LAB 05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353</a:t>
            </a:r>
          </a:p>
        </p:txBody>
      </p:sp>
    </p:spTree>
  </p:cSld>
  <p:clrMapOvr>
    <a:masterClrMapping/>
  </p:clrMapOvr>
  <p:transition spd="fast" advClick="1">
    <p:fade/>
  </p:transition>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06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Deployment, Provisioning and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Templates and policies create a reviewable desired state.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Change sets reveal creates, replacements and deletions before the stack changes.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K3, K4, A4 and A5 by validating a CloudFormation template, reviewing a change set, detecting drift and using a Systems Manager Automation…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The change set is reviewed before execution, drift evidence identifies the changed property, the decision record explains reconciliation, the Automation runbook…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354</a:t>
            </a:r>
          </a:p>
        </p:txBody>
      </p:sp>
    </p:spTree>
  </p:cSld>
  <p:clrMapOvr>
    <a:masterClrMapping/>
  </p:clrMapOvr>
  <p:transition spd="med" advClick="1">
    <p:push dir="l"/>
  </p:transition>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 · LO2 · LO3 · K1 · K3 · A1 · A7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Security, Identity and Compliance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IAM · Organizations · KMS · Config · Security Hub · GuardDuty · Inspector · Macie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355</a:t>
            </a:r>
          </a:p>
        </p:txBody>
      </p:sp>
    </p:spTree>
  </p:cSld>
  <p:clrMapOvr>
    <a:masterClrMapping/>
  </p:clrMapOvr>
  <p:transition spd="med" advClick="1">
    <p:push dir="l"/>
  </p:transition>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4 · 16%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Security, Identity and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Identity is the control plane</a:t>
            </a:r>
          </a:p>
          <a:p>
            <a:pPr algn="l">
              <a:spcAft>
                <a:spcPts val="300"/>
              </a:spcAft>
            </a:pPr>
            <a:r>
              <a:rPr sz="1200" b="0">
                <a:solidFill>
                  <a:srgbClr val="5B6372"/>
                </a:solidFill>
                <a:latin typeface="Arial"/>
              </a:rPr>
              <a:t>Short-lived credentials, least privilege and explicit trust bound administrative power.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Prevent, detect and respond</a:t>
            </a:r>
          </a:p>
          <a:p>
            <a:pPr algn="l">
              <a:spcAft>
                <a:spcPts val="300"/>
              </a:spcAft>
            </a:pPr>
            <a:r>
              <a:rPr sz="1200" b="0">
                <a:solidFill>
                  <a:srgbClr val="5B6372"/>
                </a:solidFill>
                <a:latin typeface="Arial"/>
              </a:rPr>
              <a:t>Policies prevent known bad states; telemetry detects deviation; runbooks contain and recover.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Encryption includes key operations</a:t>
            </a:r>
          </a:p>
          <a:p>
            <a:pPr algn="l">
              <a:spcAft>
                <a:spcPts val="300"/>
              </a:spcAft>
            </a:pPr>
            <a:r>
              <a:rPr sz="1200" b="0">
                <a:solidFill>
                  <a:srgbClr val="5B6372"/>
                </a:solidFill>
                <a:latin typeface="Arial"/>
              </a:rPr>
              <a:t>Access, rotation, grants, aliases and recovery must be governed—not only enabled.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Compliance requires evidence</a:t>
            </a:r>
          </a:p>
          <a:p>
            <a:pPr algn="l">
              <a:spcAft>
                <a:spcPts val="300"/>
              </a:spcAft>
            </a:pPr>
            <a:r>
              <a:rPr sz="1200" b="0">
                <a:solidFill>
                  <a:srgbClr val="5B6372"/>
                </a:solidFill>
                <a:latin typeface="Arial"/>
              </a:rPr>
              <a:t>A rule result is useful when linked to scope, owner, remediation and exception process.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356</a:t>
            </a:r>
          </a:p>
        </p:txBody>
      </p:sp>
    </p:spTree>
  </p:cSld>
  <p:clrMapOvr>
    <a:masterClrMapping/>
  </p:clrMapOvr>
  <p:transition spd="fast" advClick="1">
    <p:fade/>
  </p:transition>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Identity Policy Layers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controls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Common failure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Identity policy</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Permissions granted to a principal</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Overbroad action or resource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Resource policy</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Who may access a resource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Unintended external principal</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Permission boundary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Maximum identity permissions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Assuming it grants access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SCP</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Maximum permissions in an organisation</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Blocking required service operation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357</a:t>
            </a:r>
          </a:p>
        </p:txBody>
      </p:sp>
    </p:spTree>
  </p:cSld>
  <p:clrMapOvr>
    <a:masterClrMapping/>
  </p:clrMapOvr>
  <p:transition spd="fast" advClick="1">
    <p:fade/>
  </p:transition>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Access Evaluation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Authenticate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Principal and session</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Context</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Action, resource and…</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Explicit deny</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Any matching deny wins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Allow</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At least one applicable…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Boundary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Maximum permitted set</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Decision</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Allow or deny with…</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TROUBLESHOOTING</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CloudTrail, policy simulator and access analysis to explain the decision path.</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Findings Need Prioritisation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Severity, exposure, asset value and exploitability drive response; high volume alone does not determine priority.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359</a:t>
            </a:r>
          </a:p>
        </p:txBody>
      </p:sp>
    </p:spTree>
  </p:cSld>
  <p:clrMapOvr>
    <a:masterClrMapping/>
  </p:clrMapOvr>
  <p:transition spd="fast" advClick="1">
    <p:fade/>
  </p:transition>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Services by Question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GuardDuty</a:t>
            </a:r>
          </a:p>
          <a:p>
            <a:pPr algn="l">
              <a:spcAft>
                <a:spcPts val="300"/>
              </a:spcAft>
            </a:pPr>
            <a:r>
              <a:rPr sz="1300" b="0">
                <a:solidFill>
                  <a:srgbClr val="5B6372"/>
                </a:solidFill>
                <a:latin typeface="Arial"/>
              </a:rPr>
              <a:t>What suspicious account, workload or network activity is occurring?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Inspector</a:t>
            </a:r>
          </a:p>
          <a:p>
            <a:pPr algn="l">
              <a:spcAft>
                <a:spcPts val="300"/>
              </a:spcAft>
            </a:pPr>
            <a:r>
              <a:rPr sz="1300" b="0">
                <a:solidFill>
                  <a:srgbClr val="5B6372"/>
                </a:solidFill>
                <a:latin typeface="Arial"/>
              </a:rPr>
              <a:t>Which compute workloads have vulnerabilities or exposure?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Macie</a:t>
            </a:r>
          </a:p>
          <a:p>
            <a:pPr algn="l">
              <a:spcAft>
                <a:spcPts val="300"/>
              </a:spcAft>
            </a:pPr>
            <a:r>
              <a:rPr sz="1300" b="0">
                <a:solidFill>
                  <a:srgbClr val="5B6372"/>
                </a:solidFill>
                <a:latin typeface="Arial"/>
              </a:rPr>
              <a:t>Where is sensitive data in S3 and how is it exposed?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Security Hub</a:t>
            </a:r>
          </a:p>
          <a:p>
            <a:pPr algn="l">
              <a:spcAft>
                <a:spcPts val="300"/>
              </a:spcAft>
            </a:pPr>
            <a:r>
              <a:rPr sz="1300" b="0">
                <a:solidFill>
                  <a:srgbClr val="5B6372"/>
                </a:solidFill>
                <a:latin typeface="Arial"/>
              </a:rPr>
              <a:t>How do findings and standards combine across accounts?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360</a:t>
            </a:r>
          </a:p>
        </p:txBody>
      </p:sp>
    </p:spTree>
  </p:cSld>
  <p:clrMapOvr>
    <a:masterClrMapping/>
  </p:clrMapOvr>
  <p:transition spd="fast" advClick="1">
    <p:fade/>
  </p:transition>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Key Choices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Choice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control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Use carefully</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AWS owned</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Service manages lifecycle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Limited customer control</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AWS managed</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Visible service key</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Policy is service-oriented</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Customer managed</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Policy, grants, rotation and aliases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Availability and deletion governance</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Multi-Region key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Related key material across Regions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Application and recovery design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361</a:t>
            </a:r>
          </a:p>
        </p:txBody>
      </p:sp>
    </p:spTree>
  </p:cSld>
  <p:clrMapOvr>
    <a:masterClrMapping/>
  </p:clrMapOvr>
  <p:transition spd="fast" advClick="1">
    <p:fade/>
  </p:transition>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K1 · K3 · A1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Compliance Remediation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Define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Required state</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Evaluate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Config rule or control</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Prioritise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Risk and scope</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Remediate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Automation or owner</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Compliant state</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Exception</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Approved expiry and review</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A7 OUTPUT</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Service quality is a measurable standard with evidence, not a one-time checkbox.</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Security Operations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Least privilege is a lifecycle, not a launch-day setting.</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Observe actual use, remove unused permissions, constrain trust, investigate denied actions and revalidate after organisational change.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363</a:t>
            </a:r>
          </a:p>
        </p:txBody>
      </p:sp>
    </p:spTree>
  </p:cSld>
  <p:clrMapOvr>
    <a:masterClrMapping/>
  </p:clrMapOvr>
  <p:transition spd="fast" advClick="1">
    <p:fade/>
  </p:transition>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Finding Age Profile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Finding age is a service-quality signal: exceptions need owners and expiry dates, while overdue high-risk findings require escalation.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364</a:t>
            </a:r>
          </a:p>
        </p:txBody>
      </p:sp>
    </p:spTree>
  </p:cSld>
  <p:clrMapOvr>
    <a:masterClrMapping/>
  </p:clrMapOvr>
  <p:transition spd="fast" advClick="1">
    <p:fade/>
  </p:transition>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656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Compute Optimizer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1040070" y="1792224"/>
            <a:ext cx="563739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Reduce costs and improve…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Reduce costs and improve performance by
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365</a:t>
            </a:r>
          </a:p>
        </p:txBody>
      </p:sp>
    </p:spTree>
  </p:cSld>
  <p:clrMapOvr>
    <a:masterClrMapping/>
  </p:clrMapOvr>
  <p:transition spd="fast" advClick="1">
    <p:fade/>
  </p:transition>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657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and Usage Reports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222480"/>
            <a:ext cx="6217920" cy="2541056"/>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366</a:t>
            </a:r>
          </a:p>
        </p:txBody>
      </p:sp>
    </p:spTree>
  </p:cSld>
  <p:clrMapOvr>
    <a:masterClrMapping/>
  </p:clrMapOvr>
  <p:transition spd="fast" advClick="1">
    <p:fade/>
  </p:transition>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672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Shared Responsibility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1832057"/>
            <a:ext cx="6217920" cy="3321902"/>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367</a:t>
            </a:r>
          </a:p>
        </p:txBody>
      </p:sp>
    </p:spTree>
  </p:cSld>
  <p:clrMapOvr>
    <a:masterClrMapping/>
  </p:clrMapOvr>
  <p:transition spd="fast" advClick="1">
    <p:fade/>
  </p:transition>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673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Shared Responsibility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responsibility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responsibility - Security of the Cloud
For EC2 instance, customer is responsible for management of the guest OS (including security patches and updates), firewall &amp; network configuration…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Protecting infrastructure…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Protecting infrastructure (hardware, software, facilities, and networking) that runs all the AWS services
Encrypting application data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Managed services like S3…</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Managed services like S3, DynamoDB, RDS, etc.
Shared controls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Customer responsibility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Customer responsibility - Security in the Cloud
Patch Management, Configuration Management, Awareness &amp; Training</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368</a:t>
            </a:r>
          </a:p>
        </p:txBody>
      </p:sp>
    </p:spTree>
  </p:cSld>
  <p:clrMapOvr>
    <a:masterClrMapping/>
  </p:clrMapOvr>
  <p:transition spd="fast" advClick="1">
    <p:fade/>
  </p:transition>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674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attacker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normal users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normal users
*Distributed Denial-of-Service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Not accessible Not responsive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Not accessible Not responsive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server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server
Evidence: IAM Access Analyzer findings, CloudTrail identity context, KMS key/grant policy, Config evaluations and exception records prove control…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What’s a DDOS* Attack?</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What’s a DDOS* Attack?
Decision point: remediate with the smallest policy change, validate new access before deployment and verify that the finding resolves without…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369</a:t>
            </a:r>
          </a:p>
        </p:txBody>
      </p:sp>
    </p:spTree>
  </p:cSld>
  <p:clrMapOvr>
    <a:masterClrMapping/>
  </p:clrMapOvr>
  <p:transition spd="fast" advClick="1">
    <p:fade/>
  </p:transition>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675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DDoS Protection on AWS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Shield Standard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Shield Standard: protects against DDoS attack for your website and applications, for all customers at no additional costs
Availability protection using global edge network</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Shield Advanced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Shield Advanced: 24/7 premium DDoS protection
Combined with AWS Shield, provides attack mitigation at the edge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WAF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WAF: filter specific requests based on rules
Be ready to scale - leverage AWS Auto Scaling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 and Route 53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and Route 53
Mechanism: effective access is the intersection of identity policy, resource policy, permission boundary, session policy, SCP/RCP and explicit denies.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370</a:t>
            </a:r>
          </a:p>
        </p:txBody>
      </p:sp>
    </p:spTree>
  </p:cSld>
  <p:clrMapOvr>
    <a:masterClrMapping/>
  </p:clrMapOvr>
  <p:transition spd="fast" advClick="1">
    <p:fade/>
  </p:transition>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Sample Reference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2392436"/>
            <a:ext cx="6217920" cy="2201143"/>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371</a:t>
            </a:r>
          </a:p>
        </p:txBody>
      </p:sp>
    </p:spTree>
  </p:cSld>
  <p:clrMapOvr>
    <a:masterClrMapping/>
  </p:clrMapOvr>
  <p:transition spd="fast" advClick="1">
    <p:fade/>
  </p:transition>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677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Shield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Shield Standard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Shield Standard
Optional DDoS mitigation service ($3,000 per month per organization)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Free service that is activated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Free service that is activated for every AWS customer
Protect against more sophisticated attack on Amazon EC2, Elastic Load Balancing (ELB), Amazon CloudFront, AWS Global Accelerator, and Route 53</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Provides protection from attacks…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Provides protection from attacks such as SYN/UDP Floods, Reflection attacks and other layer 3/layer 4 attacks
24/7 access to AWS DDoS response team (DRP)</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Shield Advanced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Shield Advanced
Protect against higher fees during usage spikes due to DDoS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372</a:t>
            </a:r>
          </a:p>
        </p:txBody>
      </p:sp>
    </p:spTree>
  </p:cSld>
  <p:clrMapOvr>
    <a:masterClrMapping/>
  </p:clrMapOvr>
  <p:transition spd="fast" advClick="1">
    <p:fade/>
  </p:transition>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678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Shield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325326" y="1792224"/>
            <a:ext cx="5066883"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373</a:t>
            </a:r>
          </a:p>
        </p:txBody>
      </p:sp>
    </p:spTree>
  </p:cSld>
  <p:clrMapOvr>
    <a:masterClrMapping/>
  </p:clrMapOvr>
  <p:transition spd="fast" advClick="1">
    <p:fade/>
  </p:transition>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WAF - Web Application Firewall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Protects your web applications…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Protects your web applications from common web exploits (Layer 7)
Rules can include: IP addresses, HTTP headers, HTTP body, or URI strings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Layer 7 is HTTP (vs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Layer 7 is HTTP (vs Layer 4 is TCP)
Protects from common attack - SQL injection and Cross-Site (XSS)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Deploy on Application Load…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Deploy on Application Load Balancer, API Gateway, CloudFront
Size constraints, geo-match (block countries)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Define Web ACL (Web Access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Define Web ACL (Web Access Control List)
Rate-based rules (to count occurrences of events) - for DDOS protection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374</a:t>
            </a:r>
          </a:p>
        </p:txBody>
      </p:sp>
    </p:spTree>
  </p:cSld>
  <p:clrMapOvr>
    <a:masterClrMapping/>
  </p:clrMapOvr>
  <p:transition spd="fast" advClick="1">
    <p:fade/>
  </p:transition>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681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WAF - Web Application Firewall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461046" y="1792224"/>
            <a:ext cx="4795443"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375</a:t>
            </a:r>
          </a:p>
        </p:txBody>
      </p:sp>
    </p:spTree>
  </p:cSld>
  <p:clrMapOvr>
    <a:masterClrMapping/>
  </p:clrMapOvr>
  <p:transition spd="fast" advClick="1">
    <p:fade/>
  </p:transition>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Penetration Testing on AWS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customers are welcome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customers are welcome to carry out security assessments or penetration tests against their AWS infrastructures without prior approval for 8…
Amazon Aurora
Amazon Elastic Beanstalk environments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EC2 instances, NAT…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EC2 instances, NAT Gateways, and Elastic Load Balancers
Amazon API Gateways
List can increase over time (you won’t be tested on that at the exam)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RDS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RDS
AWS Lambda and Lambda Edge functions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CloudFront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CloudFront
Amazon Lightsail resources
Failure mode: broad principals, unscoped PassRole, stale grants, public resource policies and long-lived credentials expand the trust boundary…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376</a:t>
            </a:r>
          </a:p>
        </p:txBody>
      </p:sp>
    </p:spTree>
  </p:cSld>
  <p:clrMapOvr>
    <a:masterClrMapping/>
  </p:clrMapOvr>
  <p:transition spd="fast" advClick="1">
    <p:fade/>
  </p:transition>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684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Penetration Testing on your AWS Cloud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Prohibited Activities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Prohibited Activities
Protocol flooding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zone walking via Amazon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zone walking via Amazon Route 53 Hosted Zones
Request flooding (login request flooding, API request flooding)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Denial of Service (DoS)…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Denial of Service (DoS), Distributed Denial of Service (DDoS), Simulated DoS, Simulated DDoS
For any other simulated events, contact aws-security-simulated-event@amazon.com</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Port flooding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Port flooding
Failure mode: broad principals, unscoped PassRole, stale grants, public resource policies and long-lived credentials expand the trust boundary…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377</a:t>
            </a:r>
          </a:p>
        </p:txBody>
      </p:sp>
    </p:spTree>
  </p:cSld>
  <p:clrMapOvr>
    <a:masterClrMapping/>
  </p:clrMapOvr>
  <p:transition spd="fast" advClick="1">
    <p:fade/>
  </p:transition>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685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Inspector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Automated Security Assessments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Automated Security Assessments
Analyze the running OS against known vulnerabilities
Identifies software vulnerabilities in function code and package dependencies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EC2 instances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EC2 instances
For Container Images push to Amazon ECR
Assessment of functions as they are deployed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Leveraging the AWS System Manager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Leveraging the AWS System Manager (SSM) agent
Assessment of Container Images as they are pushed
Reporting &amp; integration with AWS Security Hub</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Analyze against unintended…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Analyze against unintended network accessibility
For Lambda Functions
Send findings to Amazon Event Bridge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378</a:t>
            </a:r>
          </a:p>
        </p:txBody>
      </p:sp>
    </p:spTree>
  </p:cSld>
  <p:clrMapOvr>
    <a:masterClrMapping/>
  </p:clrMapOvr>
  <p:transition spd="fast" advClick="1">
    <p:fade/>
  </p:transition>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686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Inspector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195745" y="1792224"/>
            <a:ext cx="5326045"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379</a:t>
            </a:r>
          </a:p>
        </p:txBody>
      </p:sp>
    </p:spTree>
  </p:cSld>
  <p:clrMapOvr>
    <a:masterClrMapping/>
  </p:clrMapOvr>
  <p:transition spd="fast" advClick="1">
    <p:fade/>
  </p:transition>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688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does Amazon Inspector evaluate?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Remember: only for EC2 instances,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Remember: only for EC2 instances, Container Images &amp; Lambda functions
A risk score is associated with all vulnerabilities for prioritization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Continuous scanning of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Continuous scanning of the infrastructure, only when needed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Package vulnerabilities (EC2, ECR…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Package vulnerabilities (EC2, ECR &amp; Lambda) - database of CVE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Network reachability (EC2)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Network reachability (EC2)
Failure mode: broad principals, unscoped PassRole, stale grants, public resource policies and long-lived credentials expand the trust boundary…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380</a:t>
            </a:r>
          </a:p>
        </p:txBody>
      </p:sp>
    </p:spTree>
  </p:cSld>
  <p:clrMapOvr>
    <a:masterClrMapping/>
  </p:clrMapOvr>
  <p:transition spd="fast" advClick="1">
    <p:fade/>
  </p:transition>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690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Logging in AWS for security and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help compliance requirements…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help compliance requirements, AWS provides many service-specific security and audit logs
CloudWatch Logs - for full data retention
WAF Logs - full logging of all requests analyzed by the service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Service Logs include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Service Logs include
VPC Flow Logs - IP traffic within your VPC
Logs can be analyzed using AWS Athena if they're stored in S3</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 trails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trails - trace all API calls
ELB Access Logs - metadata of requests made to your load balancers
You should encrypt logs in S3, control access using IAM &amp; Bucket Policies, MFA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 Rules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 Rules - for config &amp; compliance over time
CloudFront Logs - web distribution access logs
Move Logs to Glacier for cost savings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381</a:t>
            </a:r>
          </a:p>
        </p:txBody>
      </p:sp>
    </p:spTree>
  </p:cSld>
  <p:clrMapOvr>
    <a:masterClrMapping/>
  </p:clrMapOvr>
  <p:transition spd="fast" advClick="1">
    <p:fade/>
  </p:transition>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691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Intelligent Threat discovery to protect your AWS Account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Machine Learning algorithms…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Machine Learning algorithms, anomaly detection, 3rd party data
CloudTrail Management Events – create VPC subnet, create trail, …
Optional Feature - EKS Audit Logs, RDS &amp; Aurora, EBS, Lambda, S3 Data Events…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enabled at account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enabled at account or organization scope (30 days trial), no need to install software
CloudTrail S3 Data Events – get object, list objects, delete object, …
Can setup EventBridge rules to be notified in case of findings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Input data includes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Input data includes
VPC Flow Logs - unusual internal traffic, unusual IP address
EventBridge rules can target AWS Lambda or SNS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 Events Logs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Events Logs - unusual API calls, unauthorized deployments
DNS Logs - compromised EC2 instances sending encoded data within DNS queries
Can protect against CryptoCurrency attacks (has a dedicated "finding" for it)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382</a:t>
            </a:r>
          </a:p>
        </p:txBody>
      </p:sp>
    </p:spTree>
  </p:cSld>
  <p:clrMapOvr>
    <a:masterClrMapping/>
  </p:clrMapOvr>
  <p:transition spd="fast" advClick="1">
    <p:fade/>
  </p:transition>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692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GuardDuty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VPC Flow Logs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VPC Flow Logs
Optional Features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CloudTrail Logs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CloudTrail Logs
EBS Volumes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Logs (AWS DNS)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Logs (AWS DNS)
Lambda Network RDS &amp; Aurora Activity Login Activity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EventBridge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EventBridge
EKS Audit Logs &amp; Runtime Monitoring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383</a:t>
            </a:r>
          </a:p>
        </p:txBody>
      </p:sp>
    </p:spTree>
  </p:cSld>
  <p:clrMapOvr>
    <a:masterClrMapping/>
  </p:clrMapOvr>
  <p:transition spd="fast" advClick="1">
    <p:fade/>
  </p:transition>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693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GuardDuty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100740" y="1792224"/>
            <a:ext cx="551605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384</a:t>
            </a:r>
          </a:p>
        </p:txBody>
      </p:sp>
    </p:spTree>
  </p:cSld>
  <p:clrMapOvr>
    <a:masterClrMapping/>
  </p:clrMapOvr>
  <p:transition spd="fast" advClick="1">
    <p:fade/>
  </p:transition>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696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Macie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Macie is a fully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Macie is a fully managed data security and data privacy service that uses machine learning and pattern matching to discover and protect your…
Amazon EventBridge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Macie helps identify and alert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Macie helps identify and alert you to sensitive data, such as personally identifiable information (PII)
integrations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Buckets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Buckets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Discover Sensitive Data (PII)</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Discover Sensitive Data (PII)
Failure mode: broad principals, unscoped PassRole, stale grants, public resource policies and long-lived credentials expand the trust boundary…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385</a:t>
            </a:r>
          </a:p>
        </p:txBody>
      </p:sp>
    </p:spTree>
  </p:cSld>
  <p:clrMapOvr>
    <a:masterClrMapping/>
  </p:clrMapOvr>
  <p:transition spd="fast" advClick="1">
    <p:fade/>
  </p:transition>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697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Macie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917802"/>
            <a:ext cx="6217920" cy="3150412"/>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386</a:t>
            </a:r>
          </a:p>
        </p:txBody>
      </p:sp>
    </p:spTree>
  </p:cSld>
  <p:clrMapOvr>
    <a:masterClrMapping/>
  </p:clrMapOvr>
  <p:transition spd="fast" advClick="1">
    <p:fade/>
  </p:transition>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700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Trusted Advisor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need to install anything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need to install anything - high level AWS account assessment
Fault tolerance
Full Set of Checks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Analyze your AWS accounts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Analyze your AWS accounts and provides recommendation on 6 categories
Service limits
Programmatic Access using AWS Support API</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Cost optimization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Cost optimization
Operational Excellence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Performance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Performance
Business &amp; Enterprise Support plan
Failure mode: broad principals, unscoped PassRole, stale grants, public resource policies and long-lived credentials expand the trust boundary…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387</a:t>
            </a:r>
          </a:p>
        </p:txBody>
      </p:sp>
    </p:spTree>
  </p:cSld>
  <p:clrMapOvr>
    <a:masterClrMapping/>
  </p:clrMapOvr>
  <p:transition spd="fast" advClick="1">
    <p:fade/>
  </p:transition>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701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Trusted Advisor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972822" y="1792224"/>
            <a:ext cx="5771891"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388</a:t>
            </a:r>
          </a:p>
        </p:txBody>
      </p:sp>
    </p:spTree>
  </p:cSld>
  <p:clrMapOvr>
    <a:masterClrMapping/>
  </p:clrMapOvr>
  <p:transition spd="fast" advClick="1">
    <p:fade/>
  </p:transition>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703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in flight (TLS /</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in flight (TLS / SSL)
HTTPS Website
aGVsbG8gd29 ybGQgZWh…</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is encrypted before sending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is encrypted before sending and decrypted after receiving
TLS Encryption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TLS certificates help with…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TLS certificates help with encryption (HTTPS)
TLS Decryption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in flight ensures no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in flight ensures no MITM (man in the middle attack) can happen
Username: admin Password: supersecret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389</a:t>
            </a:r>
          </a:p>
        </p:txBody>
      </p:sp>
    </p:spTree>
  </p:cSld>
  <p:clrMapOvr>
    <a:masterClrMapping/>
  </p:clrMapOvr>
  <p:transition spd="fast" advClick="1">
    <p:fade/>
  </p:transition>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704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Server-side encryption at rest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Server-side encryption at rest
The encryption / decryption keys must be managed somewhere, and the server must have access to it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is encrypted after being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is encrypted after being received by the server
AWS Service (e.g., S3)</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is decrypted before being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is decrypted before being sent
Encryption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stored in an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stored in an encrypted form thanks to a key (usually a data key)
Decryption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390</a:t>
            </a:r>
          </a:p>
        </p:txBody>
      </p:sp>
    </p:spTree>
  </p:cSld>
  <p:clrMapOvr>
    <a:masterClrMapping/>
  </p:clrMapOvr>
  <p:transition spd="fast" advClick="1">
    <p:fade/>
  </p:transition>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705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Client-side encryption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Client-side encryption
Could leverage Envelope Encryption
Any storage service (FTP, S3,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is encrypted by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is encrypted by the client and never decrypted by the server
Data key (client-side)
Decryption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will be decrypted by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will be decrypted by a receiving client
Encryption
Mechanism: effective access is the intersection of identity policy, resource policy, permission boundary, session policy, SCP/RCP and explicit denies.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server should not be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server should not be able to decrypt the data
Encrypted object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391</a:t>
            </a:r>
          </a:p>
        </p:txBody>
      </p:sp>
    </p:spTree>
  </p:cSld>
  <p:clrMapOvr>
    <a:masterClrMapping/>
  </p:clrMapOvr>
  <p:transition spd="fast" advClick="1">
    <p:fade/>
  </p:transition>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706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KMS (Key Management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Anytime you hear “encryption” for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Anytime you hear “encryption” for an AWS service, it’s most likely KMS
Able to audit KMS Key usage using CloudTrail
Encrypted secrets can be stored in the code / environment variables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manages encryption keys for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manages encryption keys for us
Seamlessly integrated into most AWS services (EBS, S3, RDS, SSM…)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Fully integrated with IAM for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Fully integrated with IAM for authorization
Never ever store your secrets in plaintext, especially in your code!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Easy way to control access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Easy way to control access to your data
KMS Key Encryption also available through API calls (SDK, CLI)</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392</a:t>
            </a:r>
          </a:p>
        </p:txBody>
      </p:sp>
    </p:spTree>
  </p:cSld>
  <p:clrMapOvr>
    <a:masterClrMapping/>
  </p:clrMapOvr>
  <p:transition spd="fast" advClick="1">
    <p:fade/>
  </p:transition>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707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Keys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Keys is the new</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Keys is the new name of KMS Customer Master Key
You never get access to the KMS Key unencrypted (must call KMS API to use)
The public key is downloadable, but you can’t access the Private Key unencrypted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Symmetric (AES-256 keys)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Symmetric (AES-256 keys)
Asymmetric (RSA &amp; ECC key pairs)
Use case: encryption outside of AWS by users who can’t call the KMS API</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Single encryption key that is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Single encryption key that is used to Encrypt and Decrypt
Public (Encrypt) and Private Key (Decrypt) pair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services that are integrated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services that are integrated with KMS use Symmetric CMKs
Used for Encrypt/Decrypt, or Sign/Verify operations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393</a:t>
            </a:r>
          </a:p>
        </p:txBody>
      </p:sp>
    </p:spTree>
  </p:cSld>
  <p:clrMapOvr>
    <a:masterClrMapping/>
  </p:clrMapOvr>
  <p:transition spd="fast" advClick="1">
    <p:fade/>
  </p:transition>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708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KMS (Key Management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Types of KMS Keys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Types of KMS Keys
Customer managed keys imported: $1 / month
Customer-managed KMS Key: (must be enabled) automatic &amp; on-demand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Owned Keys (free)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Owned Keys (free): SSE-S3, SSE-SQS, SSE-DDB (default key)
+ pay for API call to KMS ($0.03 / 10000 calls)
Imported KMS Key: only manual rotation possible using alias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Managed Key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Managed Key: free (aws/service-name, example: aws/rds or aws/ebs)
Automatic Key rotation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Customer managed keys created 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Customer managed keys created in KMS: $1 / month
AWS-managed KMS Key: automatic every 1 year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394</a:t>
            </a:r>
          </a:p>
        </p:txBody>
      </p:sp>
    </p:spTree>
  </p:cSld>
  <p:clrMapOvr>
    <a:masterClrMapping/>
  </p:clrMapOvr>
  <p:transition spd="fast" advClick="1">
    <p:fade/>
  </p:transition>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709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Copying Snapshots across regions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 Encrypted With KMS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 Encrypted With KMS
KMS ReEncrypt with KMS Key B</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Snapshot Encrypted With KMS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Snapshot Encrypted With KMS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Region eu-west-2</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Region eu-west-2
Failure mode: broad principals, unscoped PassRole, stale grants, public resource policies and long-lived credentials expand the trust boundary…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Region ap-southeast-2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Region ap-southeast-2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395</a:t>
            </a:r>
          </a:p>
        </p:txBody>
      </p:sp>
    </p:spTree>
  </p:cSld>
  <p:clrMapOvr>
    <a:masterClrMapping/>
  </p:clrMapOvr>
  <p:transition spd="fast" advClick="1">
    <p:fade/>
  </p:transition>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Key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Control access to KMS keys,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Control access to KMS keys, “similar” to S3 bucket policies
Complete access to the key to the root user = entire AWS account
Useful for cross-account access of your KMS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Difference: you cannot control…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Difference: you cannot control access without them
Custom KMS Key Policy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Default KMS Key Policy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Default KMS Key Policy
Define users, roles that can access the KMS key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Created if you don’t provide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Created if you don’t provide a specific KMS Key Policy
Define who can administer the key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396</a:t>
            </a:r>
          </a:p>
        </p:txBody>
      </p:sp>
    </p:spTree>
  </p:cSld>
  <p:clrMapOvr>
    <a:masterClrMapping/>
  </p:clrMapOvr>
  <p:transition spd="fast" advClick="1">
    <p:fade/>
  </p:transition>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712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Automatic Key Rotation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111122223333</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111122223333
AWS-managed KMS Keys: automatically rotated every 1 year
Previous key is kept active so you can decrypt old data</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Key ID = 1234abcd-12ab-34cd-56…</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Key ID = 1234abcd-12ab-34cd-56ef-1234567890ab
For Customer-Managed Symmetric KMS Key
New Key has the same KMS Key ID (only the backing key is changed)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444455556666</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444455556666
Automatic key rotation is optionally enabled
Backing Key Backing Key Saved Backing Key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Automatic Key rotation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Automatic Key rotation
Customize Rotation Period between 90 and 2560 days (default: 365 days)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397</a:t>
            </a:r>
          </a:p>
        </p:txBody>
      </p:sp>
    </p:spTree>
  </p:cSld>
  <p:clrMapOvr>
    <a:masterClrMapping/>
  </p:clrMapOvr>
  <p:transition spd="fast" advClick="1">
    <p:fade/>
  </p:transition>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713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On-Demand Key Rotation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Customer-Managed Symmetric…</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Customer-Managed Symmetric KMS Key (not AWS managed CMK)
On Demand Key rotation
Backing Key Backing Key Saved Backing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Does NOT require Automatic Key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Does NOT require Automatic Key Rotation to be enabled
111122223333</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Does NOT change existing Automatic</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Does NOT change existing Automatic Rotation schedules
KMS Key ID = 1234abcd-12ab-34cd-56ef-1234567890ab</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Limit to how many times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Limit to how many times you can trigger an on-demand key rotation
444455556666</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398</a:t>
            </a:r>
          </a:p>
        </p:txBody>
      </p:sp>
    </p:spTree>
  </p:cSld>
  <p:clrMapOvr>
    <a:masterClrMapping/>
  </p:clrMapOvr>
  <p:transition spd="fast" advClick="1">
    <p:fade/>
  </p:transition>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714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Manual Key Rotation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(Customer-Managed Symmetric KMS…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(Customer-Managed Symmetric KMS Key &amp; Imports)
When you want to rotate key (example: every month)
Good solution to rotate KMS Key that are not eligible for automatic rotation (like asymmetric KMS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111122223333</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111122223333
New Key has a different KMS Key ID
Rotate Key Manually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Alias = MyCustomKey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Alias = MyCustomKey
Keep the previous key active so you can decrypt old data
111122223333 444455556666</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Key ID = 1234abcd-12ab-34cd-56…</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Key ID = 1234abcd-12ab-34cd-56ef-1234567890ab
Better to use aliases in this case (to hide the change of key for the application)
KMS Key ID = 1234abcd-12ab-34cd-56ef-1234567890ab KMS Key ID = 0978dcba-09fe-65ba-ab0987654321</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399</a:t>
            </a:r>
          </a:p>
        </p:txBody>
      </p:sp>
    </p:spTree>
  </p:cSld>
  <p:clrMapOvr>
    <a:masterClrMapping/>
  </p:clrMapOvr>
  <p:transition spd="fast" advClick="1">
    <p:fade/>
  </p:transition>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715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Alias Updating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Key Alias = MyAppKey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Key Alias = MyAppKey
Better to use aliases in this case (to hide the change of key for the application)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UpdateAlias API</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UpdateAlias API
Application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Key ID = eba96e8f-7f66-4d5a-ae…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Key ID = eba96e8f-7f66-4d5a-aeb6-f32ae8d65d85
Failure mode: broad principals, unscoped PassRole, stale grants, public resource policies and long-lived credentials expand the trust boundary…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Key ID = 881cd7f5-b3eb-43e2-82…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Key ID = 881cd7f5-b3eb-43e2-82fc-d6f5bda81e00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400</a:t>
            </a:r>
          </a:p>
        </p:txBody>
      </p:sp>
    </p:spTree>
  </p:cSld>
  <p:clrMapOvr>
    <a:masterClrMapping/>
  </p:clrMapOvr>
  <p:transition spd="fast" advClick="1">
    <p:fade/>
  </p:transition>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717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Sharing KMS Encrypted RDS DB Snapshots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share RDS DB</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share RDS DB snapshots encrypted with KMS CMK with other accounts but must first share the KMS CMK with the target account using Key Policy
DB Instance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Account A (111122223333)</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Account A (111122223333)
(Snapshot: mydbsnapshot)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Account B (444455556666)</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Account B (444455556666)
(encrypted)
Failure mode: broad principals, unscoped PassRole, stale grants, public resource policies and long-lived credentials expand the trust boundary…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access through CMK Key Policy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access through CMK Key Policy
Key Policy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401</a:t>
            </a:r>
          </a:p>
        </p:txBody>
      </p:sp>
    </p:spTree>
  </p:cSld>
  <p:clrMapOvr>
    <a:masterClrMapping/>
  </p:clrMapOvr>
  <p:transition spd="fast" advClick="1">
    <p:fade/>
  </p:transition>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718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Key Deletion Considerations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Schedule CMK for deletion with</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Schedule CMK for deletion with a waiting period of 7 to 30 days
The key is not rotated even if planned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CMK’s status is "Pending deletion"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CMK’s status is "Pending deletion" during the waiting period
You can cancel the key deletion during the waiting period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During the CMK’s deletion waiting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During the CMK’s deletion waiting period
Consider disabling your key instead of deleting it if you’re not sure!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CMK can't be used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CMK can't be used for cryptographic operations (e.g., can’t decrypt KMS- encrypted objects in S3 - SSE-KMS)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402</a:t>
            </a:r>
          </a:p>
        </p:txBody>
      </p:sp>
    </p:spTree>
  </p:cSld>
  <p:clrMapOvr>
    <a:masterClrMapping/>
  </p:clrMapOvr>
  <p:transition spd="fast" advClick="1">
    <p:fade/>
  </p:transition>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719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KMS Key Deletion - CloudWatch Alarm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CloudTrail, CloudWatch Logs…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CloudTrail, CloudWatch Logs, CloudWatch Alarms and SNS to be notified when someone tries to use a CMK that’s "Pending deletion" in a…
“* is pending deletion”
log API calls (DENIED)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SNS
(Pending deletion)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CloudWatch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CloudWatch
CloudTrail
Failure mode: broad principals, unscoped PassRole, stale grants, public resource policies and long-lived credentials expand the trust boundary…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Metric Filter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Metric Filter
cryptographic operation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403</a:t>
            </a:r>
          </a:p>
        </p:txBody>
      </p:sp>
    </p:spTree>
  </p:cSld>
  <p:clrMapOvr>
    <a:masterClrMapping/>
  </p:clrMapOvr>
  <p:transition spd="fast" advClick="1">
    <p:fade/>
  </p:transition>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720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CloudHSM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=&gt; AWS manages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=&gt; AWS manages the software for encryption
HSM device is tamper resistant, FIPS 140-2 Level 3 compliance
Redshift supports CloudHSM for database encryption and key management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CloudHSM =&gt; AWS provisions…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CloudHSM =&gt; AWS provisions encryption hardware
Supports both symmetric and asymmetric encryption (SSL/TLS keys)
Good option to use with SSE-C encryption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Dedicated Hardware (HSM = Hardware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Dedicated Hardware (HSM = Hardware Security Module)
No free tier available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manage your own encryption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manage your own encryption keys entirely (not AWS)
Must use the CloudHSM Client Software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404</a:t>
            </a:r>
          </a:p>
        </p:txBody>
      </p:sp>
    </p:spTree>
  </p:cSld>
  <p:clrMapOvr>
    <a:masterClrMapping/>
  </p:clrMapOvr>
  <p:transition spd="fast" advClick="1">
    <p:fade/>
  </p:transition>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721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CloudHSM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895730" y="1792224"/>
            <a:ext cx="592607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405</a:t>
            </a:r>
          </a:p>
        </p:txBody>
      </p:sp>
    </p:spTree>
  </p:cSld>
  <p:clrMapOvr>
    <a:masterClrMapping/>
  </p:clrMapOvr>
  <p:transition spd="fast" advClick="1">
    <p:fade/>
  </p:transition>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722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CloudHSM Diagram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CloudHSM</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CloudHSM
User manages the Keys
Manage the Keys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CloudHSM Client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CloudHSM Client
IAM permissions
Manage the Users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manages the Hardware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manages the Hardware
CRUD an HSM Cluster
Evidence: IAM Access Analyzer findings, CloudTrail identity context, KMS key/grant policy, Config evaluations and exception records prove control…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SSL Connection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SSL Connection
CloudHSM Software
Decision point: remediate with the smallest policy change, validate new access before deployment and verify that the finding resolves without…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406</a:t>
            </a:r>
          </a:p>
        </p:txBody>
      </p:sp>
    </p:spTree>
  </p:cSld>
  <p:clrMapOvr>
    <a:masterClrMapping/>
  </p:clrMapOvr>
  <p:transition spd="fast" advClick="1">
    <p:fade/>
  </p:transition>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723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CloudHSM - High Availability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CloudHSM clusters are spread…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CloudHSM clusters are spread across Multi AZ (HA)
Availability Zone 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Great for availability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Great for availability and durability
CloudHSM 2
Mechanism: effective access is the intersection of identity policy, resource policy, permission boundary, session policy, SCP/RCP and explicit denies.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CloudHSM 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CloudHSM 1
Availability Zone 2
Failure mode: broad principals, unscoped PassRole, stale grants, public resource policies and long-lived credentials expand the trust boundary…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CloudHSM Client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CloudHSM Client
Evidence: IAM Access Analyzer findings, CloudTrail identity context, KMS key/grant policy, Config evaluations and exception records prove control…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407</a:t>
            </a:r>
          </a:p>
        </p:txBody>
      </p:sp>
    </p:spTree>
  </p:cSld>
  <p:clrMapOvr>
    <a:masterClrMapping/>
  </p:clrMapOvr>
  <p:transition spd="fast" advClick="1">
    <p:fade/>
  </p:transition>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724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CloudHSM - Integration with AWS Services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Through integration with AWS KMS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Through integration with AWS KMS
(Custom Key Store)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Configure KMS Custom Key Store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Configure KMS Custom Key Store with CloudHSM
KMS Encryption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EBS, S3, RDS …</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EBS, S3, RDS …
CloudTrail
Evidence: IAM Access Analyzer findings, CloudTrail identity context, KMS key/grant policy, Config evaluations and exception records prove control…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
keys usage logs
Decision point: remediate with the smallest policy change, validate new access before deployment and verify that the finding resolves without…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408</a:t>
            </a:r>
          </a:p>
        </p:txBody>
      </p:sp>
    </p:spTree>
  </p:cSld>
  <p:clrMapOvr>
    <a:masterClrMapping/>
  </p:clrMapOvr>
  <p:transition spd="fast" advClick="1">
    <p:fade/>
  </p:transition>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728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Artifact (not really a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Portal that provides customers…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Portal that provides customers with on-demand access to AWS compliance documentation and AWS agreements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Artifact Reports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Artifact Reports - Allows you to download AWS security and compliance documents from third-party auditors, like AWS ISO certifications, Payment Card…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Artifact Agreements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Artifact Agreements - Allows you to review, accept, and track the status of AWS agreements such as the Business Associate Addendum (BAA) or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used to support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used to support internal audit or compliance
Mechanism: effective access is the intersection of identity policy, resource policy, permission boundary, session policy, SCP/RCP and explicit denies.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409</a:t>
            </a:r>
          </a:p>
        </p:txBody>
      </p:sp>
    </p:spTree>
  </p:cSld>
  <p:clrMapOvr>
    <a:masterClrMapping/>
  </p:clrMapOvr>
  <p:transition spd="fast" advClick="1">
    <p:fade/>
  </p:transition>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729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Artifact (not really a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100740" y="1792224"/>
            <a:ext cx="5516056"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410</a:t>
            </a:r>
          </a:p>
        </p:txBody>
      </p:sp>
    </p:spTree>
  </p:cSld>
  <p:clrMapOvr>
    <a:masterClrMapping/>
  </p:clrMapOvr>
  <p:transition spd="fast" advClick="1">
    <p:fade/>
  </p:transition>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731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Certificate Manager (ACM)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Easily provision, manage,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Easily provision, manage, and deploy TLS Certificates
Automatic TLS certificate renewal
APIs on API Gateway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Provide in-flight encryption for…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Provide in-flight encryption for websites (HTTPS)
Integrations with (load TLS certificates on)
Cannot use ACM with EC2 (can’t be extracted)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Supports both public and private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Supports both public and private TLS certificates
Elastic Load Balancers (CLB, ALB, NLB)
Auto Scaling group</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Free of charge for public</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Free of charge for public TLS certificates
CloudFront Distributions
EC2 Instance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411</a:t>
            </a:r>
          </a:p>
        </p:txBody>
      </p:sp>
    </p:spTree>
  </p:cSld>
  <p:clrMapOvr>
    <a:masterClrMapping/>
  </p:clrMapOvr>
  <p:transition spd="fast" advClick="1">
    <p:fade/>
  </p:transition>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Certificate Manager (ACM)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008292" y="1792224"/>
            <a:ext cx="5700951"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effective access is the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effective access is the intersection of identity policy, resource policy, permission boundary, session…</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broad principals, unscoped PassRole, stale grants, public resource policies and long-lived…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IAM Access Analyzer…</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IAM Access Analyzer findings, CloudTrail identity context, KMS key/grant policy, Config evaluations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412</a:t>
            </a:r>
          </a:p>
        </p:txBody>
      </p:sp>
    </p:spTree>
  </p:cSld>
  <p:clrMapOvr>
    <a:masterClrMapping/>
  </p:clrMapOvr>
  <p:transition spd="fast" advClick="1">
    <p:fade/>
  </p:transition>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733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ACM - Requesting Public Certificates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List domain names to be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List domain names to be included in the certificate
DNS Validation is preferred for automation purposes
The Public Certificate will be enrolled for automatic renewal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Fully Qualified Domain Name (FQDN)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Fully Qualified Domain Name (FQDN): corp.example.com
Email validation will send emails to contact addresses in the WHOIS database
ACM automatically renews ACM-generated certificates 60 days before expiry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Wildcard Domain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Wildcard Domain: *.example.com
DNS Validation will leverage a CNAME record to DNS config (ex: Route 53)</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Select Validation Method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Select Validation Method: DNS Validation or Email validation
It will take a few hours to get verified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413</a:t>
            </a:r>
          </a:p>
        </p:txBody>
      </p:sp>
    </p:spTree>
  </p:cSld>
  <p:clrMapOvr>
    <a:masterClrMapping/>
  </p:clrMapOvr>
  <p:transition spd="fast" advClick="1">
    <p:fade/>
  </p:transition>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734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ACM - Importing Public Certificates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 to generate the certificate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 to generate the certificate
starting 45 days prior to expiration
AWS Config</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outside of ACM and then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outside of ACM and then import it
The # of days can be configured
EventBridge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No automatic renewal, must import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No automatic renewal, must import a new certificate before expiry
Events are appearing in EventBridge
Rule events: Non-compliance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ACM sends daily expiration events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ACM sends daily expiration events
AWS Config was a managed rule named acm-certificate-expiration-check to check for expiring certificates (configurable number of days)
ACM Events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414</a:t>
            </a:r>
          </a:p>
        </p:txBody>
      </p:sp>
    </p:spTree>
  </p:cSld>
  <p:clrMapOvr>
    <a:masterClrMapping/>
  </p:clrMapOvr>
  <p:transition spd="fast" advClick="1">
    <p:fade/>
  </p:transition>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ACM - Integration with ALB</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 Scaling group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 Scaling group
With HTTP -&gt; HTTPS redirect rule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provision and maintain TLS certs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Certificate Manager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Certificate Manager
Redirect to HTTPS HTTPS
Evidence: IAM Access Analyzer findings, CloudTrail identity context, KMS key/grant policy, Config evaluations and exception records prove control…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 Load Balancer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Load Balancer
Decision point: remediate with the smallest policy change, validate new access before deployment and verify that the finding resolves without…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415</a:t>
            </a:r>
          </a:p>
        </p:txBody>
      </p:sp>
    </p:spTree>
  </p:cSld>
  <p:clrMapOvr>
    <a:masterClrMapping/>
  </p:clrMapOvr>
  <p:transition spd="fast" advClick="1">
    <p:fade/>
  </p:transition>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ACM - Integration with API Gateway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a Custom Domain Name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a Custom Domain Name in API Gateway
The TLS Certificate must be in the same region as CloudFront, in us-east-1
CloudFront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Edge-Optimized (default)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Edge-Optimized (default): For global clients
Then setup CNAME or (better) A-Alias record in Route 53
linked certificate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Requests are routed through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Requests are routed through the CloudFront Edge locations (improves latency)
For clients within the same region
API Gateway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API Gateway still lives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API Gateway still lives in only one region
The TLS Certificate must be imported on API Gateway, in the same region as the API Stage
Edge-Optimized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416</a:t>
            </a:r>
          </a:p>
        </p:txBody>
      </p:sp>
    </p:spTree>
  </p:cSld>
  <p:clrMapOvr>
    <a:masterClrMapping/>
  </p:clrMapOvr>
  <p:transition spd="fast" advClick="1">
    <p:fade/>
  </p:transition>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API Gateway - Endpoint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Edge-Optimized (default)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Edge-Optimized (default): For global clients
Could manually combine with CloudFront (more control over the caching strategies and the distribution)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Requests are routed through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Requests are routed through the CloudFront Edge locations (improves latency)
Can only be accessed from your VPC using an interface VPC endpoint (ENI)</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API Gateway still lives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API Gateway still lives in only one region
Use a resource policy to define access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clients within the same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clients within the same region
Mechanism: effective access is the intersection of identity policy, resource policy, permission boundary, session policy, SCP/RCP and explicit denies.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417</a:t>
            </a:r>
          </a:p>
        </p:txBody>
      </p:sp>
    </p:spTree>
  </p:cSld>
  <p:clrMapOvr>
    <a:masterClrMapping/>
  </p:clrMapOvr>
  <p:transition spd="fast" advClick="1">
    <p:fade/>
  </p:transition>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739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SSM Parameter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Secure storage for configuration…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Secure storage for configuration and secrets
Configuration management using path &amp; IAM
Applications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Optional Seamless Encryption…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Optional Seamless Encryption using KMS
Notifications with Amazon EventBridge
Plaintext configuration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Serverless, scalable, durable…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Serverless, scalable, durable, easy SDK
Integration with CloudFormation
Encrypted configuration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Version tracking of…</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Version tracking of configurations / secrets
SSM Parameter
Check IAM permissions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418</a:t>
            </a:r>
          </a:p>
        </p:txBody>
      </p:sp>
    </p:spTree>
  </p:cSld>
  <p:clrMapOvr>
    <a:masterClrMapping/>
  </p:clrMapOvr>
  <p:transition spd="fast" advClick="1">
    <p:fade/>
  </p:transition>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SSM Parameter Store Hierarchy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/my-department/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/my-department/
/aws/reference/secretsmanager/secret_ID_in_Secrets_Manager
Prod Lambda Function
Mechanism: effective access is the intersection of identity policy, resource policy, permission boundary, session policy, SCP/RCP and explicit denies.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db-password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db-password
/aws/service/ami-amazon-linux-latest/amzn2-ami-hvm-x86_64-gp2
Failure mode: broad principals, unscoped PassRole, stale grants, public resource policies and long-lived credentials expand the trust boundary…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other-app/</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other-app/
Dev Lambda Function
Evidence: IAM Access Analyzer findings, CloudTrail identity context, KMS key/grant policy, Config evaluations and exception records prove control…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/other-department/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/other-department/
GetParameters or GetParametersByPath API
Decision point: remediate with the smallest policy change, validate new access before deployment and verify that the finding resolves without…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Start with the trust boundary, evaluate effective access, protect data, record exceptions and verify that remediation reduced risk.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419</a:t>
            </a:r>
          </a:p>
        </p:txBody>
      </p:sp>
    </p:spTree>
  </p:cSld>
  <p:clrMapOvr>
    <a:masterClrMapping/>
  </p:clrMapOvr>
  <p:transition spd="fast" advClick="1">
    <p:fade/>
  </p:transition>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07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55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420</a:t>
            </a:r>
          </a:p>
        </p:txBody>
      </p:sp>
    </p:spTree>
  </p:cSld>
  <p:clrMapOvr>
    <a:masterClrMapping/>
  </p:clrMapOvr>
  <p:transition spd="fast" advClick="1">
    <p:fade/>
  </p:transition>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Multi-Account Compliance Evidence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K1, K3, A1 and A7 by evaluating required tags and encryption, aggregating findings and documenting a controlled remediation exception.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Deploy Config-style controls, review findings and produce auditable remediation and exception evidence.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Config rule template, tag policy, findings register, remediation decision and service-quality scorecard.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AWS Config · Organizations · Security Hub · EventBridge · Systems Manager Automation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Required controls evaluate learner-owned resources, findings are prioritised with context, remediation has owner/SLA/verification, the exception expires, and validation emits LAB 07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421</a:t>
            </a:r>
          </a:p>
        </p:txBody>
      </p:sp>
    </p:spTree>
  </p:cSld>
  <p:clrMapOvr>
    <a:masterClrMapping/>
  </p:clrMapOvr>
  <p:transition spd="fast" advClick="1">
    <p:fade/>
  </p:transition>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07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Record</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Configuration state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Evaluate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Rule result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Aggregate</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Account scope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Remediate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Approved control</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Evidence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Exception and result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07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Multi-Account Compliance Evidence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Required controls evaluate learner-owned resources, findings are prioritised with context, remediation has owner/SLA/verification, the exception expires, and validation emits LAB 07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423</a:t>
            </a:r>
          </a:p>
        </p:txBody>
      </p:sp>
    </p:spTree>
  </p:cSld>
  <p:clrMapOvr>
    <a:masterClrMapping/>
  </p:clrMapOvr>
  <p:transition spd="fast" advClick="1">
    <p:fade/>
  </p:transition>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Diagnose IAM Access and Protect Data with KMS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K1, K3, A1 and A7 by explaining an access decision, narrowing permissions and verifying encryption and key-policy behaviour.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policy evidence to distinguish identity, resource and KMS decisions, then implement and verify least privilege.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policy-evaluation worksheet, corrected least-privilege policy, KMS key-policy review and encrypted-object evidence.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IAM · Access Analyzer · Policy Simulator · KMS · S3 · CloudTrail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decision path explains the deny, corrected policy uses exact actions/resources, encrypted-object metadata is verified, Access Analyzer reports no ERROR, and validation emits LAB 08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424</a:t>
            </a:r>
          </a:p>
        </p:txBody>
      </p:sp>
    </p:spTree>
  </p:cSld>
  <p:clrMapOvr>
    <a:masterClrMapping/>
  </p:clrMapOvr>
  <p:transition spd="fast" advClick="1">
    <p:fade/>
  </p:transition>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08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Identity</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Role and boundary</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Protect</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KMS policy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Detect</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Finding or event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Respond</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Bounded action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Assure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Access evidence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08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Diagnose IAM Access and Protect Data with KMS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decision path explains the deny, corrected policy uses exact actions/resources, encrypted-object metadata is verified, Access Analyzer reports no ERROR, and validation emits LAB 08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426</a:t>
            </a:r>
          </a:p>
        </p:txBody>
      </p:sp>
    </p:spTree>
  </p:cSld>
  <p:clrMapOvr>
    <a:masterClrMapping/>
  </p:clrMapOvr>
  <p:transition spd="fast" advClick="1">
    <p:fade/>
  </p:transition>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07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Security, Identity and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Short-lived credentials, least privilege and explicit trust bound administrative power.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Policies prevent known bad states; telemetry detects deviation; runbooks contain and recover.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K1, K3, A1 and A7 by evaluating required tags and encryption, aggregating findings and documenting a controlled remediation exception.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Required controls evaluate learner-owned resources, findings are prioritised with context, remediation has owner/SLA/verification, the exception expires, 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427</a:t>
            </a:r>
          </a:p>
        </p:txBody>
      </p:sp>
    </p:spTree>
  </p:cSld>
  <p:clrMapOvr>
    <a:masterClrMapping/>
  </p:clrMapOvr>
  <p:transition spd="med" advClick="1">
    <p:push dir="l"/>
  </p:transition>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 · LO5 · K2 · A2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Networking, DNS and Content Delivery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VPC · routes · security groups · NACLs · endpoints · Route 53 · CloudFront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428</a:t>
            </a:r>
          </a:p>
        </p:txBody>
      </p:sp>
    </p:spTree>
  </p:cSld>
  <p:clrMapOvr>
    <a:masterClrMapping/>
  </p:clrMapOvr>
  <p:transition spd="med" advClick="1">
    <p:push dir="l"/>
  </p:transition>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SOA-C03 Domain 5 · 18%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Networking, DNS and Content Delivery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Connectivity is a path</a:t>
            </a:r>
          </a:p>
          <a:p>
            <a:pPr algn="l">
              <a:spcAft>
                <a:spcPts val="300"/>
              </a:spcAft>
            </a:pPr>
            <a:r>
              <a:rPr sz="1200" b="0">
                <a:solidFill>
                  <a:srgbClr val="5B6372"/>
                </a:solidFill>
                <a:latin typeface="Arial"/>
              </a:rPr>
              <a:t>DNS, route, policy, state, endpoint and application health must all succeed.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Security groups are stateful</a:t>
            </a:r>
          </a:p>
          <a:p>
            <a:pPr algn="l">
              <a:spcAft>
                <a:spcPts val="300"/>
              </a:spcAft>
            </a:pPr>
            <a:r>
              <a:rPr sz="1200" b="0">
                <a:solidFill>
                  <a:srgbClr val="5B6372"/>
                </a:solidFill>
                <a:latin typeface="Arial"/>
              </a:rPr>
              <a:t>Return traffic is automatically allowed; network ACLs evaluate each direction.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Private connectivity reduces exposure</a:t>
            </a:r>
          </a:p>
          <a:p>
            <a:pPr algn="l">
              <a:spcAft>
                <a:spcPts val="300"/>
              </a:spcAft>
            </a:pPr>
            <a:r>
              <a:rPr sz="1200" b="0">
                <a:solidFill>
                  <a:srgbClr val="5B6372"/>
                </a:solidFill>
                <a:latin typeface="Arial"/>
              </a:rPr>
              <a:t>VPC endpoints, Transit Gateway and hybrid links change routing and policy boundaries.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DNS is a control surface</a:t>
            </a:r>
          </a:p>
          <a:p>
            <a:pPr algn="l">
              <a:spcAft>
                <a:spcPts val="300"/>
              </a:spcAft>
            </a:pPr>
            <a:r>
              <a:rPr sz="1200" b="0">
                <a:solidFill>
                  <a:srgbClr val="5B6372"/>
                </a:solidFill>
                <a:latin typeface="Arial"/>
              </a:rPr>
              <a:t>Routing policy, health evaluation, TTL and resolver behaviour affect recovery.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429</a:t>
            </a:r>
          </a:p>
        </p:txBody>
      </p:sp>
    </p:spTree>
  </p:cSld>
  <p:clrMapOvr>
    <a:masterClrMapping/>
  </p:clrMapOvr>
  <p:transition spd="fast" advClick="1">
    <p:fade/>
  </p:transition>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IMAGEGEN VISUAL · TOPIC 08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Trace the Complete Request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ws-network-path-diagnostics-v6.png"/>
          <p:cNvPicPr>
            <a:picLocks noChangeAspect="1"/>
          </p:cNvPicPr>
          <p:nvPr/>
        </p:nvPicPr>
        <p:blipFill>
          <a:blip r:embed="rId2"/>
          <a:stretch>
            <a:fillRect/>
          </a:stretch>
        </p:blipFill>
        <p:spPr>
          <a:xfrm>
            <a:off x="777240" y="1755648"/>
            <a:ext cx="7315200" cy="4370832"/>
          </a:xfrm>
          <a:prstGeom prst="rect">
            <a:avLst/>
          </a:prstGeom>
        </p:spPr>
      </p:pic>
      <p:sp>
        <p:nvSpPr>
          <p:cNvPr id="8" name="Rectangle 7"/>
          <p:cNvSpPr/>
          <p:nvPr/>
        </p:nvSpPr>
        <p:spPr>
          <a:xfrm>
            <a:off x="8366760" y="1755648"/>
            <a:ext cx="304495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66760" y="1755648"/>
            <a:ext cx="3044952"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80" y="2103120"/>
            <a:ext cx="2514600" cy="384048"/>
          </a:xfrm>
          <a:prstGeom prst="rect">
            <a:avLst/>
          </a:prstGeom>
          <a:noFill/>
        </p:spPr>
        <p:txBody>
          <a:bodyPr wrap="square" anchor="t">
            <a:spAutoFit/>
          </a:bodyPr>
          <a:lstStyle/>
          <a:p>
            <a:pPr algn="l">
              <a:spcAft>
                <a:spcPts val="400"/>
              </a:spcAft>
            </a:pPr>
            <a:r>
              <a:rPr sz="1300" b="1">
                <a:solidFill>
                  <a:srgbClr val="7C3AED"/>
                </a:solidFill>
                <a:latin typeface="Arial"/>
              </a:rPr>
              <a:t>READ THE SYSTEM</a:t>
            </a:r>
          </a:p>
        </p:txBody>
      </p:sp>
      <p:sp>
        <p:nvSpPr>
          <p:cNvPr id="11" name="TextBox 10"/>
          <p:cNvSpPr txBox="1"/>
          <p:nvPr/>
        </p:nvSpPr>
        <p:spPr>
          <a:xfrm>
            <a:off x="8641080" y="2651760"/>
            <a:ext cx="2514600" cy="3063240"/>
          </a:xfrm>
          <a:prstGeom prst="rect">
            <a:avLst/>
          </a:prstGeom>
          <a:noFill/>
        </p:spPr>
        <p:txBody>
          <a:bodyPr wrap="square" anchor="ctr">
            <a:spAutoFit/>
          </a:bodyPr>
          <a:lstStyle/>
          <a:p>
            <a:pPr algn="l">
              <a:spcAft>
                <a:spcPts val="400"/>
              </a:spcAft>
            </a:pPr>
            <a:r>
              <a:rPr sz="1700" b="0">
                <a:solidFill>
                  <a:srgbClr val="161B26"/>
                </a:solidFill>
                <a:latin typeface="Arial"/>
              </a:rPr>
              <a:t>Follow DNS, edge, routing, policy, load balancing and target health in order; compare the intended path with the blocked path before changing configuration.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430</a:t>
            </a:r>
          </a:p>
        </p:txBody>
      </p:sp>
    </p:spTree>
  </p:cSld>
  <p:clrMapOvr>
    <a:masterClrMapping/>
  </p:clrMapOvr>
  <p:transition spd="fast" advClick="1">
    <p:fade/>
  </p:transition>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Connectivity Troubleshooting Order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Name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DNS answer and TTL</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Route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Longest prefix and target</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Policy</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SG, NACL and endpoint…</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State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NAT, connection and…</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Target</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Listener, port and health</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Evidence</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Flow logs and application…</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A2 STANDARD</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Test from source to destination and record the first failed control boundary.</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Security Group vs Network ACL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Property</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Security group</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Network ACL</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Scope</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Elastic network interface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Subnet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State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Stateful</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Stateless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Rules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Allow only</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Numbered allow and deny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Evaluation</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All rules together</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Lowest rule number first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432</a:t>
            </a:r>
          </a:p>
        </p:txBody>
      </p:sp>
    </p:spTree>
  </p:cSld>
  <p:clrMapOvr>
    <a:masterClrMapping/>
  </p:clrMapOvr>
  <p:transition spd="fast" advClick="1">
    <p:fade/>
  </p:transition>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TTL Trades Agility for Query Load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Lower TTL can speed client refresh but increases query volume and cannot force every resolver to behave identically.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433</a:t>
            </a:r>
          </a:p>
        </p:txBody>
      </p:sp>
    </p:spTree>
  </p:cSld>
  <p:clrMapOvr>
    <a:masterClrMapping/>
  </p:clrMapOvr>
  <p:transition spd="fast" advClick="1">
    <p:fade/>
  </p:transition>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Routing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Simple</a:t>
            </a:r>
          </a:p>
          <a:p>
            <a:pPr algn="l">
              <a:spcAft>
                <a:spcPts val="300"/>
              </a:spcAft>
            </a:pPr>
            <a:r>
              <a:rPr sz="1300" b="0">
                <a:solidFill>
                  <a:srgbClr val="5B6372"/>
                </a:solidFill>
                <a:latin typeface="Arial"/>
              </a:rPr>
              <a:t>One or more values without health-based policy logic.</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Weighted</a:t>
            </a:r>
          </a:p>
          <a:p>
            <a:pPr algn="l">
              <a:spcAft>
                <a:spcPts val="300"/>
              </a:spcAft>
            </a:pPr>
            <a:r>
              <a:rPr sz="1300" b="0">
                <a:solidFill>
                  <a:srgbClr val="5B6372"/>
                </a:solidFill>
                <a:latin typeface="Arial"/>
              </a:rPr>
              <a:t>Controlled traffic split for migration or experiments.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Latency</a:t>
            </a:r>
          </a:p>
          <a:p>
            <a:pPr algn="l">
              <a:spcAft>
                <a:spcPts val="300"/>
              </a:spcAft>
            </a:pPr>
            <a:r>
              <a:rPr sz="1300" b="0">
                <a:solidFill>
                  <a:srgbClr val="5B6372"/>
                </a:solidFill>
                <a:latin typeface="Arial"/>
              </a:rPr>
              <a:t>Direct users to the Region with lowest measured latency.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Failover</a:t>
            </a:r>
          </a:p>
          <a:p>
            <a:pPr algn="l">
              <a:spcAft>
                <a:spcPts val="300"/>
              </a:spcAft>
            </a:pPr>
            <a:r>
              <a:rPr sz="1300" b="0">
                <a:solidFill>
                  <a:srgbClr val="5B6372"/>
                </a:solidFill>
                <a:latin typeface="Arial"/>
              </a:rPr>
              <a:t>Primary and secondary routing driven by health.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434</a:t>
            </a:r>
          </a:p>
        </p:txBody>
      </p:sp>
    </p:spTree>
  </p:cSld>
  <p:clrMapOvr>
    <a:masterClrMapping/>
  </p:clrMapOvr>
  <p:transition spd="fast" advClick="1">
    <p:fade/>
  </p:transition>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VPC Endpoint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Endpoint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Connectivity</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Common use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Gateway</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Route-table target</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S3 and DynamoDB</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Interface</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Private IP through PrivateLink</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Many AWS and partner services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Gateway Load Balancer</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Inspection appliance insertion</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Central security services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Resource / service network</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VPC Lattice private application access</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Cross-VPC service connectivity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435</a:t>
            </a:r>
          </a:p>
        </p:txBody>
      </p:sp>
    </p:spTree>
  </p:cSld>
  <p:clrMapOvr>
    <a:masterClrMapping/>
  </p:clrMapOvr>
  <p:transition spd="fast" advClick="1">
    <p:fade/>
  </p:transition>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K2 · A2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Cache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Cache key and TTL</a:t>
            </a:r>
          </a:p>
          <a:p>
            <a:pPr>
              <a:spcAft>
                <a:spcPts val="900"/>
              </a:spcAft>
            </a:pPr>
            <a:r>
              <a:rPr sz="1400" b="0">
                <a:solidFill>
                  <a:srgbClr val="161B26"/>
                </a:solidFill>
                <a:latin typeface="Arial"/>
              </a:rPr>
              <a:t>•  Invalidation and versioned objects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Origin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Origin access control</a:t>
            </a:r>
          </a:p>
          <a:p>
            <a:pPr>
              <a:spcAft>
                <a:spcPts val="900"/>
              </a:spcAft>
            </a:pPr>
            <a:r>
              <a:rPr sz="1400" b="0">
                <a:solidFill>
                  <a:srgbClr val="161B26"/>
                </a:solidFill>
                <a:latin typeface="Arial"/>
              </a:rPr>
              <a:t>•  Origin health and failover</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Security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TLS certificate and WAF</a:t>
            </a:r>
          </a:p>
          <a:p>
            <a:pPr>
              <a:spcAft>
                <a:spcPts val="900"/>
              </a:spcAft>
            </a:pPr>
            <a:r>
              <a:rPr sz="1400" b="0">
                <a:solidFill>
                  <a:srgbClr val="161B26"/>
                </a:solidFill>
                <a:latin typeface="Arial"/>
              </a:rPr>
              <a:t>•  Logs and real-time metrics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436</a:t>
            </a:r>
          </a:p>
        </p:txBody>
      </p:sp>
    </p:spTree>
  </p:cSld>
  <p:clrMapOvr>
    <a:masterClrMapping/>
  </p:clrMapOvr>
  <p:transition spd="fast" advClick="1">
    <p:fade/>
  </p:transition>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Network Diagnosis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timeout is a symptom, not a location.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Use DNS results, route tables, reachability analysis, flow logs, load-balancer health and application evidence to isolate the boundary.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437</a:t>
            </a:r>
          </a:p>
        </p:txBody>
      </p:sp>
    </p:spTree>
  </p:cSld>
  <p:clrMapOvr>
    <a:masterClrMapping/>
  </p:clrMapOvr>
  <p:transition spd="fast" advClick="1">
    <p:fade/>
  </p:transition>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Request-Path Latency Budget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application tier dominates p95, but network evidence must confirm that retries, path asymmetry or packet loss are not inflating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438</a:t>
            </a:r>
          </a:p>
        </p:txBody>
      </p:sp>
    </p:spTree>
  </p:cSld>
  <p:clrMapOvr>
    <a:masterClrMapping/>
  </p:clrMapOvr>
  <p:transition spd="fast" advClick="1">
    <p:fade/>
  </p:transition>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491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CloudFront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Content Delivery Network (CDN)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Content Delivery Network (CDN)
DDoS protection (because worldwide), integration with Shield, AWS Web Application Firewall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Improves read performance…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Improves read performance, content is cached at the edge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Improves users experience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Improves users experience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216 Point of Presence globally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216 Point of Presence globally (edge locations)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439</a:t>
            </a:r>
          </a:p>
        </p:txBody>
      </p:sp>
    </p:spTree>
  </p:cSld>
  <p:clrMapOvr>
    <a:masterClrMapping/>
  </p:clrMapOvr>
  <p:transition spd="fast" advClick="1">
    <p:fade/>
  </p:transition>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493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 Origins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distributing files and caching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distributing files and caching them at the edge
Custom Origin (HTTP)
Any HTTP backend you want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Enhanced security with CloudFront…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Enhanced security with CloudFront Origin Access Control (OAC)
Application Load Balancer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OAC is replacing Origin Access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OAC is replacing Origin Access Identity (OAI)
EC2 instance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 can be used as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can be used as an ingress (to upload files to S3)
S3 website (must first enable the bucket as a static S3 website)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440</a:t>
            </a:r>
          </a:p>
        </p:txBody>
      </p:sp>
    </p:spTree>
  </p:cSld>
  <p:clrMapOvr>
    <a:masterClrMapping/>
  </p:clrMapOvr>
  <p:transition spd="fast" advClick="1">
    <p:fade/>
  </p:transition>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494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at a high level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 Edge Location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Edge Location
User-Agent: Mozilla/4.0 (compatible; MSIE5.01; Windows NT) Host: www.example.com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Forward Request to your Origin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Forward Request to your Origin
Accept-Encoding: gzip, deflate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Local Cache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Local Cache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/beach.jpg?size=300x300…</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/beach.jpg?size=300x300 HTTP/1.1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441</a:t>
            </a:r>
          </a:p>
        </p:txBody>
      </p:sp>
    </p:spTree>
  </p:cSld>
  <p:clrMapOvr>
    <a:masterClrMapping/>
  </p:clrMapOvr>
  <p:transition spd="fast" advClick="1">
    <p:fade/>
  </p:transition>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495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 S3 as an Origin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Los Angeles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Los Angeles
+ S3 bucket policy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Mumbai</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Mumbai
Origin (S3 bucket)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Public www</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Public www
Private AWS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Origin Access Control</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Origin Access Control
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442</a:t>
            </a:r>
          </a:p>
        </p:txBody>
      </p:sp>
    </p:spTree>
  </p:cSld>
  <p:clrMapOvr>
    <a:masterClrMapping/>
  </p:clrMapOvr>
  <p:transition spd="fast" advClick="1">
    <p:fade/>
  </p:transition>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496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vs S3 Cross Region Replication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S3 Cross Region Replication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Global Edge network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Global Edge network
Must be setup for each region you want replication to happen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Files are cached for 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Files are cached for a TTL (maybe a day)
Files are updated in near real-time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Great for static content that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Great for static content that must be available everything
Great for dynamic content that needs to be available at low-latency in few regions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443</a:t>
            </a:r>
          </a:p>
        </p:txBody>
      </p:sp>
    </p:spTree>
  </p:cSld>
  <p:clrMapOvr>
    <a:masterClrMapping/>
  </p:clrMapOvr>
  <p:transition spd="fast" advClick="1">
    <p:fade/>
  </p:transition>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498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 ALB or EC2 as an origin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Security group
Must be Public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Public IPs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Public IPs
EC2 Instances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 Security Group of Load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 Security Group of Load Balancer
Can be Private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 Public IP of Edge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 Public IP of Edge Locations
Application Load Balancer
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444</a:t>
            </a:r>
          </a:p>
        </p:txBody>
      </p:sp>
    </p:spTree>
  </p:cSld>
  <p:clrMapOvr>
    <a:masterClrMapping/>
  </p:clrMapOvr>
  <p:transition spd="fast" advClick="1">
    <p:fade/>
  </p:transition>
</p:sld>
</file>

<file path=ppt/slides/slide4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499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Geo Restriction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restrict who can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restrict who can access your distribution
Use case: Copyright Laws to control access to content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Allowlist: Allow your users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Allowlist: Allow your users to access your content only if they're in one of the countries on a list of approved countries.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Blocklist: Prevent your users from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Blocklist: Prevent your users from accessing your content if they're in one of the countries on a list of banned countries.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“country” is determined using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“country” is determined using a 3rd party Geo-IP database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445</a:t>
            </a:r>
          </a:p>
        </p:txBody>
      </p:sp>
    </p:spTree>
  </p:cSld>
  <p:clrMapOvr>
    <a:masterClrMapping/>
  </p:clrMapOvr>
  <p:transition spd="fast" advClick="1">
    <p:fade/>
  </p:transition>
</p:sld>
</file>

<file path=ppt/slides/slide4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500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Access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Logs every request made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Logs every request made to CloudFront into a logging S3 bucket
Log File (Distribution A)</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Log File (Distribution B)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Origin Bucket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Origin Bucket
data about requests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Logs Bucket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Logs Bucket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446</a:t>
            </a:r>
          </a:p>
        </p:txBody>
      </p:sp>
    </p:spTree>
  </p:cSld>
  <p:clrMapOvr>
    <a:masterClrMapping/>
  </p:clrMapOvr>
  <p:transition spd="fast" advClick="1">
    <p:fade/>
  </p:transition>
</p:sld>
</file>

<file path=ppt/slides/slide4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501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Reports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possible to generate reports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possible to generate reports on
Usage Reports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Cache Statistics Report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Cache Statistics Report
Viewers Report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Popular Objects Report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Popular Objects Report
These reports are based on the data from the Access Logs.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Top Referrers Report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Top Referrers Report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447</a:t>
            </a:r>
          </a:p>
        </p:txBody>
      </p:sp>
    </p:spTree>
  </p:cSld>
  <p:clrMapOvr>
    <a:masterClrMapping/>
  </p:clrMapOvr>
  <p:transition spd="fast" advClick="1">
    <p:fade/>
  </p:transition>
</p:sld>
</file>

<file path=ppt/slides/slide4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502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 caches HTTP 4xx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caches HTTP 4xx and 5xx status codes returned by S3 ( or the origin server)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4xx error code indicates that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4xx error code indicates that user doesn’t have access to the underlying bucket (403) or the object user is requesting is not found (404)</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5xx error codes indicates Gateway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5xx error codes indicates Gateway issues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448</a:t>
            </a:r>
          </a:p>
        </p:txBody>
      </p:sp>
    </p:spTree>
  </p:cSld>
  <p:clrMapOvr>
    <a:masterClrMapping/>
  </p:clrMapOvr>
  <p:transition spd="fast" advClick="1">
    <p:fade/>
  </p:transition>
</p:sld>
</file>

<file path=ppt/slides/slide4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503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Cache based 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Cache based on
You want to maximize the cache hit rate to minimize requests on the origin
Expire based on TTL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Session Cookies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Session Cookies
Control the TTL (0 seconds to 1 year), can
Edge Location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Query String Parameters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Query String Parameters
be set by the origin using the Cache- Control header, Expires header…
Check / Update cache Based on Headers / Cookies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cache lives at each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cache lives at each CloudFront Edge Location
You can invalidate part of the cache using the CreateInvalidation API</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449</a:t>
            </a:r>
          </a:p>
        </p:txBody>
      </p:sp>
    </p:spTree>
  </p:cSld>
  <p:clrMapOvr>
    <a:masterClrMapping/>
  </p:clrMapOvr>
  <p:transition spd="fast" advClick="1">
    <p:fade/>
  </p:transition>
</p:sld>
</file>

<file path=ppt/slides/slide4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504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Cache Behaviour for Headers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Forward all headers to your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Forward all headers to your origin
caching based on values in all the specified headers
GET /image/cat.jpg HTTP/1.1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=&gt; no caching, every request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=&gt; no caching, every request to origin
(None) == Forward only the default headers
Host: pics.mywebsite.com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=&gt; TTL must be set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=&gt; TTL must be set to 0
no caching based on request headers
User-Agent: Mozilla/5.0 (Mac OS X 10_15_2….) Date: Tue, 28 Jan 2020 17:01:57 GMT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Forward a whitelist of headers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Forward a whitelist of headers
Best caching performance
Authorization: SAPISIDHASH fdd00ecee39fe….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450</a:t>
            </a:r>
          </a:p>
        </p:txBody>
      </p:sp>
    </p:spTree>
  </p:cSld>
  <p:clrMapOvr>
    <a:masterClrMapping/>
  </p:clrMapOvr>
  <p:transition spd="fast" advClick="1">
    <p:fade/>
  </p:transition>
</p:sld>
</file>

<file path=ppt/slides/slide4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505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Caching – Whitelist Headers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Authorization: SAPISIDHASH fdd00ecee39fe….
Better caching because less headers values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/image/cat.jpg HTTP/1.1</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/image/cat.jpg HTTP/1.1
Keep-Alive: 300 Accept-Ranges: bytes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Host: pics.mywebsite.com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Host: pics.mywebsite.com
whitelisting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User-Agent: Mozilla/5.0 (Mac OS X</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User-Agent: Mozilla/5.0 (Mac OS X 10_15_2….) Date: Tue, 28 Jan 2020 17:01:57 GMT
Cache based on Host &amp; Authorization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451</a:t>
            </a:r>
          </a:p>
        </p:txBody>
      </p:sp>
    </p:spTree>
  </p:cSld>
  <p:clrMapOvr>
    <a:masterClrMapping/>
  </p:clrMapOvr>
  <p:transition spd="fast" advClick="1">
    <p:fade/>
  </p:transition>
</p:sld>
</file>

<file path=ppt/slides/slide4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506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Origin Headers vs Cache Behavior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Origin Custom Headers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Origin Custom Headers
Cache-related settings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Origin-level setting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Origin-level setting
Contains the whitelist of headers to forward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Set a constant header /</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Set a constant header / header value for all requests to origin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Behavior setting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Behavior setting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452</a:t>
            </a:r>
          </a:p>
        </p:txBody>
      </p:sp>
    </p:spTree>
  </p:cSld>
  <p:clrMapOvr>
    <a:masterClrMapping/>
  </p:clrMapOvr>
  <p:transition spd="fast" advClick="1">
    <p:fade/>
  </p:transition>
</p:sld>
</file>

<file path=ppt/slides/slide4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507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Caching TTL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“Cache-Control: max-age” is…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“Cache-Control: max-age” is preferred to “Expires” header
Default TTL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the origin always sends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the origin always sends back the header Cache-Control then you can set the TTL to be controlled only by that header
Cache-Control (optional)</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 case you want to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 case you want to set min/max boundaries, you choose “customize” for the Object Caching setting</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 case the Cache-Control header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 case the Cache-Control header is missing, it will default to “default value”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453</a:t>
            </a:r>
          </a:p>
        </p:txBody>
      </p:sp>
    </p:spTree>
  </p:cSld>
  <p:clrMapOvr>
    <a:masterClrMapping/>
  </p:clrMapOvr>
  <p:transition spd="fast" advClick="1">
    <p:fade/>
  </p:transition>
</p:sld>
</file>

<file path=ppt/slides/slide4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508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Cache Behaviour for Cookies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Cookies is a specific request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Cookies is a specific request header
Forward a whitelist of cookies
GET /image/cat.jpg HTTP/1.1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Default: do not process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Default: do not process the cookies
caching based on values in all the specified cookies
Cookie: username=John Doe; location=uk; lang = eng; user_id = 12342</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Caching is not based 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Caching is not based on cookies
Forward all cookies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Cookies are not forwarded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Cookies are not forwarded
Worst caching performance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454</a:t>
            </a:r>
          </a:p>
        </p:txBody>
      </p:sp>
    </p:spTree>
  </p:cSld>
  <p:clrMapOvr>
    <a:masterClrMapping/>
  </p:clrMapOvr>
  <p:transition spd="fast" advClick="1">
    <p:fade/>
  </p:transition>
</p:sld>
</file>

<file path=ppt/slides/slide4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509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Caching - Cookies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Whitelisting on user_id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/image/cat.jpg HTTP/1.1</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/image/cat.jpg HTTP/1.1
Cache based on yser_id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Cookie: username=John Doe…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Cookie: username=John Doe; location=uk; lang = eng; user_id = 12342
Better caching because less cookies values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Cookie: user_id = 12342</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Cookie: user_id = 12342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455</a:t>
            </a:r>
          </a:p>
        </p:txBody>
      </p:sp>
    </p:spTree>
  </p:cSld>
  <p:clrMapOvr>
    <a:masterClrMapping/>
  </p:clrMapOvr>
  <p:transition spd="fast" advClick="1">
    <p:fade/>
  </p:transition>
</p:sld>
</file>

<file path=ppt/slides/slide4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Cache Behaviour for Query Strings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Query Strings Parameters are in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Query Strings Parameters are in the URL
Forward a whitelist of query strings
GET /image/cat.jpg?border=red&amp;size=large HTTP/1.1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Default: do not process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Default: do not process the query strings
Caching based on the parameter whitelist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Caching is not based 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Caching is not based on query strings
Forward all query strings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Parameters are not forwarded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Parameters are not forwarded
Caching based on all parameters
Mechanism: Route 53 selects an endpoint, edge services apply policy, routes choose a next hop, stateful and stateless controls filter traffic, and…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456</a:t>
            </a:r>
          </a:p>
        </p:txBody>
      </p:sp>
    </p:spTree>
  </p:cSld>
  <p:clrMapOvr>
    <a:masterClrMapping/>
  </p:clrMapOvr>
  <p:transition spd="fast" advClick="1">
    <p:fade/>
  </p:transition>
</p:sld>
</file>

<file path=ppt/slides/slide4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511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Caching - Query String Parameters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Cache based on size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/image/cat.jpg?border=red&amp;size…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/image/cat.jpg?border=red&amp;size=large HTTP/1.1
Better caching because less query string values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/image/cat.jpg?size=large…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/image/cat.jpg?size=large HTTP/1.1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Whitelisting on size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Whitelisting on size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457</a:t>
            </a:r>
          </a:p>
        </p:txBody>
      </p:sp>
    </p:spTree>
  </p:cSld>
  <p:clrMapOvr>
    <a:masterClrMapping/>
  </p:clrMapOvr>
  <p:transition spd="fast" advClick="1">
    <p:fade/>
  </p:transition>
</p:sld>
</file>

<file path=ppt/slides/slide4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512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CloudFront - Maximize cache hits by separating static and dynamic distributions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Dynamic Content (REST, HTTP…</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Dynamic Content (REST, HTTP server)
Static content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API Gateway + Lambda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API Gateway + Lambda
Cache based on correct headers and cookie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No headers / session caching rules Required for maximizing cache hits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Static requests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Static requests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458</a:t>
            </a:r>
          </a:p>
        </p:txBody>
      </p:sp>
    </p:spTree>
  </p:cSld>
  <p:clrMapOvr>
    <a:masterClrMapping/>
  </p:clrMapOvr>
  <p:transition spd="fast" advClick="1">
    <p:fade/>
  </p:transition>
</p:sld>
</file>

<file path=ppt/slides/slide4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513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 Increasing Cache Ratio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Monitor the CloudWatch metric…</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Monitor the CloudWatch metric CacheHitRate
Specify none or the minimally required query string parameters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Specify how long to cache your…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Specify how long to cache your objects: Cache-Control max-age header
Separate static and dynamic distributions (two origins)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Specify none or the minimally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Specify none or the minimally required headers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Specify none or the minimally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Specify none or the minimally required cookies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459</a:t>
            </a:r>
          </a:p>
        </p:txBody>
      </p:sp>
    </p:spTree>
  </p:cSld>
  <p:clrMapOvr>
    <a:masterClrMapping/>
  </p:clrMapOvr>
  <p:transition spd="fast" advClick="1">
    <p:fade/>
  </p:transition>
</p:sld>
</file>

<file path=ppt/slides/slide4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514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CloudFront with ALB sticky sessions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Must forward / whitelist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Must forward / whitelist the cookie that controls the session affinity to the origin to allow the session affinity to work
GET /orders/all HTTP/1.1
CloudFront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Set a TTL to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Set a TTL to a value lesser than when the authentication cookie expires
Cookie: AWSALB=…
Target Group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forward cookies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forward cookies
Whitelisting on
Application Load Balancer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Edge Location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Edge Location
AWSALB cookie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460</a:t>
            </a:r>
          </a:p>
        </p:txBody>
      </p:sp>
    </p:spTree>
  </p:cSld>
  <p:clrMapOvr>
    <a:masterClrMapping/>
  </p:clrMapOvr>
  <p:transition spd="fast" advClick="1">
    <p:fade/>
  </p:transition>
</p:sld>
</file>

<file path=ppt/slides/slide4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DNS?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Domain Name System which…</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Domain Name System which translates the human friendly hostnames into the machine IP addresses
example.com www.example.com api.example.com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www.google.com =&gt; 172.217.18.36</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www.google.com =&gt; 172.217.18.36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is the backbone of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is the backbone of the Internet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uses hierarchical naming…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uses hierarchical naming structure
Evidence: resolver result, route tables, Reachability Analyzer, Flow Logs, load-balancer logs, target health and application traces locate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461</a:t>
            </a:r>
          </a:p>
        </p:txBody>
      </p:sp>
    </p:spTree>
  </p:cSld>
  <p:clrMapOvr>
    <a:masterClrMapping/>
  </p:clrMapOvr>
  <p:transition spd="fast" advClick="1">
    <p:fade/>
  </p:transition>
</p:sld>
</file>

<file path=ppt/slides/slide4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777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DNS Terminologies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Sub Domain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Sub Domain
Zone File: contains DNS records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FQDN (Fully Qualified Domain Name)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FQDN (Fully Qualified Domain Name)
Name Server: resolves DNS queries (Authoritative or Non-Authoritative)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Domain Registrar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Domain Registrar: Amazon Route 53, GoDaddy, …
Top Level Domain (TLD): .com, .us, .in, .gov, .org, …</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Records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Records: A, AAAA, CNAME, NS, …
Second Level Domain (STD): amazon.com, google.com, …</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462</a:t>
            </a:r>
          </a:p>
        </p:txBody>
      </p:sp>
    </p:spTree>
  </p:cSld>
  <p:clrMapOvr>
    <a:masterClrMapping/>
  </p:clrMapOvr>
  <p:transition spd="fast" advClick="1">
    <p:fade/>
  </p:transition>
</p:sld>
</file>

<file path=ppt/slides/slide4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778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DNS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Local DNS Server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Local DNS Server
TLD DNS Server
Managed by ICANN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Assigned and Managed by your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Assigned and Managed by your company or assigned by your ISP dynamically
.com NS 1.2.3.4
Managed by Domain Registrar (e.g., Amazon Registrar, Inc.)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example.com?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example.com?
example.com NS 5.6.7.8
SLD DNS Server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Root DNS Server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Root DNS Server
example.com IP 9.10.11.12
Managed by IANA (Branch of ICANN)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463</a:t>
            </a:r>
          </a:p>
        </p:txBody>
      </p:sp>
    </p:spTree>
  </p:cSld>
  <p:clrMapOvr>
    <a:masterClrMapping/>
  </p:clrMapOvr>
  <p:transition spd="fast" advClick="1">
    <p:fade/>
  </p:transition>
</p:sld>
</file>

<file path=ppt/slides/slide4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779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Route 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highly available, scalable…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highly available, scalable, fully managed and Authoritative DNS
The only AWS service which provides 100% availability SLA
EC2 Instance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Authoritative = the customer (you)</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Authoritative = the customer (you) can update the DNS records
Why Route 53? 53 is a reference to the traditional DNS port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Route 53 is also 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Route 53 is also a Domain Registrar
example.com?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Ability to check the health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Ability to check the health of your resources
54.22.33.44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464</a:t>
            </a:r>
          </a:p>
        </p:txBody>
      </p:sp>
    </p:spTree>
  </p:cSld>
  <p:clrMapOvr>
    <a:masterClrMapping/>
  </p:clrMapOvr>
  <p:transition spd="fast" advClick="1">
    <p:fade/>
  </p:transition>
</p:sld>
</file>

<file path=ppt/slides/slide4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Route 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985822" y="1792224"/>
            <a:ext cx="5745891"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Route 53 selects an</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Route 53 selects an endpoint, edge services apply policy, routes choose a next hop, stateful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asymmetric routing, overlapping CIDRs, return-path gaps, health-check mismatch and security-rule…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resolver result, route…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resolver result, route tables, Reachability Analyzer, Flow Logs, load-balancer logs, target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465</a:t>
            </a:r>
          </a:p>
        </p:txBody>
      </p:sp>
    </p:spTree>
  </p:cSld>
  <p:clrMapOvr>
    <a:masterClrMapping/>
  </p:clrMapOvr>
  <p:transition spd="fast" advClick="1">
    <p:fade/>
  </p:transition>
</p:sld>
</file>

<file path=ppt/slides/slide4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782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Records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How you want to route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How you want to route traffic for a domain
Value - e.g., 12.34.56.78
(must know) A / AAAA / CNAME / 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Each record contains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Each record contains
Routing Policy - how Route 53 responds to queries
(advanced) CAA / DS / MX / NAPTR / PTR / SOA / TXT / SPF / SRV</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Domain/SubDomain namer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Domain/SubDomain namer - e.g., example.com
TTL - amount of time the record cached at DNS Resolvers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Record Type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Record Type - e.g., A or AAAA
Route 53 supports the following DNS record types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466</a:t>
            </a:r>
          </a:p>
        </p:txBody>
      </p:sp>
    </p:spTree>
  </p:cSld>
  <p:clrMapOvr>
    <a:masterClrMapping/>
  </p:clrMapOvr>
  <p:transition spd="fast" advClick="1">
    <p:fade/>
  </p:transition>
</p:sld>
</file>

<file path=ppt/slides/slide4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Record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 maps a hostname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 maps a hostname to IPv4
Can’t create a CNAME record for the top node of a DNS namespace (Zone Apex)</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AAAA - maps a hostname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AAAA - maps a hostname to IPv6
Example: you can’t create for example.com, but you can create for www.example.com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CNAME - maps a hostname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CNAME - maps a hostname to another hostname
NS - Name Servers for the Hosted Zone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target is a domain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target is a domain name which must have an A or AAAA record
Control how traffic is routed for a domain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467</a:t>
            </a:r>
          </a:p>
        </p:txBody>
      </p:sp>
    </p:spTree>
  </p:cSld>
  <p:clrMapOvr>
    <a:masterClrMapping/>
  </p:clrMapOvr>
  <p:transition spd="fast" advClick="1">
    <p:fade/>
  </p:transition>
</p:sld>
</file>

<file path=ppt/slides/slide4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784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Hosted Zones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container for records that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container for records that define how to route traffic to a domain and its subdomains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Puiblic Hosted Zones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Puiblic Hosted Zones - contains records that specify how to route traffic on the Internet (public domain names) application1.mypublicdomain.com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Private Hosted Zones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Private Hosted Zones - contain records that specify how you route traffic within one or more VPCs (private domain names) application1.company.internal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pay $0.50 per month</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pay $0.50 per month per hosted zone
Mechanism: Route 53 selects an endpoint, edge services apply policy, routes choose a next hop, stateful and stateless controls filter traffic, and…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468</a:t>
            </a:r>
          </a:p>
        </p:txBody>
      </p:sp>
    </p:spTree>
  </p:cSld>
  <p:clrMapOvr>
    <a:masterClrMapping/>
  </p:clrMapOvr>
  <p:transition spd="fast" advClick="1">
    <p:fade/>
  </p:transition>
</p:sld>
</file>

<file path=ppt/slides/slide4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785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Public vs Private Hosted Zones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Public Hosted Zone
EC2 Instance EC2 Instance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(Public IP)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(Public IP)
Amazon CloudFront
(webapp.example.internal) (api.example.internal)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Application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Application
54.22.33.44
(Private IP) (Private IP)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Load Balancer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Load Balancer
Private Hosted Zone
DB Instance
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469</a:t>
            </a:r>
          </a:p>
        </p:txBody>
      </p:sp>
    </p:spTree>
  </p:cSld>
  <p:clrMapOvr>
    <a:masterClrMapping/>
  </p:clrMapOvr>
  <p:transition spd="fast" advClick="1">
    <p:fade/>
  </p:transition>
</p:sld>
</file>

<file path=ppt/slides/slide4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787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Records TTL (Time To 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Server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Server
A 12.34.56.78
High TTL - e.g. 24 hr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Request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Request
HTTP Request
Less traffic on Route 53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myapp.example.com?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myapp.example.com?
HTTP Response
Possibly outdated records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Route 53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Route 53
Will cache the result for The TTL of the record
Low TTL - e.g. 60 sec</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470</a:t>
            </a:r>
          </a:p>
        </p:txBody>
      </p:sp>
    </p:spTree>
  </p:cSld>
  <p:clrMapOvr>
    <a:masterClrMapping/>
  </p:clrMapOvr>
  <p:transition spd="fast" advClick="1">
    <p:fade/>
  </p:transition>
</p:sld>
</file>

<file path=ppt/slides/slide4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788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CNAME vs Alias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Resources (Load Balancer…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Resources (Load Balancer, CloudFront...) expose an AWS hostname
Points a hostname to an AWS Resource (app.mydomain.com =&gt; blabla.amazonaws.com)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Ib1-1234.us-east2.elb.amazonaws.co…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Ib1-1234.us-east2.elb.amazonaws.com and you want myapp.mydomain.com
Works for ROOT DOMAIN and NON ROOT DOMAIN (aka mydomain.com)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Points a hostname to any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Points a hostname to any other hostname. (app.mydomain.com =&gt; blabla.anything.com)
Free of charge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ONLY FOR NON ROOT DOMAIN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ONLY FOR NON ROOT DOMAIN (aka something.mydomain.com)
Native health check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471</a:t>
            </a:r>
          </a:p>
        </p:txBody>
      </p:sp>
    </p:spTree>
  </p:cSld>
  <p:clrMapOvr>
    <a:masterClrMapping/>
  </p:clrMapOvr>
  <p:transition spd="fast" advClick="1">
    <p:fade/>
  </p:transition>
</p:sld>
</file>

<file path=ppt/slides/slide4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789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Alias Records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Maps a hostname to an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Maps a hostname to an AWS resource
Alias Record is always of type A/AAAA for
Amazon Route 53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 extension to DNS functionality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 extension to DNS functionality
AWS resources (IPv4 / IPv6)
Alias Record (Enabled)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Automatically recognizes changes…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Automatically recognizes changes in the resource’s IP addresses
You can't set the TTL
AWS-Managed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Unlike CNAME, it can be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Unlike CNAME, it can be used for the top node of a DNS namespace (Zone Apex), e.g.: example.com
MyALB-123456789.us-east-1.elb.amazonaws.com
(IP Addresses might change)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472</a:t>
            </a:r>
          </a:p>
        </p:txBody>
      </p:sp>
    </p:spTree>
  </p:cSld>
  <p:clrMapOvr>
    <a:masterClrMapping/>
  </p:clrMapOvr>
  <p:transition spd="fast" advClick="1">
    <p:fade/>
  </p:transition>
</p:sld>
</file>

<file path=ppt/slides/slide4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790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Alias Records Targets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Load Balancers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Load Balancers
S3 Websites
You cannot set an ALIAS record for an EC2 DNS name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CloudFront Distributions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CloudFront Distributions
VPC Interface Endpoints
Global Accelerator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API Gateway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API Gateway
Global Accelerator accelerator
Elastic Load Balancer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Elastic Beanstalk environments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Elastic Beanstalk environments
Route 53 record in the same hosted zone
Amazon CloudFront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473</a:t>
            </a:r>
          </a:p>
        </p:txBody>
      </p:sp>
    </p:spTree>
  </p:cSld>
  <p:clrMapOvr>
    <a:masterClrMapping/>
  </p:clrMapOvr>
  <p:transition spd="fast" advClick="1">
    <p:fade/>
  </p:transition>
</p:sld>
</file>

<file path=ppt/slides/slide4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791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Routing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Define how Route 53 responds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Define how Route 53 responds to DNS queries
Route 53 Supports the following Routing Policies
Geoproximity (using Route 53 Traffic Flow feature)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Don’t get confused by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Don’t get confused by the word “Routing”
Latency based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not the same as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not the same as Load balancer routing which routes the traffic
Geolocation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DNS does not route any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DNS does not route any traffic, it only responds to the DNS queries
Multi-Value Answer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474</a:t>
            </a:r>
          </a:p>
        </p:txBody>
      </p:sp>
    </p:spTree>
  </p:cSld>
  <p:clrMapOvr>
    <a:masterClrMapping/>
  </p:clrMapOvr>
  <p:transition spd="fast" advClick="1">
    <p:fade/>
  </p:transition>
</p:sld>
</file>

<file path=ppt/slides/slide4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792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Simple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Typically, route traffic to 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Typically, route traffic to a single resource
When Alias enabled, specify only one AWS resource
Amazon Route 53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specify multiple values in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specify multiple values in the same record
Can’t be associated with Health Checks
Single Value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mutliple values are returned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mutliple values are returned a
foo.example.com
A 55.66.77.88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random one is chosen by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random one is chosen by the client
A 11.22.33.44
A 99.11.22.33</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475</a:t>
            </a:r>
          </a:p>
        </p:txBody>
      </p:sp>
    </p:spTree>
  </p:cSld>
  <p:clrMapOvr>
    <a:masterClrMapping/>
  </p:clrMapOvr>
  <p:transition spd="fast" advClick="1">
    <p:fade/>
  </p:transition>
</p:sld>
</file>

<file path=ppt/slides/slide4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793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Weighted Routing — Selection Logic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Traffic share = record weight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Traffic share = record weight divided by the sum of weights for eligible records.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Weights are relative values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Weights are relative values and do not need to total 100.</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weight of zero stops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weight of zero stops normal selection unless every eligible record has zero weight.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remove unhealthy…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remove unhealthy endpoints before the remaining weights are evaluated.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476</a:t>
            </a:r>
          </a:p>
        </p:txBody>
      </p:sp>
    </p:spTree>
  </p:cSld>
  <p:clrMapOvr>
    <a:masterClrMapping/>
  </p:clrMapOvr>
  <p:transition spd="fast" advClick="1">
    <p:fade/>
  </p:transition>
</p:sld>
</file>

<file path=ppt/slides/slide4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794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Latency-Based Routing — Decision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Selection: Route 53 chooses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Selection: Route 53 chooses the record associated with the AWS Region expected to provide the lowest network latency for the requester.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Measurement: the decision uses AWS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Measurement: the decision uses AWS latency measurements between users and Regions, not geographic distance alone.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associate health checks so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associate health checks so unhealthy endpoints are excluded before a latency-based answer is returned.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compare resolver…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compare resolver answers, endpoint health and application latency from representative user locations before changing policy.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477</a:t>
            </a:r>
          </a:p>
        </p:txBody>
      </p:sp>
    </p:spTree>
  </p:cSld>
  <p:clrMapOvr>
    <a:masterClrMapping/>
  </p:clrMapOvr>
  <p:transition spd="fast" advClick="1">
    <p:fade/>
  </p:transition>
</p:sld>
</file>

<file path=ppt/slides/slide4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795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Health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Health Checks are only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Health Checks are only for public resources
Health checks that monitor CloudWatch Alarms (full control !!) – e.g., throttles of DynamoDB, alarms on RDS, custom metrics,
DNS Record (latency, geoproximity,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 =&gt; Automated DNS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 =&gt; Automated DNS Failover
… (helpful for private resources)
Auto Scaling group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that monitor an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that monitor an endpoint (application, server, other AWS resource)
Health Checks are integrated with CW metrics
EC2 Instance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 that monitor other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that monitor other health checks (Calculated Health Checks)
Amazon Route 53
Health Check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478</a:t>
            </a:r>
          </a:p>
        </p:txBody>
      </p:sp>
    </p:spTree>
  </p:cSld>
  <p:clrMapOvr>
    <a:masterClrMapping/>
  </p:clrMapOvr>
  <p:transition spd="fast" advClick="1">
    <p:fade/>
  </p:transition>
</p:sld>
</file>

<file path=ppt/slides/slide4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796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eu-west-1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Checker (us-east-1)</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Checker (us-east-1)
Interval – 30 sec (can set to 10 sec – higher cost)
Health Checks pass only when the endpoint responds with the 2xx and 3xx status codes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Checks - Monitor an Endpoint
Supported protocol: HTTP, HTTPS and TCP
Health Checks can be setup to pass / fail based on the text in the first 5120 bytes of the response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about 15 global health checkers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about 15 global health checkers will check the endpoint health
If&gt; 18% of health checkers report the endpoint is healthy, Route 53 considers it Healthy. Otherwise, it’s Unhealthy
Configure your router/firewall to allow incoming requests from Route 53 Health Checkers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Healthy/Unhealthy Threshold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Healthy/Unhealthy Threshold – 3 (default)
Ability to choose which locations you want Route 53 to use
HTTP Request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479</a:t>
            </a:r>
          </a:p>
        </p:txBody>
      </p:sp>
    </p:spTree>
  </p:cSld>
  <p:clrMapOvr>
    <a:masterClrMapping/>
  </p:clrMapOvr>
  <p:transition spd="fast" advClick="1">
    <p:fade/>
  </p:transition>
</p:sld>
</file>

<file path=ppt/slides/slide4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797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Route 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Route 53</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Route 53 - Calculated Health Checks
Specify how many of the health checks need to pass to make the parent pass
Check Check</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Combine the results of multiple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Combine the results of multiple Health Checks into a single Health Check
Usage: perform maintenance to your website without causing all health checks to fail
(Child) (Child)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use OR, 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use OR, AND or NOT
Health Check
EC2 Instance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monitor up to 256</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monitor up to 256 Child Health Checks
Health Health</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480</a:t>
            </a:r>
          </a:p>
        </p:txBody>
      </p:sp>
    </p:spTree>
  </p:cSld>
  <p:clrMapOvr>
    <a:masterClrMapping/>
  </p:clrMapOvr>
  <p:transition spd="fast" advClick="1">
    <p:fade/>
  </p:transition>
</p:sld>
</file>

<file path=ppt/slides/slide4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798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Health Checks - Private Hosted Zones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Route 53 health checkers are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Route 53 health checkers are outside the VPC
Private subnet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They can’t access private…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They can’t access private endpoints (private VPC or on-premises resource)
CloudWatch Alarm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create a CloudWatch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create a CloudWatch Metric and associate a CloudWatch Alarm, then create a Health Check that checks the alarm itself</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Checker (us-east-1)</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Checker (us-east-1)
Mechanism: Route 53 selects an endpoint, edge services apply policy, routes choose a next hop, stateful and stateless controls filter traffic, and…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481</a:t>
            </a:r>
          </a:p>
        </p:txBody>
      </p:sp>
    </p:spTree>
  </p:cSld>
  <p:clrMapOvr>
    <a:masterClrMapping/>
  </p:clrMapOvr>
  <p:transition spd="fast" advClick="1">
    <p:fade/>
  </p:transition>
</p:sld>
</file>

<file path=ppt/slides/slide4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799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Failover (Active-Passive)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EC2 Instance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EC2 Instance
(Secondary – Disaster Recovery)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Health Check</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Health Check
DNS Requests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(mandatory)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(mandatory)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Route 53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Route 53
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482</a:t>
            </a:r>
          </a:p>
        </p:txBody>
      </p:sp>
    </p:spTree>
  </p:cSld>
  <p:clrMapOvr>
    <a:masterClrMapping/>
  </p:clrMapOvr>
  <p:transition spd="fast" advClick="1">
    <p:fade/>
  </p:transition>
</p:sld>
</file>

<file path=ppt/slides/slide4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800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Geolocation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Different from Latency-based!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Different from Latency-based!
Use cases: website localization, restrict content distribution, load balancing …
A 99.11.22.33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This routing is based 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This routing is based on user location
Can be associated with Health Checks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Specify location by Continent…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Specify location by Continent, Country or by US State (if there’s overlapping, most precise location selected)
A 11.22.33.44</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Should create a "Default" record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Should create a "Default" record (in case there’s no match on location)
A 55.66.77.88</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483</a:t>
            </a:r>
          </a:p>
        </p:txBody>
      </p:sp>
    </p:spTree>
  </p:cSld>
  <p:clrMapOvr>
    <a:masterClrMapping/>
  </p:clrMapOvr>
  <p:transition spd="fast" advClick="1">
    <p:fade/>
  </p:transition>
</p:sld>
</file>

<file path=ppt/slides/slide4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801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Geoproximity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Route traffic to your resources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Route traffic to your resources based on the geographic location of users and resources
To shrink (-1 to -99) – less traffic to the resource
You must use Route 53 Traffic Flow to use this feature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Ability to shift more traffic</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Ability to shift more traffic to resources based on the defined bias
Resources can be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change the size of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change the size of the geographic region, specify bias values
AWS resources (specify AWS region)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To expand (1 to 99)</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To expand (1 to 99) – more traffic to the resource
Non-AWS resources (specify Latitude and Longitude)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484</a:t>
            </a:r>
          </a:p>
        </p:txBody>
      </p:sp>
    </p:spTree>
  </p:cSld>
  <p:clrMapOvr>
    <a:masterClrMapping/>
  </p:clrMapOvr>
  <p:transition spd="fast" advClick="1">
    <p:fade/>
  </p:transition>
</p:sld>
</file>

<file path=ppt/slides/slide4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802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Geoproximity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us-west-1 Bias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us-west-1 Bias: 0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 Bias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 Bias: 0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resolver result, route…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485</a:t>
            </a:r>
          </a:p>
        </p:txBody>
      </p:sp>
    </p:spTree>
  </p:cSld>
  <p:clrMapOvr>
    <a:masterClrMapping/>
  </p:clrMapOvr>
  <p:transition spd="fast" advClick="1">
    <p:fade/>
  </p:transition>
</p:sld>
</file>

<file path=ppt/slides/slide4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803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Geoproximity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us-west-1 Bias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us-west-1 Bias: 0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us-east-1 Bias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us-east-1 Bias: 50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Higher bias in us-east-1</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Higher bias in us-east-1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486</a:t>
            </a:r>
          </a:p>
        </p:txBody>
      </p:sp>
    </p:spTree>
  </p:cSld>
  <p:clrMapOvr>
    <a:masterClrMapping/>
  </p:clrMapOvr>
  <p:transition spd="fast" advClick="1">
    <p:fade/>
  </p:transition>
</p:sld>
</file>

<file path=ppt/slides/slide4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805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 Traffic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Simplify the process of creating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Simplify the process of creating and maintaining records in large and complex configurations
Can be applied to different Route 53 Hosted Zones (different domain names)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Visual editor to manage complex</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Visual editor to manage complex routing decision trees
Supports versioning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Configurations can be saved as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Configurations can be saved as
Mechanism: Route 53 selects an endpoint, edge services apply policy, routes choose a next hop, stateful and stateless controls filter traffic, and…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Traffic Flow Policy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Traffic Flow Policy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487</a:t>
            </a:r>
          </a:p>
        </p:txBody>
      </p:sp>
    </p:spTree>
  </p:cSld>
  <p:clrMapOvr>
    <a:masterClrMapping/>
  </p:clrMapOvr>
  <p:transition spd="fast" advClick="1">
    <p:fade/>
  </p:transition>
</p:sld>
</file>

<file path=ppt/slides/slide4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806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IP-based Routing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Routing is based on client's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Routing is based on client's IP addresses
CIDR Collection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provide a list of</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provide a list of CIDRs for your clients and the corresponding endpoints/locations (user-IP-to-endpoint mappings)
EC2 Instance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cases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cases: Optimize performance, reduce network costs…
(203.0.113.56)
Failure mode: asymmetric routing, overlapping CIDRs, return-path gaps, health-check mismatch and security-rule scope can produce identical user…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route end users from</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route end users from a particular ISP to a specific endpoint
(200.5.4.100)</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488</a:t>
            </a:r>
          </a:p>
        </p:txBody>
      </p:sp>
    </p:spTree>
  </p:cSld>
  <p:clrMapOvr>
    <a:masterClrMapping/>
  </p:clrMapOvr>
  <p:transition spd="fast" advClick="1">
    <p:fade/>
  </p:transition>
</p:sld>
</file>

<file path=ppt/slides/slide4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807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Routing Policies - Multi-Value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2852562"/>
            <a:ext cx="6217920" cy="1280891"/>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Use when routing traffic to</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Use when routing traffic to multiple resources
Mechanism: Route 53 selects an endpoint, edge services apply policy, routes choose a next hop, stateful and…</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asymmetric routing, overlapping CIDRs, return-path gaps, health-check mismatch and security-rule…</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resolver result, route…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resolver result, route tables, Reachability Analyzer, Flow Logs, load-balancer logs, target health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489</a:t>
            </a:r>
          </a:p>
        </p:txBody>
      </p:sp>
    </p:spTree>
  </p:cSld>
  <p:clrMapOvr>
    <a:masterClrMapping/>
  </p:clrMapOvr>
  <p:transition spd="fast" advClick="1">
    <p:fade/>
  </p:transition>
</p:sld>
</file>

<file path=ppt/slides/slide4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808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Domain Registrar vs DNS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buy or register your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buy or register your domain name with a Domain Registrar typically by paying annual charges (e.g., GoDaddy, Amazon Registrar Inc., …)
Amazon Route 53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Domain Registrar usually…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Domain Registrar usually provides you with a DNS service to manage your DNS records
example.com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But you can use another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But you can use another DNS service to manage your DNS records
manage DNS records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purchase the domain from</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purchase the domain from GoDaddy and use Route 53 to manage your DNS records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490</a:t>
            </a:r>
          </a:p>
        </p:txBody>
      </p:sp>
    </p:spTree>
  </p:cSld>
  <p:clrMapOvr>
    <a:masterClrMapping/>
  </p:clrMapOvr>
  <p:transition spd="fast" advClick="1">
    <p:fade/>
  </p:transition>
</p:sld>
</file>

<file path=ppt/slides/slide4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809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GoDaddy as Registrar &amp; Route 53 as DNS Service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Route 53</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Route 53
Mechanism: Route 53 selects an endpoint, edge services apply policy, routes choose a next hop, stateful and stateless controls filter traffic, and…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Public Hosted Zone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Public Hosted Zone
Failure mode: asymmetric routing, overlapping CIDRs, return-path gaps, health-check mismatch and security-rule scope can produce identical user…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stephanetheteacher.com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stephanetheteacher.com
Evidence: resolver result, route tables, Reachability Analyzer, Flow Logs, load-balancer logs, target health and application traces locate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static analyzers prove configured reachability but send no packets; combine them with live data-plane evidence before declaring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491</a:t>
            </a:r>
          </a:p>
        </p:txBody>
      </p:sp>
    </p:spTree>
  </p:cSld>
  <p:clrMapOvr>
    <a:masterClrMapping/>
  </p:clrMapOvr>
  <p:transition spd="fast" advClick="1">
    <p:fade/>
  </p:transition>
</p:sld>
</file>

<file path=ppt/slides/slide4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810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3rd Party Registrar with Amazon Route 53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buy your domain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buy your domain on a 3rd party registrar, you can still use route 53 as the DNS Service provider
But every Domain Registrar usually comes with some DNS features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a Hosted Zone in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a Hosted Zone in Route 53
Mechanism: Route 53 selects an endpoint, edge services apply policy, routes choose a next hop, stateful and stateless controls filter traffic, and…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Update NS Records on 3rd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Update NS Records on 3rd party website to use Route 53 Name Servers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Domain Registrar != DNS Service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Domain Registrar != DNS Service
Failure mode: asymmetric routing, overlapping CIDRs, return-path gaps, health-check mismatch and security-rule scope can produce identical user…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492</a:t>
            </a:r>
          </a:p>
        </p:txBody>
      </p:sp>
    </p:spTree>
  </p:cSld>
  <p:clrMapOvr>
    <a:masterClrMapping/>
  </p:clrMapOvr>
  <p:transition spd="fast" advClick="1">
    <p:fade/>
  </p:transition>
</p:sld>
</file>

<file path=ppt/slides/slide4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812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Route 53 Resolver — Hybrid DNS Architecture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VPC Resolver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VPC Resolver: answers queries for VPC-local names, private hosted zones and public DNS names available to the workload.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Inbound endpoints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Inbound endpoints: allow approved on-premises DNS resolvers to query private AWS namespaces through dedicated endpoint IP addresses.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Outbound endpoints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Outbound endpoints: forward selected domain queries from VPCs to on-premises resolvers using resolver rules.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Operational evidence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Operational evidence: verify rule association, network path, security-group scope, query logs and authoritative answers in both directions.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Trace name resolution, routing, policy, transport and application health in order; separate static reachability from live data-plane behaviour.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493</a:t>
            </a:r>
          </a:p>
        </p:txBody>
      </p:sp>
    </p:spTree>
  </p:cSld>
  <p:clrMapOvr>
    <a:masterClrMapping/>
  </p:clrMapOvr>
  <p:transition spd="fast" advClick="1">
    <p:fade/>
  </p:transition>
</p:sld>
</file>

<file path=ppt/slides/slide4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08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08</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55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494</a:t>
            </a:r>
          </a:p>
        </p:txBody>
      </p:sp>
    </p:spTree>
  </p:cSld>
  <p:clrMapOvr>
    <a:masterClrMapping/>
  </p:clrMapOvr>
  <p:transition spd="fast" advClick="1">
    <p:fade/>
  </p:transition>
</p:sld>
</file>

<file path=ppt/slides/slide4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 VPC Connectivity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09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K2 and A2 by isolating a failed request through DNS, routes, security groups, network ACLs, target health and VPC Flow Logs.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Diagnose the first failed control boundary using a repeatable evidence ladder and implement one verified correction.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VPC diagnostic worksheet, reachability/flow-log evidence, corrected network control and before/after result.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VPC · Reachability Analyzer · Flow Logs · Security Groups · NACLs · Endpoints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The report follows the path in order, names the first failed boundary with evidence, changes one learner-owned control, verifies success with the same test, and validation emits LAB 09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495</a:t>
            </a:r>
          </a:p>
        </p:txBody>
      </p:sp>
    </p:spTree>
  </p:cSld>
  <p:clrMapOvr>
    <a:masterClrMapping/>
  </p:clrMapOvr>
  <p:transition spd="fast" advClick="1">
    <p:fade/>
  </p:transition>
</p:sld>
</file>

<file path=ppt/slides/slide4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09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Name</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DNS result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Route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Table and SG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Reach</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NACL and path</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Observe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Logs and metrics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Resolve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Smallest change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09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 VPC Connectivity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report follows the path in order, names the first failed boundary with evidence, changes one learner-owned control, verifies success with the same test, and validation emits LAB 09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497</a:t>
            </a:r>
          </a:p>
        </p:txBody>
      </p:sp>
    </p:spTree>
  </p:cSld>
  <p:clrMapOvr>
    <a:masterClrMapping/>
  </p:clrMapOvr>
  <p:transition spd="fast" advClick="1">
    <p:fade/>
  </p:transition>
</p:sld>
</file>

<file path=ppt/slides/slide4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Operate DNS and Content-Delivery Failover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K2 and A2 by configuring health-aware DNS and CloudFront behaviour, then proving client-visible routing and cache outcomes.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Model primary/secondary routing, inspect health status and TTL, then verify CloudFront origin and cache evidence.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Route 53 health-check definition, failover record plan, CloudFront operations checklist and measured failover report.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Route 53 · Health Checks · CloudFront · S3 · CloudWatch</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Health and record evidence are linked, failover timing is measured rather than assumed, cache and DNS effects are distinguished, baseline is restored, and validation emits LAB 10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498</a:t>
            </a:r>
          </a:p>
        </p:txBody>
      </p:sp>
    </p:spTree>
  </p:cSld>
  <p:clrMapOvr>
    <a:masterClrMapping/>
  </p:clrMapOvr>
  <p:transition spd="fast" advClick="1">
    <p:fade/>
  </p:transition>
</p:sld>
</file>

<file path=ppt/slides/slide4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Health</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Endpoint signal</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Route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Policy decision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Deliver</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Edge behaviour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Fail over</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Alternate origin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User result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Operate DNS and Content-Delivery Failover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Health and record evidence are linked, failover timing is measured rather than assumed, cache and DNS effects are distinguished, baseline is restored, and validation emits LAB 10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500</a:t>
            </a:r>
          </a:p>
        </p:txBody>
      </p:sp>
    </p:spTree>
  </p:cSld>
  <p:clrMapOvr>
    <a:masterClrMapping/>
  </p:clrMapOvr>
  <p:transition spd="fast" advClick="1">
    <p:fade/>
  </p:transition>
</p:sld>
</file>

<file path=ppt/slides/slide5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08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Networking, DNS and Content Delivery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DNS, route, policy, state, endpoint and application health must all succeed.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Return traffic is automatically allowed; network ACLs evaluate each direction.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K2 and A2 by isolating a failed request through DNS, routes, security groups, network ACLs, target health and VPC Flow Logs.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The report follows the path in order, names the first failed boundary with evidence, changes one learner-owned control, verifies success with the same test, 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501</a:t>
            </a:r>
          </a:p>
        </p:txBody>
      </p:sp>
    </p:spTree>
  </p:cSld>
  <p:clrMapOvr>
    <a:masterClrMapping/>
  </p:clrMapOvr>
  <p:transition spd="med" advClick="1">
    <p:push dir="l"/>
  </p:transition>
</p:sld>
</file>

<file path=ppt/slides/slide5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 · LO1 · LO2 · LO4 · K1 · K4 · A1 · A4 · A6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Storage, Data and Database Operations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S3 · EBS · EFS · RDS · DynamoDB · lifecycle · performance · data protection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09</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502</a:t>
            </a:r>
          </a:p>
        </p:txBody>
      </p:sp>
    </p:spTree>
  </p:cSld>
  <p:clrMapOvr>
    <a:masterClrMapping/>
  </p:clrMapOvr>
  <p:transition spd="med" advClick="1">
    <p:push dir="l"/>
  </p:transition>
</p:sld>
</file>

<file path=ppt/slides/slide5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Cross-domain operations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Ideas — Storage, Data and Database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Choose by access pattern</a:t>
            </a:r>
          </a:p>
          <a:p>
            <a:pPr algn="l">
              <a:spcAft>
                <a:spcPts val="300"/>
              </a:spcAft>
            </a:pPr>
            <a:r>
              <a:rPr sz="1200" b="0">
                <a:solidFill>
                  <a:srgbClr val="5B6372"/>
                </a:solidFill>
                <a:latin typeface="Arial"/>
              </a:rPr>
              <a:t>Object, block, file and database services solve different consistency, latency and sharing needs.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Performance has service-specific limits</a:t>
            </a:r>
          </a:p>
          <a:p>
            <a:pPr algn="l">
              <a:spcAft>
                <a:spcPts val="300"/>
              </a:spcAft>
            </a:pPr>
            <a:r>
              <a:rPr sz="1200" b="0">
                <a:solidFill>
                  <a:srgbClr val="5B6372"/>
                </a:solidFill>
                <a:latin typeface="Arial"/>
              </a:rPr>
              <a:t>IOPS, throughput, connections, partitions and caching require different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Data protection is layered</a:t>
            </a:r>
          </a:p>
          <a:p>
            <a:pPr algn="l">
              <a:spcAft>
                <a:spcPts val="300"/>
              </a:spcAft>
            </a:pPr>
            <a:r>
              <a:rPr sz="1200" b="0">
                <a:solidFill>
                  <a:srgbClr val="5B6372"/>
                </a:solidFill>
                <a:latin typeface="Arial"/>
              </a:rPr>
              <a:t>Encryption, versioning, snapshots, backup and replication address different risks.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Managed does not mean unmanaged</a:t>
            </a:r>
          </a:p>
          <a:p>
            <a:pPr algn="l">
              <a:spcAft>
                <a:spcPts val="300"/>
              </a:spcAft>
            </a:pPr>
            <a:r>
              <a:rPr sz="1200" b="0">
                <a:solidFill>
                  <a:srgbClr val="5B6372"/>
                </a:solidFill>
                <a:latin typeface="Arial"/>
              </a:rPr>
              <a:t>Customers still own schema, configuration, access, capacity and recovery choices.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503</a:t>
            </a:r>
          </a:p>
        </p:txBody>
      </p:sp>
    </p:spTree>
  </p:cSld>
  <p:clrMapOvr>
    <a:masterClrMapping/>
  </p:clrMapOvr>
  <p:transition spd="fast" advClick="1">
    <p:fade/>
  </p:transition>
</p:sld>
</file>

<file path=ppt/slides/slide5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Service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Access model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fit</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S3</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Object and API</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Durable data lake, backup and static content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EBS</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Block device to compute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Low-latency instance and database volumes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EFS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Shared NFS file system</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Elastic multi-instance Linux file access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FSx</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Managed specialised file system</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Windows, Lustre, NetApp or OpenZFS workloads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504</a:t>
            </a:r>
          </a:p>
        </p:txBody>
      </p:sp>
    </p:spTree>
  </p:cSld>
  <p:clrMapOvr>
    <a:masterClrMapping/>
  </p:clrMapOvr>
  <p:transition spd="fast" advClick="1">
    <p:fade/>
  </p:transition>
</p:sld>
</file>

<file path=ppt/slides/slide5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Data Protection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Block</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Public access controls</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Authorise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Identity and bucket policy</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Encrypt</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Default SSE and KMS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Version</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Recover overwrite or…</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Lifecycle</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Transition and expire</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Replicate</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Account or Region copy</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A1 CONNECTION</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Protection combines preventive access, recoverability, retention and evidence.</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Performance Must Match Workload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IOPS and throughput are different dimensions; select volume type and configuration from measured workload behaviour.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506</a:t>
            </a:r>
          </a:p>
        </p:txBody>
      </p:sp>
    </p:spTree>
  </p:cSld>
  <p:clrMapOvr>
    <a:masterClrMapping/>
  </p:clrMapOvr>
  <p:transition spd="fast" advClick="1">
    <p:fade/>
  </p:transition>
</p:sld>
</file>

<file path=ppt/slides/slide5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RDS Availability and Scale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Feature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Primary goal</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Operational note</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Multi-AZ</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Availability and failover</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Standby is not a read-scaling target</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Read replica</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Read scale and reporting</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Replication lag and promotion plan</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Automated backup</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Point-in-time recovery</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Retention and restore testing</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RDS Proxy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Connection pooling and resilience</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Application compatibility and limits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507</a:t>
            </a:r>
          </a:p>
        </p:txBody>
      </p:sp>
    </p:spTree>
  </p:cSld>
  <p:clrMapOvr>
    <a:masterClrMapping/>
  </p:clrMapOvr>
  <p:transition spd="fast" advClick="1">
    <p:fade/>
  </p:transition>
</p:sld>
</file>

<file path=ppt/slides/slide5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DynamoDB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Capacity</a:t>
            </a:r>
          </a:p>
          <a:p>
            <a:pPr algn="l">
              <a:spcAft>
                <a:spcPts val="300"/>
              </a:spcAft>
            </a:pPr>
            <a:r>
              <a:rPr sz="1300" b="0">
                <a:solidFill>
                  <a:srgbClr val="5B6372"/>
                </a:solidFill>
                <a:latin typeface="Arial"/>
              </a:rPr>
              <a:t>On-demand or provisioned with auto scaling and adaptive capacity.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Partition key</a:t>
            </a:r>
          </a:p>
          <a:p>
            <a:pPr algn="l">
              <a:spcAft>
                <a:spcPts val="300"/>
              </a:spcAft>
            </a:pPr>
            <a:r>
              <a:rPr sz="1300" b="0">
                <a:solidFill>
                  <a:srgbClr val="5B6372"/>
                </a:solidFill>
                <a:latin typeface="Arial"/>
              </a:rPr>
              <a:t>Distribute traffic; avoid hot keys and unbounded item growth.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Recovery</a:t>
            </a:r>
          </a:p>
          <a:p>
            <a:pPr algn="l">
              <a:spcAft>
                <a:spcPts val="300"/>
              </a:spcAft>
            </a:pPr>
            <a:r>
              <a:rPr sz="1300" b="0">
                <a:solidFill>
                  <a:srgbClr val="5B6372"/>
                </a:solidFill>
                <a:latin typeface="Arial"/>
              </a:rPr>
              <a:t>Point-in-time recovery, on-demand backup and restore.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Global table</a:t>
            </a:r>
          </a:p>
          <a:p>
            <a:pPr algn="l">
              <a:spcAft>
                <a:spcPts val="300"/>
              </a:spcAft>
            </a:pPr>
            <a:r>
              <a:rPr sz="1300" b="0">
                <a:solidFill>
                  <a:srgbClr val="5B6372"/>
                </a:solidFill>
                <a:latin typeface="Arial"/>
              </a:rPr>
              <a:t>Multi-Region active access with application-aware conflict behaviour.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508</a:t>
            </a:r>
          </a:p>
        </p:txBody>
      </p:sp>
    </p:spTree>
  </p:cSld>
  <p:clrMapOvr>
    <a:masterClrMapping/>
  </p:clrMapOvr>
  <p:transition spd="fast" advClick="1">
    <p:fade/>
  </p:transition>
</p:sld>
</file>

<file path=ppt/slides/slide5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K1 · K4 · A1 · A4 · A6</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Database Incident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Resource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CPU, memory and storage</a:t>
            </a:r>
          </a:p>
          <a:p>
            <a:pPr>
              <a:spcAft>
                <a:spcPts val="900"/>
              </a:spcAft>
            </a:pPr>
            <a:r>
              <a:rPr sz="1400" b="0">
                <a:solidFill>
                  <a:srgbClr val="161B26"/>
                </a:solidFill>
                <a:latin typeface="Arial"/>
              </a:rPr>
              <a:t>•  Connections and queue depth</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Engine</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Slow queries and locks</a:t>
            </a:r>
          </a:p>
          <a:p>
            <a:pPr>
              <a:spcAft>
                <a:spcPts val="900"/>
              </a:spcAft>
            </a:pPr>
            <a:r>
              <a:rPr sz="1400" b="0">
                <a:solidFill>
                  <a:srgbClr val="161B26"/>
                </a:solidFill>
                <a:latin typeface="Arial"/>
              </a:rPr>
              <a:t>•  Wait events and plans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Change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Configuration and schema history</a:t>
            </a:r>
          </a:p>
          <a:p>
            <a:pPr>
              <a:spcAft>
                <a:spcPts val="900"/>
              </a:spcAft>
            </a:pPr>
            <a:r>
              <a:rPr sz="1400" b="0">
                <a:solidFill>
                  <a:srgbClr val="161B26"/>
                </a:solidFill>
                <a:latin typeface="Arial"/>
              </a:rPr>
              <a:t>•  Deployment and failover events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509</a:t>
            </a:r>
          </a:p>
        </p:txBody>
      </p:sp>
    </p:spTree>
  </p:cSld>
  <p:clrMapOvr>
    <a:masterClrMapping/>
  </p:clrMapOvr>
  <p:transition spd="fast" advClick="1">
    <p:fade/>
  </p:transition>
</p:sld>
</file>

<file path=ppt/slides/slide5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Data Operations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Durability claims do not replace recovery design.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Protect the correct scope, control access, monitor jobs, test restore, validate application behaviour and measure actual RTO/RPO.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510</a:t>
            </a:r>
          </a:p>
        </p:txBody>
      </p:sp>
    </p:spTree>
  </p:cSld>
  <p:clrMapOvr>
    <a:masterClrMapping/>
  </p:clrMapOvr>
  <p:transition spd="fast" advClick="1">
    <p:fade/>
  </p:transition>
</p:sld>
</file>

<file path=ppt/slides/slide5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Service Recovery Characteristics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Recovery speed is not a product ranking; architecture, data size, dependencies and validation depth determine the measured outcome.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511</a:t>
            </a:r>
          </a:p>
        </p:txBody>
      </p:sp>
    </p:spTree>
  </p:cSld>
  <p:clrMapOvr>
    <a:masterClrMapping/>
  </p:clrMapOvr>
  <p:transition spd="fast" advClick="1">
    <p:fade/>
  </p:transition>
</p:sld>
</file>

<file path=ppt/slides/slide5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361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vs EFS - Elastic Block Storage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EBS volumes…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EBS volumes…
gp3 &amp; io1: can increase IO independently
EBS backups use IO and you shouldn’t run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one instance (except multi-attach…</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one instance (except multi-attach io1/io2)
To migrate an EBS volume across AZ
them while your application is handling a lot of traffic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are locked at the Availability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are locked at the Availability Zone (AZ) level
Take a snapshot
Root EBS Volumes of instances get terminated by default if the EC2 instance gets terminated. (you can disable that)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gp2: IO increases if the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gp2: IO increases if the disk size increases
Restore the snapshot to another AZ
Availability Zone 1</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512</a:t>
            </a:r>
          </a:p>
        </p:txBody>
      </p:sp>
    </p:spTree>
  </p:cSld>
  <p:clrMapOvr>
    <a:masterClrMapping/>
  </p:clrMapOvr>
  <p:transition spd="fast" advClick="1">
    <p:fade/>
  </p:transition>
</p:sld>
</file>

<file path=ppt/slides/slide5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362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EBS vs EFS - Elastic File System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Mounting 100s of instances across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Mounting 100s of instances across AZ
Can leverage Storage Tiers for cost savings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EFS share website files…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EFS share website files (WordPress)
Remember: EFS vs EBS vs Instance Store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Only for Linux Instances (POSIX)</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Only for Linux Instances (POSIX)
Availability Zone 1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EFS has a higher price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EFS has a higher price point than EBS
Availability Zone 2</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513</a:t>
            </a:r>
          </a:p>
        </p:txBody>
      </p:sp>
    </p:spTree>
  </p:cSld>
  <p:clrMapOvr>
    <a:masterClrMapping/>
  </p:clrMapOvr>
  <p:transition spd="fast" advClick="1">
    <p:fade/>
  </p:transition>
</p:sld>
</file>

<file path=ppt/slides/slide5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363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EFS - Access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Easily manage applications access…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Easily manage applications access to NFS environments
EFS File System
Path: /data</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Enforce a POSIX user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Enforce a POSIX user and group to use when accessing the file system
Access Point 1
Analytics Users/Groups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Restrict access to a directory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Restrict access to a directory within the file system and optionally specify a different root directory
Path: /config
Developers Users/Groups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restrict access from NFS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restrict access from NFS clients using IAM policies
Access Point 2
Permissions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514</a:t>
            </a:r>
          </a:p>
        </p:txBody>
      </p:sp>
    </p:spTree>
  </p:cSld>
  <p:clrMapOvr>
    <a:masterClrMapping/>
  </p:clrMapOvr>
  <p:transition spd="fast" advClick="1">
    <p:fade/>
  </p:transition>
</p:sld>
</file>

<file path=ppt/slides/slide5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365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EFS -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Operations that can be done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Operations that can be done in place
Operations that require a migration using DataSync (replicates all file attributes and metadata)
EFS File System</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Lifecycle Policy (enable IA or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Lifecycle Policy (enable IA or change IA settings)
Migration to encrypted EFS
(destination - encrypted)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Throughput Mode and Provisioned…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Throughput Mode and Provisioned Throughput Numbers
Performance Mode (e.g. Max IO)</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EFS Access Points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EFS Access Points
AWS DataSync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515</a:t>
            </a:r>
          </a:p>
        </p:txBody>
      </p:sp>
    </p:spTree>
  </p:cSld>
  <p:clrMapOvr>
    <a:masterClrMapping/>
  </p:clrMapOvr>
  <p:transition spd="fast" advClick="1">
    <p:fade/>
  </p:transition>
</p:sld>
</file>

<file path=ppt/slides/slide5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366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DataSync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797588"/>
            <a:ext cx="6217920" cy="3390839"/>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block, file, object and</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516</a:t>
            </a:r>
          </a:p>
        </p:txBody>
      </p:sp>
    </p:spTree>
  </p:cSld>
  <p:clrMapOvr>
    <a:masterClrMapping/>
  </p:clrMapOvr>
  <p:transition spd="fast" advClick="1">
    <p:fade/>
  </p:transition>
</p:sld>
</file>

<file path=ppt/slides/slide5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368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EFS - CloudWatch Metrics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1253599" y="1792224"/>
            <a:ext cx="5210338"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PercentIOLimit</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PercentIOLimit
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517</a:t>
            </a:r>
          </a:p>
        </p:txBody>
      </p:sp>
    </p:spTree>
  </p:cSld>
  <p:clrMapOvr>
    <a:masterClrMapping/>
  </p:clrMapOvr>
  <p:transition spd="fast" advClick="1">
    <p:fade/>
  </p:transition>
</p:sld>
</file>

<file path=ppt/slides/slide5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370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is one of</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is one of the main building blocks of AWS
We’ll have a step-by-step approach to S3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advertised as ”infinitely…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advertised as ”infinitely scaling” storage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Many websites use Amazon S3</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Many websites use Amazon S3 as a backbone
Failure mode: throughput limits, burst-credit exhaustion, hot partitions, replica lag, connection storms and key-policy gaps often look like…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Many AWS services use Amazon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Many AWS services use Amazon S3 as an integration as well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518</a:t>
            </a:r>
          </a:p>
        </p:txBody>
      </p:sp>
    </p:spTree>
  </p:cSld>
  <p:clrMapOvr>
    <a:masterClrMapping/>
  </p:clrMapOvr>
  <p:transition spd="fast" advClick="1">
    <p:fade/>
  </p:transition>
</p:sld>
</file>

<file path=ppt/slides/slide5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372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539517" y="1792224"/>
            <a:ext cx="4638501"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Backup and storage</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Backup and storage
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519</a:t>
            </a:r>
          </a:p>
        </p:txBody>
      </p:sp>
    </p:spTree>
  </p:cSld>
  <p:clrMapOvr>
    <a:masterClrMapping/>
  </p:clrMapOvr>
  <p:transition spd="fast" advClick="1">
    <p:fade/>
  </p:transition>
</p:sld>
</file>

<file path=ppt/slides/slide5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374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Objects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(files) have a Key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(files) have a Key
They key is composed of prefix + object name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key is the FULL</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key is the FULL path
There’s no concept of “directories” within buckets (although the UI will trick you to think otherwise)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s3://my-bucket/my_file.txt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s3://my-bucket/my_file.txt
Just keys with very long names that contain slashes (“/”)</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s3://my-bucket/my_folder1/another_…</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s3://my-bucket/my_folder1/another_folder/my_file.txt
S3 Bucket with Objects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520</a:t>
            </a:r>
          </a:p>
        </p:txBody>
      </p:sp>
    </p:spTree>
  </p:cSld>
  <p:clrMapOvr>
    <a:masterClrMapping/>
  </p:clrMapOvr>
  <p:transition spd="fast" advClick="1">
    <p:fade/>
  </p:transition>
</p:sld>
</file>

<file path=ppt/slides/slide5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375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Objects (cont.)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values are the content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values are the content of the body
Tags (Unicode key / value pair – up to 10) – useful for security / lifecycle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Max. Object Size is 5TB</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Max. Object Size is 5TB (5000GB)
Version ID (if versioning is enabled)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uploading more than 5GB,</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uploading more than 5GB, must use “multi-part upload”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Metadata (list of text key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Metadata (list of text key / value pairs – system or user metadata)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521</a:t>
            </a:r>
          </a:p>
        </p:txBody>
      </p:sp>
    </p:spTree>
  </p:cSld>
  <p:clrMapOvr>
    <a:masterClrMapping/>
  </p:clrMapOvr>
  <p:transition spd="fast" advClick="1">
    <p:fade/>
  </p:transition>
</p:sld>
</file>

<file path=ppt/slides/slide5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376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User-Based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User-Based
Object Access Control List (ACL) - finer grain (can be disabled)
AND there’s no explicit DENY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Policies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Policies - which API calls should be allowed for a specific user from IAM
Bucket Access Control List (ACL) - less common (can be disabled)
Encryption: encrypt objects in Amazon S3 using encryption keys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Resource-Based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Resource-Based
Note: an IAM principal can access an S3 object if</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Bucket policies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Bucket policies - bucket wide rules from the S3 console - allows cross account
The user IAM permissions ALLOW it OR the resource policy ALLOWS it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522</a:t>
            </a:r>
          </a:p>
        </p:txBody>
      </p:sp>
    </p:spTree>
  </p:cSld>
  <p:clrMapOvr>
    <a:masterClrMapping/>
  </p:clrMapOvr>
  <p:transition spd="fast" advClick="1">
    <p:fade/>
  </p:transition>
</p:sld>
</file>

<file path=ppt/slides/slide5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378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Bucket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JSON based policies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JSON based policies
Principal: The account or user to apply the policy to
Grant access to another account (Cross Account)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Resources: buckets and objects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Resources: buckets and objects
Use S3 bucket for policy to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Effect: Allow / Deny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Effect: Allow / Deny
Grant public access to the bucket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Actions: Set of API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Actions: Set of API to Allow or Deny
Force objects to be encrypted at upload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523</a:t>
            </a:r>
          </a:p>
        </p:txBody>
      </p:sp>
    </p:spTree>
  </p:cSld>
  <p:clrMapOvr>
    <a:masterClrMapping/>
  </p:clrMapOvr>
  <p:transition spd="fast" advClick="1">
    <p:fade/>
  </p:transition>
</p:sld>
</file>

<file path=ppt/slides/slide5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379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Example: Public Access - Use Bucket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Anonymous www website visitor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Anonymous www website visitor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Bucket Policy Allows Public</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Bucket Policy Allows Public Access
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queue depth…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 restore validation isolate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choose the data service and recovery method from access pattern, durability, consistency, RTO/RPO and operational ownership—not only…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524</a:t>
            </a:r>
          </a:p>
        </p:txBody>
      </p:sp>
    </p:spTree>
  </p:cSld>
  <p:clrMapOvr>
    <a:masterClrMapping/>
  </p:clrMapOvr>
  <p:transition spd="fast" advClick="1">
    <p:fade/>
  </p:transition>
</p:sld>
</file>

<file path=ppt/slides/slide5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380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Example: User Access to S3 - IAM permissions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IAM Policy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IAM Policy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queue depth…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 restore validation isolate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choose the data service and recovery method from access pattern, durability, consistency, RTO/RPO and operational ownership—not only…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525</a:t>
            </a:r>
          </a:p>
        </p:txBody>
      </p:sp>
    </p:spTree>
  </p:cSld>
  <p:clrMapOvr>
    <a:masterClrMapping/>
  </p:clrMapOvr>
  <p:transition spd="fast" advClick="1">
    <p:fade/>
  </p:transition>
</p:sld>
</file>

<file path=ppt/slides/slide5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382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Advanced: Cross-Account Access - Use Bucket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Other AWS account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Other AWS account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Bucket Policy Allows…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Bucket Policy Allows Cross-Account
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queue depth…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 restore validation isolate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choose the data service and recovery method from access pattern, durability, consistency, RTO/RPO and operational ownership—not only…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526</a:t>
            </a:r>
          </a:p>
        </p:txBody>
      </p:sp>
    </p:spTree>
  </p:cSld>
  <p:clrMapOvr>
    <a:masterClrMapping/>
  </p:clrMapOvr>
  <p:transition spd="fast" advClick="1">
    <p:fade/>
  </p:transition>
</p:sld>
</file>

<file path=ppt/slides/slide5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383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Bucket settings for Block Public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2488380"/>
            <a:ext cx="6217920" cy="2009256"/>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These settings were created to</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These settings were created to prevent company data leaks
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527</a:t>
            </a:r>
          </a:p>
        </p:txBody>
      </p:sp>
    </p:spTree>
  </p:cSld>
  <p:clrMapOvr>
    <a:masterClrMapping/>
  </p:clrMapOvr>
  <p:transition spd="fast" advClick="1">
    <p:fade/>
  </p:transition>
</p:sld>
</file>

<file path=ppt/slides/slide5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384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Bucket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S3 bucket for policy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S3 bucket for policy to
Optional Conditions on
Examples here: bucket-policies.html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Grant public access to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Grant public access to the bucket
Public IP or Elastic IP (not on Private IP)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Force objects to be encrypted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Force objects to be encrypted at upload
Source VPC or Source VPC Endpoint – only works with VPC Endpoints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Grant access to another account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Grant access to another account (Cross account)
CloudFront Origin Identity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528</a:t>
            </a:r>
          </a:p>
        </p:txBody>
      </p:sp>
    </p:spTree>
  </p:cSld>
  <p:clrMapOvr>
    <a:masterClrMapping/>
  </p:clrMapOvr>
  <p:transition spd="fast" advClick="1">
    <p:fade/>
  </p:transition>
</p:sld>
</file>

<file path=ppt/slides/slide5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385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Bucket Policies Examples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"Version": "2012-10-17",</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"Version": "2012-10-17",
"Effect": "Allow",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"Id": "Policy1734311494060",</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"Id": "Policy1734311494060",
"Principal": "*",
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"Statement": [</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"Statement": [
"Action": "s3:GetObject",
Evidence: queue depth, IOPS/throughput, latency, storage headroom, replica lag, query statistics, backup age and restore validation isolate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"Sid": "Stmt1734311424063",</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"Sid": "Stmt1734311424063",
"Resource": "arn:aws:s3:::alfred-ang-s3-buckets/*"
Decision point: choose the data service and recovery method from access pattern, durability, consistency, RTO/RPO and operational ownership—not only…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529</a:t>
            </a:r>
          </a:p>
        </p:txBody>
      </p:sp>
    </p:spTree>
  </p:cSld>
  <p:clrMapOvr>
    <a:masterClrMapping/>
  </p:clrMapOvr>
  <p:transition spd="fast" advClick="1">
    <p:fade/>
  </p:transition>
</p:sld>
</file>

<file path=ppt/slides/slide5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387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Static Website Hosting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can host static websites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can host static websites and have them accessible on the Internet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get a 403</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get a 403 Forbidden error, make sure the bucket policy allows public reads!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(demo-bucket)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(demo-bucket)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website URL will be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website URL will be (depending on the region)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530</a:t>
            </a:r>
          </a:p>
        </p:txBody>
      </p:sp>
    </p:spTree>
  </p:cSld>
  <p:clrMapOvr>
    <a:masterClrMapping/>
  </p:clrMapOvr>
  <p:transition spd="fast" advClick="1">
    <p:fade/>
  </p:transition>
</p:sld>
</file>

<file path=ppt/slides/slide5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389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Versioning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version your files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version your files in Amazon S3
Protect against unintended deletes (ability to restore a version)
(my-bucket)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enabled at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enabled at the bucket level
Easy roll back to previous version
s3://my-bucket/my-file.docx</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Same key overwrite will change…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Same key overwrite will change the “version”: 1, 2, 3….
Any file that is not versioned prior to enabling versioning will have version “null”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is best practice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is best practice to version your buckets
Suspending versioning does not delete the previous versions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531</a:t>
            </a:r>
          </a:p>
        </p:txBody>
      </p:sp>
    </p:spTree>
  </p:cSld>
  <p:clrMapOvr>
    <a:masterClrMapping/>
  </p:clrMapOvr>
  <p:transition spd="fast" advClick="1">
    <p:fade/>
  </p:transition>
</p:sld>
</file>

<file path=ppt/slides/slide5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391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Replication (CRR &amp; SRR)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Must enable Versioning in source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Must enable Versioning in source and destination buckets
Copying is asynchronous
asynchronous replication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Cross-Region Replication (CRR)</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Cross-Region Replication (CRR)
Must give proper IAM permissions to S3</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Same-Region Replication (SRR)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Same-Region Replication (SRR)
CRR - compliance, lower latency access, replication across accounts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Buckets can be in different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Buckets can be in different AWS accounts
SRR - log aggregation, live replication between production and test accounts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532</a:t>
            </a:r>
          </a:p>
        </p:txBody>
      </p:sp>
    </p:spTree>
  </p:cSld>
  <p:clrMapOvr>
    <a:masterClrMapping/>
  </p:clrMapOvr>
  <p:transition spd="fast" advClick="1">
    <p:fade/>
  </p:transition>
</p:sld>
</file>

<file path=ppt/slides/slide5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392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Replication (Notes)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After you enable Replication, only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After you enable Replication, only new objects are replicated
Can replicate delete markers from source to target (optional setting)
Then objects created in bucket 1 are not replicated to bucket 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Optionally, you can replicate…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Optionally, you can replicate existing objects using S3 Batch Replication
Deletions with a version ID are not replicated (to avoid malicious deletes)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Replicates existing objects and…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Replicates existing objects and objects that failed replication
There is no "chaining" of replication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DELETE operations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DELETE operations
If bucket 1 has replication into bucket 2, which has replication into bucket 3</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533</a:t>
            </a:r>
          </a:p>
        </p:txBody>
      </p:sp>
    </p:spTree>
  </p:cSld>
  <p:clrMapOvr>
    <a:masterClrMapping/>
  </p:clrMapOvr>
  <p:transition spd="fast" advClick="1">
    <p:fade/>
  </p:transition>
</p:sld>
</file>

<file path=ppt/slides/slide5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394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Storage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Standard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Standard - General Purpose
Amazon S3 Glacier Flexible Retrieval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Standard-Infrequent…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Standard-Infrequent Access (IA)
Amazon S3 Glacier Deep Archive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One Zone-Infrequent…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One Zone-Infrequent Access
Amazon S3 Intelligent Tiering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Glacier Instant…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Glacier Instant Retrieval
Can move between classes manually or using S3 Lifecycle configurations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534</a:t>
            </a:r>
          </a:p>
        </p:txBody>
      </p:sp>
    </p:spTree>
  </p:cSld>
  <p:clrMapOvr>
    <a:masterClrMapping/>
  </p:clrMapOvr>
  <p:transition spd="fast" advClick="1">
    <p:fade/>
  </p:transition>
</p:sld>
</file>

<file path=ppt/slides/slide5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395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Durability and Availability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Durability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Durability
Availability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High durability (99.999999999%…</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High durability (99.999999999%, 11 9’s) of objects across multiple AZ
Measures how readily available a service is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store 10,000,000 objects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store 10,000,000 objects with Amazon S3, you can on average expect to incur a loss of a single object once every 10,000 years
Varies depending on storage class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Same for all storage classes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Same for all storage classes
Example: S3 standard has 99.99% availability = not available 53 minutes a year</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535</a:t>
            </a:r>
          </a:p>
        </p:txBody>
      </p:sp>
    </p:spTree>
  </p:cSld>
  <p:clrMapOvr>
    <a:masterClrMapping/>
  </p:clrMapOvr>
  <p:transition spd="fast" advClick="1">
    <p:fade/>
  </p:transition>
</p:sld>
</file>

<file path=ppt/slides/slide5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396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Standard - General Purpose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99.99% Availability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99.99% Availability
Use Cases: Big Data analytics, mobile &amp; gaming applications, content distribution…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Used for frequently accessed data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Used for frequently accessed data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Low latency and high throughput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Low latency and high throughput
Failure mode: throughput limits, burst-credit exhaustion, hot partitions, replica lag, connection storms and key-policy gaps often look like…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Sustain 2 concurrent facility…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Sustain 2 concurrent facility failures
Evidence: queue depth, IOPS/throughput, latency, storage headroom, replica lag, query statistics, backup age and restore validation isolate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536</a:t>
            </a:r>
          </a:p>
        </p:txBody>
      </p:sp>
    </p:spTree>
  </p:cSld>
  <p:clrMapOvr>
    <a:masterClrMapping/>
  </p:clrMapOvr>
  <p:transition spd="fast" advClick="1">
    <p:fade/>
  </p:transition>
</p:sld>
</file>

<file path=ppt/slides/slide5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397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Storage Classes - Infrequent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data that is less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data that is less frequently accessed, but requires rapid access when needed
Use cases: Disaster Recovery, backups
Use Cases: Storing secondary backup copies of on-premises data, or data you can recreate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Lower cost than S3 Standard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Lower cost than S3 Standard
Amazon S3 One Zone-Infrequent Access (S3 Standard-IA)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Standard-Infrequent…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Standard-Infrequent Access (S3 Standard-IA)
High durability (99.999999999%) in a single AZ; data lost when AZ is destroyed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99.9% Availability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99.9% Availability
99.5% Availability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537</a:t>
            </a:r>
          </a:p>
        </p:txBody>
      </p:sp>
    </p:spTree>
  </p:cSld>
  <p:clrMapOvr>
    <a:masterClrMapping/>
  </p:clrMapOvr>
  <p:transition spd="fast" advClick="1">
    <p:fade/>
  </p:transition>
</p:sld>
</file>

<file path=ppt/slides/slide5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398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Glacier Storage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Low-cost object storage meant for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Low-cost object storage meant for archiving / backup
Minimum storage duration of 90 days
Standard (12 hours), Bulk (48 hours)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Pricing: price for storage +</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Pricing: price for storage + object retrieval cost
Amazon S3 Glacier Flexible Retrieval (formerly Amazon S3 Glacier)
Minimum storage duration of 180 days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Glacier Instant…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Glacier Instant Retrieval
Expedited (1 to 5 minutes), Standard (3 to 5 hours), Bulk (5 to 12 hours) – free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Millisecond retrieval, great for…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Millisecond retrieval, great for data accessed once a quarter
Amazon S3 Glacier Deep Archive - for long term storage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538</a:t>
            </a:r>
          </a:p>
        </p:txBody>
      </p:sp>
    </p:spTree>
  </p:cSld>
  <p:clrMapOvr>
    <a:masterClrMapping/>
  </p:clrMapOvr>
  <p:transition spd="fast" advClick="1">
    <p:fade/>
  </p:transition>
</p:sld>
</file>

<file path=ppt/slides/slide5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399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Intelligent-Tiering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Small monthly monitoring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Small monthly monitoring and auto-tiering fee
Infrequent Access tier (automatic): objects not accessed for 30 days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Moves objects automatically…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Moves objects automatically between Access Tiers based on usage
Archive Instant Access tier (automatic): objects not accessed for 90 days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There are no retrieval charges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There are no retrieval charges in S3 Intelligent-Tiering
Archive Access tier (optional): configurable from 90 days to 700+ days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Frequent Access tier (automatic)</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Frequent Access tier (automatic): default tier
Deep Archive Access tier (optional): config. from 180 days to 700+ days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539</a:t>
            </a:r>
          </a:p>
        </p:txBody>
      </p:sp>
    </p:spTree>
  </p:cSld>
  <p:clrMapOvr>
    <a:masterClrMapping/>
  </p:clrMapOvr>
  <p:transition spd="fast" advClick="1">
    <p:fade/>
  </p:transition>
</p:sld>
</file>

<file path=ppt/slides/slide5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404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Moving between Storage Classes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transition objects between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transition objects between storage classes
Standard IA
Glacier Flexible Retrieval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infrequently accessed object…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infrequently accessed object, move them to Stanard IA
Intelligent Tiering
Glacier Deep Archive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archive objects that you</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archive objects that you don’t need fast access to, move them to Glacier or Glacier Deep Archive
One-Zone IA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Moving objects can be automated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Moving objects can be automated using a Lifecycle Rules
Glacier Instant Retrieval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540</a:t>
            </a:r>
          </a:p>
        </p:txBody>
      </p:sp>
    </p:spTree>
  </p:cSld>
  <p:clrMapOvr>
    <a:masterClrMapping/>
  </p:clrMapOvr>
  <p:transition spd="fast" advClick="1">
    <p:fade/>
  </p:transition>
</p:sld>
</file>

<file path=ppt/slides/slide5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405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Lifecycle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Transition Actions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Transition Actions - configure objects to transition to another storage class
Access log files can be set to delete after a 365 days
Rules can be created for certain objects Tags (example: Department: Finance)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Move objects to Standard IA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Move objects to Standard IA class 60 days after creation
Can be used to delete old versions of files (if versioning is enabled)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Move to Glacier for archiving</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Move to Glacier for archiving after 6 months
Can be used to delete incomplete Multi-Part uploads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Expiration Actions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Expiration Actions - configure objects to expire (delete) after some time
Rules can be created for a certain prefix (example: s3://mybucket/mp3/*)</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541</a:t>
            </a:r>
          </a:p>
        </p:txBody>
      </p:sp>
    </p:spTree>
  </p:cSld>
  <p:clrMapOvr>
    <a:masterClrMapping/>
  </p:clrMapOvr>
  <p:transition spd="fast" advClick="1">
    <p:fade/>
  </p:transition>
</p:sld>
</file>

<file path=ppt/slides/slide5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406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Lifecycle Rules (Scenario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Your application on EC2 creates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Your application on EC2 creates images thumbnails after profile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photos are uploaded to Amazon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photos are uploaded to Amazon S3. These thumbnails can be easily recreated, and only need to be kept for 60 days. The source images should be able to…</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source images can be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source images can be on Standard with a lifecycle configuration to trainsition them to Glacier after 60 days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thumbnails can be 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thumbnails can be on One-Zone IA with a lifecycle configuration to expire them (delete them) after 60 days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542</a:t>
            </a:r>
          </a:p>
        </p:txBody>
      </p:sp>
    </p:spTree>
  </p:cSld>
  <p:clrMapOvr>
    <a:masterClrMapping/>
  </p:clrMapOvr>
  <p:transition spd="fast" advClick="1">
    <p:fade/>
  </p:transition>
</p:sld>
</file>

<file path=ppt/slides/slide5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407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Lifecycle Rules (Scenario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rule in your company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rule in your company states that you should be able to recover your deleted S3 objects immediately for 30 days, although this may happen rarely…
Transition afterwards the “noncurrent versions” to Glacier Deep Archive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be recoverable within 48 hours.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be recoverable within 48 hours.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Enable S3 Versioning in order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Enable S3 Versioning in order to have object versions, so that “deleted objects” are in fact hidden by a “delete marker” and can be recovered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Transition the “noncurrent…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Transition the “noncurrent versions” of the object to Standard IA</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543</a:t>
            </a:r>
          </a:p>
        </p:txBody>
      </p:sp>
    </p:spTree>
  </p:cSld>
  <p:clrMapOvr>
    <a:masterClrMapping/>
  </p:clrMapOvr>
  <p:transition spd="fast" advClick="1">
    <p:fade/>
  </p:transition>
</p:sld>
</file>

<file path=ppt/slides/slide5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408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Analytics - Storage Class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Help you decide when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Help you decide when to transition objects to the right storage class
24 to 48 hours to start seeing data analysis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Recommendations for Standard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Recommendations for Standard and Stanard IA
Good first step to put together Lifecycle Rules (or improve them)!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Does NOT work for One-Zone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Does NOT work for One-Zone IA or Glacier
S3 Analytics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Report is updated daily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Report is updated daily
.csv report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544</a:t>
            </a:r>
          </a:p>
        </p:txBody>
      </p:sp>
    </p:spTree>
  </p:cSld>
  <p:clrMapOvr>
    <a:masterClrMapping/>
  </p:clrMapOvr>
  <p:transition spd="fast" advClick="1">
    <p:fade/>
  </p:transition>
</p:sld>
</file>

<file path=ppt/slides/slide5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409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Event Notifications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Lambda Function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Lambda Function
Can create as many "S3 events" as desired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S3:ObjectCreated, S3:ObjectRemoved…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S3:ObjectCreated, S3:ObjectRemoved, S3:ObjectRestore, S3:Replication…
S3 event notifications typically deliver events in seconds but can sometimes take a minute or longer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name filtering possible…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name filtering possible (*.jpg)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case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case: generate thumbnails of images uploaded to S3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545</a:t>
            </a:r>
          </a:p>
        </p:txBody>
      </p:sp>
    </p:spTree>
  </p:cSld>
  <p:clrMapOvr>
    <a:masterClrMapping/>
  </p:clrMapOvr>
  <p:transition spd="fast" advClick="1">
    <p:fade/>
  </p:transition>
</p:sld>
</file>

<file path=ppt/slides/slide5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410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Event Notifications - IAM Permissions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1295444" y="1792224"/>
            <a:ext cx="5126648" cy="3401568"/>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Lambda Resource Policy</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Lambda Resource Policy
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546</a:t>
            </a:r>
          </a:p>
        </p:txBody>
      </p:sp>
    </p:spTree>
  </p:cSld>
  <p:clrMapOvr>
    <a:masterClrMapping/>
  </p:clrMapOvr>
  <p:transition spd="fast" advClick="1">
    <p:fade/>
  </p:transition>
</p:sld>
</file>

<file path=ppt/slides/slide5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411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Event Notifications with Amazon EventBridge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bucket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bucket
as destinations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 events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 events
Advanced filtering options with JSON rules (metadata, object size, name...)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EventBridge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EventBridge
Multiple Destinations - ex Step Functions, Kinesis Streams / Firehose…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services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services
EventBridge Capabilties - Archive, Replay Events, Reliable delivery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547</a:t>
            </a:r>
          </a:p>
        </p:txBody>
      </p:sp>
    </p:spTree>
  </p:cSld>
  <p:clrMapOvr>
    <a:masterClrMapping/>
  </p:clrMapOvr>
  <p:transition spd="fast" advClick="1">
    <p:fade/>
  </p:transition>
</p:sld>
</file>

<file path=ppt/slides/slide5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413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 Baseline Performance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automatically scales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automatically scales to high request rates, latency 100-200 ms
bucket/folder1/sub1/file =&gt; /folder1/sub1/
If you spread reads across all four prefixes evenly, you can achieve 22,000 requests per second for GET and HEAD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Your application can achieve 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Your application can achieve at least 3,500 PUT/COPY/POST/DELETE or 5,500 GET/HEAD requests per second per prefix in a bucket.
bucket/folder1/sub2/file =&gt; /folder1/sub2/</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There are no limits to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There are no limits to the number of prefixes in a bucket.
bucket/1/file =&gt; /1/</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(object path =&gt; prefix)</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(object path =&gt; prefix)
bucket/2/file =&gt; /2/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548</a:t>
            </a:r>
          </a:p>
        </p:txBody>
      </p:sp>
    </p:spTree>
  </p:cSld>
  <p:clrMapOvr>
    <a:masterClrMapping/>
  </p:clrMapOvr>
  <p:transition spd="fast" advClick="1">
    <p:fade/>
  </p:transition>
</p:sld>
</file>

<file path=ppt/slides/slide5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414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Performance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Multi-Part upload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Multi-Part upload
Increase transfer speed by transferring file to an AWS edge location which will forward the data to the S3 bucket in the target region
Edge Location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recommended for files &gt; 100MB,</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recommended for files &gt; 100MB, must use for files &gt; 5GB
Compatible with multi-part upload
(public www)</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help parallelize uploads…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help parallelize uploads (speed up transfers)
Parallel uploads
(private AWS)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Transfer Acceleration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Transfer Acceleration
Divide In parts
File in USA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549</a:t>
            </a:r>
          </a:p>
        </p:txBody>
      </p:sp>
    </p:spTree>
  </p:cSld>
  <p:clrMapOvr>
    <a:masterClrMapping/>
  </p:clrMapOvr>
  <p:transition spd="fast" advClick="1">
    <p:fade/>
  </p:transition>
</p:sld>
</file>

<file path=ppt/slides/slide5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415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Performance - S3 Byte-Range Fetches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used to speed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used to speed up downloads
File in S3</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Parallelize GETs by requesting…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Parallelize GETs by requesting specific byte ranges
Byte-range request for header (first XX bytes)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Better resilience in case of</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Better resilience in case of failures
data (for example the head of a file)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be used to retrieve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be used to retrieve only partial
Requests in parallel</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550</a:t>
            </a:r>
          </a:p>
        </p:txBody>
      </p:sp>
    </p:spTree>
  </p:cSld>
  <p:clrMapOvr>
    <a:masterClrMapping/>
  </p:clrMapOvr>
  <p:transition spd="fast" advClick="1">
    <p:fade/>
  </p:transition>
</p:sld>
</file>

<file path=ppt/slides/slide5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416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Batch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Perform bulk operations 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Perform bulk operations on existing S3 objects with a single request, example
Modify ACLs, tags
S3 Batch Operations manages retries, tracks progress, sends completion notifications, generate reports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Modify object metadata &amp;…</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Modify object metadata &amp; properties
Restore objects from S3 Glacier
You can use S3 Inventory to get object list to use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Copy objects between S3 buckets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Copy objects between S3 buckets
Invoke Lambda function to perform custom action on each object
S3 Select to filter your objects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 un-encrypted objects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 un-encrypted objects
A job consists of a list of objects, the action to perform, and optional parameters
S3 Inventory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551</a:t>
            </a:r>
          </a:p>
        </p:txBody>
      </p:sp>
    </p:spTree>
  </p:cSld>
  <p:clrMapOvr>
    <a:masterClrMapping/>
  </p:clrMapOvr>
  <p:transition spd="fast" advClick="1">
    <p:fade/>
  </p:transition>
</p:sld>
</file>

<file path=ppt/slides/slide5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417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Inventory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List objects and their…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List objects and their corresponding metadata (alternative to S3 List API operation)
Identify the total storage of previous object versions
You can filter generated report using S3 Select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Usage examples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Usage examples
Generate daily or weekly reports
Use cases: Business, Compliance, Regulatory needs, …</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Audit and report on the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Audit and report on the replication and encryption status of your objects
Output files: CSV, ORC, or Apache Parquet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Get the number of objects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Get the number of objects in an S3 bucket
You can query all the data using Amazon Athena, Redshift, Presto, Hive, Spark…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552</a:t>
            </a:r>
          </a:p>
        </p:txBody>
      </p:sp>
    </p:spTree>
  </p:cSld>
  <p:clrMapOvr>
    <a:masterClrMapping/>
  </p:clrMapOvr>
  <p:transition spd="fast" advClick="1">
    <p:fade/>
  </p:transition>
</p:sld>
</file>

<file path=ppt/slides/slide5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418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Glacier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Low-cost object storage meant for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Low-cost object storage meant for archiving / backup
Cost per storage per month ($0.004 / GB – Standard | $0.00099 / GB Deep Archive)
Exam tip: archival from S3 after XXX days =&gt; use Glacier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Data is retained for the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Data is retained for the longer term (10s of years)
Each item in Glacier is called "Archive" (up to 40TB)</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Alternative to on-premises…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Alternative to on-premises magnetic tape storage
Archives are stored in "Vaults"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Average annual durability is…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Average annual durability is 99.999999999%
By default, data encrypted at rest using AES-256 – keys managed by AWS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553</a:t>
            </a:r>
          </a:p>
        </p:txBody>
      </p:sp>
    </p:spTree>
  </p:cSld>
  <p:clrMapOvr>
    <a:masterClrMapping/>
  </p:clrMapOvr>
  <p:transition spd="fast" advClick="1">
    <p:fade/>
  </p:transition>
</p:sld>
</file>

<file path=ppt/slides/slide5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419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Glacier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Vault Operations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Vault Operations
Glacier Operations
Delete - use Glacier Rest API or AWS SDKs by specifying archive ID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&amp; Delete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&amp; Delete - delete only when there’s no archives in it
Upload- single operation or by parts (MultiPart upload) for larger archives
Restore links have an expiry date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Retrieving Metadata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Retrieving Metadata - creation date, number of archives, total size of all archives, …
Download - first initiate a retrieval job for the archive, Glacier then prepares it for download.
Retrieval Options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Download Inventory</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Download Inventory - list of archives in the vault (archive ID, creation date, size, …)
User then has a limited time to download the data from staging server. (optionally, specify a range or portion of bytes to retrieve)
Expedited (1 to 5 minutes retrieval) - $0.03 per GB and $10 per 1000 requests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554</a:t>
            </a:r>
          </a:p>
        </p:txBody>
      </p:sp>
    </p:spTree>
  </p:cSld>
  <p:clrMapOvr>
    <a:masterClrMapping/>
  </p:clrMapOvr>
  <p:transition spd="fast" advClick="1">
    <p:fade/>
  </p:transition>
</p:sld>
</file>

<file path=ppt/slides/slide5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420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Glacier - Vault Policies &amp; Vault 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Each Vault has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Each Vault has
Vault Access Policy is like a bucket policy (restrict user / account permissions)
Example 2: implement WORM policy (write once read many)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ONE vault access policy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ONE vault access policy
Vault Lock Policy is a policy you lock, for regulatory and compliance requirements.
Permissions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ONE vault lock policy</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ONE vault lock policy
The policy is immutable, it can never be changed (that's why it’s called a LOCK)
Vault Access Policy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Vault Policies are written 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Vault Policies are written in JSON
Example 1: forbid deleting an archive if less than 1 year old
Vault Lock Policy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555</a:t>
            </a:r>
          </a:p>
        </p:txBody>
      </p:sp>
    </p:spTree>
  </p:cSld>
  <p:clrMapOvr>
    <a:masterClrMapping/>
  </p:clrMapOvr>
  <p:transition spd="fast" advClick="1">
    <p:fade/>
  </p:transition>
</p:sld>
</file>

<file path=ppt/slides/slide5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421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Glacier - Notifications for Restore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Vault Notification Configuration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Vault Notification Configuration
S3 supports the restoration of objects archived to S3 Glacier storage classes
Amazon Glacier</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Configure a vault so that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Configure a vault so that when a job completes a message is sent to SNS
s3:ObjectRestore:Post =&gt; notify when object restoration initiated
archive ready restore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Optionally, specify an SNS topic</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Optionally, specify an SNS topic when you initiate a job
s3:ObjectRestore:Completed =&gt; notify when object restoration completed
send notification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Event Notifications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Event Notifications
initiate restore archive job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556</a:t>
            </a:r>
          </a:p>
        </p:txBody>
      </p:sp>
    </p:spTree>
  </p:cSld>
  <p:clrMapOvr>
    <a:masterClrMapping/>
  </p:clrMapOvr>
  <p:transition spd="fast" advClick="1">
    <p:fade/>
  </p:transition>
</p:sld>
</file>

<file path=ppt/slides/slide5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423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Multi Part Upload - Deep Dive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Upload large objects in parts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Upload large objects in parts (any order)
Failures: restart uploading ONLY failed parts (improves performance)
(max. 10,000)</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Recommended for files &gt; 100MB,</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Recommended for files &gt; 100MB, must use for files &gt; 5GB
Use Lifecycle policy to automate old parts
parallel uploads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help parallelize uploads…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help parallelize uploads (speed up transfers)
Deletion of unfinished upload after x days (e.g., network outage)
Concatenating parts (COMPLETE request)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Max. parts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Max. parts: 10,000
Upload using AWS CLI or AWS SDK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557</a:t>
            </a:r>
          </a:p>
        </p:txBody>
      </p:sp>
    </p:spTree>
  </p:cSld>
  <p:clrMapOvr>
    <a:masterClrMapping/>
  </p:clrMapOvr>
  <p:transition spd="fast" advClick="1">
    <p:fade/>
  </p:transition>
</p:sld>
</file>

<file path=ppt/slides/slide5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424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Athena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Serverless query service to…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Serverless query service to analyze data stored in Amazon S3
Commonly used with Amazon Quicksight for reporting/dashboards
Amazon QuickSight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standard SQL language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standard SQL language to query the files (built on Presto)
Use cases: Business intelligence / analytics / reporting, analyze &amp; query VPC Flow Logs, ELB Logs, CloudTrail trails, etc...
Reporting &amp; Dashboards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Supports CSV, JSON, ORC, Avro,</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Supports CSV, JSON, ORC, Avro, and Parquet
Exam Tip: analyze data in S3 using serverless SQL, use Athena</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Pricing: $5.00 per TB of</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Pricing: $5.00 per TB of data scanned
Query &amp; Analyze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558</a:t>
            </a:r>
          </a:p>
        </p:txBody>
      </p:sp>
    </p:spTree>
  </p:cSld>
  <p:clrMapOvr>
    <a:masterClrMapping/>
  </p:clrMapOvr>
  <p:transition spd="fast" advClick="1">
    <p:fade/>
  </p:transition>
</p:sld>
</file>

<file path=ppt/slides/slide5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425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Anthena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1944746"/>
            <a:ext cx="6217920" cy="3096524"/>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block, file, object and</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block, file, object and database services expose different attachment, consistency, scaling…</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Evidence: queue depth…</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559</a:t>
            </a:r>
          </a:p>
        </p:txBody>
      </p:sp>
    </p:spTree>
  </p:cSld>
  <p:clrMapOvr>
    <a:masterClrMapping/>
  </p:clrMapOvr>
  <p:transition spd="fast" advClick="1">
    <p:fade/>
  </p:transition>
</p:sld>
</file>

<file path=ppt/slides/slide5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426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Athena - Performance Improvement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Columnar data for cost-savings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Columnar data for cost-savings (less scan)
Compress data for smaller retrievals (bzip2, gzip, lz4, snappy, zlip, zstd…)
Example: s3://athena-examples/flight/parquet/year=1991/month=1/day=1/</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Apache Parquet or ORC is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Apache Parquet or ORC is recommended
Partition datasets in S3 for easy querying on virtual columns
Use larger files (&gt; 128 MB) to minimize overhead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Huge performance improvement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Huge performance improvement
s3://yourBucket/pathToTable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Glue to convert your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Glue to convert your data to Parquet or ORC
/&lt;PARTITION_COLUMN_NAME&gt;=&lt;VALUE&gt;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560</a:t>
            </a:r>
          </a:p>
        </p:txBody>
      </p:sp>
    </p:spTree>
  </p:cSld>
  <p:clrMapOvr>
    <a:masterClrMapping/>
  </p:clrMapOvr>
  <p:transition spd="fast" advClick="1">
    <p:fade/>
  </p:transition>
</p:sld>
</file>

<file path=ppt/slides/slide5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427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Athena - Federated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Allows you to run SQL</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Allows you to run SQL queries across data stored in relational, non-relational, object, and custom data sources (AWS or on-premises)
Database (On-Premises)
DocumentDB</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Uses Data Source Connectors that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Uses Data Source Connectors that run on AWS Lambda to run Federated Queries (e.g., CloudWatch Logs, DynamoDB, RDS, …)
(Data Source
HBase in EMR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Store the results back in</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Store the results back in Amazon S3
Connector)
SQL Server</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Athena</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Athena
ElastiCache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561</a:t>
            </a:r>
          </a:p>
        </p:txBody>
      </p:sp>
    </p:spTree>
  </p:cSld>
  <p:clrMapOvr>
    <a:masterClrMapping/>
  </p:clrMapOvr>
  <p:transition spd="fast" advClick="1">
    <p:fade/>
  </p:transition>
</p:sld>
</file>

<file path=ppt/slides/slide5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430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Object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encrypt objects in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encrypt objects in S3 buckets using one of 4 methods
Server-Side Encryption with KMS Keys stored in AWS KMS (SSE-KMS)
Cilent-Side Encryption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Server-Side Encryption (SSE)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Server-Side Encryption (SSE)
Leverage AWS Key Management Service (AWS KMS) to manage encryption keys
It’s important to understand which ones are for which situation for the exam</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Server-Side Encryption with…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Server-Side Encryption with Amazon S3-Managed Keys (SSE-S3) Enabled by Default
Server-Side Encryption with Customer-Provided Keys (SSE-C)</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Encrypts S3 objects using keys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Encrypts S3 objects using keys handled, managed, and owned by AWS
When you want to manage your own encryption keys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562</a:t>
            </a:r>
          </a:p>
        </p:txBody>
      </p:sp>
    </p:spTree>
  </p:cSld>
  <p:clrMapOvr>
    <a:masterClrMapping/>
  </p:clrMapOvr>
  <p:transition spd="fast" advClick="1">
    <p:fade/>
  </p:transition>
</p:sld>
</file>

<file path=ppt/slides/slide5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431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Encryption - SSE-S3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 Header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 Header
Must set header "x-amz-server-side-encryption":"AES256"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using keys handled…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using keys handled, managed, and owned by AWS
Enabled by default for new buckets &amp; new objects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is encrypted server-side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is encrypted server-side
S3 Owned Key
Failure mode: throughput limits, burst-credit exhaustion, hot partitions, replica lag, connection storms and key-policy gaps often look like…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type is AES-256</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type is AES-256
Encryption
Evidence: queue depth, IOPS/throughput, latency, storage headroom, replica lag, query statistics, backup age and restore validation isolate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563</a:t>
            </a:r>
          </a:p>
        </p:txBody>
      </p:sp>
    </p:spTree>
  </p:cSld>
  <p:clrMapOvr>
    <a:masterClrMapping/>
  </p:clrMapOvr>
  <p:transition spd="fast" advClick="1">
    <p:fade/>
  </p:transition>
</p:sld>
</file>

<file path=ppt/slides/slide5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432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Encryption - SSE-KMS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 Header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 Header
Must set header "x-amz-server-side-encryption":"AWS:KMS"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using keys handled and</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using keys handled and managed by AWS KMS (Key Management Service)
Encryption</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KMS advantages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KMS advantages: user control + audit key usage using CloudTrail</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is encrypted server side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is encrypted server side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564</a:t>
            </a:r>
          </a:p>
        </p:txBody>
      </p:sp>
    </p:spTree>
  </p:cSld>
  <p:clrMapOvr>
    <a:masterClrMapping/>
  </p:clrMapOvr>
  <p:transition spd="fast" advClick="1">
    <p:fade/>
  </p:transition>
</p:sld>
</file>

<file path=ppt/slides/slide5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433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SSE-KMS Limitation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you use SSE-KMS, you</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you use SSE-KMS, you may be impacted by the KMS limits
Count towards the KMS quota per second (5500, 10000, 30000 req/s based on region)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you upload, it calls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you upload, it calls the
You can request a quota increase using the Service Quotas Console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GenerateDataKey KMS API</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GenerateDataKey KMS API
Upload / download SSE-KMS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When you download, it calls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When you download, it calls the Decrypt KMS API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565</a:t>
            </a:r>
          </a:p>
        </p:txBody>
      </p:sp>
    </p:spTree>
  </p:cSld>
  <p:clrMapOvr>
    <a:masterClrMapping/>
  </p:clrMapOvr>
  <p:transition spd="fast" advClick="1">
    <p:fade/>
  </p:transition>
</p:sld>
</file>

<file path=ppt/slides/slide5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434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Encryption - SSE-C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Server-Side Encryption using keys…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Server-Side Encryption using keys fully managed by the customer outside of AWS
HTTPS ONLY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does NOT store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does NOT store the encryption key you provide
+ Key in Header</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must be used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must be used
Client-Provided Key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key must provided in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key must provided in HTTP headers, for every HTTP request made
Encryption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566</a:t>
            </a:r>
          </a:p>
        </p:txBody>
      </p:sp>
    </p:spTree>
  </p:cSld>
  <p:clrMapOvr>
    <a:masterClrMapping/>
  </p:clrMapOvr>
  <p:transition spd="fast" advClick="1">
    <p:fade/>
  </p:transition>
</p:sld>
</file>

<file path=ppt/slides/slide5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435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Encryption - Client-Side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Use client libraries such as</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Use client libraries such as Amazon S3 Cilent-Side Encryption Library
Client Key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Clients must encrypt data…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Clients must encrypt data themselves before sending to Amazon S3
(encrypted)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Clients must decrypt data…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Clients must decrypt data themselves when retrieving from Amazon S3
Encryption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Customer fully manages the keys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Customer fully manages the keys and encryption cycle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567</a:t>
            </a:r>
          </a:p>
        </p:txBody>
      </p:sp>
    </p:spTree>
  </p:cSld>
  <p:clrMapOvr>
    <a:masterClrMapping/>
  </p:clrMapOvr>
  <p:transition spd="fast" advClick="1">
    <p:fade/>
  </p:transition>
</p:sld>
</file>

<file path=ppt/slides/slide5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436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Encryption in transit (SSL/TLS)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Encryption in flight is also</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Encryption in flight is also called SSL/TLS
HTTPS is recommended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Amazon S3 exposes two endpoints</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Amazon S3 exposes two endpoints
HTTPS is mandatory for SSE-C</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 Endpoint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 Endpoint - non encrypted
Most clients would use the HTTPS endpoint by default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Endpoint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Endpoint - encryption in flight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568</a:t>
            </a:r>
          </a:p>
        </p:txBody>
      </p:sp>
    </p:spTree>
  </p:cSld>
  <p:clrMapOvr>
    <a:masterClrMapping/>
  </p:clrMapOvr>
  <p:transition spd="fast" advClick="1">
    <p:fade/>
  </p:transition>
</p:sld>
</file>

<file path=ppt/slides/slide5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437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Amazon S3 – Force Encryption in Transit aws:SecureTransport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(my-bucket)</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(my-bucket)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Bucket Policy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Bucket Policy
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queue depth…</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queue depth, IOPS/throughput, latency, storage headroom, replica lag, query statistics, backup age and restore validation isolate the…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choose the data service and recovery method from access pattern, durability, consistency, RTO/RPO and operational ownership—not only…</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569</a:t>
            </a:r>
          </a:p>
        </p:txBody>
      </p:sp>
    </p:spTree>
  </p:cSld>
  <p:clrMapOvr>
    <a:masterClrMapping/>
  </p:clrMapOvr>
  <p:transition spd="fast" advClick="1">
    <p:fade/>
  </p:transition>
</p:sld>
</file>

<file path=ppt/slides/slide5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438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Default Encryption vs. Bucket Policies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749808" y="2610063"/>
            <a:ext cx="6217920" cy="1765889"/>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SSE-S3 encryption is…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SSE-S3 encryption is automatically applied to new objects stored in S3 bucket</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block, file, object and</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block, file, object and database services expose different attachment, consistency, scaling…</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570</a:t>
            </a:r>
          </a:p>
        </p:txBody>
      </p:sp>
    </p:spTree>
  </p:cSld>
  <p:clrMapOvr>
    <a:masterClrMapping/>
  </p:clrMapOvr>
  <p:transition spd="fast" advClick="1">
    <p:fade/>
  </p:transition>
</p:sld>
</file>

<file path=ppt/slides/slide5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440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CORS?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Cross-Origin Resource Sharing…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Cross-Origin Resource Sharing (CORS)
Same origin: &amp;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Origin = scheme (protocol) +</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Origin = scheme (protocol) + host (domain) + port
Different origins: &amp;</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example: (implied port is 443</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example: (implied port is 443 for HTTPS, 80 for HTTP)
The requests won’t be fulfilled unless the other origin allows for the requests, using CORS Headers (example: Access-Control-Allow-Origin)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Browser based mechanism to</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Browser based mechanism to allow requests to other origins while visiting the main origin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571</a:t>
            </a:r>
          </a:p>
        </p:txBody>
      </p:sp>
    </p:spTree>
  </p:cSld>
  <p:clrMapOvr>
    <a:masterClrMapping/>
  </p:clrMapOvr>
  <p:transition spd="fast" advClick="1">
    <p:fade/>
  </p:transition>
</p:sld>
</file>

<file path=ppt/slides/slide5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441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is CORS?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Server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Server
Host: www.other.com
CORS Headers received already by the Origin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(Cross-Origin)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(Cross-Origin)
Preflight Request
The Web Browser can make requests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Browser</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Browser
Access-Control-Allow-Origin: Access-Control-Allow-Methods: GET, PUT, DELETE
Failure mode: throughput limits, burst-credit exhaustion, hot partitions, replica lag, connection storms and key-policy gaps often look like…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HTTPS Request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HTTPS Request
Preflight Response
Evidence: queue depth, IOPS/throughput, latency, storage headroom, replica lag, query statistics, backup age and restore validation isolate the…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572</a:t>
            </a:r>
          </a:p>
        </p:txBody>
      </p:sp>
    </p:spTree>
  </p:cSld>
  <p:clrMapOvr>
    <a:masterClrMapping/>
  </p:clrMapOvr>
  <p:transition spd="fast" advClick="1">
    <p:fade/>
  </p:transition>
</p:sld>
</file>

<file path=ppt/slides/slide5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442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CORS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If a client makes a</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If a client makes a cross-origin request on our S3 bucket, we need to enable the correct CORS headers
(my-bucket-html)
index.html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It’s a popular exam question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It’s a popular exam question
(Static Website Enabled)
GET /images/coffee.jpg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You can allow for a</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You can allow for a specific origin or for * (all origins)
(my-bucket-assets)
Host: Origin</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Web Browser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Web Browser
GET /index.html
Access-Control-Allow-Origin
Mechanism: block, file, object and database services expose different attachment, consistency, scaling, replication, backup and failover behaviours.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573</a:t>
            </a:r>
          </a:p>
        </p:txBody>
      </p:sp>
    </p:spTree>
  </p:cSld>
  <p:clrMapOvr>
    <a:masterClrMapping/>
  </p:clrMapOvr>
  <p:transition spd="fast" advClick="1">
    <p:fade/>
  </p:transition>
</p:sld>
</file>

<file path=ppt/slides/slide5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444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MFA Delete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MFA (Multi-Factor Authentication)</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MFA (Multi-Factor Authentication) - force users to generate a code on a device (usually a mobile phone or hardware) before doing important operations…
MFA won’t be required to
Only the bucket owner (root account) can enable/disable MFA Delete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MFA will be required to</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MFA will be required to
Enable Versioning
Google Authenticator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Permanently delete an object…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Permanently delete an object version
List deleted versions
MFA Hardware Device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Suspend Versioning on the bucket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Suspend Versioning on the bucket
To use MFA Delete, Versioning must be enabled on the bucket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574</a:t>
            </a:r>
          </a:p>
        </p:txBody>
      </p:sp>
    </p:spTree>
  </p:cSld>
  <p:clrMapOvr>
    <a:masterClrMapping/>
  </p:clrMapOvr>
  <p:transition spd="fast" advClick="1">
    <p:fade/>
  </p:transition>
</p:sld>
</file>

<file path=ppt/slides/slide5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445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Access Logs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For audit purpose, you may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For audit purpose, you may want to log all access to S3 buckets
The log format is at</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Any request made to S3,</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Any request made to S3, from any account, authorized or denied will be logged into another S3 bucket
Log all requests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That data can be analyzed</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That data can be analyzed using data analysis tools…
Logging Bucket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The target logging bucket must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The target logging bucket must be in the same AWS region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575</a:t>
            </a:r>
          </a:p>
        </p:txBody>
      </p:sp>
    </p:spTree>
  </p:cSld>
  <p:clrMapOvr>
    <a:masterClrMapping/>
  </p:clrMapOvr>
  <p:transition spd="fast" advClick="1">
    <p:fade/>
  </p:transition>
</p:sld>
</file>

<file path=ppt/slides/slide5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446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Access Logs: Warning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Do not set your logging</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Do not set your logging bucket to be the monitored bucket
Do not try this at home ©</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It will create a logging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It will create a logging loop, and your bucket will grow exponentially</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App Bucket &amp; Logging Bucket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App Bucket &amp; Logging Bucket
Mechanism: block, file, object and database services expose different attachment, consistency, scaling, replication, backup and failover behaviours.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Logging loop</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Logging loop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576</a:t>
            </a:r>
          </a:p>
        </p:txBody>
      </p:sp>
    </p:spTree>
  </p:cSld>
  <p:clrMapOvr>
    <a:masterClrMapping/>
  </p:clrMapOvr>
  <p:transition spd="fast" advClick="1">
    <p:fade/>
  </p:transition>
</p:sld>
</file>

<file path=ppt/slides/slide5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447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Amazon S3 - Pre-Signed URLs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Generate pre-signed URLs using the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Generate pre-signed URLs using the S3 Console, AWS CLI or SDK
Users given a pre-signed URL inherit the permissions of the user that generated the URL for GET / PUT
generate pre-signed URL</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URL Expiration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URL Expiration
Allow only logged-in users to download a premium video from your S3 bucket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S3 Console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S3 Console - 1 min up to 720 mins (12 hours)
Allow an ever-changing list of users to download files by generating URLs dynamically</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AWS CLI</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AWS CLI - configure expiration with --expires-in parameter in seconds (default 3600 secs, max. 604800 secs ~ 168 hours)
Allow temporarily a user to upload a file to a precise location in your S3 bucket</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577</a:t>
            </a:r>
          </a:p>
        </p:txBody>
      </p:sp>
    </p:spTree>
  </p:cSld>
  <p:clrMapOvr>
    <a:masterClrMapping/>
  </p:clrMapOvr>
  <p:transition spd="fast" advClick="1">
    <p:fade/>
  </p:transition>
</p:sld>
</file>

<file path=ppt/slides/slide5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449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Glacier Vault Lock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Adopt a WORM (Write Once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Adopt a WORM (Write Once Read Many) model
Helpful for compliance and data retention</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Create a Vault Lock Policy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Create a Vault Lock Policy
Vault Lock Policy
Mechanism: block, file, object and database services expose different attachment, consistency, scaling, replication, backup and failover behaviours.</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Lock the policy for future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Lock the policy for future edits
Object can’t be deleted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(can no longer be changed</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(can no longer be changed or deleted)
Failure mode: throughput limits, burst-credit exhaustion, hot partitions, replica lag, connection storms and key-policy gaps often look like…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578</a:t>
            </a:r>
          </a:p>
        </p:txBody>
      </p:sp>
    </p:spTree>
  </p:cSld>
  <p:clrMapOvr>
    <a:masterClrMapping/>
  </p:clrMapOvr>
  <p:transition spd="fast" advClick="1">
    <p:fade/>
  </p:transition>
</p:sld>
</file>

<file path=ppt/slides/slide5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450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Object Lock (versioning must be enabled)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Adopt a WORM (Write Once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Adopt a WORM (Write Once Read Many) model
Objects retention modes can't be changed, and retention periods can't be shortened
Retention Period: protect the object for a fixed period, it can be extended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Block an object version deletion</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Block an object version deletion for a specified amount of time
Retention mode - Governance
Legal Hold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Retention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Retention mode - Compliance
Most users can't overwrite or delete an object version or alter its lock settings
protect the object indefinitely, independent from retention period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Object versions can't be…</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Object versions can't be overwritten or deleted by any user, including the root user
Some users have special permissions to change the retention or delete the object
can be freely placed and removed using the s3:PutObjectLegalHold IAM permission</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579</a:t>
            </a:r>
          </a:p>
        </p:txBody>
      </p:sp>
    </p:spTree>
  </p:cSld>
  <p:clrMapOvr>
    <a:masterClrMapping/>
  </p:clrMapOvr>
  <p:transition spd="fast" advClick="1">
    <p:fade/>
  </p:transition>
</p:sld>
</file>

<file path=ppt/slides/slide5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451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 Access Points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Simple Bucket Policy</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Simple Bucket Policy
Grant R/W to
entire bucket
Mechanism: block, file, object and database services expose different attachment, consistency, scaling, replication, backup and failover behaviours.</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Finance Access Point</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Finance Access Point
/finance prefix
(Analytics)
Failure mode: throughput limits, burst-credit exhaustion, hot partitions, replica lag, connection storms and key-policy gaps often look like…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Sales Access Point</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Sales Access Point
/sales prefix
Access Points simplify security management for S3 Buckets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Analytics Access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Analytics Access Point
Grant R to
Each Access Point has</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580</a:t>
            </a:r>
          </a:p>
        </p:txBody>
      </p:sp>
    </p:spTree>
  </p:cSld>
  <p:clrMapOvr>
    <a:masterClrMapping/>
  </p:clrMapOvr>
  <p:transition spd="fast" advClick="1">
    <p:fade/>
  </p:transition>
</p:sld>
</file>

<file path=ppt/slides/slide5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452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S3 - Access Points - VPC Origin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6400800" cy="358444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jpg"/>
          <p:cNvPicPr>
            <a:picLocks noChangeAspect="1"/>
          </p:cNvPicPr>
          <p:nvPr/>
        </p:nvPicPr>
        <p:blipFill>
          <a:blip r:embed="rId2"/>
          <a:stretch>
            <a:fillRect/>
          </a:stretch>
        </p:blipFill>
        <p:spPr>
          <a:xfrm>
            <a:off x="749808" y="2098121"/>
            <a:ext cx="6217920" cy="2789773"/>
          </a:xfrm>
          <a:prstGeom prst="rect">
            <a:avLst/>
          </a:prstGeom>
        </p:spPr>
      </p:pic>
      <p:sp>
        <p:nvSpPr>
          <p:cNvPr id="9" name="Rectangle 8"/>
          <p:cNvSpPr/>
          <p:nvPr/>
        </p:nvSpPr>
        <p:spPr>
          <a:xfrm>
            <a:off x="7269480" y="1700784"/>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1700784"/>
            <a:ext cx="82296" cy="10607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452360" y="1847088"/>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0" y="1847088"/>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13" name="TextBox 12"/>
          <p:cNvSpPr txBox="1"/>
          <p:nvPr/>
        </p:nvSpPr>
        <p:spPr>
          <a:xfrm>
            <a:off x="7946136" y="1810512"/>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We can define the access</a:t>
            </a:r>
          </a:p>
        </p:txBody>
      </p:sp>
      <p:sp>
        <p:nvSpPr>
          <p:cNvPr id="14" name="TextBox 13"/>
          <p:cNvSpPr txBox="1"/>
          <p:nvPr/>
        </p:nvSpPr>
        <p:spPr>
          <a:xfrm>
            <a:off x="7488936" y="2139696"/>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We can define the access point to be accessible only from within the VPC</a:t>
            </a:r>
          </a:p>
        </p:txBody>
      </p:sp>
      <p:sp>
        <p:nvSpPr>
          <p:cNvPr id="15" name="Rectangle 14"/>
          <p:cNvSpPr/>
          <p:nvPr/>
        </p:nvSpPr>
        <p:spPr>
          <a:xfrm>
            <a:off x="7269480" y="2907792"/>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69480" y="2907792"/>
            <a:ext cx="82296" cy="106070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52360" y="305409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0" y="305409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19" name="TextBox 18"/>
          <p:cNvSpPr txBox="1"/>
          <p:nvPr/>
        </p:nvSpPr>
        <p:spPr>
          <a:xfrm>
            <a:off x="7946136" y="3017520"/>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Mechanism: block, file, object and</a:t>
            </a:r>
          </a:p>
        </p:txBody>
      </p:sp>
      <p:sp>
        <p:nvSpPr>
          <p:cNvPr id="20" name="TextBox 19"/>
          <p:cNvSpPr txBox="1"/>
          <p:nvPr/>
        </p:nvSpPr>
        <p:spPr>
          <a:xfrm>
            <a:off x="7488936" y="3346704"/>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Mechanism: block, file, object and database services expose different attachment, consistency, scaling…</a:t>
            </a:r>
          </a:p>
        </p:txBody>
      </p:sp>
      <p:sp>
        <p:nvSpPr>
          <p:cNvPr id="21" name="Rectangle 20"/>
          <p:cNvSpPr/>
          <p:nvPr/>
        </p:nvSpPr>
        <p:spPr>
          <a:xfrm>
            <a:off x="7269480" y="4114800"/>
            <a:ext cx="4215384" cy="10607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9480" y="4114800"/>
            <a:ext cx="82296" cy="106070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52360" y="4261104"/>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0" y="4261104"/>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25" name="TextBox 24"/>
          <p:cNvSpPr txBox="1"/>
          <p:nvPr/>
        </p:nvSpPr>
        <p:spPr>
          <a:xfrm>
            <a:off x="7946136" y="4224528"/>
            <a:ext cx="3246120" cy="274320"/>
          </a:xfrm>
          <a:prstGeom prst="rect">
            <a:avLst/>
          </a:prstGeom>
          <a:noFill/>
        </p:spPr>
        <p:txBody>
          <a:bodyPr wrap="square" anchor="t">
            <a:spAutoFit/>
          </a:bodyPr>
          <a:lstStyle/>
          <a:p>
            <a:pPr algn="l">
              <a:spcAft>
                <a:spcPts val="400"/>
              </a:spcAft>
            </a:pPr>
            <a:r>
              <a:rPr sz="1250" b="1">
                <a:solidFill>
                  <a:srgbClr val="161B26"/>
                </a:solidFill>
                <a:latin typeface="Arial"/>
              </a:rPr>
              <a:t>Failure mode</a:t>
            </a:r>
          </a:p>
        </p:txBody>
      </p:sp>
      <p:sp>
        <p:nvSpPr>
          <p:cNvPr id="26" name="TextBox 25"/>
          <p:cNvSpPr txBox="1"/>
          <p:nvPr/>
        </p:nvSpPr>
        <p:spPr>
          <a:xfrm>
            <a:off x="7488936" y="4553712"/>
            <a:ext cx="3730752" cy="530352"/>
          </a:xfrm>
          <a:prstGeom prst="rect">
            <a:avLst/>
          </a:prstGeom>
          <a:noFill/>
        </p:spPr>
        <p:txBody>
          <a:bodyPr wrap="square" anchor="t">
            <a:spAutoFit/>
          </a:bodyPr>
          <a:lstStyle/>
          <a:p>
            <a:pPr algn="l">
              <a:spcAft>
                <a:spcPts val="400"/>
              </a:spcAft>
            </a:pPr>
            <a:r>
              <a:rPr sz="1050" b="0">
                <a:solidFill>
                  <a:srgbClr val="5B6372"/>
                </a:solidFill>
                <a:latin typeface="Arial"/>
              </a:rPr>
              <a:t>Failure mode: throughput limits, burst-credit exhaustion, hot partitions, replica lag, connection storms and…</a:t>
            </a:r>
          </a:p>
        </p:txBody>
      </p:sp>
      <p:sp>
        <p:nvSpPr>
          <p:cNvPr id="27" name="Rectangle 26"/>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29" name="TextBox 28"/>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Match durability, performance, consistency, scaling and recovery characteristics to the workload's measurable service objective. Validate service limits and regional availability against current AWS documentation.</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581</a:t>
            </a:r>
          </a:p>
        </p:txBody>
      </p:sp>
    </p:spTree>
  </p:cSld>
  <p:clrMapOvr>
    <a:masterClrMapping/>
  </p:clrMapOvr>
  <p:transition spd="fast" advClick="1">
    <p:fade/>
  </p:transition>
</p:sld>
</file>

<file path=ppt/slides/slide5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09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09</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70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582</a:t>
            </a:r>
          </a:p>
        </p:txBody>
      </p:sp>
    </p:spTree>
  </p:cSld>
  <p:clrMapOvr>
    <a:masterClrMapping/>
  </p:clrMapOvr>
  <p:transition spd="fast" advClick="1">
    <p:fade/>
  </p:transition>
</p:sld>
</file>

<file path=ppt/slides/slide5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Diagnose Storage and Database Performance, Then Recover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K1, K4, A1, A4 and A6 by correlating EBS/RDS signals, selecting a safe change and validating data recovery.</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Analyse a synthetic metric set, choose one evidence-based action and verify a point-in-time recovery plan.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metric analysis, bottleneck decision, change plan, restore checklist and database recovery evidence.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CloudWatch · EBS · RDS · Performance Insights · AWS Backup</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Metric calculations are reproducible, the chosen bottleneck cites evidence, one reversible action is proposed, recovery is isolated and timed, and validation emits LAB 11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583</a:t>
            </a:r>
          </a:p>
        </p:txBody>
      </p:sp>
    </p:spTree>
  </p:cSld>
  <p:clrMapOvr>
    <a:masterClrMapping/>
  </p:clrMapOvr>
  <p:transition spd="fast" advClick="1">
    <p:fade/>
  </p:transition>
</p:sld>
</file>

<file path=ppt/slides/slide5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Protect</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Storage and data</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Recover</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New target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Integrity and service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Measure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RTO and RPO</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Retire</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Cleanup evidence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Diagnose Storage and Database Performance, Then Recover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Metric calculations are reproducible, the chosen bottleneck cites evidence, one reversible action is proposed, recovery is isolated and timed, and validation emits LAB 11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585</a:t>
            </a:r>
          </a:p>
        </p:txBody>
      </p:sp>
    </p:spTree>
  </p:cSld>
  <p:clrMapOvr>
    <a:masterClrMapping/>
  </p:clrMapOvr>
  <p:transition spd="fast" advClick="1">
    <p:fade/>
  </p:transition>
</p:sld>
</file>

<file path=ppt/slides/slide5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09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Storage, Data and Database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Object, block, file and database services solve different consistency, latency and sharing needs.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IOPS, throughput, connections, partitions and caching require different evidence.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K1, K4, A1, A4 and A6 by correlating EBS/RDS signals, selecting a safe change and validating data recovery.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Metric calculations are reproducible, the chosen bottleneck cites evidence, one reversible action is proposed, recovery is isolated and timed, and validation emits…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586</a:t>
            </a:r>
          </a:p>
        </p:txBody>
      </p:sp>
    </p:spTree>
  </p:cSld>
  <p:clrMapOvr>
    <a:masterClrMapping/>
  </p:clrMapOvr>
  <p:transition spd="med" advClick="1">
    <p:push dir="l"/>
  </p:transition>
</p:sld>
</file>

<file path=ppt/slides/slide5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10 · LO3 · LO4 · LO5 · K2 · K4 · A2 · A4 · A7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Performance, Cost and Integrated Troubleshooting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Bottleneck analysis · Cost Explorer · Trusted Advisor · runbooks · game days · capstone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587</a:t>
            </a:r>
          </a:p>
        </p:txBody>
      </p:sp>
    </p:spTree>
  </p:cSld>
  <p:clrMapOvr>
    <a:masterClrMapping/>
  </p:clrMapOvr>
  <p:transition spd="med" advClick="1">
    <p:push dir="l"/>
  </p:transition>
</p:sld>
</file>

<file path=ppt/slides/slide5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BLUEPRINT · Integration across SOA-C03 domains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Ideas — Performance, Cost and Integrated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Optimise after measurement</a:t>
            </a:r>
          </a:p>
          <a:p>
            <a:pPr algn="l">
              <a:spcAft>
                <a:spcPts val="300"/>
              </a:spcAft>
            </a:pPr>
            <a:r>
              <a:rPr sz="1200" b="0">
                <a:solidFill>
                  <a:srgbClr val="5B6372"/>
                </a:solidFill>
                <a:latin typeface="Arial"/>
              </a:rPr>
              <a:t>Right-size and tune using utilisation, saturation, latency and business demand.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Cost anomalies are operational signals</a:t>
            </a:r>
          </a:p>
          <a:p>
            <a:pPr algn="l">
              <a:spcAft>
                <a:spcPts val="300"/>
              </a:spcAft>
            </a:pPr>
            <a:r>
              <a:rPr sz="1200" b="0">
                <a:solidFill>
                  <a:srgbClr val="5B6372"/>
                </a:solidFill>
                <a:latin typeface="Arial"/>
              </a:rPr>
              <a:t>Unexpected spend can reveal leakage, misconfiguration, attack or failed cleanup.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Troubleshoot hypotheses</a:t>
            </a:r>
          </a:p>
          <a:p>
            <a:pPr algn="l">
              <a:spcAft>
                <a:spcPts val="300"/>
              </a:spcAft>
            </a:pPr>
            <a:r>
              <a:rPr sz="1200" b="0">
                <a:solidFill>
                  <a:srgbClr val="5B6372"/>
                </a:solidFill>
                <a:latin typeface="Arial"/>
              </a:rPr>
              <a:t>A runbook narrows evidence systematically instead of changing multiple variables.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500" b="1">
                <a:solidFill>
                  <a:srgbClr val="161B26"/>
                </a:solidFill>
                <a:latin typeface="Arial"/>
              </a:rPr>
              <a:t>Service quality is verified</a:t>
            </a:r>
          </a:p>
          <a:p>
            <a:pPr algn="l">
              <a:spcAft>
                <a:spcPts val="300"/>
              </a:spcAft>
            </a:pPr>
            <a:r>
              <a:rPr sz="1200" b="0">
                <a:solidFill>
                  <a:srgbClr val="5B6372"/>
                </a:solidFill>
                <a:latin typeface="Arial"/>
              </a:rPr>
              <a:t>SLOs, recovery tests and post-incident actions prove operational capability.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588</a:t>
            </a:r>
          </a:p>
        </p:txBody>
      </p:sp>
    </p:spTree>
  </p:cSld>
  <p:clrMapOvr>
    <a:masterClrMapping/>
  </p:clrMapOvr>
  <p:transition spd="fast" advClick="1">
    <p:fade/>
  </p:transition>
</p:sld>
</file>

<file path=ppt/slides/slide5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Evidence-Led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Frame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Impact, scope and time</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Baseline</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Expected behaviour</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Correlate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Signals and recent change</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Hypothesise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Ranked possible causes</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Test</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One safe discriminating…</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Outcome and recurrence…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A4 STANDARD</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hypothesis is not a cause until evidence supports it and alternatives are tested.</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Performance Signals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Signal</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Interpretation</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Example action</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Utilisation</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Resource use relative to capacity</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Right-size only with sustained evidence</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Saturation</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Queued work or constrained resource</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Increase capacity or remove bottleneck</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Errors</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Failed operations or retries</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Trace dependency and change history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Latency</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Time experienced by request</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Inspect percentiles and request path</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590</a:t>
            </a:r>
          </a:p>
        </p:txBody>
      </p:sp>
    </p:spTree>
  </p:cSld>
  <p:clrMapOvr>
    <a:masterClrMapping/>
  </p:clrMapOvr>
  <p:transition spd="fast" advClick="1">
    <p:fade/>
  </p:transition>
</p:sld>
</file>

<file path=ppt/slides/slide5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Anomaly Investigation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 largest percentage changes are data transfer and logging; investigate traffic path, retention and recent configuration before right-sizing compute.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591</a:t>
            </a:r>
          </a:p>
        </p:txBody>
      </p:sp>
    </p:spTree>
  </p:cSld>
  <p:clrMapOvr>
    <a:masterClrMapping/>
  </p:clrMapOvr>
  <p:transition spd="fast" advClick="1">
    <p:fade/>
  </p:transition>
</p:sld>
</file>

<file path=ppt/slides/slide5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Cost and Optimisation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Cost Explorer</a:t>
            </a:r>
          </a:p>
          <a:p>
            <a:pPr algn="l">
              <a:spcAft>
                <a:spcPts val="300"/>
              </a:spcAft>
            </a:pPr>
            <a:r>
              <a:rPr sz="1300" b="0">
                <a:solidFill>
                  <a:srgbClr val="5B6372"/>
                </a:solidFill>
                <a:latin typeface="Arial"/>
              </a:rPr>
              <a:t>Trend, filter, group and forecast historical spend.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Cost Anomaly Detection</a:t>
            </a:r>
          </a:p>
          <a:p>
            <a:pPr algn="l">
              <a:spcAft>
                <a:spcPts val="300"/>
              </a:spcAft>
            </a:pPr>
            <a:r>
              <a:rPr sz="1300" b="0">
                <a:solidFill>
                  <a:srgbClr val="5B6372"/>
                </a:solidFill>
                <a:latin typeface="Arial"/>
              </a:rPr>
              <a:t>Surface spend patterns that deviate from expected behaviour.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Compute Optimizer</a:t>
            </a:r>
          </a:p>
          <a:p>
            <a:pPr algn="l">
              <a:spcAft>
                <a:spcPts val="300"/>
              </a:spcAft>
            </a:pPr>
            <a:r>
              <a:rPr sz="1300" b="0">
                <a:solidFill>
                  <a:srgbClr val="5B6372"/>
                </a:solidFill>
                <a:latin typeface="Arial"/>
              </a:rPr>
              <a:t>Resource recommendations from utilisation history.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Trusted Advisor</a:t>
            </a:r>
          </a:p>
          <a:p>
            <a:pPr algn="l">
              <a:spcAft>
                <a:spcPts val="300"/>
              </a:spcAft>
            </a:pPr>
            <a:r>
              <a:rPr sz="1300" b="0">
                <a:solidFill>
                  <a:srgbClr val="5B6372"/>
                </a:solidFill>
                <a:latin typeface="Arial"/>
              </a:rPr>
              <a:t>Checks across cost, security, resilience, performance and limits.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592</a:t>
            </a:r>
          </a:p>
        </p:txBody>
      </p:sp>
    </p:spTree>
  </p:cSld>
  <p:clrMapOvr>
    <a:masterClrMapping/>
  </p:clrMapOvr>
  <p:transition spd="fast" advClick="1">
    <p:fade/>
  </p:transition>
</p:sld>
</file>

<file path=ppt/slides/slide5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Runbook vs Playbook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Artifact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Purpose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Contents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Runbook</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Repeatable technical procedure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Inputs, steps, verification and rollback</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Playbook</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Coordinated response to a scenario</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Roles, decisions, communication and runbooks</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Game day</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Exercise assumptions safely</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Scenario, injects, observations and improvements</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300" b="1">
                <a:solidFill>
                  <a:srgbClr val="161B26"/>
                </a:solidFill>
                <a:latin typeface="Arial"/>
              </a:rPr>
              <a:t>Post-incident review</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Prevent recurrence</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300" b="0">
                <a:solidFill>
                  <a:srgbClr val="5B6372"/>
                </a:solidFill>
                <a:latin typeface="Arial"/>
              </a:rPr>
              <a:t>Timeline, causes, actions and verification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593</a:t>
            </a:r>
          </a:p>
        </p:txBody>
      </p:sp>
    </p:spTree>
  </p:cSld>
  <p:clrMapOvr>
    <a:masterClrMapping/>
  </p:clrMapOvr>
  <p:transition spd="fast" advClick="1">
    <p:fade/>
  </p:transition>
</p:sld>
</file>

<file path=ppt/slides/slide5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10 · K2 · K4 · A2 · A4 ·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Service Quality Review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Reliability</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SLO and error budget</a:t>
            </a:r>
          </a:p>
          <a:p>
            <a:pPr>
              <a:spcAft>
                <a:spcPts val="900"/>
              </a:spcAft>
            </a:pPr>
            <a:r>
              <a:rPr sz="1400" b="0">
                <a:solidFill>
                  <a:srgbClr val="161B26"/>
                </a:solidFill>
                <a:latin typeface="Arial"/>
              </a:rPr>
              <a:t>•  Recovery test results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Security</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Findings and exceptions</a:t>
            </a:r>
          </a:p>
          <a:p>
            <a:pPr>
              <a:spcAft>
                <a:spcPts val="900"/>
              </a:spcAft>
            </a:pPr>
            <a:r>
              <a:rPr sz="1400" b="0">
                <a:solidFill>
                  <a:srgbClr val="161B26"/>
                </a:solidFill>
                <a:latin typeface="Arial"/>
              </a:rPr>
              <a:t>•  Control effectiveness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Efficiency</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Capacity and cost</a:t>
            </a:r>
          </a:p>
          <a:p>
            <a:pPr>
              <a:spcAft>
                <a:spcPts val="900"/>
              </a:spcAft>
            </a:pPr>
            <a:r>
              <a:rPr sz="1400" b="0">
                <a:solidFill>
                  <a:srgbClr val="161B26"/>
                </a:solidFill>
                <a:latin typeface="Arial"/>
              </a:rPr>
              <a:t>•  Automation and toil reduction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594</a:t>
            </a:r>
          </a:p>
        </p:txBody>
      </p:sp>
    </p:spTree>
  </p:cSld>
  <p:clrMapOvr>
    <a:masterClrMapping/>
  </p:clrMapOvr>
  <p:transition spd="fast" advClick="1">
    <p:fade/>
  </p:transition>
</p:sld>
</file>

<file path=ppt/slides/slide5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Capstone Standard</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Restore service, explain the evidence, and improve the system.</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complete CloudOps response connects detection, diagnosis, controlled recovery, validation, communication and recurrence prevention.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595</a:t>
            </a:r>
          </a:p>
        </p:txBody>
      </p:sp>
    </p:spTree>
  </p:cSld>
  <p:clrMapOvr>
    <a:masterClrMapping/>
  </p:clrMapOvr>
  <p:transition spd="fast" advClick="1">
    <p:fade/>
  </p:transition>
</p:sld>
</file>

<file path=ppt/slides/slide5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NATIVE EDITABLE TECHNICAL CHART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Incident Timeline — Detect to Learn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2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Recovery at minute 34 is not completion: verification and recurrence-prevention work extend the operational lifecycle.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596</a:t>
            </a:r>
          </a:p>
        </p:txBody>
      </p:sp>
    </p:spTree>
  </p:cSld>
  <p:clrMapOvr>
    <a:masterClrMapping/>
  </p:clrMapOvr>
  <p:transition spd="fast" advClick="1">
    <p:fade/>
  </p:transition>
</p:sld>
</file>

<file path=ppt/slides/slide5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ORIGINAL PPT v4 · SOURCE SLIDE 912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X-Ray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Debugging in Production, the good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Debugging in Production, the good old way
Log formats differ across applications and log analysis is hard.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Test locally</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Test locally
Debugging: one big monolith “easy”, distributed services “hard”</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Add log statements everywhere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Add log statements everywhere
No common views of your entire architecture</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Re-deploy in production</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Re-deploy in production
Enter… AWS X-Ray!
Mechanism: correlate monitoring, audit, configuration, identity, network and data signals on one timestamped incident timeline.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7C3AED"/>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Synthesize telemetry, configuration, identity, network and data evidence into one incident timeline and one justified recovery decision.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597</a:t>
            </a:r>
          </a:p>
        </p:txBody>
      </p:sp>
    </p:spTree>
  </p:cSld>
  <p:clrMapOvr>
    <a:masterClrMapping/>
  </p:clrMapOvr>
  <p:transition spd="fast" advClick="1">
    <p:fade/>
  </p:transition>
</p:sld>
</file>

<file path=ppt/slides/slide5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913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X-Ray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Visual analysis of our…</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Visual analysis of our applications
Mechanism: correlate monitoring, audit, configuration, identity, network and data signals on one timestamped incident timeline.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changing multiple layers before preserving evidence destroys causality and expands blast radius during an already uncertain event.</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observed facts…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observed facts, hypotheses, decisions, actions, verification results and communications remain separate but linked throughout the record.</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Decision point</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Decision point: restore the critical service with the smallest reversible action, then verify data integrity and assign recurrence-prevention work…</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Synthesize telemetry, configuration, identity, network and data evidence into one incident timeline and one justified recovery decision.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598</a:t>
            </a:r>
          </a:p>
        </p:txBody>
      </p:sp>
    </p:spTree>
  </p:cSld>
  <p:clrMapOvr>
    <a:masterClrMapping/>
  </p:clrMapOvr>
  <p:transition spd="fast" advClick="1">
    <p:fade/>
  </p:transition>
</p:sld>
</file>

<file path=ppt/slides/slide5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ORIGINAL PPT v4 · SOURCE SLIDE 914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X-Ray advantages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Troubleshooting performance…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Troubleshooting performance (bottlenecks)
Find errors and exceptions
Mechanism: correlate monitoring, audit, configuration, identity, network and data signals on one timestamped incident timeline.</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Understand dependencies in a…</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Understand dependencies in a microservice architecture
Are we meeting time SLA?</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Pinpoint service issues</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Pinpoint service issues
Where I am throttled?
Failure mode: changing multiple layers before preserving evidence destroys causality and expands blast radius during an already uncertain event.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Review request behavior</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Review request behavior
Identify users that are impacted
Evidence: observed facts, hypotheses, decisions, actions, verification results and communications remain separate but linked throughout the record.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F6FE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Synthesize telemetry, configuration, identity, network and data evidence into one incident timeline and one justified recovery decision.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599</a:t>
            </a:r>
          </a:p>
        </p:txBody>
      </p:sp>
    </p:spTree>
  </p:cSld>
  <p:clrMapOvr>
    <a:masterClrMapping/>
  </p:clrMapOvr>
  <p:transition spd="fast" advClick="1">
    <p:fade/>
  </p:transition>
</p:sld>
</file>

<file path=ppt/slides/slide6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ORIGINAL PPT v4 · SOURCE SLIDE 915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AWS Amplify - web and mobile applications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 set of tools and</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 set of tools and services that helps you develop and deploy scalable full stack web and mobile applications
Amplify CLI
Amplify backend</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Authentication, Storage, API…</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Authentication, Storage, API (REST, GraphQL), CI/CD, PubSub, Analytics, AI/ML Predictions, Monitoring, …
Amazon S3 Amazon Cognito
connect frontend to backend using</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Connect your source code from</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Connect your source code from GitHub, AWS CodeCommit, Bitbucket, GitLab, or upload directly
Amazon SageMaker
Amplify Frontend Libraries</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configure backend using</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configure backend using
Amazon Lex Lambda DynamoDB
Amplify Console
Mechanism: correlate monitoring, audit, configuration, identity, network and data signals on one timestamped incident timeline.</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10B981"/>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Synthesize telemetry, configuration, identity, network and data evidence into one incident timeline and one justified recovery decision.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600</a:t>
            </a:r>
          </a:p>
        </p:txBody>
      </p:sp>
    </p:spTree>
  </p:cSld>
  <p:clrMapOvr>
    <a:masterClrMapping/>
  </p:clrMapOvr>
  <p:transition spd="fast" advClick="1">
    <p:fade/>
  </p:transition>
</p:sld>
</file>

<file path=ppt/slides/slide6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ORIGINAL PPT v4 · SOURCE SLIDE 917 · MODERNISED TECHNICAL DEEP DIVE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State of learning checkpoint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00784"/>
            <a:ext cx="82296" cy="318211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883664"/>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1</a:t>
            </a:r>
          </a:p>
        </p:txBody>
      </p:sp>
      <p:sp>
        <p:nvSpPr>
          <p:cNvPr id="11" name="TextBox 10"/>
          <p:cNvSpPr txBox="1"/>
          <p:nvPr/>
        </p:nvSpPr>
        <p:spPr>
          <a:xfrm>
            <a:off x="14081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Let’s look how far we’ve</a:t>
            </a:r>
          </a:p>
        </p:txBody>
      </p:sp>
      <p:sp>
        <p:nvSpPr>
          <p:cNvPr id="12" name="TextBox 11"/>
          <p:cNvSpPr txBox="1"/>
          <p:nvPr/>
        </p:nvSpPr>
        <p:spPr>
          <a:xfrm>
            <a:off x="9052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Let’s look how far we’ve gone on our learning journey</a:t>
            </a:r>
          </a:p>
        </p:txBody>
      </p:sp>
      <p:sp>
        <p:nvSpPr>
          <p:cNvPr id="13" name="Rectangle 12"/>
          <p:cNvSpPr/>
          <p:nvPr/>
        </p:nvSpPr>
        <p:spPr>
          <a:xfrm>
            <a:off x="34015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700784"/>
            <a:ext cx="82296" cy="318211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21024" y="1883664"/>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2</a:t>
            </a:r>
          </a:p>
        </p:txBody>
      </p:sp>
      <p:sp>
        <p:nvSpPr>
          <p:cNvPr id="17" name="TextBox 16"/>
          <p:cNvSpPr txBox="1"/>
          <p:nvPr/>
        </p:nvSpPr>
        <p:spPr>
          <a:xfrm>
            <a:off x="41513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Mechanism: correlate monitoring…</a:t>
            </a:r>
          </a:p>
        </p:txBody>
      </p:sp>
      <p:sp>
        <p:nvSpPr>
          <p:cNvPr id="18" name="TextBox 17"/>
          <p:cNvSpPr txBox="1"/>
          <p:nvPr/>
        </p:nvSpPr>
        <p:spPr>
          <a:xfrm>
            <a:off x="36484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Mechanism: correlate monitoring, audit, configuration, identity, network and data signals on one timestamped incident timeline.</a:t>
            </a:r>
          </a:p>
        </p:txBody>
      </p:sp>
      <p:sp>
        <p:nvSpPr>
          <p:cNvPr id="19" name="Rectangle 18"/>
          <p:cNvSpPr/>
          <p:nvPr/>
        </p:nvSpPr>
        <p:spPr>
          <a:xfrm>
            <a:off x="61447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4768" y="1700784"/>
            <a:ext cx="82296" cy="31821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64224" y="1883664"/>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642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3</a:t>
            </a:r>
          </a:p>
        </p:txBody>
      </p:sp>
      <p:sp>
        <p:nvSpPr>
          <p:cNvPr id="23" name="TextBox 22"/>
          <p:cNvSpPr txBox="1"/>
          <p:nvPr/>
        </p:nvSpPr>
        <p:spPr>
          <a:xfrm>
            <a:off x="68945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Failure mode</a:t>
            </a:r>
          </a:p>
        </p:txBody>
      </p:sp>
      <p:sp>
        <p:nvSpPr>
          <p:cNvPr id="24" name="TextBox 23"/>
          <p:cNvSpPr txBox="1"/>
          <p:nvPr/>
        </p:nvSpPr>
        <p:spPr>
          <a:xfrm>
            <a:off x="63916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Failure mode: changing multiple layers before preserving evidence destroys causality and expands blast radius during an already uncertain event.</a:t>
            </a:r>
          </a:p>
        </p:txBody>
      </p:sp>
      <p:sp>
        <p:nvSpPr>
          <p:cNvPr id="25" name="Rectangle 24"/>
          <p:cNvSpPr/>
          <p:nvPr/>
        </p:nvSpPr>
        <p:spPr>
          <a:xfrm>
            <a:off x="8887968" y="1700784"/>
            <a:ext cx="2487168" cy="31821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87968" y="1700784"/>
            <a:ext cx="82296" cy="31821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07424" y="1883664"/>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1883664"/>
            <a:ext cx="420624" cy="420624"/>
          </a:xfrm>
          <a:prstGeom prst="rect">
            <a:avLst/>
          </a:prstGeom>
          <a:noFill/>
        </p:spPr>
        <p:txBody>
          <a:bodyPr wrap="square" anchor="ctr">
            <a:spAutoFit/>
          </a:bodyPr>
          <a:lstStyle/>
          <a:p>
            <a:pPr algn="ctr">
              <a:spcAft>
                <a:spcPts val="400"/>
              </a:spcAft>
            </a:pPr>
            <a:r>
              <a:rPr sz="1400" b="1">
                <a:solidFill>
                  <a:srgbClr val="FFFFFF"/>
                </a:solidFill>
                <a:latin typeface="Arial"/>
              </a:rPr>
              <a:t>4</a:t>
            </a:r>
          </a:p>
        </p:txBody>
      </p:sp>
      <p:sp>
        <p:nvSpPr>
          <p:cNvPr id="29" name="TextBox 28"/>
          <p:cNvSpPr txBox="1"/>
          <p:nvPr/>
        </p:nvSpPr>
        <p:spPr>
          <a:xfrm>
            <a:off x="9637776" y="1828800"/>
            <a:ext cx="1536192" cy="493776"/>
          </a:xfrm>
          <a:prstGeom prst="rect">
            <a:avLst/>
          </a:prstGeom>
          <a:noFill/>
        </p:spPr>
        <p:txBody>
          <a:bodyPr wrap="square" anchor="ctr">
            <a:spAutoFit/>
          </a:bodyPr>
          <a:lstStyle/>
          <a:p>
            <a:pPr algn="l">
              <a:spcAft>
                <a:spcPts val="400"/>
              </a:spcAft>
            </a:pPr>
            <a:r>
              <a:rPr sz="1250" b="1">
                <a:solidFill>
                  <a:srgbClr val="161B26"/>
                </a:solidFill>
                <a:latin typeface="Arial"/>
              </a:rPr>
              <a:t>Evidence: observed facts…</a:t>
            </a:r>
          </a:p>
        </p:txBody>
      </p:sp>
      <p:sp>
        <p:nvSpPr>
          <p:cNvPr id="30" name="TextBox 29"/>
          <p:cNvSpPr txBox="1"/>
          <p:nvPr/>
        </p:nvSpPr>
        <p:spPr>
          <a:xfrm>
            <a:off x="9134856" y="2450592"/>
            <a:ext cx="1993392" cy="2148840"/>
          </a:xfrm>
          <a:prstGeom prst="rect">
            <a:avLst/>
          </a:prstGeom>
          <a:noFill/>
        </p:spPr>
        <p:txBody>
          <a:bodyPr wrap="square" anchor="t">
            <a:spAutoFit/>
          </a:bodyPr>
          <a:lstStyle/>
          <a:p>
            <a:pPr algn="l">
              <a:spcAft>
                <a:spcPts val="400"/>
              </a:spcAft>
            </a:pPr>
            <a:r>
              <a:rPr sz="1050" b="0">
                <a:solidFill>
                  <a:srgbClr val="5B6372"/>
                </a:solidFill>
                <a:latin typeface="Arial"/>
              </a:rPr>
              <a:t>Evidence: observed facts, hypotheses, decisions, actions, verification results and communications remain separate but linked throughout the record.</a:t>
            </a:r>
          </a:p>
        </p:txBody>
      </p:sp>
      <p:sp>
        <p:nvSpPr>
          <p:cNvPr id="31" name="Rectangle 30"/>
          <p:cNvSpPr/>
          <p:nvPr/>
        </p:nvSpPr>
        <p:spPr>
          <a:xfrm>
            <a:off x="658368" y="5166360"/>
            <a:ext cx="10826496"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6112" y="5285232"/>
            <a:ext cx="1965960" cy="256032"/>
          </a:xfrm>
          <a:prstGeom prst="rect">
            <a:avLst/>
          </a:prstGeom>
          <a:noFill/>
        </p:spPr>
        <p:txBody>
          <a:bodyPr wrap="square" anchor="t">
            <a:spAutoFit/>
          </a:bodyPr>
          <a:lstStyle/>
          <a:p>
            <a:pPr algn="l">
              <a:spcAft>
                <a:spcPts val="400"/>
              </a:spcAft>
            </a:pPr>
            <a:r>
              <a:rPr sz="1100" b="1">
                <a:solidFill>
                  <a:srgbClr val="F59E0B"/>
                </a:solidFill>
                <a:latin typeface="Arial"/>
              </a:rPr>
              <a:t>CURRENT OPERATIONS LENS</a:t>
            </a:r>
          </a:p>
        </p:txBody>
      </p:sp>
      <p:sp>
        <p:nvSpPr>
          <p:cNvPr id="33" name="TextBox 32"/>
          <p:cNvSpPr txBox="1"/>
          <p:nvPr/>
        </p:nvSpPr>
        <p:spPr>
          <a:xfrm>
            <a:off x="896112" y="5559552"/>
            <a:ext cx="10195560" cy="420624"/>
          </a:xfrm>
          <a:prstGeom prst="rect">
            <a:avLst/>
          </a:prstGeom>
          <a:noFill/>
        </p:spPr>
        <p:txBody>
          <a:bodyPr wrap="square" anchor="t">
            <a:spAutoFit/>
          </a:bodyPr>
          <a:lstStyle/>
          <a:p>
            <a:pPr algn="l">
              <a:spcAft>
                <a:spcPts val="400"/>
              </a:spcAft>
            </a:pPr>
            <a:r>
              <a:rPr sz="1130" b="0">
                <a:solidFill>
                  <a:srgbClr val="161B26"/>
                </a:solidFill>
                <a:latin typeface="Arial"/>
              </a:rPr>
              <a:t>Synthesize telemetry, configuration, identity, network and data evidence into one incident timeline and one justified recovery decision. Validate service limits and regional availability against current AWS documentation.</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601</a:t>
            </a:r>
          </a:p>
        </p:txBody>
      </p:sp>
    </p:spTree>
  </p:cSld>
  <p:clrMapOvr>
    <a:masterClrMapping/>
  </p:clrMapOvr>
  <p:transition spd="fast" advClick="1">
    <p:fade/>
  </p:transition>
</p:sld>
</file>

<file path=ppt/slides/slide6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10 · LEGACY COVERAGE INTEGRATION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Original PPT Coverage Retained — Topic 10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Modernised slides</a:t>
            </a:r>
          </a:p>
          <a:p>
            <a:pPr algn="l">
              <a:spcAft>
                <a:spcPts val="300"/>
              </a:spcAft>
            </a:pPr>
            <a:r>
              <a:rPr sz="1200" b="0">
                <a:solidFill>
                  <a:srgbClr val="5B6372"/>
                </a:solidFill>
                <a:latin typeface="Arial"/>
              </a:rPr>
              <a:t>5 technical slides extracted from the original v4 PowerPoint and rebuilt in the current visual system.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Traceability</a:t>
            </a:r>
          </a:p>
          <a:p>
            <a:pPr algn="l">
              <a:spcAft>
                <a:spcPts val="300"/>
              </a:spcAft>
            </a:pPr>
            <a:r>
              <a:rPr sz="1200" b="0">
                <a:solidFill>
                  <a:srgbClr val="5B6372"/>
                </a:solidFill>
                <a:latin typeface="Arial"/>
              </a:rPr>
              <a:t>Every blended slide names its original v4 source slide number in the kicker.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Current validation</a:t>
            </a:r>
          </a:p>
          <a:p>
            <a:pPr algn="l">
              <a:spcAft>
                <a:spcPts val="300"/>
              </a:spcAft>
            </a:pPr>
            <a:r>
              <a:rPr sz="1200" b="0">
                <a:solidFill>
                  <a:srgbClr val="5B6372"/>
                </a:solidFill>
                <a:latin typeface="Arial"/>
              </a:rPr>
              <a:t>Terminology is normalised; service limits and Region availability remain explicit current-documentation checks.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Procedure boundary</a:t>
            </a:r>
          </a:p>
          <a:p>
            <a:pPr algn="l">
              <a:spcAft>
                <a:spcPts val="300"/>
              </a:spcAft>
            </a:pPr>
            <a:r>
              <a:rPr sz="1200" b="0">
                <a:solidFill>
                  <a:srgbClr val="5B6372"/>
                </a:solidFill>
                <a:latin typeface="Arial"/>
              </a:rPr>
              <a:t>Click-by-click sequences, activities and quizzes are kept out of the deck and remain in the Learner Guide or lab package.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602</a:t>
            </a:r>
          </a:p>
        </p:txBody>
      </p:sp>
    </p:spTree>
  </p:cSld>
  <p:clrMapOvr>
    <a:masterClrMapping/>
  </p:clrMapOvr>
  <p:transition spd="fast" advClick="1">
    <p:fade/>
  </p:transition>
</p:sld>
</file>

<file path=ppt/slides/slide6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CONCEPT-LED LAB BRIEF</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Capstone — Resolve a Multi-Service CloudOps Incident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A1–A7 in one connected incident by detecting impact, isolating the failed boundary, restoring service, validating data and documenting service-quality improvements.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Correlate synthetic evidence across monitoring, change, network, backup and security records; produce and execute a controlled recovery plan.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2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 timeline, evidence matrix, prioritised hypotheses, recovery runbook, validation record and post-incident action register.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2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CloudWatch · CloudTrail · VPC Flow Logs · ELB · AWS Backup · Security Hub · Systems Manager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2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300" b="0">
                <a:solidFill>
                  <a:srgbClr val="161B26"/>
                </a:solidFill>
                <a:latin typeface="Arial"/>
              </a:rPr>
              <a:t>All evidence IDs reconcile, the timeline precedes causal claims, recovery and rollback are explicit, validation covers service and data, A1–A7 are mapped, and validation emits LAB 12 PASS.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603</a:t>
            </a:r>
          </a:p>
        </p:txBody>
      </p:sp>
    </p:spTree>
  </p:cSld>
  <p:clrMapOvr>
    <a:masterClrMapping/>
  </p:clrMapOvr>
  <p:transition spd="fast" advClick="1">
    <p:fade/>
  </p:transition>
</p:sld>
</file>

<file path=ppt/slides/slide6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CONCEPTUAL WORKFLOW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Evidence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Detect</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Correlated impact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Diagnose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Request path</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Recover</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Runbook action</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Validate</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Service and data</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Learn</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Prevent recurrence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0B981"/>
                </a:solidFill>
                <a:latin typeface="Arial"/>
              </a:rPr>
              <a:t>PROCEDURE BOUNDARY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Detailed commands and numbered steps are in the Learner Guide and lab folder—not on these slides.</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ACCEPTANCE EVIDENCE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Capstone — Resolve a Multi-Service CloudOps Incident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evidence IDs reconcile, the timeline precedes causal claims, recovery and rollback are explicit, validation covers service and data, A1–A7 are mapped, and validation emits LAB 12 PASS.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2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Input mismatch</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Reconcile identifiers, required fields and units with the supplied data dictionary.</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Validation stop</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Inspect the named rule and source row; preserve the check rather than bypassing it.</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Evidence differs</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200" b="0">
                <a:solidFill>
                  <a:srgbClr val="5B6372"/>
                </a:solidFill>
                <a:latin typeface="Arial"/>
              </a:rPr>
              <a:t>Check the denominator, time window and assumptions before rerunning from clean inputs.</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605</a:t>
            </a:r>
          </a:p>
        </p:txBody>
      </p:sp>
    </p:spTree>
  </p:cSld>
  <p:clrMapOvr>
    <a:masterClrMapping/>
  </p:clrMapOvr>
  <p:transition spd="fast" advClick="1">
    <p:fade/>
  </p:transition>
</p:sld>
</file>

<file path=ppt/slides/slide6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10 · RETRIEVAL PRACTICE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Performance, Cost and Integrated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Explain</a:t>
            </a:r>
          </a:p>
          <a:p>
            <a:pPr algn="l">
              <a:spcAft>
                <a:spcPts val="300"/>
              </a:spcAft>
            </a:pPr>
            <a:r>
              <a:rPr sz="1200" b="0">
                <a:solidFill>
                  <a:srgbClr val="5B6372"/>
                </a:solidFill>
                <a:latin typeface="Arial"/>
              </a:rPr>
              <a:t>Right-size and tune using utilisation, saturation, latency and business demand.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Distinguish</a:t>
            </a:r>
          </a:p>
          <a:p>
            <a:pPr algn="l">
              <a:spcAft>
                <a:spcPts val="300"/>
              </a:spcAft>
            </a:pPr>
            <a:r>
              <a:rPr sz="1200" b="0">
                <a:solidFill>
                  <a:srgbClr val="5B6372"/>
                </a:solidFill>
                <a:latin typeface="Arial"/>
              </a:rPr>
              <a:t>Unexpected spend can reveal leakage, misconfiguration, attack or failed cleanup.</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Apply</a:t>
            </a:r>
          </a:p>
          <a:p>
            <a:pPr algn="l">
              <a:spcAft>
                <a:spcPts val="300"/>
              </a:spcAft>
            </a:pPr>
            <a:r>
              <a:rPr sz="1200" b="0">
                <a:solidFill>
                  <a:srgbClr val="5B6372"/>
                </a:solidFill>
                <a:latin typeface="Arial"/>
              </a:rPr>
              <a:t>A1–A7 in one connected incident by detecting impact, isolating the failed boundary, restoring service, validating data and documenting…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Evidence</a:t>
            </a:r>
          </a:p>
          <a:p>
            <a:pPr algn="l">
              <a:spcAft>
                <a:spcPts val="300"/>
              </a:spcAft>
            </a:pPr>
            <a:r>
              <a:rPr sz="1200" b="0">
                <a:solidFill>
                  <a:srgbClr val="5B6372"/>
                </a:solidFill>
                <a:latin typeface="Arial"/>
              </a:rPr>
              <a:t>All evidence IDs reconcile, the timeline precedes causal claims, recovery and rollback are explicit, validation covers service and data, A1–A7 are mapped, and…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606</a:t>
            </a:r>
          </a:p>
        </p:txBody>
      </p:sp>
    </p:spTree>
  </p:cSld>
  <p:clrMapOvr>
    <a:masterClrMapping/>
  </p:clrMapOvr>
  <p:transition spd="med" advClick="1">
    <p:push dir="l"/>
  </p:transition>
</p:sld>
</file>

<file path=ppt/slides/slide6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Synthesis, Assessment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END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607</a:t>
            </a:r>
          </a:p>
        </p:txBody>
      </p:sp>
    </p:spTree>
  </p:cSld>
  <p:clrMapOvr>
    <a:masterClrMapping/>
  </p:clrMapOvr>
  <p:transition spd="med" advClick="1">
    <p:push dir="l"/>
  </p:transition>
</p:sld>
</file>

<file path=ppt/slides/slide6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LO1 → LO5</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Connected CloudOps Control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Observe</a:t>
            </a:r>
          </a:p>
        </p:txBody>
      </p:sp>
      <p:sp>
        <p:nvSpPr>
          <p:cNvPr id="12" name="TextBox 11"/>
          <p:cNvSpPr txBox="1"/>
          <p:nvPr/>
        </p:nvSpPr>
        <p:spPr>
          <a:xfrm>
            <a:off x="8686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Signals and state</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Assess</a:t>
            </a:r>
          </a:p>
        </p:txBody>
      </p:sp>
      <p:sp>
        <p:nvSpPr>
          <p:cNvPr id="19" name="TextBox 18"/>
          <p:cNvSpPr txBox="1"/>
          <p:nvPr/>
        </p:nvSpPr>
        <p:spPr>
          <a:xfrm>
            <a:off x="270510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Impact and risk</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Decide</a:t>
            </a:r>
          </a:p>
        </p:txBody>
      </p:sp>
      <p:sp>
        <p:nvSpPr>
          <p:cNvPr id="26" name="TextBox 25"/>
          <p:cNvSpPr txBox="1"/>
          <p:nvPr/>
        </p:nvSpPr>
        <p:spPr>
          <a:xfrm>
            <a:off x="454152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Runbook and authority</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Change</a:t>
            </a:r>
          </a:p>
        </p:txBody>
      </p:sp>
      <p:sp>
        <p:nvSpPr>
          <p:cNvPr id="33" name="TextBox 32"/>
          <p:cNvSpPr txBox="1"/>
          <p:nvPr/>
        </p:nvSpPr>
        <p:spPr>
          <a:xfrm>
            <a:off x="637794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Small and reversible</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Verify</a:t>
            </a:r>
          </a:p>
        </p:txBody>
      </p:sp>
      <p:sp>
        <p:nvSpPr>
          <p:cNvPr id="40" name="TextBox 39"/>
          <p:cNvSpPr txBox="1"/>
          <p:nvPr/>
        </p:nvSpPr>
        <p:spPr>
          <a:xfrm>
            <a:off x="821436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Service and data</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400" b="1">
                <a:solidFill>
                  <a:srgbClr val="161B26"/>
                </a:solidFill>
                <a:latin typeface="Arial"/>
              </a:rPr>
              <a:t>Learn</a:t>
            </a:r>
          </a:p>
        </p:txBody>
      </p:sp>
      <p:sp>
        <p:nvSpPr>
          <p:cNvPr id="47" name="TextBox 46"/>
          <p:cNvSpPr txBox="1"/>
          <p:nvPr/>
        </p:nvSpPr>
        <p:spPr>
          <a:xfrm>
            <a:off x="10050780" y="3785616"/>
            <a:ext cx="1269492" cy="384048"/>
          </a:xfrm>
          <a:prstGeom prst="rect">
            <a:avLst/>
          </a:prstGeom>
          <a:noFill/>
        </p:spPr>
        <p:txBody>
          <a:bodyPr wrap="square" anchor="ctr">
            <a:spAutoFit/>
          </a:bodyPr>
          <a:lstStyle/>
          <a:p>
            <a:pPr algn="ctr">
              <a:spcAft>
                <a:spcPts val="0"/>
              </a:spcAft>
            </a:pPr>
            <a:r>
              <a:rPr sz="1200" b="0">
                <a:solidFill>
                  <a:srgbClr val="5B6372"/>
                </a:solidFill>
                <a:latin typeface="Arial"/>
              </a:rPr>
              <a:t>Prevent recurrence</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CAPSTONE</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Lab 12 and the Case Study require one traceable operational narrative across the complete loop.</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Can Now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LO1</a:t>
            </a:r>
          </a:p>
          <a:p>
            <a:pPr algn="l">
              <a:spcAft>
                <a:spcPts val="300"/>
              </a:spcAft>
            </a:pPr>
            <a:r>
              <a:rPr sz="1200" b="0">
                <a:solidFill>
                  <a:srgbClr val="5B6372"/>
                </a:solidFill>
                <a:latin typeface="Arial"/>
              </a:rPr>
              <a:t>Maintain business continuity of AWS cloud operations to ensure stable service delivery.</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LO2</a:t>
            </a:r>
          </a:p>
          <a:p>
            <a:pPr algn="l">
              <a:spcAft>
                <a:spcPts val="300"/>
              </a:spcAft>
            </a:pPr>
            <a:r>
              <a:rPr sz="1200" b="0">
                <a:solidFill>
                  <a:srgbClr val="5B6372"/>
                </a:solidFill>
                <a:latin typeface="Arial"/>
              </a:rPr>
              <a:t>Implement secure AWS cloud infrastructure setup such as data loading and performance monitoring.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LO3</a:t>
            </a:r>
          </a:p>
          <a:p>
            <a:pPr algn="l">
              <a:spcAft>
                <a:spcPts val="300"/>
              </a:spcAft>
            </a:pPr>
            <a:r>
              <a:rPr sz="1200" b="0">
                <a:solidFill>
                  <a:srgbClr val="5B6372"/>
                </a:solidFill>
                <a:latin typeface="Arial"/>
              </a:rPr>
              <a:t>Apply service quality standards to ensure security and compliance of AWS cloud operations.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LO4</a:t>
            </a:r>
          </a:p>
          <a:p>
            <a:pPr algn="l">
              <a:spcAft>
                <a:spcPts val="300"/>
              </a:spcAft>
            </a:pPr>
            <a:r>
              <a:rPr sz="1200" b="0">
                <a:solidFill>
                  <a:srgbClr val="5B6372"/>
                </a:solidFill>
                <a:latin typeface="Arial"/>
              </a:rPr>
              <a:t>Analyse and resolve processing issues to ensure continuity and disaster recovery in AWS cloud applications.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LO5</a:t>
            </a:r>
          </a:p>
          <a:p>
            <a:pPr algn="l">
              <a:spcAft>
                <a:spcPts val="300"/>
              </a:spcAft>
            </a:pPr>
            <a:r>
              <a:rPr sz="1200" b="0">
                <a:solidFill>
                  <a:srgbClr val="5B6372"/>
                </a:solidFill>
                <a:latin typeface="Arial"/>
              </a:rPr>
              <a:t>Troubleshoot networking performance issues at scale for optimal AWS infrastructure operation.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609</a:t>
            </a:r>
          </a:p>
        </p:txBody>
      </p:sp>
    </p:spTree>
  </p:cSld>
  <p:clrMapOvr>
    <a:masterClrMapping/>
  </p:clrMapOvr>
  <p:transition spd="fast" advClick="1">
    <p:fade/>
  </p:transition>
</p:sld>
</file>

<file path=ppt/slides/slide6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FOUR LABS PER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Twelve-Lab Learning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Day 1</a:t>
            </a:r>
          </a:p>
          <a:p>
            <a:pPr algn="l">
              <a:spcAft>
                <a:spcPts val="300"/>
              </a:spcAft>
            </a:pPr>
            <a:r>
              <a:rPr sz="1300" b="0">
                <a:solidFill>
                  <a:srgbClr val="5B6372"/>
                </a:solidFill>
                <a:latin typeface="Arial"/>
              </a:rPr>
              <a:t>Labs 01–04 · observe, triage, manage fleets and test high availability</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Day 2</a:t>
            </a:r>
          </a:p>
          <a:p>
            <a:pPr algn="l">
              <a:spcAft>
                <a:spcPts val="300"/>
              </a:spcAft>
            </a:pPr>
            <a:r>
              <a:rPr sz="1300" b="0">
                <a:solidFill>
                  <a:srgbClr val="5B6372"/>
                </a:solidFill>
                <a:latin typeface="Arial"/>
              </a:rPr>
              <a:t>Labs 05–08 · automate change, prove recovery, enforce compliance and protect data</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600" b="1">
                <a:solidFill>
                  <a:srgbClr val="161B26"/>
                </a:solidFill>
                <a:latin typeface="Arial"/>
              </a:rPr>
              <a:t>Day 3</a:t>
            </a:r>
          </a:p>
          <a:p>
            <a:pPr algn="l">
              <a:spcAft>
                <a:spcPts val="300"/>
              </a:spcAft>
            </a:pPr>
            <a:r>
              <a:rPr sz="1300" b="0">
                <a:solidFill>
                  <a:srgbClr val="5B6372"/>
                </a:solidFill>
                <a:latin typeface="Arial"/>
              </a:rPr>
              <a:t>Labs 09–12 · diagnose networks, fail over delivery, recover data and resolve a capstone incident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610</a:t>
            </a:r>
          </a:p>
        </p:txBody>
      </p:sp>
    </p:spTree>
  </p:cSld>
  <p:clrMapOvr>
    <a:masterClrMapping/>
  </p:clrMapOvr>
  <p:transition spd="fast" advClick="1">
    <p:fade/>
  </p:transition>
</p:sld>
</file>

<file path=ppt/slides/slide6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YOUR LEARNING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AWS Certified Solutions Architect Associate Training</a:t>
            </a:r>
          </a:p>
          <a:p>
            <a:pPr algn="l">
              <a:spcAft>
                <a:spcPts val="300"/>
              </a:spcAft>
            </a:pPr>
            <a:r>
              <a:rPr sz="1200" b="0">
                <a:solidFill>
                  <a:srgbClr val="5B6372"/>
                </a:solidFill>
                <a:latin typeface="Arial"/>
              </a:rPr>
              <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AWS Certified Developer Associate Training</a:t>
            </a:r>
          </a:p>
          <a:p>
            <a:pPr algn="l">
              <a:spcAft>
                <a:spcPts val="300"/>
              </a:spcAft>
            </a:pPr>
            <a:r>
              <a:rPr sz="1200" b="0">
                <a:solidFill>
                  <a:srgbClr val="5B6372"/>
                </a:solidFill>
                <a:latin typeface="Arial"/>
              </a:rPr>
              <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DevOps Engineering on AWS</a:t>
            </a:r>
          </a:p>
          <a:p>
            <a:pPr algn="l">
              <a:spcAft>
                <a:spcPts val="300"/>
              </a:spcAft>
            </a:pPr>
            <a:r>
              <a:rPr sz="1200" b="0">
                <a:solidFill>
                  <a:srgbClr val="5B6372"/>
                </a:solidFill>
                <a:latin typeface="Arial"/>
              </a:rPr>
              <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AWS Certified Security Specialty Training</a:t>
            </a:r>
          </a:p>
          <a:p>
            <a:pPr algn="l">
              <a:spcAft>
                <a:spcPts val="300"/>
              </a:spcAft>
            </a:pPr>
            <a:r>
              <a:rPr sz="1200" b="0">
                <a:solidFill>
                  <a:srgbClr val="5B6372"/>
                </a:solidFill>
                <a:latin typeface="Arial"/>
              </a:rPr>
              <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Kubernetes and Cloud Native Associate (KCNA) Training</a:t>
            </a:r>
          </a:p>
          <a:p>
            <a:pPr algn="l">
              <a:spcAft>
                <a:spcPts val="300"/>
              </a:spcAft>
            </a:pPr>
            <a:r>
              <a:rPr sz="1200" b="0">
                <a:solidFill>
                  <a:srgbClr val="5B6372"/>
                </a:solidFill>
                <a:latin typeface="Arial"/>
              </a:rPr>
              <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611</a:t>
            </a:r>
          </a:p>
        </p:txBody>
      </p:sp>
    </p:spTree>
  </p:cSld>
  <p:clrMapOvr>
    <a:masterClrMapping/>
  </p:clrMapOvr>
  <p:transition spd="fast" advClick="1">
    <p:fade/>
  </p:transition>
</p:sld>
</file>

<file path=ppt/slides/slide6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POST-COURSE SUPPORT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400" b="0">
                <a:solidFill>
                  <a:srgbClr val="5B6372"/>
                </a:solidFill>
                <a:latin typeface="Arial"/>
              </a:rPr>
              <a:t>enquiry@tertiaryinfotech.com</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400" b="0">
                <a:solidFill>
                  <a:srgbClr val="5B6372"/>
                </a:solidFill>
                <a:latin typeface="Arial"/>
              </a:rPr>
              <a:t>+65 6100 0613</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400" b="0">
                <a:solidFill>
                  <a:srgbClr val="5B6372"/>
                </a:solidFill>
                <a:latin typeface="Arial"/>
              </a:rPr>
              <a:t>www.tertiarycourses.com.sg</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LMS-TMS</a:t>
            </a:r>
          </a:p>
          <a:p>
            <a:pPr algn="l">
              <a:spcAft>
                <a:spcPts val="300"/>
              </a:spcAft>
            </a:pPr>
            <a:r>
              <a:rPr sz="14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612</a:t>
            </a:r>
          </a:p>
        </p:txBody>
      </p:sp>
    </p:spTree>
  </p:cSld>
  <p:clrMapOvr>
    <a:masterClrMapping/>
  </p:clrMapOvr>
  <p:transition spd="fast" advClick="1">
    <p:fade/>
  </p:transition>
</p:sld>
</file>

<file path=ppt/slides/slide6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READY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 Final Check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WA-SAQ</a:t>
            </a:r>
          </a:p>
          <a:p>
            <a:pPr algn="l">
              <a:spcAft>
                <a:spcPts val="300"/>
              </a:spcAft>
            </a:pPr>
            <a:r>
              <a:rPr sz="1300" b="0">
                <a:solidFill>
                  <a:srgbClr val="5B6372"/>
                </a:solidFill>
                <a:latin typeface="Arial"/>
              </a:rPr>
              <a:t>Five open-ended questions · K1–K5 · 60 minutes.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Case Study</a:t>
            </a:r>
          </a:p>
          <a:p>
            <a:pPr algn="l">
              <a:spcAft>
                <a:spcPts val="300"/>
              </a:spcAft>
            </a:pPr>
            <a:r>
              <a:rPr sz="1300" b="0">
                <a:solidFill>
                  <a:srgbClr val="5B6372"/>
                </a:solidFill>
                <a:latin typeface="Arial"/>
              </a:rPr>
              <a:t>Five connected tasks · A1–A7 · 60 minutes.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Digital attendance</a:t>
            </a:r>
          </a:p>
          <a:p>
            <a:pPr algn="l">
              <a:spcAft>
                <a:spcPts val="300"/>
              </a:spcAft>
            </a:pPr>
            <a:r>
              <a:rPr sz="1300" b="0">
                <a:solidFill>
                  <a:srgbClr val="5B6372"/>
                </a:solidFill>
                <a:latin typeface="Arial"/>
              </a:rPr>
              <a:t>Complete assessment attendance and TRAQOM steps.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Submission</a:t>
            </a:r>
          </a:p>
          <a:p>
            <a:pPr algn="l">
              <a:spcAft>
                <a:spcPts val="300"/>
              </a:spcAft>
            </a:pPr>
            <a:r>
              <a:rPr sz="1300" b="0">
                <a:solidFill>
                  <a:srgbClr val="5B6372"/>
                </a:solidFill>
                <a:latin typeface="Arial"/>
              </a:rPr>
              <a:t>Upload candidate papers through LMS-TMS; keys remain trainer-only.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613</a:t>
            </a:r>
          </a:p>
        </p:txBody>
      </p:sp>
    </p:spTree>
  </p:cSld>
  <p:clrMapOvr>
    <a:masterClrMapping/>
  </p:clrMapOvr>
  <p:transition spd="fast" advClick="1">
    <p:fade/>
  </p:transition>
</p:sld>
</file>

<file path=ppt/slides/slide6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TRAQOM</a:t>
            </a:r>
          </a:p>
        </p:txBody>
      </p:sp>
      <p:sp>
        <p:nvSpPr>
          <p:cNvPr id="12" name="TextBox 11"/>
          <p:cNvSpPr txBox="1"/>
          <p:nvPr/>
        </p:nvSpPr>
        <p:spPr>
          <a:xfrm>
            <a:off x="868680"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Course feedback</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Attendance</a:t>
            </a:r>
          </a:p>
        </p:txBody>
      </p:sp>
      <p:sp>
        <p:nvSpPr>
          <p:cNvPr id="19" name="TextBox 18"/>
          <p:cNvSpPr txBox="1"/>
          <p:nvPr/>
        </p:nvSpPr>
        <p:spPr>
          <a:xfrm>
            <a:off x="3072384"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WA-SAQ</a:t>
            </a:r>
          </a:p>
        </p:txBody>
      </p:sp>
      <p:sp>
        <p:nvSpPr>
          <p:cNvPr id="26" name="TextBox 25"/>
          <p:cNvSpPr txBox="1"/>
          <p:nvPr/>
        </p:nvSpPr>
        <p:spPr>
          <a:xfrm>
            <a:off x="5276088"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5 questions · 60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Case Study</a:t>
            </a:r>
          </a:p>
        </p:txBody>
      </p:sp>
      <p:sp>
        <p:nvSpPr>
          <p:cNvPr id="33" name="TextBox 32"/>
          <p:cNvSpPr txBox="1"/>
          <p:nvPr/>
        </p:nvSpPr>
        <p:spPr>
          <a:xfrm>
            <a:off x="7479792"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5 tasks · 60 min</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400" b="1">
                <a:solidFill>
                  <a:srgbClr val="161B26"/>
                </a:solidFill>
                <a:latin typeface="Arial"/>
              </a:rPr>
              <a:t>Submit</a:t>
            </a:r>
          </a:p>
        </p:txBody>
      </p:sp>
      <p:sp>
        <p:nvSpPr>
          <p:cNvPr id="40" name="TextBox 39"/>
          <p:cNvSpPr txBox="1"/>
          <p:nvPr/>
        </p:nvSpPr>
        <p:spPr>
          <a:xfrm>
            <a:off x="9683496" y="3785616"/>
            <a:ext cx="1636776" cy="384048"/>
          </a:xfrm>
          <a:prstGeom prst="rect">
            <a:avLst/>
          </a:prstGeom>
          <a:noFill/>
        </p:spPr>
        <p:txBody>
          <a:bodyPr wrap="square" anchor="ctr">
            <a:spAutoFit/>
          </a:bodyPr>
          <a:lstStyle/>
          <a:p>
            <a:pPr algn="ctr">
              <a:spcAft>
                <a:spcPts val="0"/>
              </a:spcAft>
            </a:pPr>
            <a:r>
              <a:rPr sz="1200" b="0">
                <a:solidFill>
                  <a:srgbClr val="5B6372"/>
                </a:solidFill>
                <a:latin typeface="Arial"/>
              </a:rPr>
              <a:t>LMS-TMS and sign-off</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200" b="1">
                <a:solidFill>
                  <a:srgbClr val="1F6FEB"/>
                </a:solidFill>
                <a:latin typeface="Arial"/>
              </a:rPr>
              <a:t>APPEAL</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the documented reassessment and appeal process if you disagree with an assessment decision.</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SSG · TRAQOM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AM</a:t>
            </a:r>
          </a:p>
          <a:p>
            <a:pPr algn="l">
              <a:spcAft>
                <a:spcPts val="300"/>
              </a:spcAft>
            </a:pPr>
            <a:r>
              <a:rPr sz="1400" b="0">
                <a:solidFill>
                  <a:srgbClr val="5B6372"/>
                </a:solidFill>
                <a:latin typeface="Arial"/>
              </a:rPr>
              <a:t>Scan and submit at the start of the day.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PM</a:t>
            </a:r>
          </a:p>
          <a:p>
            <a:pPr algn="l">
              <a:spcAft>
                <a:spcPts val="300"/>
              </a:spcAft>
            </a:pPr>
            <a:r>
              <a:rPr sz="1400" b="0">
                <a:solidFill>
                  <a:srgbClr val="5B6372"/>
                </a:solidFill>
                <a:latin typeface="Arial"/>
              </a:rPr>
              <a:t>Scan and submit after lunch.</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400" b="0">
                <a:solidFill>
                  <a:srgbClr val="5B6372"/>
                </a:solidFill>
                <a:latin typeface="Arial"/>
              </a:rPr>
              <a:t>Scan before starting the final assessment.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Confirm</a:t>
            </a:r>
          </a:p>
          <a:p>
            <a:pPr algn="l">
              <a:spcAft>
                <a:spcPts val="300"/>
              </a:spcAft>
            </a:pPr>
            <a:r>
              <a:rPr sz="1400" b="0">
                <a:solidFill>
                  <a:srgbClr val="5B6372"/>
                </a:solidFill>
                <a:latin typeface="Arial"/>
              </a:rPr>
              <a:t>Do not close the page until submission succeeds.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615</a:t>
            </a:r>
          </a:p>
        </p:txBody>
      </p:sp>
    </p:spTree>
  </p:cSld>
  <p:clrMapOvr>
    <a:masterClrMapping/>
  </p:clrMapOvr>
  <p:transition spd="fast" advClick="1">
    <p:fade/>
  </p:transition>
</p:sld>
</file>

<file path=ppt/slides/slide6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AWS CLOUD OPERATIONS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Operate with evidence, change safely, verify recovery and leave the system better than you found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AWS Certified SysOps Administrator Associate Training  ·  TGS-2024051413</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616</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