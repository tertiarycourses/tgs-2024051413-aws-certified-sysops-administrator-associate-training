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Exam weight (%)</c:v>
                </c:pt>
              </c:strCache>
            </c:strRef>
          </c:tx>
          <c:spPr>
            <a:solidFill>
              <a:srgbClr val="1F6FEB"/>
            </a:solidFill>
          </c:spPr>
          <c:cat>
            <c:strRef>
              <c:f>Sheet1!$A$2:$A$6</c:f>
              <c:strCache>
                <c:ptCount val="5"/>
                <c:pt idx="0">
                  <c:v>Monitoring and remediation</c:v>
                </c:pt>
                <c:pt idx="1">
                  <c:v>Reliability and continuity</c:v>
                </c:pt>
                <c:pt idx="2">
                  <c:v>Deployment and automation</c:v>
                </c:pt>
                <c:pt idx="3">
                  <c:v>Security and compliance</c:v>
                </c:pt>
                <c:pt idx="4">
                  <c:v>Networking and delivery</c:v>
                </c:pt>
              </c:strCache>
            </c:strRef>
          </c:cat>
          <c:val>
            <c:numRef>
              <c:f>Sheet1!$B$2:$B$6</c:f>
              <c:numCache>
                <c:formatCode>0"%"</c:formatCode>
                <c:ptCount val="5"/>
                <c:pt idx="0">
                  <c:v>22</c:v>
                </c:pt>
                <c:pt idx="1">
                  <c:v>22</c:v>
                </c:pt>
                <c:pt idx="2">
                  <c:v>22</c:v>
                </c:pt>
                <c:pt idx="3">
                  <c:v>16</c:v>
                </c:pt>
                <c:pt idx="4">
                  <c:v>18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Illustrative availability target (%)</c:v>
                </c:pt>
              </c:strCache>
            </c:strRef>
          </c:tx>
          <c:spPr>
            <a:solidFill>
              <a:srgbClr val="1F6FEB"/>
            </a:solidFill>
          </c:spPr>
          <c:cat>
            <c:strRef>
              <c:f>Sheet1!$A$2:$A$5</c:f>
              <c:strCache>
                <c:ptCount val="4"/>
                <c:pt idx="0">
                  <c:v>Single instance</c:v>
                </c:pt>
                <c:pt idx="1">
                  <c:v>Two AZs</c:v>
                </c:pt>
                <c:pt idx="2">
                  <c:v>Three AZs</c:v>
                </c:pt>
                <c:pt idx="3">
                  <c:v>Two Regions</c:v>
                </c:pt>
              </c:strCache>
            </c:strRef>
          </c:cat>
          <c:val>
            <c:numRef>
              <c:f>Sheet1!$B$2:$B$5</c:f>
              <c:numCache>
                <c:formatCode>0.00</c:formatCode>
                <c:ptCount val="4"/>
                <c:pt idx="0">
                  <c:v>99.0</c:v>
                </c:pt>
                <c:pt idx="1">
                  <c:v>99.9</c:v>
                </c:pt>
                <c:pt idx="2">
                  <c:v>99.95</c:v>
                </c:pt>
                <c:pt idx="3">
                  <c:v>99.99</c:v>
                </c:pt>
              </c:numCache>
            </c:numRef>
          </c:val>
        </c:ser>
        <c:dLbls>
          <c:numFmt formatCode="0.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per week</c:v>
                </c:pt>
              </c:strCache>
            </c:strRef>
          </c:tx>
          <c:spPr>
            <a:solidFill>
              <a:srgbClr val="1F6FEB"/>
            </a:solidFill>
          </c:spPr>
          <c:cat>
            <c:strRef>
              <c:f>Sheet1!$A$2:$A$5</c:f>
              <c:strCache>
                <c:ptCount val="4"/>
                <c:pt idx="0">
                  <c:v>Raw threshold</c:v>
                </c:pt>
                <c:pt idx="1">
                  <c:v>Sustained breach</c:v>
                </c:pt>
                <c:pt idx="2">
                  <c:v>Composite alarm</c:v>
                </c:pt>
                <c:pt idx="3">
                  <c:v>Anomaly + impact</c:v>
                </c:pt>
              </c:strCache>
            </c:strRef>
          </c:cat>
          <c:val>
            <c:numRef>
              <c:f>Sheet1!$B$2:$B$5</c:f>
              <c:numCache>
                <c:formatCode>0.0</c:formatCode>
                <c:ptCount val="4"/>
                <c:pt idx="0">
                  <c:v>84</c:v>
                </c:pt>
                <c:pt idx="1">
                  <c:v>31</c:v>
                </c:pt>
                <c:pt idx="2">
                  <c:v>14</c:v>
                </c:pt>
                <c:pt idx="3">
                  <c:v>7</c:v>
                </c:pt>
              </c:numCache>
            </c:numRef>
          </c:val>
        </c:ser>
        <c:ser>
          <c:idx val="1"/>
          <c:order val="1"/>
          <c:tx>
            <c:strRef>
              <c:f>Sheet1!$C$1</c:f>
              <c:strCache>
                <c:ptCount val="1"/>
                <c:pt idx="0">
                  <c:v>Actionable alerts</c:v>
                </c:pt>
              </c:strCache>
            </c:strRef>
          </c:tx>
          <c:spPr>
            <a:solidFill>
              <a:srgbClr val="10B981"/>
            </a:solidFill>
          </c:spPr>
          <c:cat>
            <c:strRef>
              <c:f>Sheet1!$A$2:$A$5</c:f>
              <c:strCache>
                <c:ptCount val="4"/>
                <c:pt idx="0">
                  <c:v>Raw threshold</c:v>
                </c:pt>
                <c:pt idx="1">
                  <c:v>Sustained breach</c:v>
                </c:pt>
                <c:pt idx="2">
                  <c:v>Composite alarm</c:v>
                </c:pt>
                <c:pt idx="3">
                  <c:v>Anomaly + impact</c:v>
                </c:pt>
              </c:strCache>
            </c:strRef>
          </c:cat>
          <c:val>
            <c:numRef>
              <c:f>Sheet1!$C$2:$C$5</c:f>
              <c:numCache>
                <c:formatCode>0.0</c:formatCode>
                <c:ptCount val="4"/>
                <c:pt idx="0">
                  <c:v>9</c:v>
                </c:pt>
                <c:pt idx="1">
                  <c:v>9</c:v>
                </c:pt>
                <c:pt idx="2">
                  <c:v>8</c:v>
                </c:pt>
                <c:pt idx="3">
                  <c:v>7</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Compliant (%)</c:v>
                </c:pt>
              </c:strCache>
            </c:strRef>
          </c:tx>
          <c:spPr>
            <a:solidFill>
              <a:srgbClr val="1F6FEB"/>
            </a:solidFill>
          </c:spPr>
          <c:cat>
            <c:strRef>
              <c:f>Sheet1!$A$2:$A$5</c:f>
              <c:strCache>
                <c:ptCount val="4"/>
                <c:pt idx="0">
                  <c:v>Web</c:v>
                </c:pt>
                <c:pt idx="1">
                  <c:v>Batch</c:v>
                </c:pt>
                <c:pt idx="2">
                  <c:v>Database tools</c:v>
                </c:pt>
                <c:pt idx="3">
                  <c:v>Legacy</c:v>
                </c:pt>
              </c:strCache>
            </c:strRef>
          </c:cat>
          <c:val>
            <c:numRef>
              <c:f>Sheet1!$B$2:$B$5</c:f>
              <c:numCache>
                <c:formatCode>0.0</c:formatCode>
                <c:ptCount val="4"/>
                <c:pt idx="0">
                  <c:v>96</c:v>
                </c:pt>
                <c:pt idx="1">
                  <c:v>92</c:v>
                </c:pt>
                <c:pt idx="2">
                  <c:v>88</c:v>
                </c:pt>
                <c:pt idx="3">
                  <c:v>67</c:v>
                </c:pt>
              </c:numCache>
            </c:numRef>
          </c:val>
        </c:ser>
        <c:ser>
          <c:idx val="1"/>
          <c:order val="1"/>
          <c:tx>
            <c:strRef>
              <c:f>Sheet1!$C$1</c:f>
              <c:strCache>
                <c:ptCount val="1"/>
                <c:pt idx="0">
                  <c:v>Managed-node coverage (%)</c:v>
                </c:pt>
              </c:strCache>
            </c:strRef>
          </c:tx>
          <c:spPr>
            <a:solidFill>
              <a:srgbClr val="10B981"/>
            </a:solidFill>
          </c:spPr>
          <c:cat>
            <c:strRef>
              <c:f>Sheet1!$A$2:$A$5</c:f>
              <c:strCache>
                <c:ptCount val="4"/>
                <c:pt idx="0">
                  <c:v>Web</c:v>
                </c:pt>
                <c:pt idx="1">
                  <c:v>Batch</c:v>
                </c:pt>
                <c:pt idx="2">
                  <c:v>Database tools</c:v>
                </c:pt>
                <c:pt idx="3">
                  <c:v>Legacy</c:v>
                </c:pt>
              </c:strCache>
            </c:strRef>
          </c:cat>
          <c:val>
            <c:numRef>
              <c:f>Sheet1!$C$2:$C$5</c:f>
              <c:numCache>
                <c:formatCode>0.0</c:formatCode>
                <c:ptCount val="4"/>
                <c:pt idx="0">
                  <c:v>100</c:v>
                </c:pt>
                <c:pt idx="1">
                  <c:v>98</c:v>
                </c:pt>
                <c:pt idx="2">
                  <c:v>91</c:v>
                </c:pt>
                <c:pt idx="3">
                  <c:v>72</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Demand units</c:v>
                </c:pt>
              </c:strCache>
            </c:strRef>
          </c:tx>
          <c:spPr>
            <a:ln w="31750">
              <a:solidFill>
                <a:srgbClr val="1F6FEB"/>
              </a:solidFill>
            </a:ln>
          </c:spPr>
          <c:cat>
            <c:strRef>
              <c:f>Sheet1!$A$2:$A$7</c:f>
              <c:strCache>
                <c:ptCount val="6"/>
                <c:pt idx="0">
                  <c:v>09:00</c:v>
                </c:pt>
                <c:pt idx="1">
                  <c:v>10:00</c:v>
                </c:pt>
                <c:pt idx="2">
                  <c:v>11:00</c:v>
                </c:pt>
                <c:pt idx="3">
                  <c:v>12:00</c:v>
                </c:pt>
                <c:pt idx="4">
                  <c:v>13:00</c:v>
                </c:pt>
                <c:pt idx="5">
                  <c:v>14:00</c:v>
                </c:pt>
              </c:strCache>
            </c:strRef>
          </c:cat>
          <c:val>
            <c:numRef>
              <c:f>Sheet1!$B$2:$B$7</c:f>
              <c:numCache>
                <c:formatCode>0.0</c:formatCode>
                <c:ptCount val="6"/>
                <c:pt idx="0">
                  <c:v>20</c:v>
                </c:pt>
                <c:pt idx="1">
                  <c:v>45</c:v>
                </c:pt>
                <c:pt idx="2">
                  <c:v>80</c:v>
                </c:pt>
                <c:pt idx="3">
                  <c:v>120</c:v>
                </c:pt>
                <c:pt idx="4">
                  <c:v>70</c:v>
                </c:pt>
                <c:pt idx="5">
                  <c:v>35</c:v>
                </c:pt>
              </c:numCache>
            </c:numRef>
          </c:val>
          <c:smooth val="0"/>
        </c:ser>
        <c:ser>
          <c:idx val="1"/>
          <c:order val="1"/>
          <c:tx>
            <c:strRef>
              <c:f>Sheet1!$C$1</c:f>
              <c:strCache>
                <c:ptCount val="1"/>
                <c:pt idx="0">
                  <c:v>Capacity units</c:v>
                </c:pt>
              </c:strCache>
            </c:strRef>
          </c:tx>
          <c:spPr>
            <a:ln w="31750">
              <a:solidFill>
                <a:srgbClr val="10B981"/>
              </a:solidFill>
            </a:ln>
          </c:spPr>
          <c:cat>
            <c:strRef>
              <c:f>Sheet1!$A$2:$A$7</c:f>
              <c:strCache>
                <c:ptCount val="6"/>
                <c:pt idx="0">
                  <c:v>09:00</c:v>
                </c:pt>
                <c:pt idx="1">
                  <c:v>10:00</c:v>
                </c:pt>
                <c:pt idx="2">
                  <c:v>11:00</c:v>
                </c:pt>
                <c:pt idx="3">
                  <c:v>12:00</c:v>
                </c:pt>
                <c:pt idx="4">
                  <c:v>13:00</c:v>
                </c:pt>
                <c:pt idx="5">
                  <c:v>14:00</c:v>
                </c:pt>
              </c:strCache>
            </c:strRef>
          </c:cat>
          <c:val>
            <c:numRef>
              <c:f>Sheet1!$C$2:$C$7</c:f>
              <c:numCache>
                <c:formatCode>0.0</c:formatCode>
                <c:ptCount val="6"/>
                <c:pt idx="0">
                  <c:v>30</c:v>
                </c:pt>
                <c:pt idx="1">
                  <c:v>40</c:v>
                </c:pt>
                <c:pt idx="2">
                  <c:v>70</c:v>
                </c:pt>
                <c:pt idx="3">
                  <c:v>120</c:v>
                </c:pt>
                <c:pt idx="4">
                  <c:v>90</c:v>
                </c:pt>
                <c:pt idx="5">
                  <c:v>50</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steady-state cost</c:v>
                </c:pt>
              </c:strCache>
            </c:strRef>
          </c:tx>
          <c:spPr>
            <a:solidFill>
              <a:srgbClr val="1F6FEB"/>
            </a:solidFill>
          </c:spPr>
          <c:cat>
            <c:strRef>
              <c:f>Sheet1!$A$2:$A$5</c:f>
              <c:strCache>
                <c:ptCount val="4"/>
                <c:pt idx="0">
                  <c:v>Backup/restore</c:v>
                </c:pt>
                <c:pt idx="1">
                  <c:v>Pilot light</c:v>
                </c:pt>
                <c:pt idx="2">
                  <c:v>Warm standby</c:v>
                </c:pt>
                <c:pt idx="3">
                  <c:v>Active/active</c:v>
                </c:pt>
              </c:strCache>
            </c:strRef>
          </c:cat>
          <c:val>
            <c:numRef>
              <c:f>Sheet1!$B$2:$B$5</c:f>
              <c:numCache>
                <c:formatCode>0.0</c:formatCode>
                <c:ptCount val="4"/>
                <c:pt idx="0">
                  <c:v>1</c:v>
                </c:pt>
                <c:pt idx="1">
                  <c:v>3</c:v>
                </c:pt>
                <c:pt idx="2">
                  <c:v>6</c:v>
                </c:pt>
                <c:pt idx="3">
                  <c:v>10</c:v>
                </c:pt>
              </c:numCache>
            </c:numRef>
          </c:val>
        </c:ser>
        <c:ser>
          <c:idx val="1"/>
          <c:order val="1"/>
          <c:tx>
            <c:strRef>
              <c:f>Sheet1!$C$1</c:f>
              <c:strCache>
                <c:ptCount val="1"/>
                <c:pt idx="0">
                  <c:v>Recovery speed index</c:v>
                </c:pt>
              </c:strCache>
            </c:strRef>
          </c:tx>
          <c:spPr>
            <a:solidFill>
              <a:srgbClr val="10B981"/>
            </a:solidFill>
          </c:spPr>
          <c:cat>
            <c:strRef>
              <c:f>Sheet1!$A$2:$A$5</c:f>
              <c:strCache>
                <c:ptCount val="4"/>
                <c:pt idx="0">
                  <c:v>Backup/restore</c:v>
                </c:pt>
                <c:pt idx="1">
                  <c:v>Pilot light</c:v>
                </c:pt>
                <c:pt idx="2">
                  <c:v>Warm standby</c:v>
                </c:pt>
                <c:pt idx="3">
                  <c:v>Active/active</c:v>
                </c:pt>
              </c:strCache>
            </c:strRef>
          </c:cat>
          <c:val>
            <c:numRef>
              <c:f>Sheet1!$C$2:$C$5</c:f>
              <c:numCache>
                <c:formatCode>0.0</c:formatCode>
                <c:ptCount val="4"/>
                <c:pt idx="0">
                  <c:v>2</c:v>
                </c:pt>
                <c:pt idx="1">
                  <c:v>5</c:v>
                </c:pt>
                <c:pt idx="2">
                  <c:v>8</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Configuration variance index</c:v>
                </c:pt>
              </c:strCache>
            </c:strRef>
          </c:tx>
          <c:spPr>
            <a:solidFill>
              <a:srgbClr val="1F6FEB"/>
            </a:solidFill>
          </c:spPr>
          <c:cat>
            <c:strRef>
              <c:f>Sheet1!$A$2:$A$5</c:f>
              <c:strCache>
                <c:ptCount val="4"/>
                <c:pt idx="0">
                  <c:v>Manual</c:v>
                </c:pt>
                <c:pt idx="1">
                  <c:v>Scripted</c:v>
                </c:pt>
                <c:pt idx="2">
                  <c:v>IaC</c:v>
                </c:pt>
                <c:pt idx="3">
                  <c:v>IaC + policy</c:v>
                </c:pt>
              </c:strCache>
            </c:strRef>
          </c:cat>
          <c:val>
            <c:numRef>
              <c:f>Sheet1!$B$2:$B$5</c:f>
              <c:numCache>
                <c:formatCode>0.0</c:formatCode>
                <c:ptCount val="4"/>
                <c:pt idx="0">
                  <c:v>10</c:v>
                </c:pt>
                <c:pt idx="1">
                  <c:v>6</c:v>
                </c:pt>
                <c:pt idx="2">
                  <c:v>3</c:v>
                </c:pt>
                <c:pt idx="3">
                  <c:v>1</c:v>
                </c:pt>
              </c:numCache>
            </c:numRef>
          </c:val>
        </c:ser>
        <c:ser>
          <c:idx val="1"/>
          <c:order val="1"/>
          <c:tx>
            <c:strRef>
              <c:f>Sheet1!$C$1</c:f>
              <c:strCache>
                <c:ptCount val="1"/>
                <c:pt idx="0">
                  <c:v>Change evidence score</c:v>
                </c:pt>
              </c:strCache>
            </c:strRef>
          </c:tx>
          <c:spPr>
            <a:solidFill>
              <a:srgbClr val="10B981"/>
            </a:solidFill>
          </c:spPr>
          <c:cat>
            <c:strRef>
              <c:f>Sheet1!$A$2:$A$5</c:f>
              <c:strCache>
                <c:ptCount val="4"/>
                <c:pt idx="0">
                  <c:v>Manual</c:v>
                </c:pt>
                <c:pt idx="1">
                  <c:v>Scripted</c:v>
                </c:pt>
                <c:pt idx="2">
                  <c:v>IaC</c:v>
                </c:pt>
                <c:pt idx="3">
                  <c:v>IaC + policy</c:v>
                </c:pt>
              </c:strCache>
            </c:strRef>
          </c:cat>
          <c:val>
            <c:numRef>
              <c:f>Sheet1!$C$2:$C$5</c:f>
              <c:numCache>
                <c:formatCode>0.0</c:formatCode>
                <c:ptCount val="4"/>
                <c:pt idx="0">
                  <c:v>2</c:v>
                </c:pt>
                <c:pt idx="1">
                  <c:v>5</c:v>
                </c:pt>
                <c:pt idx="2">
                  <c:v>8</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Open findings</c:v>
                </c:pt>
              </c:strCache>
            </c:strRef>
          </c:tx>
          <c:spPr>
            <a:solidFill>
              <a:srgbClr val="1F6FEB"/>
            </a:solidFill>
          </c:spPr>
          <c:cat>
            <c:strRef>
              <c:f>Sheet1!$A$2:$A$5</c:f>
              <c:strCache>
                <c:ptCount val="4"/>
                <c:pt idx="0">
                  <c:v>Critical</c:v>
                </c:pt>
                <c:pt idx="1">
                  <c:v>High</c:v>
                </c:pt>
                <c:pt idx="2">
                  <c:v>Medium</c:v>
                </c:pt>
                <c:pt idx="3">
                  <c:v>Low</c:v>
                </c:pt>
              </c:strCache>
            </c:strRef>
          </c:cat>
          <c:val>
            <c:numRef>
              <c:f>Sheet1!$B$2:$B$5</c:f>
              <c:numCache>
                <c:formatCode>0.0</c:formatCode>
                <c:ptCount val="4"/>
                <c:pt idx="0">
                  <c:v>3</c:v>
                </c:pt>
                <c:pt idx="1">
                  <c:v>14</c:v>
                </c:pt>
                <c:pt idx="2">
                  <c:v>37</c:v>
                </c:pt>
                <c:pt idx="3">
                  <c:v>82</c:v>
                </c:pt>
              </c:numCache>
            </c:numRef>
          </c:val>
        </c:ser>
        <c:ser>
          <c:idx val="1"/>
          <c:order val="1"/>
          <c:tx>
            <c:strRef>
              <c:f>Sheet1!$C$1</c:f>
              <c:strCache>
                <c:ptCount val="1"/>
                <c:pt idx="0">
                  <c:v>SLA hours</c:v>
                </c:pt>
              </c:strCache>
            </c:strRef>
          </c:tx>
          <c:spPr>
            <a:solidFill>
              <a:srgbClr val="10B981"/>
            </a:solidFill>
          </c:spPr>
          <c:cat>
            <c:strRef>
              <c:f>Sheet1!$A$2:$A$5</c:f>
              <c:strCache>
                <c:ptCount val="4"/>
                <c:pt idx="0">
                  <c:v>Critical</c:v>
                </c:pt>
                <c:pt idx="1">
                  <c:v>High</c:v>
                </c:pt>
                <c:pt idx="2">
                  <c:v>Medium</c:v>
                </c:pt>
                <c:pt idx="3">
                  <c:v>Low</c:v>
                </c:pt>
              </c:strCache>
            </c:strRef>
          </c:cat>
          <c:val>
            <c:numRef>
              <c:f>Sheet1!$C$2:$C$5</c:f>
              <c:numCache>
                <c:formatCode>0.0</c:formatCode>
                <c:ptCount val="4"/>
                <c:pt idx="0">
                  <c:v>4</c:v>
                </c:pt>
                <c:pt idx="1">
                  <c:v>24</c:v>
                </c:pt>
                <c:pt idx="2">
                  <c:v>120</c:v>
                </c:pt>
                <c:pt idx="3">
                  <c:v>720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Failover agility index</c:v>
                </c:pt>
              </c:strCache>
            </c:strRef>
          </c:tx>
          <c:spPr>
            <a:ln w="31750">
              <a:solidFill>
                <a:srgbClr val="1F6FEB"/>
              </a:solidFill>
            </a:ln>
          </c:spPr>
          <c:cat>
            <c:strRef>
              <c:f>Sheet1!$A$2:$A$5</c:f>
              <c:strCache>
                <c:ptCount val="4"/>
                <c:pt idx="0">
                  <c:v>30 sec</c:v>
                </c:pt>
                <c:pt idx="1">
                  <c:v>60 sec</c:v>
                </c:pt>
                <c:pt idx="2">
                  <c:v>300 sec</c:v>
                </c:pt>
                <c:pt idx="3">
                  <c:v>900 sec</c:v>
                </c:pt>
              </c:strCache>
            </c:strRef>
          </c:cat>
          <c:val>
            <c:numRef>
              <c:f>Sheet1!$B$2:$B$5</c:f>
              <c:numCache>
                <c:formatCode>0.0</c:formatCode>
                <c:ptCount val="4"/>
                <c:pt idx="0">
                  <c:v>10</c:v>
                </c:pt>
                <c:pt idx="1">
                  <c:v>8</c:v>
                </c:pt>
                <c:pt idx="2">
                  <c:v>4</c:v>
                </c:pt>
                <c:pt idx="3">
                  <c:v>2</c:v>
                </c:pt>
              </c:numCache>
            </c:numRef>
          </c:val>
          <c:smooth val="0"/>
        </c:ser>
        <c:ser>
          <c:idx val="1"/>
          <c:order val="1"/>
          <c:tx>
            <c:strRef>
              <c:f>Sheet1!$C$1</c:f>
              <c:strCache>
                <c:ptCount val="1"/>
                <c:pt idx="0">
                  <c:v>Resolver query load index</c:v>
                </c:pt>
              </c:strCache>
            </c:strRef>
          </c:tx>
          <c:spPr>
            <a:ln w="31750">
              <a:solidFill>
                <a:srgbClr val="10B981"/>
              </a:solidFill>
            </a:ln>
          </c:spPr>
          <c:cat>
            <c:strRef>
              <c:f>Sheet1!$A$2:$A$5</c:f>
              <c:strCache>
                <c:ptCount val="4"/>
                <c:pt idx="0">
                  <c:v>30 sec</c:v>
                </c:pt>
                <c:pt idx="1">
                  <c:v>60 sec</c:v>
                </c:pt>
                <c:pt idx="2">
                  <c:v>300 sec</c:v>
                </c:pt>
                <c:pt idx="3">
                  <c:v>900 sec</c:v>
                </c:pt>
              </c:strCache>
            </c:strRef>
          </c:cat>
          <c:val>
            <c:numRef>
              <c:f>Sheet1!$C$2:$C$5</c:f>
              <c:numCache>
                <c:formatCode>0.0</c:formatCode>
                <c:ptCount val="4"/>
                <c:pt idx="0">
                  <c:v>10</c:v>
                </c:pt>
                <c:pt idx="1">
                  <c:v>7</c:v>
                </c:pt>
                <c:pt idx="2">
                  <c:v>3</c:v>
                </c:pt>
                <c:pt idx="3">
                  <c:v>1</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IOPS</c:v>
                </c:pt>
              </c:strCache>
            </c:strRef>
          </c:tx>
          <c:spPr>
            <a:solidFill>
              <a:srgbClr val="1F6FEB"/>
            </a:solidFill>
          </c:spPr>
          <c:cat>
            <c:strRef>
              <c:f>Sheet1!$A$2:$A$5</c:f>
              <c:strCache>
                <c:ptCount val="4"/>
                <c:pt idx="0">
                  <c:v>gp3 baseline</c:v>
                </c:pt>
                <c:pt idx="1">
                  <c:v>gp3 tuned</c:v>
                </c:pt>
                <c:pt idx="2">
                  <c:v>io2</c:v>
                </c:pt>
                <c:pt idx="3">
                  <c:v>st1</c:v>
                </c:pt>
              </c:strCache>
            </c:strRef>
          </c:cat>
          <c:val>
            <c:numRef>
              <c:f>Sheet1!$B$2:$B$5</c:f>
              <c:numCache>
                <c:formatCode>0.0</c:formatCode>
                <c:ptCount val="4"/>
                <c:pt idx="0">
                  <c:v>3</c:v>
                </c:pt>
                <c:pt idx="1">
                  <c:v>8</c:v>
                </c:pt>
                <c:pt idx="2">
                  <c:v>10</c:v>
                </c:pt>
                <c:pt idx="3">
                  <c:v>1</c:v>
                </c:pt>
              </c:numCache>
            </c:numRef>
          </c:val>
        </c:ser>
        <c:ser>
          <c:idx val="1"/>
          <c:order val="1"/>
          <c:tx>
            <c:strRef>
              <c:f>Sheet1!$C$1</c:f>
              <c:strCache>
                <c:ptCount val="1"/>
                <c:pt idx="0">
                  <c:v>Relative throughput</c:v>
                </c:pt>
              </c:strCache>
            </c:strRef>
          </c:tx>
          <c:spPr>
            <a:solidFill>
              <a:srgbClr val="10B981"/>
            </a:solidFill>
          </c:spPr>
          <c:cat>
            <c:strRef>
              <c:f>Sheet1!$A$2:$A$5</c:f>
              <c:strCache>
                <c:ptCount val="4"/>
                <c:pt idx="0">
                  <c:v>gp3 baseline</c:v>
                </c:pt>
                <c:pt idx="1">
                  <c:v>gp3 tuned</c:v>
                </c:pt>
                <c:pt idx="2">
                  <c:v>io2</c:v>
                </c:pt>
                <c:pt idx="3">
                  <c:v>st1</c:v>
                </c:pt>
              </c:strCache>
            </c:strRef>
          </c:cat>
          <c:val>
            <c:numRef>
              <c:f>Sheet1!$C$2:$C$5</c:f>
              <c:numCache>
                <c:formatCode>0.0</c:formatCode>
                <c:ptCount val="4"/>
                <c:pt idx="0">
                  <c:v>3</c:v>
                </c:pt>
                <c:pt idx="1">
                  <c:v>6</c:v>
                </c:pt>
                <c:pt idx="2">
                  <c:v>5</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 daily cost</c:v>
                </c:pt>
              </c:strCache>
            </c:strRef>
          </c:tx>
          <c:spPr>
            <a:solidFill>
              <a:srgbClr val="1F6FEB"/>
            </a:solidFill>
          </c:spPr>
          <c:cat>
            <c:strRef>
              <c:f>Sheet1!$A$2:$A$6</c:f>
              <c:strCache>
                <c:ptCount val="5"/>
                <c:pt idx="0">
                  <c:v>Compute</c:v>
                </c:pt>
                <c:pt idx="1">
                  <c:v>Storage</c:v>
                </c:pt>
                <c:pt idx="2">
                  <c:v>Data transfer</c:v>
                </c:pt>
                <c:pt idx="3">
                  <c:v>Database</c:v>
                </c:pt>
                <c:pt idx="4">
                  <c:v>Logging</c:v>
                </c:pt>
              </c:strCache>
            </c:strRef>
          </c:cat>
          <c:val>
            <c:numRef>
              <c:f>Sheet1!$B$2:$B$6</c:f>
              <c:numCache>
                <c:formatCode>0.0</c:formatCode>
                <c:ptCount val="5"/>
                <c:pt idx="0">
                  <c:v>220</c:v>
                </c:pt>
                <c:pt idx="1">
                  <c:v>90</c:v>
                </c:pt>
                <c:pt idx="2">
                  <c:v>45</c:v>
                </c:pt>
                <c:pt idx="3">
                  <c:v>130</c:v>
                </c:pt>
                <c:pt idx="4">
                  <c:v>25</c:v>
                </c:pt>
              </c:numCache>
            </c:numRef>
          </c:val>
        </c:ser>
        <c:ser>
          <c:idx val="1"/>
          <c:order val="1"/>
          <c:tx>
            <c:strRef>
              <c:f>Sheet1!$C$1</c:f>
              <c:strCache>
                <c:ptCount val="1"/>
                <c:pt idx="0">
                  <c:v>Observed daily cost</c:v>
                </c:pt>
              </c:strCache>
            </c:strRef>
          </c:tx>
          <c:spPr>
            <a:solidFill>
              <a:srgbClr val="10B981"/>
            </a:solidFill>
          </c:spPr>
          <c:cat>
            <c:strRef>
              <c:f>Sheet1!$A$2:$A$6</c:f>
              <c:strCache>
                <c:ptCount val="5"/>
                <c:pt idx="0">
                  <c:v>Compute</c:v>
                </c:pt>
                <c:pt idx="1">
                  <c:v>Storage</c:v>
                </c:pt>
                <c:pt idx="2">
                  <c:v>Data transfer</c:v>
                </c:pt>
                <c:pt idx="3">
                  <c:v>Database</c:v>
                </c:pt>
                <c:pt idx="4">
                  <c:v>Logging</c:v>
                </c:pt>
              </c:strCache>
            </c:strRef>
          </c:cat>
          <c:val>
            <c:numRef>
              <c:f>Sheet1!$C$2:$C$6</c:f>
              <c:numCache>
                <c:formatCode>0.0</c:formatCode>
                <c:ptCount val="5"/>
                <c:pt idx="0">
                  <c:v>235</c:v>
                </c:pt>
                <c:pt idx="1">
                  <c:v>92</c:v>
                </c:pt>
                <c:pt idx="2">
                  <c:v>180</c:v>
                </c:pt>
                <c:pt idx="3">
                  <c:v>135</c:v>
                </c:pt>
                <c:pt idx="4">
                  <c:v>70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ws-sysops-cover-hero.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65379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8" name="TextBox 7"/>
          <p:cNvSpPr txBox="1"/>
          <p:nvPr/>
        </p:nvSpPr>
        <p:spPr>
          <a:xfrm>
            <a:off x="822960" y="1874519"/>
            <a:ext cx="5440680" cy="45720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9" name="TextBox 8"/>
          <p:cNvSpPr txBox="1"/>
          <p:nvPr/>
        </p:nvSpPr>
        <p:spPr>
          <a:xfrm>
            <a:off x="822960" y="2331720"/>
            <a:ext cx="5440680" cy="1554480"/>
          </a:xfrm>
          <a:prstGeom prst="rect">
            <a:avLst/>
          </a:prstGeom>
          <a:noFill/>
        </p:spPr>
        <p:txBody>
          <a:bodyPr wrap="square" anchor="t">
            <a:spAutoFit/>
          </a:bodyPr>
          <a:lstStyle/>
          <a:p>
            <a:pPr algn="l">
              <a:spcAft>
                <a:spcPts val="400"/>
              </a:spcAft>
            </a:pPr>
            <a:r>
              <a:rPr sz="3800" b="1">
                <a:solidFill>
                  <a:srgbClr val="161B26"/>
                </a:solidFill>
                <a:latin typeface="Arial"/>
              </a:rPr>
              <a:t>AWS Certified SysOps Administrator Associate Training</a:t>
            </a:r>
          </a:p>
        </p:txBody>
      </p:sp>
      <p:sp>
        <p:nvSpPr>
          <p:cNvPr id="10" name="Rectangle 9"/>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17720"/>
            <a:ext cx="5440680" cy="114300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TGS-2024051413</a:t>
            </a:r>
          </a:p>
          <a:p>
            <a:pPr algn="l">
              <a:spcAft>
                <a:spcPts val="600"/>
              </a:spcAft>
            </a:pPr>
            <a:r>
              <a:rPr sz="1400" b="0">
                <a:solidFill>
                  <a:srgbClr val="5B6372"/>
                </a:solidFill>
                <a:latin typeface="Arial"/>
              </a:rPr>
              <a:t>Conducted by Tertiary Infotech Academy Pte Ltd  ·  UEN 201200696W</a:t>
            </a:r>
          </a:p>
        </p:txBody>
      </p:sp>
      <p:sp>
        <p:nvSpPr>
          <p:cNvPr id="12" name="TextBox 11"/>
          <p:cNvSpPr txBox="1"/>
          <p:nvPr/>
        </p:nvSpPr>
        <p:spPr>
          <a:xfrm>
            <a:off x="822960" y="5806440"/>
            <a:ext cx="5440680" cy="365760"/>
          </a:xfrm>
          <a:prstGeom prst="rect">
            <a:avLst/>
          </a:prstGeom>
          <a:noFill/>
        </p:spPr>
        <p:txBody>
          <a:bodyPr wrap="square" anchor="t">
            <a:spAutoFit/>
          </a:bodyPr>
          <a:lstStyle/>
          <a:p>
            <a:pPr algn="l">
              <a:spcAft>
                <a:spcPts val="400"/>
              </a:spcAft>
            </a:pPr>
            <a:r>
              <a:rPr sz="1200" b="0">
                <a:solidFill>
                  <a:srgbClr val="5B6372"/>
                </a:solidFill>
                <a:latin typeface="Arial"/>
              </a:rPr>
              <a:t>Version v5.0  ·  23 August 2026</a:t>
            </a:r>
          </a:p>
        </p:txBody>
      </p:sp>
      <p:sp>
        <p:nvSpPr>
          <p:cNvPr id="13" name="TextBox 12"/>
          <p:cNvSpPr txBox="1"/>
          <p:nvPr/>
        </p:nvSpPr>
        <p:spPr>
          <a:xfrm>
            <a:off x="822960" y="6199632"/>
            <a:ext cx="544068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Course Orientation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Three days · 24 hours · 12 labs · 2 assessment hours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ADMIN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AM, PM and Assessment</a:t>
            </a:r>
          </a:p>
          <a:p>
            <a:pPr algn="l">
              <a:spcAft>
                <a:spcPts val="300"/>
              </a:spcAft>
            </a:pPr>
            <a:r>
              <a:rPr sz="1300" b="0">
                <a:solidFill>
                  <a:srgbClr val="5B6372"/>
                </a:solidFill>
                <a:latin typeface="Arial"/>
              </a:rPr>
              <a:t>Complete every required SSG digital attendance and wait for confirmation.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Trainer displays the QR</a:t>
            </a:r>
          </a:p>
          <a:p>
            <a:pPr algn="l">
              <a:spcAft>
                <a:spcPts val="300"/>
              </a:spcAft>
            </a:pPr>
            <a:r>
              <a:rPr sz="1300" b="0">
                <a:solidFill>
                  <a:srgbClr val="5B6372"/>
                </a:solidFill>
                <a:latin typeface="Arial"/>
              </a:rPr>
              <a:t>Scan only the current session's QR code using your mobile camera.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300" b="0">
                <a:solidFill>
                  <a:srgbClr val="5B6372"/>
                </a:solidFill>
                <a:latin typeface="Arial"/>
              </a:rPr>
              <a:t>Attendance and assessment requirements determine course-completion eligibility.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300" b="0">
                <a:solidFill>
                  <a:srgbClr val="5B6372"/>
                </a:solidFill>
                <a:latin typeface="Arial"/>
              </a:rPr>
              <a:t>Notify the trainer immediately if a submission does not confirm.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profile template</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2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2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2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200" b="1">
                <a:solidFill>
                  <a:srgbClr val="F59E0B"/>
                </a:solidFill>
                <a:latin typeface="Arial"/>
              </a:rPr>
              <a:t>AWS AND CLOUD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200" b="1">
                <a:solidFill>
                  <a:srgbClr val="1F6FEB"/>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200" b="1">
                <a:solidFill>
                  <a:srgbClr val="10B981"/>
                </a:solidFill>
                <a:latin typeface="Arial"/>
              </a:rPr>
              <a:t>CONTACT</a:t>
            </a:r>
          </a:p>
          <a:p>
            <a:pPr algn="l">
              <a:spcAft>
                <a:spcPts val="300"/>
              </a:spcAft>
            </a:pPr>
            <a:r>
              <a:rPr sz="1400" b="0">
                <a:solidFill>
                  <a:srgbClr val="161B26"/>
                </a:solidFill>
                <a:latin typeface="Arial"/>
              </a:rPr>
              <a:t>personal information is optional</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Founder &amp; Chief Training Officer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200" b="1">
                <a:solidFill>
                  <a:srgbClr val="1F6FEB"/>
                </a:solidFill>
                <a:latin typeface="Arial"/>
              </a:rPr>
              <a:t>EXPERIENCE</a:t>
            </a:r>
          </a:p>
          <a:p>
            <a:pPr algn="l">
              <a:spcAft>
                <a:spcPts val="300"/>
              </a:spcAft>
            </a:pPr>
            <a:r>
              <a:rPr sz="1400" b="0">
                <a:solidFill>
                  <a:srgbClr val="161B26"/>
                </a:solidFill>
                <a:latin typeface="Arial"/>
              </a:rPr>
              <a:t>More than 20 years across software engineering, AI, data analytics and cloud computing.</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200" b="1">
                <a:solidFill>
                  <a:srgbClr val="10B981"/>
                </a:solidFill>
                <a:latin typeface="Arial"/>
              </a:rPr>
              <a:t>QUALIFICATIONS</a:t>
            </a:r>
          </a:p>
          <a:p>
            <a:pPr algn="l">
              <a:spcAft>
                <a:spcPts val="300"/>
              </a:spcAft>
            </a:pPr>
            <a:r>
              <a:rPr sz="1400" b="0">
                <a:solidFill>
                  <a:srgbClr val="161B26"/>
                </a:solidFill>
                <a:latin typeface="Arial"/>
              </a:rPr>
              <a:t>PhD (NUS), DACE, ACTA and GCWLP among professional credentials.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200" b="1">
                <a:solidFill>
                  <a:srgbClr val="7C3AED"/>
                </a:solidFill>
                <a:latin typeface="Arial"/>
              </a:rPr>
              <a:t>COURSE FOCUS</a:t>
            </a:r>
          </a:p>
          <a:p>
            <a:pPr algn="l">
              <a:spcAft>
                <a:spcPts val="300"/>
              </a:spcAft>
            </a:pPr>
            <a:r>
              <a:rPr sz="1400" b="0">
                <a:solidFill>
                  <a:srgbClr val="161B26"/>
                </a:solidFill>
                <a:latin typeface="Arial"/>
              </a:rPr>
              <a:t>AWS observability, automation, resilience, security and evidence-led operations.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200" b="1">
                <a:solidFill>
                  <a:srgbClr val="F59E0B"/>
                </a:solidFill>
                <a:latin typeface="Arial"/>
              </a:rPr>
              <a:t>TEACHING APPROACH</a:t>
            </a:r>
          </a:p>
          <a:p>
            <a:pPr algn="l">
              <a:spcAft>
                <a:spcPts val="300"/>
              </a:spcAft>
            </a:pPr>
            <a:r>
              <a:rPr sz="1400" b="0">
                <a:solidFill>
                  <a:srgbClr val="161B26"/>
                </a:solidFill>
                <a:latin typeface="Arial"/>
              </a:rPr>
              <a:t>Connects architecture choices to measurable service outcomes and controlled change.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Introduce</a:t>
            </a:r>
          </a:p>
          <a:p>
            <a:pPr algn="l">
              <a:spcAft>
                <a:spcPts val="300"/>
              </a:spcAft>
            </a:pPr>
            <a:r>
              <a:rPr sz="1400" b="0">
                <a:solidFill>
                  <a:srgbClr val="5B6372"/>
                </a:solidFill>
                <a:latin typeface="Arial"/>
              </a:rPr>
              <a:t>Share your name, organisation and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Experience</a:t>
            </a:r>
          </a:p>
          <a:p>
            <a:pPr algn="l">
              <a:spcAft>
                <a:spcPts val="300"/>
              </a:spcAft>
            </a:pPr>
            <a:r>
              <a:rPr sz="1400" b="0">
                <a:solidFill>
                  <a:srgbClr val="5B6372"/>
                </a:solidFill>
                <a:latin typeface="Arial"/>
              </a:rPr>
              <a:t>Name one cloud service you have operated or supported.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Aim</a:t>
            </a:r>
          </a:p>
          <a:p>
            <a:pPr algn="l">
              <a:spcAft>
                <a:spcPts val="300"/>
              </a:spcAft>
            </a:pPr>
            <a:r>
              <a:rPr sz="1400" b="0">
                <a:solidFill>
                  <a:srgbClr val="5B6372"/>
                </a:solidFill>
                <a:latin typeface="Arial"/>
              </a:rPr>
              <a:t>Choose one outcome: stronger monitoring, recovery, automation, security or troubleshooting.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SAFE CLOUD LEARNING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Participate</a:t>
            </a:r>
          </a:p>
          <a:p>
            <a:pPr algn="l">
              <a:spcAft>
                <a:spcPts val="300"/>
              </a:spcAft>
            </a:pPr>
            <a:r>
              <a:rPr sz="1300" b="0">
                <a:solidFill>
                  <a:srgbClr val="5B6372"/>
                </a:solidFill>
                <a:latin typeface="Arial"/>
              </a:rPr>
              <a:t>Ask, challenge and contribute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Respect</a:t>
            </a:r>
          </a:p>
          <a:p>
            <a:pPr algn="l">
              <a:spcAft>
                <a:spcPts val="300"/>
              </a:spcAft>
            </a:pPr>
            <a:r>
              <a:rPr sz="1300" b="0">
                <a:solidFill>
                  <a:srgbClr val="5B6372"/>
                </a:solidFill>
                <a:latin typeface="Arial"/>
              </a:rPr>
              <a:t>Critique the system or idea, not the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Protect access</a:t>
            </a:r>
          </a:p>
          <a:p>
            <a:pPr algn="l">
              <a:spcAft>
                <a:spcPts val="300"/>
              </a:spcAft>
            </a:pPr>
            <a:r>
              <a:rPr sz="1300" b="0">
                <a:solidFill>
                  <a:srgbClr val="5B6372"/>
                </a:solidFill>
                <a:latin typeface="Arial"/>
              </a:rPr>
              <a:t>Never share AWS passwords, access keys or account details.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 risk</a:t>
            </a:r>
          </a:p>
          <a:p>
            <a:pPr algn="l">
              <a:spcAft>
                <a:spcPts val="300"/>
              </a:spcAft>
            </a:pPr>
            <a:r>
              <a:rPr sz="1300" b="0">
                <a:solidFill>
                  <a:srgbClr val="5B6372"/>
                </a:solidFill>
                <a:latin typeface="Arial"/>
              </a:rPr>
              <a:t>Use learner-owned resources and the trainer-approved Region.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 punctual</a:t>
            </a:r>
          </a:p>
          <a:p>
            <a:pPr algn="l">
              <a:spcAft>
                <a:spcPts val="300"/>
              </a:spcAft>
            </a:pPr>
            <a:r>
              <a:rPr sz="1300" b="0">
                <a:solidFill>
                  <a:srgbClr val="5B6372"/>
                </a:solidFill>
                <a:latin typeface="Arial"/>
              </a:rPr>
              <a:t>Return on time and complete attendance.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Clean up</a:t>
            </a:r>
          </a:p>
          <a:p>
            <a:pPr algn="l">
              <a:spcAft>
                <a:spcPts val="300"/>
              </a:spcAft>
            </a:pPr>
            <a:r>
              <a:rPr sz="1300" b="0">
                <a:solidFill>
                  <a:srgbClr val="5B6372"/>
                </a:solidFill>
                <a:latin typeface="Arial"/>
              </a:rPr>
              <a:t>Verify deletion of chargeable resources after every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VISUAL DOWNLOAD FLOW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Open LMS-TMS</a:t>
            </a:r>
          </a:p>
        </p:txBody>
      </p:sp>
      <p:sp>
        <p:nvSpPr>
          <p:cNvPr id="12" name="TextBox 11"/>
          <p:cNvSpPr txBox="1"/>
          <p:nvPr/>
        </p:nvSpPr>
        <p:spPr>
          <a:xfrm>
            <a:off x="86868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Course portal</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Sign in</a:t>
            </a:r>
          </a:p>
        </p:txBody>
      </p:sp>
      <p:sp>
        <p:nvSpPr>
          <p:cNvPr id="19" name="TextBox 18"/>
          <p:cNvSpPr txBox="1"/>
          <p:nvPr/>
        </p:nvSpPr>
        <p:spPr>
          <a:xfrm>
            <a:off x="362331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Registered email</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Open this course</a:t>
            </a:r>
          </a:p>
        </p:txBody>
      </p:sp>
      <p:sp>
        <p:nvSpPr>
          <p:cNvPr id="26" name="TextBox 25"/>
          <p:cNvSpPr txBox="1"/>
          <p:nvPr/>
        </p:nvSpPr>
        <p:spPr>
          <a:xfrm>
            <a:off x="637794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AWS SysOps</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Download</a:t>
            </a:r>
          </a:p>
        </p:txBody>
      </p:sp>
      <p:sp>
        <p:nvSpPr>
          <p:cNvPr id="33" name="TextBox 32"/>
          <p:cNvSpPr txBox="1"/>
          <p:nvPr/>
        </p:nvSpPr>
        <p:spPr>
          <a:xfrm>
            <a:off x="913257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Slides, LG, LP and Labs</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PROCEDURE BOUNDARY</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lab procedures are in the Learner Guide and the individual lab folders.</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22 HOURS DELIVERY · 2 HOURS ASSESSMENT · 4 LABS/DAY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Three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300" b="0">
                <a:solidFill>
                  <a:srgbClr val="5B6372"/>
                </a:solidFill>
                <a:latin typeface="Arial"/>
              </a:rPr>
              <a:t>Foundations, observability, EC2 and fleet operations · Labs 01–04</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300" b="0">
                <a:solidFill>
                  <a:srgbClr val="5B6372"/>
                </a:solidFill>
                <a:latin typeface="Arial"/>
              </a:rPr>
              <a:t>Reliability, continuity, deployment automation and security · Labs 05–08</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300" b="0">
                <a:solidFill>
                  <a:srgbClr val="5B6372"/>
                </a:solidFill>
                <a:latin typeface="Arial"/>
              </a:rPr>
              <a:t>Networking, data operations, integrated troubleshooting and assessment · Labs 09–12</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300" b="0">
                <a:solidFill>
                  <a:srgbClr val="5B6372"/>
                </a:solidFill>
                <a:latin typeface="Arial"/>
              </a:rPr>
              <a:t>WA-SAQ: 60 min · Case Study: 60 min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 WILL BE ABLE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200" b="0">
                <a:solidFill>
                  <a:srgbClr val="5B6372"/>
                </a:solidFill>
                <a:latin typeface="Arial"/>
              </a:rPr>
              <a:t>Maintain business continuity of AWS cloud operations to ensure stable service delivery.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200" b="0">
                <a:solidFill>
                  <a:srgbClr val="5B6372"/>
                </a:solidFill>
                <a:latin typeface="Arial"/>
              </a:rPr>
              <a:t>Implement secure AWS cloud infrastructure setup such as data loading and performance monitoring.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200" b="0">
                <a:solidFill>
                  <a:srgbClr val="5B6372"/>
                </a:solidFill>
                <a:latin typeface="Arial"/>
              </a:rPr>
              <a:t>Apply service quality standards to ensure security and compliance of AWS cloud operations.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200" b="0">
                <a:solidFill>
                  <a:srgbClr val="5B6372"/>
                </a:solidFill>
                <a:latin typeface="Arial"/>
              </a:rPr>
              <a:t>Analyse and resolve processing issues to ensure continuity and disaster recovery in AWS cloud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200" b="0">
                <a:solidFill>
                  <a:srgbClr val="5B6372"/>
                </a:solidFill>
                <a:latin typeface="Arial"/>
              </a:rPr>
              <a:t>Troubleshoot networking performance issues at scale for optimal AWS infrastructure operation.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Cloud Computing Application · LOG-TEM-3007-1.1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200" b="0">
                <a:solidFill>
                  <a:srgbClr val="5B6372"/>
                </a:solidFill>
                <a:latin typeface="Arial"/>
              </a:rPr>
              <a:t>Cloud computing infrastructure components and technologies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200" b="0">
                <a:solidFill>
                  <a:srgbClr val="5B6372"/>
                </a:solidFill>
                <a:latin typeface="Arial"/>
              </a:rPr>
              <a:t>Installation, configuration and troubleshooting of cloud computing infrastructures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200" b="0">
                <a:solidFill>
                  <a:srgbClr val="5B6372"/>
                </a:solidFill>
                <a:latin typeface="Arial"/>
              </a:rPr>
              <a:t>Installation, configuration and troubleshooting of software packages supporting cloud computing infrastructures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200" b="0">
                <a:solidFill>
                  <a:srgbClr val="5B6372"/>
                </a:solidFill>
                <a:latin typeface="Arial"/>
              </a:rPr>
              <a:t>Design, configuration, maintenance and troubleshooting of cloud computing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200" b="0">
                <a:solidFill>
                  <a:srgbClr val="5B6372"/>
                </a:solidFill>
                <a:latin typeface="Arial"/>
              </a:rPr>
              <a:t>Virtualisation technologies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Cloud Computing Application · LOG-TEM-3007-1.1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200" b="0">
                <a:solidFill>
                  <a:srgbClr val="5B6372"/>
                </a:solidFill>
                <a:latin typeface="Arial"/>
              </a:rPr>
              <a:t>Implement data loading, security, performance monitoring and tuning, capacity planning, backup and recovery</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200" b="0">
                <a:solidFill>
                  <a:srgbClr val="5B6372"/>
                </a:solidFill>
                <a:latin typeface="Arial"/>
              </a:rPr>
              <a:t>Implement performance diagnostics and troubleshooting at scale in a live environment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200" b="0">
                <a:solidFill>
                  <a:srgbClr val="5B6372"/>
                </a:solidFill>
                <a:latin typeface="Arial"/>
              </a:rPr>
              <a:t>Maintain availability and performance of cloud computing operations and ensure secure services with no unplanned downtime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200" b="0">
                <a:solidFill>
                  <a:srgbClr val="5B6372"/>
                </a:solidFill>
                <a:latin typeface="Arial"/>
              </a:rPr>
              <a:t>Analyse processing issues and data anomalies and identify solutions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200" b="0">
                <a:solidFill>
                  <a:srgbClr val="5B6372"/>
                </a:solidFill>
                <a:latin typeface="Arial"/>
              </a:rPr>
              <a:t>Implement and release cloud computing operations changes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200" b="0">
                <a:solidFill>
                  <a:srgbClr val="5B6372"/>
                </a:solidFill>
                <a:latin typeface="Arial"/>
              </a:rPr>
              <a:t>Implement IT risk-management measures for business continuity and disaster recovery</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200" b="0">
                <a:solidFill>
                  <a:srgbClr val="5B6372"/>
                </a:solidFill>
                <a:latin typeface="Arial"/>
              </a:rPr>
              <a:t>Implement service-quality standards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CURRENT CLOUDOPS BLUEPRINT · 10 TOPICS · 12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01 · Cloud Operations Foundations</a:t>
            </a:r>
          </a:p>
          <a:p>
            <a:pPr algn="l">
              <a:spcAft>
                <a:spcPts val="300"/>
              </a:spcAft>
            </a:pPr>
            <a:r>
              <a:rPr sz="1200" b="0">
                <a:solidFill>
                  <a:srgbClr val="5B6372"/>
                </a:solidFill>
                <a:latin typeface="Arial"/>
              </a:rPr>
              <a:t>Shared responsibility · regions and zones · operational excellence · SOA-C03 transition</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02 · Monitoring, Logging and Incident Response</a:t>
            </a:r>
          </a:p>
          <a:p>
            <a:pPr algn="l">
              <a:spcAft>
                <a:spcPts val="300"/>
              </a:spcAft>
            </a:pPr>
            <a:r>
              <a:rPr sz="1200" b="0">
                <a:solidFill>
                  <a:srgbClr val="5B6372"/>
                </a:solidFill>
                <a:latin typeface="Arial"/>
              </a:rPr>
              <a:t>CloudWatch · CloudTrail · EventBridge · alarms · anomaly detection · remediation</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03 · Compute, Virtualisation and Systems Management</a:t>
            </a:r>
          </a:p>
          <a:p>
            <a:pPr algn="l">
              <a:spcAft>
                <a:spcPts val="300"/>
              </a:spcAft>
            </a:pPr>
            <a:r>
              <a:rPr sz="1200" b="0">
                <a:solidFill>
                  <a:srgbClr val="5B6372"/>
                </a:solidFill>
                <a:latin typeface="Arial"/>
              </a:rPr>
              <a:t>EC2 lifecycle · AMIs · placement · Systems Manager · patching · Image Builder</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04 · Reliability, Elasticity and High Availability</a:t>
            </a:r>
          </a:p>
          <a:p>
            <a:pPr algn="l">
              <a:spcAft>
                <a:spcPts val="300"/>
              </a:spcAft>
            </a:pPr>
            <a:r>
              <a:rPr sz="1200" b="0">
                <a:solidFill>
                  <a:srgbClr val="5B6372"/>
                </a:solidFill>
                <a:latin typeface="Arial"/>
              </a:rPr>
              <a:t>Elastic Load Balancing · Auto Scaling · health checks · containers · graceful degradation</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05 · Backup, Restore and Business Continuity</a:t>
            </a:r>
          </a:p>
          <a:p>
            <a:pPr algn="l">
              <a:spcAft>
                <a:spcPts val="300"/>
              </a:spcAft>
            </a:pPr>
            <a:r>
              <a:rPr sz="1200" b="0">
                <a:solidFill>
                  <a:srgbClr val="5B6372"/>
                </a:solidFill>
                <a:latin typeface="Arial"/>
              </a:rPr>
              <a:t>RTO/RPO · AWS Backup · snapshots · replication · pilot light · warm standby</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06 · Deployment, Provisioning and Automation</a:t>
            </a:r>
          </a:p>
          <a:p>
            <a:pPr algn="l">
              <a:spcAft>
                <a:spcPts val="300"/>
              </a:spcAft>
            </a:pPr>
            <a:r>
              <a:rPr sz="1200" b="0">
                <a:solidFill>
                  <a:srgbClr val="5B6372"/>
                </a:solidFill>
                <a:latin typeface="Arial"/>
              </a:rPr>
              <a:t>CloudFormation · StackSets · change sets · drift · Systems Manager Automation · Git and IaC</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07 · Security, Identity and Compliance</a:t>
            </a:r>
          </a:p>
          <a:p>
            <a:pPr algn="l">
              <a:spcAft>
                <a:spcPts val="300"/>
              </a:spcAft>
            </a:pPr>
            <a:r>
              <a:rPr sz="1200" b="0">
                <a:solidFill>
                  <a:srgbClr val="5B6372"/>
                </a:solidFill>
                <a:latin typeface="Arial"/>
              </a:rPr>
              <a:t>IAM · Organizations · KMS · Config · Security Hub · GuardDuty · Inspector · Macie</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08 · Networking, DNS and Content Delivery</a:t>
            </a:r>
          </a:p>
          <a:p>
            <a:pPr algn="l">
              <a:spcAft>
                <a:spcPts val="300"/>
              </a:spcAft>
            </a:pPr>
            <a:r>
              <a:rPr sz="1200" b="0">
                <a:solidFill>
                  <a:srgbClr val="5B6372"/>
                </a:solidFill>
                <a:latin typeface="Arial"/>
              </a:rPr>
              <a:t>VPC · routes · security groups · NACLs · endpoints · Route 53 · CloudFront</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09 · Storage, Data and Database Operations</a:t>
            </a:r>
          </a:p>
          <a:p>
            <a:pPr algn="l">
              <a:spcAft>
                <a:spcPts val="300"/>
              </a:spcAft>
            </a:pPr>
            <a:r>
              <a:rPr sz="1200" b="0">
                <a:solidFill>
                  <a:srgbClr val="5B6372"/>
                </a:solidFill>
                <a:latin typeface="Arial"/>
              </a:rPr>
              <a:t>S3 · EBS · EFS · RDS · DynamoDB · lifecycle · performance · data protection</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10 · Performance, Cost and Integrated Troubleshooting</a:t>
            </a:r>
          </a:p>
          <a:p>
            <a:pPr algn="l">
              <a:spcAft>
                <a:spcPts val="300"/>
              </a:spcAft>
            </a:pPr>
            <a:r>
              <a:rPr sz="1200" b="0">
                <a:solidFill>
                  <a:srgbClr val="5B6372"/>
                </a:solidFill>
                <a:latin typeface="Arial"/>
              </a:rPr>
              <a:t>Bottleneck analysis · Cost Explorer · Trusted Advisor · runbooks · game days · capstone</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HANDS-ON CLOUD OPERATIONS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Learner account</a:t>
            </a:r>
          </a:p>
          <a:p>
            <a:pPr algn="l">
              <a:spcAft>
                <a:spcPts val="300"/>
              </a:spcAft>
            </a:pPr>
            <a:r>
              <a:rPr sz="1200" b="0">
                <a:solidFill>
                  <a:srgbClr val="5B6372"/>
                </a:solidFill>
                <a:latin typeface="Arial"/>
              </a:rPr>
              <a:t>Use only the account and Region authorised by the trainer.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AWS-native assets</a:t>
            </a:r>
          </a:p>
          <a:p>
            <a:pPr algn="l">
              <a:spcAft>
                <a:spcPts val="300"/>
              </a:spcAft>
            </a:pPr>
            <a:r>
              <a:rPr sz="1200" b="0">
                <a:solidFill>
                  <a:srgbClr val="5B6372"/>
                </a:solidFill>
                <a:latin typeface="Arial"/>
              </a:rPr>
              <a:t>Each folder includes editable YAML, JSON, CLI, shell or Python files.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Visual reference</a:t>
            </a:r>
          </a:p>
          <a:p>
            <a:pPr algn="l">
              <a:spcAft>
                <a:spcPts val="300"/>
              </a:spcAft>
            </a:pPr>
            <a:r>
              <a:rPr sz="1200" b="0">
                <a:solidFill>
                  <a:srgbClr val="5B6372"/>
                </a:solidFill>
                <a:latin typeface="Arial"/>
              </a:rPr>
              <a:t>Every lab includes an EXPECTED-ARCHITECTURE.jpg image.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Retain outputs, decisions, verification and cleanup records.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control</a:t>
            </a:r>
          </a:p>
          <a:p>
            <a:pPr algn="l">
              <a:spcAft>
                <a:spcPts val="300"/>
              </a:spcAft>
            </a:pPr>
            <a:r>
              <a:rPr sz="1200" b="0">
                <a:solidFill>
                  <a:srgbClr val="5B6372"/>
                </a:solidFill>
                <a:latin typeface="Arial"/>
              </a:rPr>
              <a:t>Use small resources, bounded tests and explicit cleanup.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Schedule</a:t>
            </a:r>
          </a:p>
          <a:p>
            <a:pPr algn="l">
              <a:spcAft>
                <a:spcPts val="300"/>
              </a:spcAft>
            </a:pPr>
            <a:r>
              <a:rPr sz="1200" b="0">
                <a:solidFill>
                  <a:srgbClr val="5B6372"/>
                </a:solidFill>
                <a:latin typeface="Arial"/>
              </a:rPr>
              <a:t>Exactly four labs are completed on each training day.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WA-SAQ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Briefing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Individual work</a:t>
            </a:r>
          </a:p>
          <a:p>
            <a:pPr algn="l">
              <a:spcAft>
                <a:spcPts val="300"/>
              </a:spcAft>
            </a:pPr>
            <a:r>
              <a:rPr sz="1200" b="0">
                <a:solidFill>
                  <a:srgbClr val="5B6372"/>
                </a:solidFill>
                <a:latin typeface="Arial"/>
              </a:rPr>
              <a:t>No discussion, recording or sharing of assessment scripts.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Use slides, Learner Guide and approved materials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Written Assessment</a:t>
            </a:r>
          </a:p>
          <a:p>
            <a:pPr algn="l">
              <a:spcAft>
                <a:spcPts val="300"/>
              </a:spcAft>
            </a:pPr>
            <a:r>
              <a:rPr sz="1200" b="0">
                <a:solidFill>
                  <a:srgbClr val="5B6372"/>
                </a:solidFill>
                <a:latin typeface="Arial"/>
              </a:rPr>
              <a:t>Five open-ended questions · K1–K5 · 60 minutes.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Case Study</a:t>
            </a:r>
          </a:p>
          <a:p>
            <a:pPr algn="l">
              <a:spcAft>
                <a:spcPts val="300"/>
              </a:spcAft>
            </a:pPr>
            <a:r>
              <a:rPr sz="1200" b="0">
                <a:solidFill>
                  <a:srgbClr val="5B6372"/>
                </a:solidFill>
                <a:latin typeface="Arial"/>
              </a:rPr>
              <a:t>Five connected tasks · A1–A7 · 60 minutes.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Submission</a:t>
            </a:r>
          </a:p>
          <a:p>
            <a:pPr algn="l">
              <a:spcAft>
                <a:spcPts val="300"/>
              </a:spcAft>
            </a:pPr>
            <a:r>
              <a:rPr sz="1200" b="0">
                <a:solidFill>
                  <a:srgbClr val="5B6372"/>
                </a:solidFill>
                <a:latin typeface="Arial"/>
              </a:rPr>
              <a:t>Complete and upload the candidate papers through LMS-TMS.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Outcome</a:t>
            </a:r>
          </a:p>
          <a:p>
            <a:pPr algn="l">
              <a:spcAft>
                <a:spcPts val="300"/>
              </a:spcAft>
            </a:pPr>
            <a:r>
              <a:rPr sz="1200" b="0">
                <a:solidFill>
                  <a:srgbClr val="5B6372"/>
                </a:solidFill>
                <a:latin typeface="Arial"/>
              </a:rPr>
              <a:t>Competent or Not Yet Competent; reassessment and appeal rights apply.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TRAQOM</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Course feedback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Attendance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WA-SAQ</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questions · 60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Case Study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tasks · 60 min</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Submit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LMS-TMS and sign-off</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CONFIDENTIALITY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Candidate papers are learner-facing; answer keys remain trainer-only.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AWS CERTIFIED CLOUDOPS ENGINEER — ASSOCIATE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Current SOA-C03 Exam Domain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F59E0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Three domains carry equal 22% weight; the course integrates all five through observability, controlled change, recovery and troubleshooting.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CURRENT AWS AUTHORITY · HTTPS://EXAMS.TERTIARYINFOTECH.COM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Certification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Current exam</a:t>
            </a:r>
          </a:p>
          <a:p>
            <a:pPr algn="l">
              <a:spcAft>
                <a:spcPts val="300"/>
              </a:spcAft>
            </a:pPr>
            <a:r>
              <a:rPr sz="1200" b="0">
                <a:solidFill>
                  <a:srgbClr val="5B6372"/>
                </a:solidFill>
                <a:latin typeface="Arial"/>
              </a:rPr>
              <a:t>AWS Certified CloudOps Engineer — Associate (SOA-C03).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 format</a:t>
            </a:r>
          </a:p>
          <a:p>
            <a:pPr algn="l">
              <a:spcAft>
                <a:spcPts val="300"/>
              </a:spcAft>
            </a:pPr>
            <a:r>
              <a:rPr sz="1200" b="0">
                <a:solidFill>
                  <a:srgbClr val="5B6372"/>
                </a:solidFill>
                <a:latin typeface="Arial"/>
              </a:rPr>
              <a:t>65 questions · 130 minutes · scaled passing score 720.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transition</a:t>
            </a:r>
          </a:p>
          <a:p>
            <a:pPr algn="l">
              <a:spcAft>
                <a:spcPts val="300"/>
              </a:spcAft>
            </a:pPr>
            <a:r>
              <a:rPr sz="1200" b="0">
                <a:solidFill>
                  <a:srgbClr val="5B6372"/>
                </a:solidFill>
                <a:latin typeface="Arial"/>
              </a:rPr>
              <a:t>The WSQ title remains SysOps; exam-readiness content follows the current CloudOps guide.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Practice Exam</a:t>
            </a:r>
          </a:p>
          <a:p>
            <a:pPr algn="l">
              <a:spcAft>
                <a:spcPts val="300"/>
              </a:spcAft>
            </a:pPr>
            <a:r>
              <a:rPr sz="1200" b="0">
                <a:solidFill>
                  <a:srgbClr val="5B6372"/>
                </a:solidFill>
                <a:latin typeface="Arial"/>
              </a:rPr>
              <a:t>Open exams.tertiaryinfotech.com and select the matching AWS CloudOps / SysOps practice exam; never use exam dumps.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Readiness loop</a:t>
            </a:r>
          </a:p>
          <a:p>
            <a:pPr algn="l">
              <a:spcAft>
                <a:spcPts val="300"/>
              </a:spcAft>
            </a:pPr>
            <a:r>
              <a:rPr sz="1200" b="0">
                <a:solidFill>
                  <a:srgbClr val="5B6372"/>
                </a:solidFill>
                <a:latin typeface="Arial"/>
              </a:rPr>
              <a:t>Explain the service choice, apply the labs, interpret evidence and justify recovery.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200" b="0">
                <a:solidFill>
                  <a:srgbClr val="5B6372"/>
                </a:solidFill>
                <a:latin typeface="Arial"/>
              </a:rPr>
              <a:t>Current guide version 1.1, published 1 June 2026.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VERSION v5.0 · 23 August 2026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Source and Version Authority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WSQ authority</a:t>
            </a:r>
          </a:p>
          <a:p>
            <a:pPr algn="l">
              <a:spcAft>
                <a:spcPts val="300"/>
              </a:spcAft>
            </a:pPr>
            <a:r>
              <a:rPr sz="1200" b="0">
                <a:solidFill>
                  <a:srgbClr val="5B6372"/>
                </a:solidFill>
                <a:latin typeface="Arial"/>
              </a:rPr>
              <a:t>Live Tertiary course page and Assessment Plan v5.0 — Course code, 24-hour duration, five LO, K1–K5, A1–A7 and WA+CS design.</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Legacy content</a:t>
            </a:r>
          </a:p>
          <a:p>
            <a:pPr algn="l">
              <a:spcAft>
                <a:spcPts val="300"/>
              </a:spcAft>
            </a:pPr>
            <a:r>
              <a:rPr sz="1200" b="0">
                <a:solidFill>
                  <a:srgbClr val="5B6372"/>
                </a:solidFill>
                <a:latin typeface="Arial"/>
              </a:rPr>
              <a:t>Reference v3/v4 PowerPoints and Drive Activities dataset — Preserved useful EC2, SSM, CloudFormation, storage, monitoring, security and networking coverage; procedures moved out of the deck.</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Certification authority</a:t>
            </a:r>
          </a:p>
          <a:p>
            <a:pPr algn="l">
              <a:spcAft>
                <a:spcPts val="300"/>
              </a:spcAft>
            </a:pPr>
            <a:r>
              <a:rPr sz="1200" b="0">
                <a:solidFill>
                  <a:srgbClr val="5B6372"/>
                </a:solidFill>
                <a:latin typeface="Arial"/>
              </a:rPr>
              <a:t>AWS Certified CloudOps Engineer - Associate SOA-C03 Exam Guide v1.1 — Current five-domain blueprint and scope, including containers, multi-account operations, automation and IaC.</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Architecture guidance</a:t>
            </a:r>
          </a:p>
          <a:p>
            <a:pPr algn="l">
              <a:spcAft>
                <a:spcPts val="300"/>
              </a:spcAft>
            </a:pPr>
            <a:r>
              <a:rPr sz="1200" b="0">
                <a:solidFill>
                  <a:srgbClr val="5B6372"/>
                </a:solidFill>
                <a:latin typeface="Arial"/>
              </a:rPr>
              <a:t>AWS Well-Architected Framework and official AWS service documentation — Operational excellence, security, reliability, performance, cost and sustainability practices.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Assessment authority</a:t>
            </a:r>
          </a:p>
          <a:p>
            <a:pPr algn="l">
              <a:spcAft>
                <a:spcPts val="300"/>
              </a:spcAft>
            </a:pPr>
            <a:r>
              <a:rPr sz="1200" b="0">
                <a:solidFill>
                  <a:srgbClr val="5B6372"/>
                </a:solidFill>
                <a:latin typeface="Arial"/>
              </a:rPr>
              <a:t>Drive-held WA/CS v2 papers and Assessment Plan v5.0 — Instrument type, five-item counts, 60-minute timings and controlled K/A coverage.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 · LO1 · LO2 · K1 · K5 · A1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Operations Foundations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Shared responsibility · regions and zones · operational excellence · SOA-C03 transition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Foundation across all five SOA-C03 domains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Cloud Operations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Operate for outcomes</a:t>
            </a:r>
          </a:p>
          <a:p>
            <a:pPr algn="l">
              <a:spcAft>
                <a:spcPts val="300"/>
              </a:spcAft>
            </a:pPr>
            <a:r>
              <a:rPr sz="1200" b="0">
                <a:solidFill>
                  <a:srgbClr val="5B6372"/>
                </a:solidFill>
                <a:latin typeface="Arial"/>
              </a:rPr>
              <a:t>Availability, security, performance and cost are managed as measurable service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Know the responsibility boundary</a:t>
            </a:r>
          </a:p>
          <a:p>
            <a:pPr algn="l">
              <a:spcAft>
                <a:spcPts val="300"/>
              </a:spcAft>
            </a:pPr>
            <a:r>
              <a:rPr sz="1200" b="0">
                <a:solidFill>
                  <a:srgbClr val="5B6372"/>
                </a:solidFill>
                <a:latin typeface="Arial"/>
              </a:rPr>
              <a:t>AWS secures the cloud; customers secure configurations, identities, data and workloads in the cloud.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Design for failure domains</a:t>
            </a:r>
          </a:p>
          <a:p>
            <a:pPr algn="l">
              <a:spcAft>
                <a:spcPts val="300"/>
              </a:spcAft>
            </a:pPr>
            <a:r>
              <a:rPr sz="1200" b="0">
                <a:solidFill>
                  <a:srgbClr val="5B6372"/>
                </a:solidFill>
                <a:latin typeface="Arial"/>
              </a:rPr>
              <a:t>Regions, Availability Zones and edge locations create distinct resilience and latency choices.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Use evidence before change</a:t>
            </a:r>
          </a:p>
          <a:p>
            <a:pPr algn="l">
              <a:spcAft>
                <a:spcPts val="300"/>
              </a:spcAft>
            </a:pPr>
            <a:r>
              <a:rPr sz="1200" b="0">
                <a:solidFill>
                  <a:srgbClr val="5B6372"/>
                </a:solidFill>
                <a:latin typeface="Arial"/>
              </a:rPr>
              <a:t>Metrics, logs, configuration history and events establish the operational baseline.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SysOps to CloudOps — What Changed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Area</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Legacy SOA-C02 emphasis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Current SOA-C03 emphasis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Role name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SysOps Administrator</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CloudOps Engineer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Workloads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EC2-heavy operations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Compute, containers, serverless and hybrid operations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Scope</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Six broad domains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Five task-oriented domains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AWS-native operations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IaC, Git and third-party automation are explicit</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200" b="1">
                <a:solidFill>
                  <a:srgbClr val="7C3AED"/>
                </a:solidFill>
                <a:latin typeface="Arial"/>
              </a:rPr>
              <a:t>WHEN IT MATTERS  </a:t>
            </a:r>
            <a:r>
              <a:rPr sz="1200" b="0">
                <a:solidFill>
                  <a:srgbClr val="161B26"/>
                </a:solidFill>
                <a:latin typeface="Arial"/>
              </a:rPr>
              <a:t>The WSQ course title and code remain unchanged; exam-readiness content follows the current SOA-C03 guide.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Cloud Operations Control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context</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and risk</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Decide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Runbook and authority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Change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Small and reversible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Outcome and evidence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PROFESSIONAL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operational change must have a reason, owner, verification signal and rollback path.</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Global Infrastructure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Region</a:t>
            </a:r>
          </a:p>
          <a:p>
            <a:pPr algn="l">
              <a:spcAft>
                <a:spcPts val="300"/>
              </a:spcAft>
            </a:pPr>
            <a:r>
              <a:rPr sz="1300" b="0">
                <a:solidFill>
                  <a:srgbClr val="5B6372"/>
                </a:solidFill>
                <a:latin typeface="Arial"/>
              </a:rPr>
              <a:t>Geographic boundary for sovereignty, latency and disaster-recovery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 Zone</a:t>
            </a:r>
          </a:p>
          <a:p>
            <a:pPr algn="l">
              <a:spcAft>
                <a:spcPts val="300"/>
              </a:spcAft>
            </a:pPr>
            <a:r>
              <a:rPr sz="1300" b="0">
                <a:solidFill>
                  <a:srgbClr val="5B6372"/>
                </a:solidFill>
                <a:latin typeface="Arial"/>
              </a:rPr>
              <a:t>Independent failure domain connected with low-latency networking.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Edge</a:t>
            </a:r>
          </a:p>
          <a:p>
            <a:pPr algn="l">
              <a:spcAft>
                <a:spcPts val="300"/>
              </a:spcAft>
            </a:pPr>
            <a:r>
              <a:rPr sz="1300" b="0">
                <a:solidFill>
                  <a:srgbClr val="5B6372"/>
                </a:solidFill>
                <a:latin typeface="Arial"/>
              </a:rPr>
              <a:t>CloudFront and Route 53 move delivery and routing closer to users.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and hybrid</a:t>
            </a:r>
          </a:p>
          <a:p>
            <a:pPr algn="l">
              <a:spcAft>
                <a:spcPts val="300"/>
              </a:spcAft>
            </a:pPr>
            <a:r>
              <a:rPr sz="1300" b="0">
                <a:solidFill>
                  <a:srgbClr val="5B6372"/>
                </a:solidFill>
                <a:latin typeface="Arial"/>
              </a:rPr>
              <a:t>Outposts, Local Zones and connected environments extend the operating boundary.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Availability Improves with Independent Failure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More failure domains increase potential resilience only when dependencies, health checks and failover are also designed correctly.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Shared Responsibility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AWS responsibility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Customer responsibility</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Facilities and hardware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Physical security, hosts and core network</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Choose Regions and resilience strategy</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Managed service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Service infrastructure and platform</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Identity, configuration, data and use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EC2 workload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Underlying facilities and hypervisor</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Guest OS, patches, application and traffic controls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Data</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Durable service mechanisms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Classification, encryption, retention and access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Well-Architected Operational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Prepare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must be observable?</a:t>
            </a:r>
          </a:p>
          <a:p>
            <a:pPr>
              <a:spcAft>
                <a:spcPts val="900"/>
              </a:spcAft>
            </a:pPr>
            <a:r>
              <a:rPr sz="1400" b="0">
                <a:solidFill>
                  <a:srgbClr val="161B26"/>
                </a:solidFill>
                <a:latin typeface="Arial"/>
              </a:rPr>
              <a:t>•  What runbooks and permissions exist?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Operate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is normal?</a:t>
            </a:r>
          </a:p>
          <a:p>
            <a:pPr>
              <a:spcAft>
                <a:spcPts val="900"/>
              </a:spcAft>
            </a:pPr>
            <a:r>
              <a:rPr sz="1400" b="0">
                <a:solidFill>
                  <a:srgbClr val="161B26"/>
                </a:solidFill>
                <a:latin typeface="Arial"/>
              </a:rPr>
              <a:t>•  Who responds to deviation?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Evolve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did evidence teach?</a:t>
            </a:r>
          </a:p>
          <a:p>
            <a:pPr>
              <a:spcAft>
                <a:spcPts val="900"/>
              </a:spcAft>
            </a:pPr>
            <a:r>
              <a:rPr sz="1400" b="0">
                <a:solidFill>
                  <a:srgbClr val="161B26"/>
                </a:solidFill>
                <a:latin typeface="Arial"/>
              </a:rPr>
              <a:t>•  Which control prevents recurrence?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Operations 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console is an interface—not the source of truth.</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Treat configuration, telemetry, change history and verification evidence as the durable operational record.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Cloud Operations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Availability, security, performance and cost are managed as measurable service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AWS secures the cloud; customers secure configurations, identities, data and workloads in the cloud.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Use the control loop and responsibility boundary to frame an operational decision.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Identify the configuration, telemetry, change and verification record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advClick="1">
    <p:push dir="l"/>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 · LO2 · LO4 · K1 · K3 · K4 · A1 · A4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Monitoring, Logging and Incident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CloudWatch · CloudTrail · EventBridge · alarms · anomaly detection · remediation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advClick="1">
    <p:push dir="l"/>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1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Monitoring, Logging and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Metrics show behaviour</a:t>
            </a:r>
          </a:p>
          <a:p>
            <a:pPr algn="l">
              <a:spcAft>
                <a:spcPts val="300"/>
              </a:spcAft>
            </a:pPr>
            <a:r>
              <a:rPr sz="1200" b="0">
                <a:solidFill>
                  <a:srgbClr val="5B6372"/>
                </a:solidFill>
                <a:latin typeface="Arial"/>
              </a:rPr>
              <a:t>Dimensions, periods and statistics turn raw measurements into service signals.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Logs explain events</a:t>
            </a:r>
          </a:p>
          <a:p>
            <a:pPr algn="l">
              <a:spcAft>
                <a:spcPts val="300"/>
              </a:spcAft>
            </a:pPr>
            <a:r>
              <a:rPr sz="1200" b="0">
                <a:solidFill>
                  <a:srgbClr val="5B6372"/>
                </a:solidFill>
                <a:latin typeface="Arial"/>
              </a:rPr>
              <a:t>Structured records provide detail for search, correlation, retention and audit.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Traces connect dependencies</a:t>
            </a:r>
          </a:p>
          <a:p>
            <a:pPr algn="l">
              <a:spcAft>
                <a:spcPts val="300"/>
              </a:spcAft>
            </a:pPr>
            <a:r>
              <a:rPr sz="1200" b="0">
                <a:solidFill>
                  <a:srgbClr val="5B6372"/>
                </a:solidFill>
                <a:latin typeface="Arial"/>
              </a:rPr>
              <a:t>A request path exposes latency and failure across distributed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Incidents require controlled response</a:t>
            </a:r>
          </a:p>
          <a:p>
            <a:pPr algn="l">
              <a:spcAft>
                <a:spcPts val="300"/>
              </a:spcAft>
            </a:pPr>
            <a:r>
              <a:rPr sz="1200" b="0">
                <a:solidFill>
                  <a:srgbClr val="5B6372"/>
                </a:solidFill>
                <a:latin typeface="Arial"/>
              </a:rPr>
              <a:t>Detection, triage, containment, recovery and learning form one evidence chain.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IMAGEGEN VISUAL · TOPIC 02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Observe, Decide, Remediate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observability-remediation.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0B981"/>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Read the scene as an operational control loop: signal, context, safe action, verification and escalation.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Telemetry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Instrument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Metrics, logs and traces</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Collect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Agents and service…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Store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Retention and protection</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Analyse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Queries and correlation</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Alert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Actionable threshold</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Human or automation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DESIGN TEST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signal is useful only when it identifies impact, owner and next safe action.</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CloudTrail and Config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Service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Primary question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evidence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CloudWatch</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is the workload behaving?</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Metrics, logs, alarms and dashboards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CloudTrail</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Who called which AWS API, when and from where?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Management and data events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Config</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What configuration existed and was it compliant?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Configuration history and rule evaluation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Composite Signals Reduce Alert Noise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Filtering transient and context-free signals can preserve actionable detection while reducing noise.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Alarm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Statistic</a:t>
            </a:r>
          </a:p>
          <a:p>
            <a:pPr algn="l">
              <a:spcAft>
                <a:spcPts val="300"/>
              </a:spcAft>
            </a:pPr>
            <a:r>
              <a:rPr sz="1300" b="0">
                <a:solidFill>
                  <a:srgbClr val="5B6372"/>
                </a:solidFill>
                <a:latin typeface="Arial"/>
              </a:rPr>
              <a:t>Average can hide peaks; percentiles expose tail latency.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Period</a:t>
            </a:r>
          </a:p>
          <a:p>
            <a:pPr algn="l">
              <a:spcAft>
                <a:spcPts val="300"/>
              </a:spcAft>
            </a:pPr>
            <a:r>
              <a:rPr sz="1300" b="0">
                <a:solidFill>
                  <a:srgbClr val="5B6372"/>
                </a:solidFill>
                <a:latin typeface="Arial"/>
              </a:rPr>
              <a:t>Short periods detect quickly but may amplify noise.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data</a:t>
            </a:r>
          </a:p>
          <a:p>
            <a:pPr algn="l">
              <a:spcAft>
                <a:spcPts val="300"/>
              </a:spcAft>
            </a:pPr>
            <a:r>
              <a:rPr sz="1300" b="0">
                <a:solidFill>
                  <a:srgbClr val="5B6372"/>
                </a:solidFill>
                <a:latin typeface="Arial"/>
              </a:rPr>
              <a:t>Choose breaching, not breaching, ignore or missing deliberately.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300" b="0">
                <a:solidFill>
                  <a:srgbClr val="5B6372"/>
                </a:solidFill>
                <a:latin typeface="Arial"/>
              </a:rPr>
              <a:t>Notify, scale or remediate only with tested permissions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 and timestamp</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Triage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Scope and severity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Contain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Limit blast radius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Restore service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data integrity</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Review</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Actions and owners</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A4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Separate observed evidence, hypothesis, decision and result throughout the incident record.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Threshold vs Anomaly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Choice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 when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Static threshold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Transparent and predictable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 meaningful limit is known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Anomaly detection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Adapts to time-varying baseline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Seasonality makes one limit noisy</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Composite alarm</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Combines symptom and impact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One signal alone is insufficient</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Metric math</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Derives rates and ratios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Raw counts need context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Trigger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sustained evidence</a:t>
            </a:r>
          </a:p>
          <a:p>
            <a:pPr>
              <a:spcAft>
                <a:spcPts val="900"/>
              </a:spcAft>
            </a:pPr>
            <a:r>
              <a:rPr sz="1400" b="0">
                <a:solidFill>
                  <a:srgbClr val="161B26"/>
                </a:solidFill>
                <a:latin typeface="Arial"/>
              </a:rPr>
              <a:t>•  Prevent recursive events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Authority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Least-privilege execution role</a:t>
            </a:r>
          </a:p>
          <a:p>
            <a:pPr>
              <a:spcAft>
                <a:spcPts val="900"/>
              </a:spcAft>
            </a:pPr>
            <a:r>
              <a:rPr sz="1400" b="0">
                <a:solidFill>
                  <a:srgbClr val="161B26"/>
                </a:solidFill>
                <a:latin typeface="Arial"/>
              </a:rPr>
              <a:t>•  Separate approval for high-risk action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Verification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intended state</a:t>
            </a:r>
          </a:p>
          <a:p>
            <a:pPr>
              <a:spcAft>
                <a:spcPts val="900"/>
              </a:spcAft>
            </a:pPr>
            <a:r>
              <a:rPr sz="1400" b="0">
                <a:solidFill>
                  <a:srgbClr val="161B26"/>
                </a:solidFill>
                <a:latin typeface="Arial"/>
              </a:rPr>
              <a:t>•  Escalate when remediation fails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Observability and Incident Detection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K4, A1 and A4 by creating a dashboard, alarm, CloudTrail evidence query and EventBridge detection rule for one tagged workload.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measurable service signals, route one actionable event and record an evidence-led incident hypothesis.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CloudWatch dashboard, alarm definition, EventBridge pattern, evidence log and validation screenshots.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CloudTrail · EventBridge · SNS · AWS CLI · CloudShell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dashboard and alarm reference the assigned workload; CloudTrail evidence names the actor and event; the EventBridge pattern is valid; the incident record distinguishes observation from hypothesis; validation emits LAB 01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01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Instrument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Metrics and logs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Collect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Agent and service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Alarm</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Actionable signal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Notify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Owner and context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Evidence and cleanup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Observability and Incident Detection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dashboard and alarm reference the assigned workload; CloudTrail evidence names the actor and event; the EventBridge pattern is valid; the incident record distinguishes observation from hypothesis; validation emits LAB 01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Automate Event-Driven Incident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K4, A1 and A4 by routing a controlled AWS event through EventBridge, invoking a least-privilege remediation function and preserving an auditable triage record.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an event pattern and Lambda triage function that records evidence and recommends a bounded next action.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An EventBridge rule, Lambda triage function, test event, CloudWatch Logs evidence and incident decision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EventBridge · Lambda · CloudTrail · CloudWatch Logs · IAM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test and real events reach the Lambda target, logs contain the event ID and actor context, no automatic network modification occurs, the decision record names authority and verification, and validation emits LAB 02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02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Event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Matched condition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EventBridge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Triage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Context enrichment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Bounded action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Audit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Result and exception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Automate Event-Driven Incident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test and real events reach the Lambda target, logs contain the event ID and actor context, no automatic network modification occurs, the decision record names authority and verification, and validation emits LAB 02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Monitoring, Logging and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Dimensions, periods and statistics turn raw measurements into service signals.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Structured records provide detail for search, correlation, retention and audit.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K1, K3, K4, A1 and A4 by creating a dashboard, alarm, CloudTrail evidence query and EventBridge detection rule for one tagged workload.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The dashboard and alarm reference the assigned workload; CloudTrail evidence names the actor and event; the EventBridge pattern is valid; the incident record distinguishes observation from hypothesis; validation emits LAB 01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advClick="1">
    <p:push dir="l"/>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 · LO1 · LO2 · K3 · K5 · A3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Compute, Virtualisation and Systems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EC2 lifecycle · AMIs · placement · Systems Manager · patching · Image Builder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advClick="1">
    <p:push dir="l"/>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Domains 1 and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Compute, Virtualisation and Systems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Treat instances as managed nodes</a:t>
            </a:r>
          </a:p>
          <a:p>
            <a:pPr algn="l">
              <a:spcAft>
                <a:spcPts val="300"/>
              </a:spcAft>
            </a:pPr>
            <a:r>
              <a:rPr sz="1200" b="0">
                <a:solidFill>
                  <a:srgbClr val="5B6372"/>
                </a:solidFill>
                <a:latin typeface="Arial"/>
              </a:rPr>
              <a:t>Inventory, patch, access and automate consistently across a fleet.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Images are controlled supply-chain inputs</a:t>
            </a:r>
          </a:p>
          <a:p>
            <a:pPr algn="l">
              <a:spcAft>
                <a:spcPts val="300"/>
              </a:spcAft>
            </a:pPr>
            <a:r>
              <a:rPr sz="1200" b="0">
                <a:solidFill>
                  <a:srgbClr val="5B6372"/>
                </a:solidFill>
                <a:latin typeface="Arial"/>
              </a:rPr>
              <a:t>Build, scan, test and version AMIs instead of hand-configuring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Placement affects failure and performance</a:t>
            </a:r>
          </a:p>
          <a:p>
            <a:pPr algn="l">
              <a:spcAft>
                <a:spcPts val="300"/>
              </a:spcAft>
            </a:pPr>
            <a:r>
              <a:rPr sz="1200" b="0">
                <a:solidFill>
                  <a:srgbClr val="5B6372"/>
                </a:solidFill>
                <a:latin typeface="Arial"/>
              </a:rPr>
              <a:t>Spread, partition and cluster strategies solve different operational needs.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Lifecycle actions need coordination</a:t>
            </a:r>
          </a:p>
          <a:p>
            <a:pPr algn="l">
              <a:spcAft>
                <a:spcPts val="300"/>
              </a:spcAft>
            </a:pPr>
            <a:r>
              <a:rPr sz="1200" b="0">
                <a:solidFill>
                  <a:srgbClr val="5B6372"/>
                </a:solidFill>
                <a:latin typeface="Arial"/>
              </a:rPr>
              <a:t>Launch, stop, terminate and scale transitions require hooks and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Purchase and Capacity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value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Risk / constraint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On-Demand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Flexible baseline and unpredictable workloads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Higher unit cost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Savings Plans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Commitment discount across eligible usage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Forecast and commitment risk</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Reserved capacity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Capacity assurance in an AZ</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Scope and utilisation management</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Spot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Large discount for interruptible work</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Two-minute interruption and capacity variability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Golden Image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Source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Hardened base image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Build</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Versioned components</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Scan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Vulnerability and policy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Test</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Boot and workload checks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Distribute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Accounts and Regions</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Retire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Deprecate old images</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A5 CONTROL</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 image release is an operational change with evidence, version and rollback.</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Patch Compliance by Fleet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Patch compliance cannot exceed managed-node visibility; onboard and inventory the fleet before enforcing targets.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Systems Manager Capabilities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Session Manager</a:t>
            </a:r>
          </a:p>
          <a:p>
            <a:pPr algn="l">
              <a:spcAft>
                <a:spcPts val="300"/>
              </a:spcAft>
            </a:pPr>
            <a:r>
              <a:rPr sz="1300" b="0">
                <a:solidFill>
                  <a:srgbClr val="5B6372"/>
                </a:solidFill>
                <a:latin typeface="Arial"/>
              </a:rPr>
              <a:t>Auditable shell access without inbound SSH or bastion exposure.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Run Command</a:t>
            </a:r>
          </a:p>
          <a:p>
            <a:pPr algn="l">
              <a:spcAft>
                <a:spcPts val="300"/>
              </a:spcAft>
            </a:pPr>
            <a:r>
              <a:rPr sz="1300" b="0">
                <a:solidFill>
                  <a:srgbClr val="5B6372"/>
                </a:solidFill>
                <a:latin typeface="Arial"/>
              </a:rPr>
              <a:t>Execute controlled commands across tagged targets.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Patch Manager</a:t>
            </a:r>
          </a:p>
          <a:p>
            <a:pPr algn="l">
              <a:spcAft>
                <a:spcPts val="300"/>
              </a:spcAft>
            </a:pPr>
            <a:r>
              <a:rPr sz="1300" b="0">
                <a:solidFill>
                  <a:srgbClr val="5B6372"/>
                </a:solidFill>
                <a:latin typeface="Arial"/>
              </a:rPr>
              <a:t>Baseline, maintenance window, compliance and remediation.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300" b="0">
                <a:solidFill>
                  <a:srgbClr val="5B6372"/>
                </a:solidFill>
                <a:latin typeface="Arial"/>
              </a:rPr>
              <a:t>Runbooks coordinate multi-step operational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Placement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Strategy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Optimises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Failure characteristic</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Cluster</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Low-latency high-throughput east-west traffic</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Single-AZ concentration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Spread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Small number of critical instances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Distinct underlying hardware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Partition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Large distributed workloads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Partition-aware failure isolation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Safe Fleet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Select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Tags and inventory</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Canary</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One representative node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Execute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Controlled concurrency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errors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Expand</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Waves by risk</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Rollback</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Known-good state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OPERATIONS RULE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Scale the change only after the canary evidence meets the acceptance threshold.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Fleet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a server cannot be identified, accessed, patched and replaced consistently, it is not operationally managed.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tags, roles, inventory, image pipelines and Systems Manager to turn instances into a governed fleet.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an EC2 Fleet with Systems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K5, A3 and A5 by onboarding a managed node, using Session Manager and Run Command, assessing patch compliance and executing a controlled Automation runbook.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 least-privilege managed-node baseline and produce patch, command and change evidence without exposing inbound administration ports.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An EC2 managed node, SSM document, patch-compliance report, automation execution record and rollback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EC2 · IAM · Systems Manager · Session Manager · Run Command · Patch Manager · Automation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instance is managed without public SSH, the custom document validates, command and compliance evidence are present, the change record includes verification and rollback, and validation emits LAB 03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03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Inventory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Managed nodes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Canary</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One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Execute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Controlled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Patch compliance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Rollback</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Change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an EC2 Fleet with Systems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instance is managed without public SSH, the custom document validates, command and compliance evidence are present, the change record includes verification and rollback, and validation emits LAB 03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Compute, Virtualisation and Systems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Inventory, patch, access and automate consistently across a fleet.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Build, scan, test and version AMIs instead of hand-configuring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K3, K5, A3 and A5 by onboarding a managed node, using Session Manager and Run Command, assessing patch compliance and executing a controlled Automation runbook.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The instance is managed without public SSH, the custom document validates, command and compliance evidence are present, the change record includes verification and rollback, and validation emits LAB 03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advClick="1">
    <p:push dir="l"/>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 · LO1 · K4 · K5 · A3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Reliability, Elasticity and High Availability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Elastic Load Balancing · Auto Scaling · health checks · containers · graceful degradation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advClick="1">
    <p:push dir="l"/>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2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Reliability, Elasticity and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High availability is an end-to-end property</a:t>
            </a:r>
          </a:p>
          <a:p>
            <a:pPr algn="l">
              <a:spcAft>
                <a:spcPts val="300"/>
              </a:spcAft>
            </a:pPr>
            <a:r>
              <a:rPr sz="1200" b="0">
                <a:solidFill>
                  <a:srgbClr val="5B6372"/>
                </a:solidFill>
                <a:latin typeface="Arial"/>
              </a:rPr>
              <a:t>Compute redundancy fails if identity, data or network dependencies remain single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Elasticity follows demand</a:t>
            </a:r>
          </a:p>
          <a:p>
            <a:pPr algn="l">
              <a:spcAft>
                <a:spcPts val="300"/>
              </a:spcAft>
            </a:pPr>
            <a:r>
              <a:rPr sz="1200" b="0">
                <a:solidFill>
                  <a:srgbClr val="5B6372"/>
                </a:solidFill>
                <a:latin typeface="Arial"/>
              </a:rPr>
              <a:t>Auto Scaling changes capacity using a measurable signal and bounded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Health checks drive routing</a:t>
            </a:r>
          </a:p>
          <a:p>
            <a:pPr algn="l">
              <a:spcAft>
                <a:spcPts val="300"/>
              </a:spcAft>
            </a:pPr>
            <a:r>
              <a:rPr sz="1200" b="0">
                <a:solidFill>
                  <a:srgbClr val="5B6372"/>
                </a:solidFill>
                <a:latin typeface="Arial"/>
              </a:rPr>
              <a:t>A check must represent the user's ability to receive a correct response.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Resilience requires recovery</a:t>
            </a:r>
          </a:p>
          <a:p>
            <a:pPr algn="l">
              <a:spcAft>
                <a:spcPts val="300"/>
              </a:spcAft>
            </a:pPr>
            <a:r>
              <a:rPr sz="1200" b="0">
                <a:solidFill>
                  <a:srgbClr val="5B6372"/>
                </a:solidFill>
                <a:latin typeface="Arial"/>
              </a:rPr>
              <a:t>Design degradation, retry, failover and rollback before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 and 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workload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ALB</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Layer 7 HTTP routing, host/path rules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Web, APIs and containers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NLB</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Layer 4 performance and static IP</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TCP/UDP/TLS and extreme scale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GWLB</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Transparent appliance insertion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Firewalls and inspection fleets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 Path and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DNS</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Resolve healthy endpoint</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Load balancer</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Select target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Target group</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port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Application</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Dependency-aware response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Telemetry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Latency and errors</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Scaling</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Capacity response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TROUBLESHOOTING</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Follow the request path in order; do not jump directly to the instance.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Scaling Policy Behaviour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Target tracking follows demand with delay; warm-up and cooldown prevent unstable oscillation.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 Scaling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Desired capacity</a:t>
            </a:r>
          </a:p>
          <a:p>
            <a:pPr algn="l">
              <a:spcAft>
                <a:spcPts val="300"/>
              </a:spcAft>
            </a:pPr>
            <a:r>
              <a:rPr sz="1300" b="0">
                <a:solidFill>
                  <a:srgbClr val="5B6372"/>
                </a:solidFill>
                <a:latin typeface="Arial"/>
              </a:rPr>
              <a:t>The current fleet target between minimum and maximum bounds.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Target tracking</a:t>
            </a:r>
          </a:p>
          <a:p>
            <a:pPr algn="l">
              <a:spcAft>
                <a:spcPts val="300"/>
              </a:spcAft>
            </a:pPr>
            <a:r>
              <a:rPr sz="1300" b="0">
                <a:solidFill>
                  <a:srgbClr val="5B6372"/>
                </a:solidFill>
                <a:latin typeface="Arial"/>
              </a:rPr>
              <a:t>Adjusts capacity to hold a metric near a chosen target.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Step scaling</a:t>
            </a:r>
          </a:p>
          <a:p>
            <a:pPr algn="l">
              <a:spcAft>
                <a:spcPts val="300"/>
              </a:spcAft>
            </a:pPr>
            <a:r>
              <a:rPr sz="1300" b="0">
                <a:solidFill>
                  <a:srgbClr val="5B6372"/>
                </a:solidFill>
                <a:latin typeface="Arial"/>
              </a:rPr>
              <a:t>Uses breach magnitude to change capacity by defined steps.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Lifecycle hook</a:t>
            </a:r>
          </a:p>
          <a:p>
            <a:pPr algn="l">
              <a:spcAft>
                <a:spcPts val="300"/>
              </a:spcAft>
            </a:pPr>
            <a:r>
              <a:rPr sz="1300" b="0">
                <a:solidFill>
                  <a:srgbClr val="5B6372"/>
                </a:solidFill>
                <a:latin typeface="Arial"/>
              </a:rPr>
              <a:t>Pauses launch or termination for controlled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Failure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Pattern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Response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Caution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Retry with backoff</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Recover from transient dependency failure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Bound attempts and add jitter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Circuit breaker</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Stop calling an unhealthy dependency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Define recovery probe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Bulkhead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Isolate resource pools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Capacity must reflect priority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Graceful degradation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Preserve critical function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Communicate reduced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Container Operations in SOA-C03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ECS / EKS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Service desired count</a:t>
            </a:r>
          </a:p>
          <a:p>
            <a:pPr>
              <a:spcAft>
                <a:spcPts val="900"/>
              </a:spcAft>
            </a:pPr>
            <a:r>
              <a:rPr sz="1400" b="0">
                <a:solidFill>
                  <a:srgbClr val="161B26"/>
                </a:solidFill>
                <a:latin typeface="Arial"/>
              </a:rPr>
              <a:t>•  Task or pod health and placement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Images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Versioned and scanned</a:t>
            </a:r>
          </a:p>
          <a:p>
            <a:pPr>
              <a:spcAft>
                <a:spcPts val="900"/>
              </a:spcAft>
            </a:pPr>
            <a:r>
              <a:rPr sz="1400" b="0">
                <a:solidFill>
                  <a:srgbClr val="161B26"/>
                </a:solidFill>
                <a:latin typeface="Arial"/>
              </a:rPr>
              <a:t>•  Immutable deployment input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Observability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Container Insights</a:t>
            </a:r>
          </a:p>
          <a:p>
            <a:pPr>
              <a:spcAft>
                <a:spcPts val="900"/>
              </a:spcAft>
            </a:pPr>
            <a:r>
              <a:rPr sz="1400" b="0">
                <a:solidFill>
                  <a:srgbClr val="161B26"/>
                </a:solidFill>
                <a:latin typeface="Arial"/>
              </a:rPr>
              <a:t>•  Logs, metrics and traces by workload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Availability Test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Redundancy is not resilience until failover is exercised.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Measure detection, decision, traffic shift, recovery, data integrity and return to steady state.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Test a Multi-AZ Highly Available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K4, K5, A3 and A5 by deploying an ALB and Auto Scaling service across two Availability Zones, testing health-based recovery and recording a controlled change.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Deploy a small Multi-AZ web tier, verify health and scaling signals, then run a bounded failure exercise.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two-AZ VPC web tier, ALB, target group, launch template, Auto Scaling group, failover evidence and cleanup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VPC · EC2 · ALB · Auto Scaling · CloudWatch · CloudFormation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service spans two Availability Zones, returns a healthy response during one-instance replacement, recovers desired capacity, records measured recovery time, and validation emits LAB 04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04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Deploy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Two-AZ service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Health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Disrupt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One canary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Replace capacity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Measure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Recovery time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Test a Multi-AZ Highly Available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service spans two Availability Zones, returns a healthy response during one-instance replacement, recovers desired capacity, records measured recovery time, and validation emits LAB 04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Reliability, Elasticity and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Compute redundancy fails if identity, data or network dependencies remain single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Auto Scaling changes capacity using a measurable signal and bounded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K4, K5, A3 and A5 by deploying an ALB and Auto Scaling service across two Availability Zones, testing health-based recovery and recording a controlled change.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The service spans two Availability Zones, returns a healthy response during one-instance replacement, recovers desired capacity, records measured recovery time, and validation emits LAB 04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advClick="1">
    <p:push dir="l"/>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 · LO1 · LO4 · K4 · A1 · A4 · A6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Backup, Restore and Business Continuity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RTO/RPO · AWS Backup · snapshots · replication · pilot light · warm standby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advClick="1">
    <p:push dir="l"/>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2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Backup, Restore and Business Continuity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Backup is not recovery</a:t>
            </a:r>
          </a:p>
          <a:p>
            <a:pPr algn="l">
              <a:spcAft>
                <a:spcPts val="300"/>
              </a:spcAft>
            </a:pPr>
            <a:r>
              <a:rPr sz="1200" b="0">
                <a:solidFill>
                  <a:srgbClr val="5B6372"/>
                </a:solidFill>
                <a:latin typeface="Arial"/>
              </a:rPr>
              <a:t>A protected copy has value only when restore time and data integrity are proven.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RTO and RPO drive design</a:t>
            </a:r>
          </a:p>
          <a:p>
            <a:pPr algn="l">
              <a:spcAft>
                <a:spcPts val="300"/>
              </a:spcAft>
            </a:pPr>
            <a:r>
              <a:rPr sz="1200" b="0">
                <a:solidFill>
                  <a:srgbClr val="5B6372"/>
                </a:solidFill>
                <a:latin typeface="Arial"/>
              </a:rPr>
              <a:t>Recovery time and acceptable data loss determine technology and cost.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Cross-account protection limits blast radius</a:t>
            </a:r>
          </a:p>
          <a:p>
            <a:pPr algn="l">
              <a:spcAft>
                <a:spcPts val="300"/>
              </a:spcAft>
            </a:pPr>
            <a:r>
              <a:rPr sz="1200" b="0">
                <a:solidFill>
                  <a:srgbClr val="5B6372"/>
                </a:solidFill>
                <a:latin typeface="Arial"/>
              </a:rPr>
              <a:t>Separate vault ownership and controls protect against compromised workloads.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Continuity is a rehearsed capability</a:t>
            </a:r>
          </a:p>
          <a:p>
            <a:pPr algn="l">
              <a:spcAft>
                <a:spcPts val="300"/>
              </a:spcAft>
            </a:pPr>
            <a:r>
              <a:rPr sz="1200" b="0">
                <a:solidFill>
                  <a:srgbClr val="5B6372"/>
                </a:solidFill>
                <a:latin typeface="Arial"/>
              </a:rPr>
              <a:t>People, runbooks, dependencies and evidence matter as much as replication.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IMAGEGEN VISUAL · TOPIC 05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Resilience Is a Tested Capability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resilience-failover.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0B981"/>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Identify independent failure domains, recovery paths and the evidence needed to prove continuity.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RTO and RPO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Objective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Question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Design influence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RTO</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quickly must service return?</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Automation, standby capacity and failover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RPO</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much recent data may be lost?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Backup frequency and replication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Retention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far back must recovery reach?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Lifecycle, vault and compliance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Integrity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do we know restored data is correct?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Checksums and application validation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Continuity Patterns Trade Cost for Recovery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Choose the least costly pattern that demonstrably meets business RTO, RPO and compliance requirements.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Recovery Assurance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Classify</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Workload and data</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Plan and vault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Monitor</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Job and copy status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Restore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Isolated target</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Application and data</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Improve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Gap and owner</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A6 EVIDENCE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backup job is an input; a tested restore with measured recovery is evidence.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300" b="0">
                <a:solidFill>
                  <a:srgbClr val="5B6372"/>
                </a:solidFill>
                <a:latin typeface="Arial"/>
              </a:rPr>
              <a:t>Schedules, windows, lifecycle and copy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Vault</a:t>
            </a:r>
          </a:p>
          <a:p>
            <a:pPr algn="l">
              <a:spcAft>
                <a:spcPts val="300"/>
              </a:spcAft>
            </a:pPr>
            <a:r>
              <a:rPr sz="1300" b="0">
                <a:solidFill>
                  <a:srgbClr val="5B6372"/>
                </a:solidFill>
                <a:latin typeface="Arial"/>
              </a:rPr>
              <a:t>Access policy, encryption and logical separation.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Vault Lock</a:t>
            </a:r>
          </a:p>
          <a:p>
            <a:pPr algn="l">
              <a:spcAft>
                <a:spcPts val="300"/>
              </a:spcAft>
            </a:pPr>
            <a:r>
              <a:rPr sz="1300" b="0">
                <a:solidFill>
                  <a:srgbClr val="5B6372"/>
                </a:solidFill>
                <a:latin typeface="Arial"/>
              </a:rPr>
              <a:t>Retention controls designed to resist early deletion.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 Manager</a:t>
            </a:r>
          </a:p>
          <a:p>
            <a:pPr algn="l">
              <a:spcAft>
                <a:spcPts val="300"/>
              </a:spcAft>
            </a:pPr>
            <a:r>
              <a:rPr sz="1300" b="0">
                <a:solidFill>
                  <a:srgbClr val="5B6372"/>
                </a:solidFill>
                <a:latin typeface="Arial"/>
              </a:rPr>
              <a:t>Evidence against backup policy and compliance frameworks.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Replication Choices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Mechanism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concern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EBS snapshot copy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Point-in-time regional protection</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Restore and launch workflow</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S3 replication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Object-level asynchronous copy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Existing objects and delete markers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RDS cross-Region replica</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Lower RPO read copy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Promotion and endpoint change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DynamoDB global table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Multi-Region active data</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Conflict and application behaviour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Continuity Runbook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Decision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Declared trigger and authority</a:t>
            </a:r>
          </a:p>
          <a:p>
            <a:pPr>
              <a:spcAft>
                <a:spcPts val="900"/>
              </a:spcAft>
            </a:pPr>
            <a:r>
              <a:rPr sz="1400" b="0">
                <a:solidFill>
                  <a:srgbClr val="161B26"/>
                </a:solidFill>
                <a:latin typeface="Arial"/>
              </a:rPr>
              <a:t>•  Communication path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Execution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Dependency order</a:t>
            </a:r>
          </a:p>
          <a:p>
            <a:pPr>
              <a:spcAft>
                <a:spcPts val="900"/>
              </a:spcAft>
            </a:pPr>
            <a:r>
              <a:rPr sz="1400" b="0">
                <a:solidFill>
                  <a:srgbClr val="161B26"/>
                </a:solidFill>
                <a:latin typeface="Arial"/>
              </a:rPr>
              <a:t>•  Automated and manual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Timestamps and validation</a:t>
            </a:r>
          </a:p>
          <a:p>
            <a:pPr>
              <a:spcAft>
                <a:spcPts val="900"/>
              </a:spcAft>
            </a:pPr>
            <a:r>
              <a:rPr sz="1400" b="0">
                <a:solidFill>
                  <a:srgbClr val="161B26"/>
                </a:solidFill>
                <a:latin typeface="Arial"/>
              </a:rPr>
              <a:t>•  Actual RTO/RPO and gaps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Recovery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restore you have not tested is only a hypothesis.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Schedule recovery exercises, isolate tests from production, measure actual results and close every gap with an owner.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Prove Backup and Restore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K4, A1, A4 and A6 by protecting an S3/EBS-style workload, restoring into isolation and measuring actual recovery evidence.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backup plan and vault configuration, run a protected copy, restore into isolation and validate integrity and recovery time.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backup plan, selection, restore checklist, recovery evidence and measured RTO/RPO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AWS Backup · S3 · EBS · KMS · CloudWatch Events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completed recovery point is restored to an isolated target, integrity is checked, actual recovery is compared with RTO/RPO, gaps have owners, and validation emits LAB 06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06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Classify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RTO and RPO</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Plan and vault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Restore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Isolated target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Data integrity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Improve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Gap and 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Prove Backup and Restore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completed recovery point is restored to an isolated target, integrity is checked, actual recovery is compared with RTO/RPO, gaps have owners, and validation emits LAB 06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Backup, Restore and Business Continuity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A protected copy has value only when restore time and data integrity are proven.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Recovery time and acceptable data loss determine technology and cost.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K4, A1, A4 and A6 by protecting an S3/EBS-style workload, restoring into isolation and measuring actual recovery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A completed recovery point is restored to an isolated target, integrity is checked, actual recovery is compared with RTO/RPO, gaps have owners, and validation emits LAB 06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advClick="1">
    <p:push dir="l"/>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 · LO2 · LO4 · K3 · K4 · A4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Deployment, Provisioning and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CloudFormation · StackSets · change sets · drift · Systems Manager Automation · Git and IaC</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advClick="1">
    <p:push dir="l"/>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3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Deployment, Provisioning and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Infrastructure is versioned</a:t>
            </a:r>
          </a:p>
          <a:p>
            <a:pPr algn="l">
              <a:spcAft>
                <a:spcPts val="300"/>
              </a:spcAft>
            </a:pPr>
            <a:r>
              <a:rPr sz="1200" b="0">
                <a:solidFill>
                  <a:srgbClr val="5B6372"/>
                </a:solidFill>
                <a:latin typeface="Arial"/>
              </a:rPr>
              <a:t>Templates and policies create a reviewable desired 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Preview before execution</a:t>
            </a:r>
          </a:p>
          <a:p>
            <a:pPr algn="l">
              <a:spcAft>
                <a:spcPts val="300"/>
              </a:spcAft>
            </a:pPr>
            <a:r>
              <a:rPr sz="1200" b="0">
                <a:solidFill>
                  <a:srgbClr val="5B6372"/>
                </a:solidFill>
                <a:latin typeface="Arial"/>
              </a:rPr>
              <a:t>Change sets reveal creates, replacements and deletions before the stack changes.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Drift is a control signal</a:t>
            </a:r>
          </a:p>
          <a:p>
            <a:pPr algn="l">
              <a:spcAft>
                <a:spcPts val="300"/>
              </a:spcAft>
            </a:pPr>
            <a:r>
              <a:rPr sz="1200" b="0">
                <a:solidFill>
                  <a:srgbClr val="5B6372"/>
                </a:solidFill>
                <a:latin typeface="Arial"/>
              </a:rPr>
              <a:t>Difference between desired and actual state requires investigation, not blind overwrite.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Automation must be idempotent</a:t>
            </a:r>
          </a:p>
          <a:p>
            <a:pPr algn="l">
              <a:spcAft>
                <a:spcPts val="300"/>
              </a:spcAft>
            </a:pPr>
            <a:r>
              <a:rPr sz="1200" b="0">
                <a:solidFill>
                  <a:srgbClr val="5B6372"/>
                </a:solidFill>
                <a:latin typeface="Arial"/>
              </a:rPr>
              <a:t>Repeated execution should converge safely to the intended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Change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Branch</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Versioned proposal</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Syntax and policy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Plan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Change set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Approve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Risk and authority</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Apply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Bounded deployment</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State, service and…</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A5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template, plan, approval, execution and verification form one auditable release record.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Update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Control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Change set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Preview resource actions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Review replacements and deletions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Stack policy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Protect critical resources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Restrict updates during normal change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Rollback</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Return after failed update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Preserve events for diagnosis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Termination protection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Prevent accidental stack deletion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Use on persistent environments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Reduces Configuration Variance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Automation improves consistency; policy and version control make the change explainable and governable.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Template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Parameters</a:t>
            </a:r>
          </a:p>
          <a:p>
            <a:pPr algn="l">
              <a:spcAft>
                <a:spcPts val="300"/>
              </a:spcAft>
            </a:pPr>
            <a:r>
              <a:rPr sz="1300" b="0">
                <a:solidFill>
                  <a:srgbClr val="5B6372"/>
                </a:solidFill>
                <a:latin typeface="Arial"/>
              </a:rPr>
              <a:t>Expose safe environment-specific values without duplicating templates.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Mappings and conditions</a:t>
            </a:r>
          </a:p>
          <a:p>
            <a:pPr algn="l">
              <a:spcAft>
                <a:spcPts val="300"/>
              </a:spcAft>
            </a:pPr>
            <a:r>
              <a:rPr sz="1300" b="0">
                <a:solidFill>
                  <a:srgbClr val="5B6372"/>
                </a:solidFill>
                <a:latin typeface="Arial"/>
              </a:rPr>
              <a:t>Represent controlled variation, not arbitrary complexity.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Outputs and exports</a:t>
            </a:r>
          </a:p>
          <a:p>
            <a:pPr algn="l">
              <a:spcAft>
                <a:spcPts val="300"/>
              </a:spcAft>
            </a:pPr>
            <a:r>
              <a:rPr sz="1300" b="0">
                <a:solidFill>
                  <a:srgbClr val="5B6372"/>
                </a:solidFill>
                <a:latin typeface="Arial"/>
              </a:rPr>
              <a:t>Publish stable integration values with dependency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Deletion and update policies</a:t>
            </a:r>
          </a:p>
          <a:p>
            <a:pPr algn="l">
              <a:spcAft>
                <a:spcPts val="300"/>
              </a:spcAft>
            </a:pPr>
            <a:r>
              <a:rPr sz="1300" b="0">
                <a:solidFill>
                  <a:srgbClr val="5B6372"/>
                </a:solidFill>
                <a:latin typeface="Arial"/>
              </a:rPr>
              <a:t>Protect or snapshot stateful resources during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StackSets Deployment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Best fit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Self-managed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Explicit administration and target roles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More role setup and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Service-managed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AWS Organizations integration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Requires trusted access and OU planning</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Automatic deployment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New accounts inherit baseline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Test policy and Region scope carefully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Runbook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Inputs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Validated parameters</a:t>
            </a:r>
          </a:p>
          <a:p>
            <a:pPr>
              <a:spcAft>
                <a:spcPts val="900"/>
              </a:spcAft>
            </a:pPr>
            <a:r>
              <a:rPr sz="1400" b="0">
                <a:solidFill>
                  <a:srgbClr val="161B26"/>
                </a:solidFill>
                <a:latin typeface="Arial"/>
              </a:rPr>
              <a:t>•  No embedded secrets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Control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Retries and timeouts</a:t>
            </a:r>
          </a:p>
          <a:p>
            <a:pPr>
              <a:spcAft>
                <a:spcPts val="900"/>
              </a:spcAft>
            </a:pPr>
            <a:r>
              <a:rPr sz="1400" b="0">
                <a:solidFill>
                  <a:srgbClr val="161B26"/>
                </a:solidFill>
                <a:latin typeface="Arial"/>
              </a:rPr>
              <a:t>•  Approval for destructive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Output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Structured evidence</a:t>
            </a:r>
          </a:p>
          <a:p>
            <a:pPr>
              <a:spcAft>
                <a:spcPts val="900"/>
              </a:spcAft>
            </a:pPr>
            <a:r>
              <a:rPr sz="1400" b="0">
                <a:solidFill>
                  <a:srgbClr val="161B26"/>
                </a:solidFill>
                <a:latin typeface="Arial"/>
              </a:rPr>
              <a:t>•  Explicit success and rollback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IaC Discipline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fix drift by hiding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Identify who changed what and why, decide whether actual or desired state is correct, then reconcile through the controlled source.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Infrastructure Change and Configuration Drift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K4, A4 and A5 by validating a CloudFormation template, reviewing a change set, detecting drift and using a Systems Manager Automation runbook with verification.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desired-state evidence to identify drift, choose the correct state, reconcile through code and verify the application outcome.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validated CloudFormation stack, reviewed change set, drift report, reconciliation decision, Automation verification and cleanup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CloudFormation · Change Sets · Drift Detection · Systems Manager Automation · AWS CLI</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change set is reviewed before execution, drift evidence identifies the changed property, the decision record explains reconciliation, the Automation runbook verifies state, and validation emits LAB 05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05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Desired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Review</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Change set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Drift detail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Reconcile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Code decision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Automation output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Infrastructure Change and Configuration Drift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change set is reviewed before execution, drift evidence identifies the changed property, the decision record explains reconciliation, the Automation runbook verifies state, and validation emits LAB 05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Deployment, Provisioning and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Templates and policies create a reviewable desired 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Change sets reveal creates, replacements and deletions before the stack changes.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K3, K4, A4 and A5 by validating a CloudFormation template, reviewing a change set, detecting drift and using a Systems Manager Automation runbook with verification.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The change set is reviewed before execution, drift evidence identifies the changed property, the decision record explains reconciliation, the Automation runbook verifies state, and validation emits LAB 05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advClick="1">
    <p:push dir="l"/>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 · LO2 · LO3 · K1 · K3 · A1 · A7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Identity and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IAM · Organizations · KMS · Config · Security Hub · GuardDuty · Inspector · Macie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advClick="1">
    <p:push dir="l"/>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4 · 16%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Security, Identity and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Identity is the control plane</a:t>
            </a:r>
          </a:p>
          <a:p>
            <a:pPr algn="l">
              <a:spcAft>
                <a:spcPts val="300"/>
              </a:spcAft>
            </a:pPr>
            <a:r>
              <a:rPr sz="1200" b="0">
                <a:solidFill>
                  <a:srgbClr val="5B6372"/>
                </a:solidFill>
                <a:latin typeface="Arial"/>
              </a:rPr>
              <a:t>Short-lived credentials, least privilege and explicit trust bound administrative power.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Prevent, detect and respond</a:t>
            </a:r>
          </a:p>
          <a:p>
            <a:pPr algn="l">
              <a:spcAft>
                <a:spcPts val="300"/>
              </a:spcAft>
            </a:pPr>
            <a:r>
              <a:rPr sz="1200" b="0">
                <a:solidFill>
                  <a:srgbClr val="5B6372"/>
                </a:solidFill>
                <a:latin typeface="Arial"/>
              </a:rPr>
              <a:t>Policies prevent known bad states; telemetry detects deviation; runbooks contain and recover.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Encryption includes key operations</a:t>
            </a:r>
          </a:p>
          <a:p>
            <a:pPr algn="l">
              <a:spcAft>
                <a:spcPts val="300"/>
              </a:spcAft>
            </a:pPr>
            <a:r>
              <a:rPr sz="1200" b="0">
                <a:solidFill>
                  <a:srgbClr val="5B6372"/>
                </a:solidFill>
                <a:latin typeface="Arial"/>
              </a:rPr>
              <a:t>Access, rotation, grants, aliases and recovery must be governed—not only enabled.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Compliance requires evidence</a:t>
            </a:r>
          </a:p>
          <a:p>
            <a:pPr algn="l">
              <a:spcAft>
                <a:spcPts val="300"/>
              </a:spcAft>
            </a:pPr>
            <a:r>
              <a:rPr sz="1200" b="0">
                <a:solidFill>
                  <a:srgbClr val="5B6372"/>
                </a:solidFill>
                <a:latin typeface="Arial"/>
              </a:rPr>
              <a:t>A rule result is useful when linked to scope, owner, remediation and exception process.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Identity Policy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controls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Common failure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Identity policy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Permissions granted to a principal</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Overbroad action or resource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Resource policy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Who may access a resource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Unintended external principal</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Permission boundary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Maximum identity permissions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Assuming it grants access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SCP</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Maximum permissions in an organisation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Blocking required service operation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Evaluation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Authenticate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Principal and session</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Context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 resource and…</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Explicit deny</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Any matching deny wins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Allow</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At least one applicable…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Boundary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Maximum permitted set</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Decision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Allow or deny with…</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TROUBLESHOOTING</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CloudTrail, policy simulator and access analysis to explain the decision path.</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Findings Need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Severity, exposure, asset value and exploitability drive response; high volume alone does not determine priority.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Services by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GuardDuty</a:t>
            </a:r>
          </a:p>
          <a:p>
            <a:pPr algn="l">
              <a:spcAft>
                <a:spcPts val="300"/>
              </a:spcAft>
            </a:pPr>
            <a:r>
              <a:rPr sz="1300" b="0">
                <a:solidFill>
                  <a:srgbClr val="5B6372"/>
                </a:solidFill>
                <a:latin typeface="Arial"/>
              </a:rPr>
              <a:t>What suspicious account, workload or network activity is occurring?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Inspector</a:t>
            </a:r>
          </a:p>
          <a:p>
            <a:pPr algn="l">
              <a:spcAft>
                <a:spcPts val="300"/>
              </a:spcAft>
            </a:pPr>
            <a:r>
              <a:rPr sz="1300" b="0">
                <a:solidFill>
                  <a:srgbClr val="5B6372"/>
                </a:solidFill>
                <a:latin typeface="Arial"/>
              </a:rPr>
              <a:t>Which compute workloads have vulnerabilities or exposure?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Macie</a:t>
            </a:r>
          </a:p>
          <a:p>
            <a:pPr algn="l">
              <a:spcAft>
                <a:spcPts val="300"/>
              </a:spcAft>
            </a:pPr>
            <a:r>
              <a:rPr sz="1300" b="0">
                <a:solidFill>
                  <a:srgbClr val="5B6372"/>
                </a:solidFill>
                <a:latin typeface="Arial"/>
              </a:rPr>
              <a:t>Where is sensitive data in S3 and how is it exposed?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Security Hub</a:t>
            </a:r>
          </a:p>
          <a:p>
            <a:pPr algn="l">
              <a:spcAft>
                <a:spcPts val="300"/>
              </a:spcAft>
            </a:pPr>
            <a:r>
              <a:rPr sz="1300" b="0">
                <a:solidFill>
                  <a:srgbClr val="5B6372"/>
                </a:solidFill>
                <a:latin typeface="Arial"/>
              </a:rPr>
              <a:t>How do findings and standards combine across accounts?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 Choices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Choice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control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 carefully</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owned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Service manages lifecycle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Limited customer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managed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Visible service key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Policy is service-oriented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Customer managed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Policy, grants, rotation and aliases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Availability and deletion governance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Multi-Region key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Related key material across Regions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Application and recovery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Remediation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Define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Required state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Evaluate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Config rule or control</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Prioritise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Risk and scope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Automation or owner</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Compliant state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Exception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Approved expiry and review</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A7 OUTPUT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Service quality is a measurable standard with evidence, not a one-time checkbox.</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Security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Least privilege is a lifecycle, not a launch-day setting.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Observe actual use, remove unused permissions, constrain trust, investigate denied actions and revalidate after organisational change.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Multi-Account Compliance Evidence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A1 and A7 by evaluating required tags and encryption, aggregating findings and documenting a controlled remediation exception.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Deploy Config-style controls, review findings and produce auditable remediation and exception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Config rule template, tag policy, findings register, remediation decision and service-quality scorecard.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AWS Config · Organizations · Security Hub · EventBridge · Systems Manager Automation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Required controls evaluate learner-owned resources, findings are prioritised with context, remediation has owner/SLA/verification, the exception expires, and validation emits LAB 07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07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Record</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Configuration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Evaluate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Rule result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Aggregate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Account scope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Approved control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Evidence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Exception and result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Multi-Account Compliance Evidence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Required controls evaluate learner-owned resources, findings are prioritised with context, remediation has owner/SLA/verification, the exception expires, and validation emits LAB 07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Diagnose IAM Access and Protect Data with KMS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A1 and A7 by explaining an access decision, narrowing permissions and verifying encryption and key-policy behaviour.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policy evidence to distinguish identity, resource and KMS decisions, then implement and verify least privilege.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policy-evaluation worksheet, corrected least-privilege policy, KMS key-policy review and encrypted-object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IAM · Access Analyzer · Policy Simulator · KMS · S3 · CloudTrail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decision path explains the deny, corrected policy uses exact actions/resources, encrypted-object metadata is verified, Access Analyzer reports no ERROR, and validation emits LAB 08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08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Identity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Role and boundary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KMS policy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Finding or event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Respond</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Bounded action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Assure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Access evidence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Diagnose IAM Access and Protect Data with KMS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decision path explains the deny, corrected policy uses exact actions/resources, encrypted-object metadata is verified, Access Analyzer reports no ERROR, and validation emits LAB 08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Security, Identity and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Short-lived credentials, least privilege and explicit trust bound administrative power.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Policies prevent known bad states; telemetry detects deviation; runbooks contain and recover.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K1, K3, A1 and A7 by evaluating required tags and encryption, aggregating findings and documenting a controlled remediation exception.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Required controls evaluate learner-owned resources, findings are prioritised with context, remediation has owner/SLA/verification, the exception expires, and validation emits LAB 07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advClick="1">
    <p:push dir="l"/>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 · LO5 · K2 · A2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DNS and Content Delivery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VPC · routes · security groups · NACLs · endpoints · Route 53 · CloudFront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advClick="1">
    <p:push dir="l"/>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5 · 18%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Networking, DNS and Content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Connectivity is a path</a:t>
            </a:r>
          </a:p>
          <a:p>
            <a:pPr algn="l">
              <a:spcAft>
                <a:spcPts val="300"/>
              </a:spcAft>
            </a:pPr>
            <a:r>
              <a:rPr sz="1200" b="0">
                <a:solidFill>
                  <a:srgbClr val="5B6372"/>
                </a:solidFill>
                <a:latin typeface="Arial"/>
              </a:rPr>
              <a:t>DNS, route, policy, state, endpoint and application health must all succeed.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Security groups are stateful</a:t>
            </a:r>
          </a:p>
          <a:p>
            <a:pPr algn="l">
              <a:spcAft>
                <a:spcPts val="300"/>
              </a:spcAft>
            </a:pPr>
            <a:r>
              <a:rPr sz="1200" b="0">
                <a:solidFill>
                  <a:srgbClr val="5B6372"/>
                </a:solidFill>
                <a:latin typeface="Arial"/>
              </a:rPr>
              <a:t>Return traffic is automatically allowed; network ACLs evaluate each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Private connectivity reduces exposure</a:t>
            </a:r>
          </a:p>
          <a:p>
            <a:pPr algn="l">
              <a:spcAft>
                <a:spcPts val="300"/>
              </a:spcAft>
            </a:pPr>
            <a:r>
              <a:rPr sz="1200" b="0">
                <a:solidFill>
                  <a:srgbClr val="5B6372"/>
                </a:solidFill>
                <a:latin typeface="Arial"/>
              </a:rPr>
              <a:t>VPC endpoints, Transit Gateway and hybrid links change routing and policy boundaries.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DNS is a control surface</a:t>
            </a:r>
          </a:p>
          <a:p>
            <a:pPr algn="l">
              <a:spcAft>
                <a:spcPts val="300"/>
              </a:spcAft>
            </a:pPr>
            <a:r>
              <a:rPr sz="1200" b="0">
                <a:solidFill>
                  <a:srgbClr val="5B6372"/>
                </a:solidFill>
                <a:latin typeface="Arial"/>
              </a:rPr>
              <a:t>Routing policy, health evaluation, TTL and resolver behaviour affect recovery.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Connectivity Troubleshooting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Name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DNS answer and TTL</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Longest prefix and target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Policy</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SG, NACL and endpoint…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State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NAT, connection and…</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Target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Listener, port and health</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Evidence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Flow logs and application…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A2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Test from source to destination and record the first failed control boundary.</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Group vs Network ACL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Property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Security group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Network ACL</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Scope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Elastic network interface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Subnet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Stateful</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Stateless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Rules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Allow only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Numbered allow and deny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Evaluation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All rules together</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Lowest rule number first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TTL Trades Agility for Query Load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Lower TTL can speed client refresh but increases query volume and cannot force every resolver to behave identically.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Routing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Simple</a:t>
            </a:r>
          </a:p>
          <a:p>
            <a:pPr algn="l">
              <a:spcAft>
                <a:spcPts val="300"/>
              </a:spcAft>
            </a:pPr>
            <a:r>
              <a:rPr sz="1300" b="0">
                <a:solidFill>
                  <a:srgbClr val="5B6372"/>
                </a:solidFill>
                <a:latin typeface="Arial"/>
              </a:rPr>
              <a:t>One or more values without health-based policy logic.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Weighted</a:t>
            </a:r>
          </a:p>
          <a:p>
            <a:pPr algn="l">
              <a:spcAft>
                <a:spcPts val="300"/>
              </a:spcAft>
            </a:pPr>
            <a:r>
              <a:rPr sz="1300" b="0">
                <a:solidFill>
                  <a:srgbClr val="5B6372"/>
                </a:solidFill>
                <a:latin typeface="Arial"/>
              </a:rPr>
              <a:t>Controlled traffic split for migration or experiments.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Latency</a:t>
            </a:r>
          </a:p>
          <a:p>
            <a:pPr algn="l">
              <a:spcAft>
                <a:spcPts val="300"/>
              </a:spcAft>
            </a:pPr>
            <a:r>
              <a:rPr sz="1300" b="0">
                <a:solidFill>
                  <a:srgbClr val="5B6372"/>
                </a:solidFill>
                <a:latin typeface="Arial"/>
              </a:rPr>
              <a:t>Direct users to the Region with lowest measured latency.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Failover</a:t>
            </a:r>
          </a:p>
          <a:p>
            <a:pPr algn="l">
              <a:spcAft>
                <a:spcPts val="300"/>
              </a:spcAft>
            </a:pPr>
            <a:r>
              <a:rPr sz="1300" b="0">
                <a:solidFill>
                  <a:srgbClr val="5B6372"/>
                </a:solidFill>
                <a:latin typeface="Arial"/>
              </a:rPr>
              <a:t>Primary and secondary routing driven by health.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VPC Endpoint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Endpoint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Connectivity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Common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Gateway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Route-table target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S3 and DynamoDB</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Interface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Private IP through PrivateLink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Many AWS and partner services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Gateway Load Balancer</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Inspection appliance insertion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Central security services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Resource / service network</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VPC Lattice private application access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Cross-VPC service connectivity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Cache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Cache key and TTL</a:t>
            </a:r>
          </a:p>
          <a:p>
            <a:pPr>
              <a:spcAft>
                <a:spcPts val="900"/>
              </a:spcAft>
            </a:pPr>
            <a:r>
              <a:rPr sz="1400" b="0">
                <a:solidFill>
                  <a:srgbClr val="161B26"/>
                </a:solidFill>
                <a:latin typeface="Arial"/>
              </a:rPr>
              <a:t>•  Invalidation and versioned objects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Origin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Origin access control</a:t>
            </a:r>
          </a:p>
          <a:p>
            <a:pPr>
              <a:spcAft>
                <a:spcPts val="900"/>
              </a:spcAft>
            </a:pPr>
            <a:r>
              <a:rPr sz="1400" b="0">
                <a:solidFill>
                  <a:srgbClr val="161B26"/>
                </a:solidFill>
                <a:latin typeface="Arial"/>
              </a:rPr>
              <a:t>•  Origin health and failover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Security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TLS certificate and WAF</a:t>
            </a:r>
          </a:p>
          <a:p>
            <a:pPr>
              <a:spcAft>
                <a:spcPts val="900"/>
              </a:spcAft>
            </a:pPr>
            <a:r>
              <a:rPr sz="1400" b="0">
                <a:solidFill>
                  <a:srgbClr val="161B26"/>
                </a:solidFill>
                <a:latin typeface="Arial"/>
              </a:rPr>
              <a:t>•  Logs and real-time metrics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Network Diagnosis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timeout is a symptom, not a location.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DNS results, route tables, reachability analysis, flow logs, load-balancer health and application evidence to isolate the boundary.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 VPC Connectivity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K2 and A2 by isolating a failed request through DNS, routes, security groups, network ACLs, target health and VPC Flow Logs.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Diagnose the first failed control boundary using a repeatable evidence ladder and implement one verified correction.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VPC diagnostic worksheet, reachability/flow-log evidence, corrected network control and before/after result.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VPC · Reachability Analyzer · Flow Logs · Security Groups · NACLs · Endpoints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report follows the path in order, names the first failed boundary with evidence, changes one learner-owned control, verifies success with the same test, and validation emits LAB 09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09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Name</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DNS result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Table and SG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Reach</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NACL and path</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Logs and metrics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Resolve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Smallest change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 VPC Connectivity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report follows the path in order, names the first failed boundary with evidence, changes one learner-owned control, verifies success with the same test, and validation emits LAB 09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DNS and Content-Delivery Failover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K2 and A2 by configuring health-aware DNS and CloudFront behaviour, then proving client-visible routing and cache outcomes.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Model primary/secondary routing, inspect health status and TTL, then verify CloudFront origin and cache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Route 53 health-check definition, failover record plan, CloudFront operations checklist and measured failover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Route 53 · Health Checks · CloudFront · S3 · CloudWatch</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Health and record evidence are linked, failover timing is measured rather than assumed, cache and DNS effects are distinguished, baseline is restored, and validation emits LAB 10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Health</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Endpoint signal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Policy decision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Deliver</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Edge behaviour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Fail over</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Alternate origin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User result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DNS and Content-Delivery Failover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Health and record evidence are linked, failover timing is measured rather than assumed, cache and DNS effects are distinguished, baseline is restored, and validation emits LAB 10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 DNS and Content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DNS, route, policy, state, endpoint and application health must all succeed.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Return traffic is automatically allowed; network ACLs evaluate each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K2 and A2 by isolating a failed request through DNS, routes, security groups, network ACLs, target health and VPC Flow Logs.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The report follows the path in order, names the first failed boundary with evidence, changes one learner-owned control, verifies success with the same test, and validation emits LAB 09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advClick="1">
    <p:push dir="l"/>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 · LO1 · LO2 · LO4 · K1 · K4 · A1 · A4 · A6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Storage, Data and Database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S3 · EBS · EFS · RDS · DynamoDB · lifecycle · performance · data protection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advClick="1">
    <p:push dir="l"/>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Cross-domain operations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Storage, Data and Database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Choose by access pattern</a:t>
            </a:r>
          </a:p>
          <a:p>
            <a:pPr algn="l">
              <a:spcAft>
                <a:spcPts val="300"/>
              </a:spcAft>
            </a:pPr>
            <a:r>
              <a:rPr sz="1200" b="0">
                <a:solidFill>
                  <a:srgbClr val="5B6372"/>
                </a:solidFill>
                <a:latin typeface="Arial"/>
              </a:rPr>
              <a:t>Object, block, file and database services solve different consistency, latency and sharing needs.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Performance has service-specific limits</a:t>
            </a:r>
          </a:p>
          <a:p>
            <a:pPr algn="l">
              <a:spcAft>
                <a:spcPts val="300"/>
              </a:spcAft>
            </a:pPr>
            <a:r>
              <a:rPr sz="1200" b="0">
                <a:solidFill>
                  <a:srgbClr val="5B6372"/>
                </a:solidFill>
                <a:latin typeface="Arial"/>
              </a:rPr>
              <a:t>IOPS, throughput, connections, partitions and caching require different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protection is layered</a:t>
            </a:r>
          </a:p>
          <a:p>
            <a:pPr algn="l">
              <a:spcAft>
                <a:spcPts val="300"/>
              </a:spcAft>
            </a:pPr>
            <a:r>
              <a:rPr sz="1200" b="0">
                <a:solidFill>
                  <a:srgbClr val="5B6372"/>
                </a:solidFill>
                <a:latin typeface="Arial"/>
              </a:rPr>
              <a:t>Encryption, versioning, snapshots, backup and replication address different risks.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Managed does not mean unmanaged</a:t>
            </a:r>
          </a:p>
          <a:p>
            <a:pPr algn="l">
              <a:spcAft>
                <a:spcPts val="300"/>
              </a:spcAft>
            </a:pPr>
            <a:r>
              <a:rPr sz="1200" b="0">
                <a:solidFill>
                  <a:srgbClr val="5B6372"/>
                </a:solidFill>
                <a:latin typeface="Arial"/>
              </a:rPr>
              <a:t>Customers still own schema, configuration, access, capacity and recovery choices.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Service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Access model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fit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S3</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Object and API</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Durable data lake, backup and static content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EBS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Block device to compute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Low-latency instance and database volumes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EFS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Shared NFS file system</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Elastic multi-instance Linux file access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FSx</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Managed specialised file system</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Windows, Lustre, NetApp or OpenZFS workloads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Data Protection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Block</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Public access controls</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Authorise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Identity and bucket policy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Encrypt</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Default SSE and KMS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Version</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Recover overwrite or…</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Lifecycle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Transition and expire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Replicate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Account or Region copy</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A1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Protection combines preventive access, recoverability, retention and evidence.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Performance Must Match Workload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IOPS and throughput are different dimensions; select volume type and configuration from measured workload behaviour.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RDS Availability and Scale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Feature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Primary goal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note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Multi-AZ</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Availability and failover</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Standby is not a read-scaling target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Read replica</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Read scale and reporting</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Replication lag and promotion plan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Automated backup</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Point-in-time recovery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Retention and restore testing</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RDS Proxy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Connection pooling and resilience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Application compatibility and limits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DynamoDB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Capacity</a:t>
            </a:r>
          </a:p>
          <a:p>
            <a:pPr algn="l">
              <a:spcAft>
                <a:spcPts val="300"/>
              </a:spcAft>
            </a:pPr>
            <a:r>
              <a:rPr sz="1300" b="0">
                <a:solidFill>
                  <a:srgbClr val="5B6372"/>
                </a:solidFill>
                <a:latin typeface="Arial"/>
              </a:rPr>
              <a:t>On-demand or provisioned with auto scaling and adaptive capacity.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Partition key</a:t>
            </a:r>
          </a:p>
          <a:p>
            <a:pPr algn="l">
              <a:spcAft>
                <a:spcPts val="300"/>
              </a:spcAft>
            </a:pPr>
            <a:r>
              <a:rPr sz="1300" b="0">
                <a:solidFill>
                  <a:srgbClr val="5B6372"/>
                </a:solidFill>
                <a:latin typeface="Arial"/>
              </a:rPr>
              <a:t>Distribute traffic; avoid hot keys and unbounded item growth.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300" b="0">
                <a:solidFill>
                  <a:srgbClr val="5B6372"/>
                </a:solidFill>
                <a:latin typeface="Arial"/>
              </a:rPr>
              <a:t>Point-in-time recovery, on-demand backup and restore.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Global table</a:t>
            </a:r>
          </a:p>
          <a:p>
            <a:pPr algn="l">
              <a:spcAft>
                <a:spcPts val="300"/>
              </a:spcAft>
            </a:pPr>
            <a:r>
              <a:rPr sz="1300" b="0">
                <a:solidFill>
                  <a:srgbClr val="5B6372"/>
                </a:solidFill>
                <a:latin typeface="Arial"/>
              </a:rPr>
              <a:t>Multi-Region active access with application-aware conflict behaviour.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Database Incident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Resource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CPU, memory and storage</a:t>
            </a:r>
          </a:p>
          <a:p>
            <a:pPr>
              <a:spcAft>
                <a:spcPts val="900"/>
              </a:spcAft>
            </a:pPr>
            <a:r>
              <a:rPr sz="1400" b="0">
                <a:solidFill>
                  <a:srgbClr val="161B26"/>
                </a:solidFill>
                <a:latin typeface="Arial"/>
              </a:rPr>
              <a:t>•  Connections and queue depth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Engine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Slow queries and locks</a:t>
            </a:r>
          </a:p>
          <a:p>
            <a:pPr>
              <a:spcAft>
                <a:spcPts val="900"/>
              </a:spcAft>
            </a:pPr>
            <a:r>
              <a:rPr sz="1400" b="0">
                <a:solidFill>
                  <a:srgbClr val="161B26"/>
                </a:solidFill>
                <a:latin typeface="Arial"/>
              </a:rPr>
              <a:t>•  Wait events and plans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Change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Configuration and schema history</a:t>
            </a:r>
          </a:p>
          <a:p>
            <a:pPr>
              <a:spcAft>
                <a:spcPts val="900"/>
              </a:spcAft>
            </a:pPr>
            <a:r>
              <a:rPr sz="1400" b="0">
                <a:solidFill>
                  <a:srgbClr val="161B26"/>
                </a:solidFill>
                <a:latin typeface="Arial"/>
              </a:rPr>
              <a:t>•  Deployment and failover events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Data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Durability claims do not replace recovery design.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Protect the correct scope, control access, monitor jobs, test restore, validate application behaviour and measure actual RTO/RPO.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Diagnose Storage and Database Performance, Then Recover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K4, A1, A4 and A6 by correlating EBS/RDS signals, selecting a safe change and validating data recovery.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Analyse a synthetic metric set, choose one evidence-based action and verify a point-in-time recovery plan.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metric analysis, bottleneck decision, change plan, restore checklist and database recovery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EBS · RDS · Performance Insights · AWS Backup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Metric calculations are reproducible, the chosen bottleneck cites evidence, one reversible action is proposed, recovery is isolated and timed, and validation emits LAB 11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Storage and data</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New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Integrity and service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Measure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RTO and RPO</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Retire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Cleanup evidence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Diagnose Storage and Database Performance, Then Recover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Metric calculations are reproducible, the chosen bottleneck cites evidence, one reversible action is proposed, recovery is isolated and timed, and validation emits LAB 11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Storage, Data and Database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Object, block, file and database services solve different consistency, latency and sharing needs.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IOPS, throughput, connections, partitions and caching require different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K1, K4, A1, A4 and A6 by correlating EBS/RDS signals, selecting a safe change and validating data recovery.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Metric calculations are reproducible, the chosen bottleneck cites evidence, one reversible action is proposed, recovery is isolated and timed, and validation emits LAB 11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advClick="1">
    <p:push dir="l"/>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 · LO3 · LO4 · LO5 · K2 · K4 · A2 · A4 · A7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Performance, Cost and Integrated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Bottleneck analysis · Cost Explorer · Trusted Advisor · runbooks · game days · capstone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advClick="1">
    <p:push dir="l"/>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Integration across SOA-C03 domains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Performance, Cost and Integrated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Optimise after measurement</a:t>
            </a:r>
          </a:p>
          <a:p>
            <a:pPr algn="l">
              <a:spcAft>
                <a:spcPts val="300"/>
              </a:spcAft>
            </a:pPr>
            <a:r>
              <a:rPr sz="1200" b="0">
                <a:solidFill>
                  <a:srgbClr val="5B6372"/>
                </a:solidFill>
                <a:latin typeface="Arial"/>
              </a:rPr>
              <a:t>Right-size and tune using utilisation, saturation, latency and business demand.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Cost anomalies are operational signals</a:t>
            </a:r>
          </a:p>
          <a:p>
            <a:pPr algn="l">
              <a:spcAft>
                <a:spcPts val="300"/>
              </a:spcAft>
            </a:pPr>
            <a:r>
              <a:rPr sz="1200" b="0">
                <a:solidFill>
                  <a:srgbClr val="5B6372"/>
                </a:solidFill>
                <a:latin typeface="Arial"/>
              </a:rPr>
              <a:t>Unexpected spend can reveal leakage, misconfiguration, attack or failed cleanup.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Troubleshoot hypotheses</a:t>
            </a:r>
          </a:p>
          <a:p>
            <a:pPr algn="l">
              <a:spcAft>
                <a:spcPts val="300"/>
              </a:spcAft>
            </a:pPr>
            <a:r>
              <a:rPr sz="1200" b="0">
                <a:solidFill>
                  <a:srgbClr val="5B6372"/>
                </a:solidFill>
                <a:latin typeface="Arial"/>
              </a:rPr>
              <a:t>A runbook narrows evidence systematically instead of changing multiple variables.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Service quality is verified</a:t>
            </a:r>
          </a:p>
          <a:p>
            <a:pPr algn="l">
              <a:spcAft>
                <a:spcPts val="300"/>
              </a:spcAft>
            </a:pPr>
            <a:r>
              <a:rPr sz="1200" b="0">
                <a:solidFill>
                  <a:srgbClr val="5B6372"/>
                </a:solidFill>
                <a:latin typeface="Arial"/>
              </a:rPr>
              <a:t>SLOs, recovery tests and post-incident actions prove operational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Evidence-Led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Frame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scope and time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Baseline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Expected behaviour</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Correlate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recent change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Hypothesise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Ranked possible causes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Test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One safe discriminating…</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Outcome and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A4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hypothesis is not a cause until evidence supports it and alternatives are tested.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Signal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Interpretation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 action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Utilisation</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Resource use relative to capacity</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Right-size only with sustained evidence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Saturation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Queued work or constrained resource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Increase capacity or remove bottleneck</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Errors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Failed operations or retries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Trace dependency and change history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Latency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Time experienced by request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Inspect percentiles and request path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Anomaly Investigation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largest percentage changes are data transfer and logging; investigate traffic path, retention and recent configuration before right-sizing compute.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and Optimisation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Cost Explorer</a:t>
            </a:r>
          </a:p>
          <a:p>
            <a:pPr algn="l">
              <a:spcAft>
                <a:spcPts val="300"/>
              </a:spcAft>
            </a:pPr>
            <a:r>
              <a:rPr sz="1300" b="0">
                <a:solidFill>
                  <a:srgbClr val="5B6372"/>
                </a:solidFill>
                <a:latin typeface="Arial"/>
              </a:rPr>
              <a:t>Trend, filter, group and forecast historical spend.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Cost Anomaly Detection</a:t>
            </a:r>
          </a:p>
          <a:p>
            <a:pPr algn="l">
              <a:spcAft>
                <a:spcPts val="300"/>
              </a:spcAft>
            </a:pPr>
            <a:r>
              <a:rPr sz="1300" b="0">
                <a:solidFill>
                  <a:srgbClr val="5B6372"/>
                </a:solidFill>
                <a:latin typeface="Arial"/>
              </a:rPr>
              <a:t>Surface spend patterns that deviate from expected behaviour.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Compute Optimizer</a:t>
            </a:r>
          </a:p>
          <a:p>
            <a:pPr algn="l">
              <a:spcAft>
                <a:spcPts val="300"/>
              </a:spcAft>
            </a:pPr>
            <a:r>
              <a:rPr sz="1300" b="0">
                <a:solidFill>
                  <a:srgbClr val="5B6372"/>
                </a:solidFill>
                <a:latin typeface="Arial"/>
              </a:rPr>
              <a:t>Resource recommendations from utilisation history.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Trusted Advisor</a:t>
            </a:r>
          </a:p>
          <a:p>
            <a:pPr algn="l">
              <a:spcAft>
                <a:spcPts val="300"/>
              </a:spcAft>
            </a:pPr>
            <a:r>
              <a:rPr sz="1300" b="0">
                <a:solidFill>
                  <a:srgbClr val="5B6372"/>
                </a:solidFill>
                <a:latin typeface="Arial"/>
              </a:rPr>
              <a:t>Checks across cost, security, resilience, performance and limits.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Runbook vs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Artifact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Contents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Runbook</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Repeatable technical procedure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Inputs, steps, verification and rollback</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Playbook</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Coordinated response to a scenario</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Roles, decisions, communication and runbooks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Game day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Exercise assumptions safely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Scenario, injects, observations and improvements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Post-incident review</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Prevent recurrence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Timeline, causes, actions and verification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Quality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Reliability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SLO and error budget</a:t>
            </a:r>
          </a:p>
          <a:p>
            <a:pPr>
              <a:spcAft>
                <a:spcPts val="900"/>
              </a:spcAft>
            </a:pPr>
            <a:r>
              <a:rPr sz="1400" b="0">
                <a:solidFill>
                  <a:srgbClr val="161B26"/>
                </a:solidFill>
                <a:latin typeface="Arial"/>
              </a:rPr>
              <a:t>•  Recovery test results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Security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Findings and exceptions</a:t>
            </a:r>
          </a:p>
          <a:p>
            <a:pPr>
              <a:spcAft>
                <a:spcPts val="900"/>
              </a:spcAft>
            </a:pPr>
            <a:r>
              <a:rPr sz="1400" b="0">
                <a:solidFill>
                  <a:srgbClr val="161B26"/>
                </a:solidFill>
                <a:latin typeface="Arial"/>
              </a:rPr>
              <a:t>•  Control effectiveness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Efficiency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Capacity and cost</a:t>
            </a:r>
          </a:p>
          <a:p>
            <a:pPr>
              <a:spcAft>
                <a:spcPts val="900"/>
              </a:spcAft>
            </a:pPr>
            <a:r>
              <a:rPr sz="1400" b="0">
                <a:solidFill>
                  <a:srgbClr val="161B26"/>
                </a:solidFill>
                <a:latin typeface="Arial"/>
              </a:rPr>
              <a:t>•  Automation and toil reduction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Capstone Standard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Restore service, explain the evidence, and improve the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complete CloudOps response connects detection, diagnosis, controlled recovery, validation, communication and recurrence prevention.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Resolve a Multi-Service CloudOps Incident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A1–A7 in one connected incident by detecting impact, isolating the failed boundary, restoring service, validating data and documenting service-quality improvements.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Correlate synthetic evidence across monitoring, change, network, backup and security records; produce and execute a controlled recovery plan.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timeline, evidence matrix, prioritised hypotheses, recovery runbook, validation record and post-incident action register.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CloudTrail · VPC Flow Logs · ELB · AWS Backup · Security Hub · Systems Manager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All evidence IDs reconcile, the timeline precedes causal claims, recovery and rollback are explicit, validation covers service and data, A1–A7 are mapped, and validation emits LAB 12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Correlated impact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Diagnose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Request path</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Runbook action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Service and data</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Resolve a Multi-Service CloudOps Incident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evidence IDs reconcile, the timeline precedes causal claims, recovery and rollback are explicit, validation covers service and data, A1–A7 are mapped, and validation emits LAB 12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Performance, Cost and Integrated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Explain</a:t>
            </a:r>
          </a:p>
          <a:p>
            <a:pPr algn="l">
              <a:spcAft>
                <a:spcPts val="300"/>
              </a:spcAft>
            </a:pPr>
            <a:r>
              <a:rPr sz="1200" b="0">
                <a:solidFill>
                  <a:srgbClr val="5B6372"/>
                </a:solidFill>
                <a:latin typeface="Arial"/>
              </a:rPr>
              <a:t>Right-size and tune using utilisation, saturation, latency and business demand.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Distinguish</a:t>
            </a:r>
          </a:p>
          <a:p>
            <a:pPr algn="l">
              <a:spcAft>
                <a:spcPts val="300"/>
              </a:spcAft>
            </a:pPr>
            <a:r>
              <a:rPr sz="1200" b="0">
                <a:solidFill>
                  <a:srgbClr val="5B6372"/>
                </a:solidFill>
                <a:latin typeface="Arial"/>
              </a:rPr>
              <a:t>Unexpected spend can reveal leakage, misconfiguration, attack or failed cleanup.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Apply</a:t>
            </a:r>
          </a:p>
          <a:p>
            <a:pPr algn="l">
              <a:spcAft>
                <a:spcPts val="300"/>
              </a:spcAft>
            </a:pPr>
            <a:r>
              <a:rPr sz="1200" b="0">
                <a:solidFill>
                  <a:srgbClr val="5B6372"/>
                </a:solidFill>
                <a:latin typeface="Arial"/>
              </a:rPr>
              <a:t>Apply A1–A7 in one connected incident by detecting impact, isolating the failed boundary, restoring service, validating data and documenting service-quality improvements.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300" b="1">
                <a:solidFill>
                  <a:srgbClr val="161B26"/>
                </a:solidFill>
                <a:latin typeface="Arial"/>
              </a:rPr>
              <a:t>Evidence</a:t>
            </a:r>
          </a:p>
          <a:p>
            <a:pPr algn="l">
              <a:spcAft>
                <a:spcPts val="300"/>
              </a:spcAft>
            </a:pPr>
            <a:r>
              <a:rPr sz="1200" b="0">
                <a:solidFill>
                  <a:srgbClr val="5B6372"/>
                </a:solidFill>
                <a:latin typeface="Arial"/>
              </a:rPr>
              <a:t>All evidence IDs reconcile, the timeline precedes causal claims, recovery and rollback are explicit, validation covers service and data, A1–A7 are mapped, and validation emits LAB 12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advClick="1">
    <p:push dir="l"/>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Synthesis, Assessment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advClick="1">
    <p:push dir="l"/>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LO5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Connected CloudOps Control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state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and risk</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Decide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Runbook and authority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Change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Small and reversible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Service and data</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CAPSTONE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Lab 12 and the Case Study require one traceable operational narrative across the complete loop.</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Can Now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200" b="0">
                <a:solidFill>
                  <a:srgbClr val="5B6372"/>
                </a:solidFill>
                <a:latin typeface="Arial"/>
              </a:rPr>
              <a:t>Maintain business continuity of AWS cloud operations to ensure stable service delivery.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200" b="0">
                <a:solidFill>
                  <a:srgbClr val="5B6372"/>
                </a:solidFill>
                <a:latin typeface="Arial"/>
              </a:rPr>
              <a:t>Implement secure AWS cloud infrastructure setup such as data loading and performance monitoring.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200" b="0">
                <a:solidFill>
                  <a:srgbClr val="5B6372"/>
                </a:solidFill>
                <a:latin typeface="Arial"/>
              </a:rPr>
              <a:t>Apply service quality standards to ensure security and compliance of AWS cloud operations.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200" b="0">
                <a:solidFill>
                  <a:srgbClr val="5B6372"/>
                </a:solidFill>
                <a:latin typeface="Arial"/>
              </a:rPr>
              <a:t>Analyse and resolve processing issues to ensure continuity and disaster recovery in AWS cloud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200" b="0">
                <a:solidFill>
                  <a:srgbClr val="5B6372"/>
                </a:solidFill>
                <a:latin typeface="Arial"/>
              </a:rPr>
              <a:t>Troubleshoot networking performance issues at scale for optimal AWS infrastructure operation.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FOUR LABS PER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Twelve-Lab Learning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300" b="0">
                <a:solidFill>
                  <a:srgbClr val="5B6372"/>
                </a:solidFill>
                <a:latin typeface="Arial"/>
              </a:rPr>
              <a:t>Labs 01–04 · observe, triage, manage fleets and test high availability</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300" b="0">
                <a:solidFill>
                  <a:srgbClr val="5B6372"/>
                </a:solidFill>
                <a:latin typeface="Arial"/>
              </a:rPr>
              <a:t>Labs 05–08 · automate change, prove recovery, enforce compliance and protect data</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300" b="0">
                <a:solidFill>
                  <a:srgbClr val="5B6372"/>
                </a:solidFill>
                <a:latin typeface="Arial"/>
              </a:rPr>
              <a:t>Labs 09–12 · diagnose networks, fail over delivery, recover data and resolve a capstone incident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1</a:t>
            </a:r>
          </a:p>
          <a:p>
            <a:pPr algn="l">
              <a:spcAft>
                <a:spcPts val="300"/>
              </a:spcAft>
            </a:pPr>
            <a:r>
              <a:rPr sz="1200" b="0">
                <a:solidFill>
                  <a:srgbClr val="5B6372"/>
                </a:solidFill>
                <a:latin typeface="Arial"/>
              </a:rPr>
              <a:t>AWS Certified Solutions Architect Associate Training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2</a:t>
            </a:r>
          </a:p>
          <a:p>
            <a:pPr algn="l">
              <a:spcAft>
                <a:spcPts val="300"/>
              </a:spcAft>
            </a:pPr>
            <a:r>
              <a:rPr sz="1200" b="0">
                <a:solidFill>
                  <a:srgbClr val="5B6372"/>
                </a:solidFill>
                <a:latin typeface="Arial"/>
              </a:rPr>
              <a:t>AWS Certified Developer Associate Training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3</a:t>
            </a:r>
          </a:p>
          <a:p>
            <a:pPr algn="l">
              <a:spcAft>
                <a:spcPts val="300"/>
              </a:spcAft>
            </a:pPr>
            <a:r>
              <a:rPr sz="1200" b="0">
                <a:solidFill>
                  <a:srgbClr val="5B6372"/>
                </a:solidFill>
                <a:latin typeface="Arial"/>
              </a:rPr>
              <a:t>DevOps Engineering on AWS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4</a:t>
            </a:r>
          </a:p>
          <a:p>
            <a:pPr algn="l">
              <a:spcAft>
                <a:spcPts val="300"/>
              </a:spcAft>
            </a:pPr>
            <a:r>
              <a:rPr sz="1200" b="0">
                <a:solidFill>
                  <a:srgbClr val="5B6372"/>
                </a:solidFill>
                <a:latin typeface="Arial"/>
              </a:rPr>
              <a:t>AWS Certified Security Specialty Training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5</a:t>
            </a:r>
          </a:p>
          <a:p>
            <a:pPr algn="l">
              <a:spcAft>
                <a:spcPts val="300"/>
              </a:spcAft>
            </a:pPr>
            <a:r>
              <a:rPr sz="1200" b="0">
                <a:solidFill>
                  <a:srgbClr val="5B6372"/>
                </a:solidFill>
                <a:latin typeface="Arial"/>
              </a:rPr>
              <a:t>Kubernetes and Cloud Native Associate (KCNA) Training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POST-COURSE SUPPORT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4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4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4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LMS-TMS</a:t>
            </a:r>
          </a:p>
          <a:p>
            <a:pPr algn="l">
              <a:spcAft>
                <a:spcPts val="300"/>
              </a:spcAft>
            </a:pPr>
            <a:r>
              <a:rPr sz="14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 Final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WA-SAQ</a:t>
            </a:r>
          </a:p>
          <a:p>
            <a:pPr algn="l">
              <a:spcAft>
                <a:spcPts val="300"/>
              </a:spcAft>
            </a:pPr>
            <a:r>
              <a:rPr sz="1300" b="0">
                <a:solidFill>
                  <a:srgbClr val="5B6372"/>
                </a:solidFill>
                <a:latin typeface="Arial"/>
              </a:rPr>
              <a:t>Five open-ended questions · K1–K5 · 60 minutes.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Study</a:t>
            </a:r>
          </a:p>
          <a:p>
            <a:pPr algn="l">
              <a:spcAft>
                <a:spcPts val="300"/>
              </a:spcAft>
            </a:pPr>
            <a:r>
              <a:rPr sz="1300" b="0">
                <a:solidFill>
                  <a:srgbClr val="5B6372"/>
                </a:solidFill>
                <a:latin typeface="Arial"/>
              </a:rPr>
              <a:t>Five connected tasks · A1–A7 · 60 minutes.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300" b="0">
                <a:solidFill>
                  <a:srgbClr val="5B6372"/>
                </a:solidFill>
                <a:latin typeface="Arial"/>
              </a:rPr>
              <a:t>Complete assessment attendance and TRAQOM steps.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Submission</a:t>
            </a:r>
          </a:p>
          <a:p>
            <a:pPr algn="l">
              <a:spcAft>
                <a:spcPts val="300"/>
              </a:spcAft>
            </a:pPr>
            <a:r>
              <a:rPr sz="1300" b="0">
                <a:solidFill>
                  <a:srgbClr val="5B6372"/>
                </a:solidFill>
                <a:latin typeface="Arial"/>
              </a:rPr>
              <a:t>Upload candidate papers through LMS-TMS; keys remain trainer-only.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TRAQOM</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Course feedback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Attendance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WA-SAQ</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questions · 60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Case Study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tasks · 60 min</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Submit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LMS-TMS and sign-off</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APPEAL</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documented reassessment and appeal process if you disagree with an assessment decision.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SSG · TRAQOM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a:t>
            </a:r>
          </a:p>
          <a:p>
            <a:pPr algn="l">
              <a:spcAft>
                <a:spcPts val="300"/>
              </a:spcAft>
            </a:pPr>
            <a:r>
              <a:rPr sz="1400" b="0">
                <a:solidFill>
                  <a:srgbClr val="5B6372"/>
                </a:solidFill>
                <a:latin typeface="Arial"/>
              </a:rPr>
              <a:t>Scan and submit at the start of the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PM</a:t>
            </a:r>
          </a:p>
          <a:p>
            <a:pPr algn="l">
              <a:spcAft>
                <a:spcPts val="300"/>
              </a:spcAft>
            </a:pPr>
            <a:r>
              <a:rPr sz="1400" b="0">
                <a:solidFill>
                  <a:srgbClr val="5B6372"/>
                </a:solidFill>
                <a:latin typeface="Arial"/>
              </a:rPr>
              <a:t>Scan and submit after lunch.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400" b="0">
                <a:solidFill>
                  <a:srgbClr val="5B6372"/>
                </a:solidFill>
                <a:latin typeface="Arial"/>
              </a:rPr>
              <a:t>Scan before starting the final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Confirm</a:t>
            </a:r>
          </a:p>
          <a:p>
            <a:pPr algn="l">
              <a:spcAft>
                <a:spcPts val="300"/>
              </a:spcAft>
            </a:pPr>
            <a:r>
              <a:rPr sz="1400" b="0">
                <a:solidFill>
                  <a:srgbClr val="5B6372"/>
                </a:solidFill>
                <a:latin typeface="Arial"/>
              </a:rPr>
              <a:t>Do not close the page until submission succeeds.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AWS CLOUD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Operate with evidence, change safely, verify recovery and leave the system better than you found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